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39decb4-f9fe-7962-a699-f93aa75e7ef6}">
          <p14:sldIdLst>
            <p14:sldId id="256"/>
            <p14:sldId id="257"/>
          </p14:sldIdLst>
        </p14:section>
        <p14:section name="Part 1" id="{5da06e3a-be7c-2a48-7fd0-479c783341cd}">
          <p14:sldIdLst>
            <p14:sldId id="258"/>
            <p14:sldId id="259"/>
            <p14:sldId id="260"/>
            <p14:sldId id="261"/>
            <p14:sldId id="262"/>
            <p14:sldId id="263"/>
            <p14:sldId id="264"/>
          </p14:sldIdLst>
        </p14:section>
        <p14:section name="Part 2" id="{c2d77d1c-6d45-cfc3-ebbd-31a017a7b51b}">
          <p14:sldIdLst>
            <p14:sldId id="265"/>
            <p14:sldId id="266"/>
            <p14:sldId id="267"/>
            <p14:sldId id="268"/>
            <p14:sldId id="269"/>
            <p14:sldId id="270"/>
            <p14:sldId id="271"/>
          </p14:sldIdLst>
        </p14:section>
        <p14:section name="Backup" id="{ca968be5-448b-2113-adb4-089a98712620}">
          <p14:sldIdLst>
            <p14:sldId id="272"/>
            <p14:sldId id="273"/>
            <p14:sldId id="274"/>
            <p14:sldId id="275"/>
          </p14:sldIdLst>
        </p14:section>
        <p14:section name="Backup" id="{eb383515-5a44-5528-7ab8-287357ea9d7d}">
          <p14:sldIdLst/>
        </p14:section>
        <p14:section name="Backup" id="{5382d4b5-af0e-b5c4-cc8c-3a0b4074dab3}">
          <p14:sldIdLst/>
        </p14:section>
        <p14:section name="Backup" id="{c0062809-6e45-a21b-7821-73bb3c9a29e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F3A5F"/>
                </a:solidFill>
                <a:latin typeface="Arial"/>
              </a:defRPr>
            </a:pPr>
            <a:r>
              <a:rPr sz="1400" b="1" i="0" u="none" strike="noStrike">
                <a:solidFill>
                  <a:srgbClr val="1F3A5F"/>
                </a:solidFill>
                <a:latin typeface="Arial"/>
              </a:rPr>
              <a:t>Studies published per year, by length of unloading (years without studies omitted)</a:t>
            </a:r>
          </a:p>
        </c:rich>
      </c:tx>
      <c:layout/>
      <c:overlay val="0"/>
    </c:title>
    <c:autoTitleDeleted val="0"/>
    <c:plotArea>
      <c:layout>
        <c:manualLayout>
          <c:layoutTarget val="inner"/>
          <c:xMode val="edge"/>
          <c:yMode val="edge"/>
          <c:x val="0.05"/>
          <c:y val="0.15"/>
          <c:w val="0.78"/>
          <c:h val="0.7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Studies</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r"/>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years, not days: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graphicFrame>
        <p:nvGraphicFramePr>
          <p:cNvPr id="38" name="Chart 0" descr=""/>
          <p:cNvGraphicFramePr/>
          <p:nvPr/>
        </p:nvGraphicFramePr>
        <p:xfrm>
          <a:off x="548640" y="3063240"/>
          <a:ext cx="11064240"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did we build the dataset?</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 earlier work</a:t>
            </a:r>
            <a:endParaRPr lang="en-US" sz="2600" dirty="0"/>
          </a:p>
        </p:txBody>
      </p:sp>
      <p:sp>
        <p:nvSpPr>
          <p:cNvPr id="14" name="Flow arrow 1"/>
          <p:cNvSpPr/>
          <p:nvPr/>
        </p:nvSpPr>
        <p:spPr>
          <a:xfrm>
            <a:off x="2505456" y="2948940"/>
            <a:ext cx="246888" cy="0"/>
          </a:xfrm>
          <a:prstGeom prst="line">
            <a:avLst/>
          </a:prstGeom>
          <a:noFill/>
          <a:ln w="15875">
            <a:solidFill>
              <a:srgbClr val="1A1A1A"/>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1A1A1A"/>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1A1A1A"/>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1A1A1A"/>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9AA3AE"/>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9AA3AE"/>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9AA3AE"/>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final dataset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742 measurements from 52 studies (1992 to 2026) and 36 independent campaigns</a:t>
            </a:r>
            <a:endParaRPr lang="en-US" sz="1400" dirty="0"/>
          </a:p>
          <a:p>
            <a:pPr marL="342900" indent="-342900">
              <a:spcAft>
                <a:spcPts val="400"/>
              </a:spcAft>
              <a:buSzPct val="100000"/>
              <a:buChar char="•"/>
            </a:pPr>
            <a:r>
              <a:rPr lang="en-US" sz="1600" dirty="0">
                <a:solidFill>
                  <a:schemeClr val="tx1"/>
                </a:solidFill>
              </a:rPr>
              <a:t>Mostly MRI volumes of named muscles in young men during head-down bed rest</a:t>
            </a:r>
            <a:endParaRPr lang="en-US" sz="1400" dirty="0"/>
          </a:p>
          <a:p>
            <a:pPr marL="342900" indent="-342900">
              <a:spcAft>
                <a:spcPts val="400"/>
              </a:spcAft>
              <a:buSzPct val="100000"/>
              <a:buChar char="•"/>
            </a:pPr>
            <a:r>
              <a:rPr lang="en-US" sz="1600" dirty="0">
                <a:solidFill>
                  <a:schemeClr val="tx1"/>
                </a:solidFill>
              </a:rPr>
              <a:t>Uneven: the MEDES 90-day campaign gives 40% of rows; 15 campaigns give 5 rows or fewer</a:t>
            </a:r>
            <a:endParaRPr lang="en-US" sz="1400" dirty="0"/>
          </a:p>
          <a:p>
            <a:pPr marL="342900" indent="-342900">
              <a:spcAft>
                <a:spcPts val="400"/>
              </a:spcAft>
              <a:buSzPct val="100000"/>
              <a:buChar char="•"/>
            </a:pPr>
            <a:r>
              <a:rPr lang="en-US" sz="1600" dirty="0">
                <a:solidFill>
                  <a:schemeClr val="tx1"/>
                </a:solidFill>
              </a:rPr>
              <a:t>Used for modelling: 346 measurements from 32 campaigns</a:t>
            </a:r>
            <a:endParaRPr lang="en-US" sz="1400" dirty="0"/>
          </a:p>
          <a:p>
            <a:pPr indent="0" marL="0">
              <a:buNone/>
            </a:pPr>
            <a:r>
              <a:rPr lang="en-US" sz="1400" i="1" dirty="0">
                <a:solidFill>
                  <a:schemeClr val="accent3"/>
                </a:solidFill>
              </a:rPr>
              <a:t>Possible figure: campaign timeline (figures/F1b_campaigns)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was extracted from each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Muscle, day of the scan, planned length of bed rest, % change from before bed rest</a:t>
            </a:r>
            <a:endParaRPr lang="en-US" sz="1400" dirty="0"/>
          </a:p>
          <a:p>
            <a:pPr marL="342900" indent="-342900">
              <a:spcAft>
                <a:spcPts val="400"/>
              </a:spcAft>
              <a:buSzPct val="100000"/>
              <a:buChar char="•"/>
            </a:pPr>
            <a:r>
              <a:rPr lang="en-US" sz="1600" dirty="0">
                <a:solidFill>
                  <a:schemeClr val="tx1"/>
                </a:solidFill>
              </a:rPr>
              <a:t>Group: control or countermeasure, group size, sex, age</a:t>
            </a:r>
            <a:endParaRPr lang="en-US" sz="1400" dirty="0"/>
          </a:p>
          <a:p>
            <a:pPr marL="342900" indent="-342900">
              <a:spcAft>
                <a:spcPts val="400"/>
              </a:spcAft>
              <a:buSzPct val="100000"/>
              <a:buChar char="•"/>
            </a:pPr>
            <a:r>
              <a:rPr lang="en-US" sz="1600" dirty="0">
                <a:solidFill>
                  <a:schemeClr val="tx1"/>
                </a:solidFill>
              </a:rPr>
              <a:t>Measurement: imaging method, quantity, position along the muscle</a:t>
            </a:r>
            <a:endParaRPr lang="en-US" sz="1400" dirty="0"/>
          </a:p>
          <a:p>
            <a:pPr marL="342900" indent="-342900">
              <a:spcAft>
                <a:spcPts val="400"/>
              </a:spcAft>
              <a:buSzPct val="100000"/>
              <a:buChar char="•"/>
            </a:pPr>
            <a:r>
              <a:rPr lang="en-US" sz="1600" dirty="0">
                <a:solidFill>
                  <a:schemeClr val="tx1"/>
                </a:solidFill>
              </a:rPr>
              <a:t>Source of every value: DOI and page, table or figure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2026-10-06T11:40:26Z</dcterms:created>
  <dcterms:modified xsi:type="dcterms:W3CDTF">2026-10-06T11:40:26Z</dcterms:modified>
</cp:coreProperties>
</file>