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3e27190-7d75-5ae6-4fc8-671c63efa8cf}">
          <p14:sldIdLst>
            <p14:sldId id="256"/>
            <p14:sldId id="257"/>
            <p14:sldId id="269"/>
          </p14:sldIdLst>
        </p14:section>
        <p14:section name="Part 1" id="{4ae507ea-faa7-3cc8-4e9a-80fa99e52fae}">
          <p14:sldIdLst>
            <p14:sldId id="258"/>
            <p14:sldId id="259"/>
            <p14:sldId id="260"/>
            <p14:sldId id="261"/>
            <p14:sldId id="262"/>
            <p14:sldId id="263"/>
          </p14:sldIdLst>
        </p14:section>
        <p14:section name="Part 2" id="{4a5a8499-9bb3-c2c4-5d7c-9c7b3139de41}">
          <p14:sldIdLst>
            <p14:sldId id="264"/>
            <p14:sldId id="265"/>
            <p14:sldId id="266"/>
            <p14:sldId id="267"/>
            <p14:sldId id="268"/>
          </p14:sldIdLst>
        </p14:section>
        <p14:section name="Opening" id="{7cb78df6-81d7-112c-a8ec-b1d21830bc72}">
          <p14:sldIdLst/>
        </p14:section>
        <p14:section name="Backup" id="{b5ca61b4-2f4b-3932-a09a-9d5634aee94a}">
          <p14:sldIdLst>
            <p14:sldId id="270"/>
            <p14:sldId id="271"/>
            <p14:sldId id="272"/>
            <p14:sldId id="273"/>
            <p14:sldId id="274"/>
            <p14:sldId id="275"/>
            <p14:sldId id="276"/>
          </p14:sldIdLst>
        </p14:section>
        <p14:section name="Backup" id="{6fb8db39-badc-bf63-fd2e-ae6424000f3e}">
          <p14:sldIdLst/>
        </p14:section>
        <p14:section name="Backup" id="{cc79a993-a745-164c-f23c-52e9cb70a7ad}">
          <p14:sldIdLst/>
        </p14:section>
        <p14:section name="Backup" id="{cb87b11a-1408-ce61-8aa7-75bb61e0a084}">
          <p14:sldIdLst/>
        </p14:section>
        <p14:section name="Backup" id="{aab8d5a4-2aba-b7f9-0a66-584a6ee78edb}">
          <p14:sldIdLst/>
        </p14:section>
        <p14:section name="Backup" id="{67f1d8d0-e89a-e540-5591-3d8529d63472}">
          <p14:sldIdLst/>
        </p14:section>
        <p14:section name="Backup" id="{f01d780d-881c-859d-d804-7e66c5c6fbfd}">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6382978723404256"/>
          <c:y val="0.04"/>
          <c:w val="0.8936170212765957"/>
          <c:h val="0.82"/>
        </c:manualLayout>
      </c:layout>
      <c:barChart>
        <c:barDir val="col"/>
        <c:grouping val="stacked"/>
        <c:varyColors val="0"/>
        <c:ser>
          <c:idx val="0"/>
          <c:order val="0"/>
          <c:tx>
            <c:strRef>
              <c:f>Sheet1!$B$1</c:f>
              <c:strCache>
                <c:ptCount val="1"/>
                <c:pt idx="0">
                  <c:v>5 to 14 days</c:v>
                </c:pt>
              </c:strCache>
            </c:strRef>
          </c:tx>
          <c:spPr>
            <a:solidFill>
              <a:srgbClr val="D3DCE6"/>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9AB0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B80A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0B2545"/>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8A6B5"/>
            </a:solidFill>
            <a:prstDash val="solid"/>
            <a:round/>
          </a:ln>
        </c:spPr>
        <c:txPr>
          <a:bodyPr/>
          <a:lstStyle/>
          <a:p>
            <a:pPr>
              <a:defRPr sz="1000" b="0" i="0" u="none" strike="noStrike">
                <a:solidFill>
                  <a:srgbClr val="5D6B7B"/>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2E7ED"/>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5D6B7B"/>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9.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C1440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B8C4D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5D6B7B"/>
                    </a:solidFill>
                    <a:latin typeface="Arial"/>
                  </a:defRPr>
                </a:pPr>
                <a:r>
                  <a:rPr sz="1000" b="0" i="0" u="none" strike="noStrike">
                    <a:solidFill>
                      <a:srgbClr val="5D6B7B"/>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B2533"/>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2E7ED"/>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10. Error,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2E7ED"/>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B2533"/>
                </a:solidFill>
                <a:latin typeface="+mn-lt"/>
              </a:defRPr>
            </a:pPr>
            <a:r>
              <a:rPr sz="1300" b="1" i="0" u="none" strike="noStrike">
                <a:solidFill>
                  <a:srgbClr val="1B2533"/>
                </a:solidFill>
                <a:latin typeface="+mn-lt"/>
              </a:rPr>
              <a:t>Figure 11.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B8C4D1"/>
            </a:solidFill>
            <a:effectLst/>
          </c:spPr>
          <c:invertIfNegative val="0"/>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dPt>
            <c:idx val="0"/>
            <c:invertIfNegative val="0"/>
            <c:bubble3D val="0"/>
            <c:spPr>
              <a:solidFill>
                <a:srgbClr val="B8C4D1"/>
              </a:solidFill>
              <a:effectLst/>
            </c:spPr>
          </c:dPt>
          <c:dPt>
            <c:idx val="1"/>
            <c:invertIfNegative val="0"/>
            <c:bubble3D val="0"/>
            <c:spPr>
              <a:solidFill>
                <a:srgbClr val="B8C4D1"/>
              </a:solidFill>
              <a:effectLst/>
            </c:spPr>
          </c:dPt>
          <c:dPt>
            <c:idx val="2"/>
            <c:invertIfNegative val="0"/>
            <c:bubble3D val="0"/>
            <c:spPr>
              <a:solidFill>
                <a:srgbClr val="B8C4D1"/>
              </a:solidFill>
              <a:effectLst/>
            </c:spPr>
          </c:dPt>
          <c:dPt>
            <c:idx val="3"/>
            <c:invertIfNegative val="0"/>
            <c:bubble3D val="0"/>
            <c:spPr>
              <a:solidFill>
                <a:srgbClr val="B8C4D1"/>
              </a:solidFill>
              <a:effectLst/>
            </c:spPr>
          </c:dPt>
          <c:dPt>
            <c:idx val="4"/>
            <c:invertIfNegative val="0"/>
            <c:bubble3D val="0"/>
            <c:spPr>
              <a:solidFill>
                <a:srgbClr val="B8C4D1"/>
              </a:solidFill>
              <a:effectLst/>
            </c:spPr>
          </c:dPt>
          <c:dPt>
            <c:idx val="5"/>
            <c:invertIfNegative val="0"/>
            <c:bubble3D val="0"/>
            <c:spPr>
              <a:solidFill>
                <a:srgbClr val="0B2545"/>
              </a:solidFill>
              <a:effectLst/>
            </c:spPr>
          </c:dPt>
          <c:dPt>
            <c:idx val="6"/>
            <c:invertIfNegative val="0"/>
            <c:bubble3D val="0"/>
            <c:spPr>
              <a:solidFill>
                <a:srgbClr val="C1440E"/>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prediction</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B2533"/>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8A6B5"/>
            </a:solidFill>
            <a:prstDash val="solid"/>
            <a:round/>
          </a:ln>
        </c:spPr>
        <c:txPr>
          <a:bodyPr/>
          <a:lstStyle/>
          <a:p>
            <a:pPr>
              <a:defRPr sz="1400" b="0" i="0" u="none" strike="noStrike">
                <a:solidFill>
                  <a:srgbClr val="1B2533"/>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2E7ED"/>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5D6B7B"/>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(Niloufar): why this matters and why bed rest, how we searched the literature, and what the dataset contains, including which muscles lose most. Part 2 (Milad): how we tested the models, the models and their results with the validity checks of the LLM,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in the title, is whether the amount of atrophy can be predicted.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before and after unloading; how much each muscle loses comes later, in the muscle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orange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3,600 records remained, and 3,516 were excluded at this stage. If asked: 2,493 were excluded on title and abstract, mostly for no unloading model or no muscle outcome; the other 1,023 were not screened in the time available and did not go further.
We sought 84 full texts. The main loss at this step: 19 studies show their muscle results only as charts, without a baseline value, so we could not extract them; 4 full texts were not available and 11 were excluded. These full-text counts are as recorded in our screening log and are still being reconciled with the dataset, so do not claim they add up exactly.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campaigns, because several papers report the same volunteers. So we test by holding out one whole campaign, training on the other 31 and predicting the held-out one, 32 times. The code checks that no campaign appears on both sides of a split.
The score is the mean absolute error in percentage points, averaged so that each campaign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It is not a chat model that writes text: you give it a described situation and a fixed list of options, and it returns a probability for each option, nothing else.
On the left is a real request from our cache. It describes the volunteers, the protocol, the muscle and how it was scanned, and the day. It also contains the duration curve fitted on the other 31 campaigns and as many rows from those campaigns as fit, most similar first. The question asks which of 19 ranges the change will fall in.
On the right is what came back for this row: a probability for each range. We never ask the model for a number. Our code turns the probabilities into a prediction, here minus 6.6 percent against an observed minus 9.4. We chose this row because its error is the model's median error.
The request never contains the held-out campaign's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We compared four standard models, ridge regression, random forest, support vector regression and gradient boosting, tuned inside each training fold, and later TabPFN, a neural network pretrained for small tables. On the left is the error on the held-out campaign. The duration curve scores 3.16 percentage points and the best ML model, the random forest, 3.18: none of them is lower than the curve. On the right, the ML models explain two to three times more variance, because they learn that the calf loses more than the hip. Most of the error left is a shift that applies to a whole campaign, from its scanner, its volunteers or its protocol, and none of our columns describes it. We had committed in advance to report this result whichever way it came out.
The language model is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campaigns.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campaign and recall its result. With every identifying detail removed, the gain is 0.30 points and its interval stays above zero. When we asked the model to choose the campaign's name from a list of options, it was right 19 percent of the time, where guessing gives 8 percent. If asked: of the three campaigns behind most of the gain, it named only one.
When we shuffle the other campaigns' values, the gain turns into a loss of 1.25 points, and with no reference data the error rises to 5.85. The gain comes from reading those data.
Reordering the rows or shifting the range edges changes the error by 1 to 3 percent. Repeating 20 requests moves the predictions by 0.17 points on average, well under the 0.42 gain.
Three limitations: we added this model after the ML result; its 80 percent ranges contain the truth only 62 percent of the time, so we quote only point predictions; and when given a campaign's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campaigns, standard ML models and TabPFN do not beat a curve that only knows the number of days. An LLM-based probabilistic classifier that reads each campaign's description and the other campaigns' data reduces the error from 3.13 to 2.71 points. The main limitation is the small sample of 32 campaigns, mostly young men, with no bed-rest data beyond day 119. Stress this: every row is a group average, so the model predicts the average loss of a group of volunteers. It cannot yet predict the risk for an individual astronaut.
Further work has three steps. First, estimate how susceptible each muscle is relative to a reference muscle, and combine those coefficients with baseline muscle volumes to estimate total lower-limb volume loss; the dataset has 30 group time points where three or more muscles were scanned together, across 14 campaigns, so this can be tested. Second, move from group averages to individuals with participant-level data over time, and link muscle loss to strength and function. Third, validate on independent campaigns and on spaceflight data before building any personal risk-assessment tool. These are plans, not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(Milad). Thank the audience and invite questions. The backup slides that follow answer the questions we expect: part 1 on slides 17 and 18, data and search on 15 and 16, part 2 on 19 to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Expansion: the eligibility criteria in the report's Table 2 were written before screening; dataset version 1.0 was frozen on 14 September and 1.1 on 19 September, and every result is fitted on 1.1. The rule for the curve: the saturating form is the headline unless another form beats it by at least 4 AIC points. Spaceflight: the dataset keeps the spaceflight rows, flagged, but they are post-flight measurements, so the during-unloading filter removes them. Weighting: inverse-variance weighting would need the spread of the change, which most papers do not print; the check that compares both weightings moved the duration effect by under 1 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part 1 (Niloufar). Be precise about slide 8: the coloured dots at day 60 are the model's estimates for each muscle group, with the intervals shown here. The lines are drawn with one shared time course scaled to those values, so they show the shape the model assumes, not a separate fit per muscle. The intervals are 95% cluster-robust, which means they account for several rows coming from the same campaign. The calf-versus-shin contrast is reported on its own because it does not depend on which muscle is the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campaigns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 The 271 men-only rows and 100 countermeasure rows are our count on the 346 modelling rows; the report gives the same point on the 425 lower-limb rows before duplicate composites were removed (347 men-only, 126 countermeasure).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Gradient stripe, Earth blue to Mars red">    </p:cNvPr>
          <p:cNvPicPr>
            <a:picLocks noChangeAspect="1"/>
          </p:cNvPicPr>
          <p:nvPr/>
        </p:nvPicPr>
        <p:blipFill>
          <a:blip r:embed="rId1"/>
          <a:stretch>
            <a:fillRect/>
          </a:stretch>
        </p:blipFill>
        <p:spPr>
          <a:xfrm>
            <a:off x="0" y="0"/>
            <a:ext cx="12191695" cy="82296"/>
          </a:xfrm>
          <a:prstGeom prst="rect">
            <a:avLst/>
          </a:prstGeom>
        </p:spPr>
      </p:pic>
      <p:sp>
        <p:nvSpPr>
          <p:cNvPr id="3" name="Text 0"/>
          <p:cNvSpPr/>
          <p:nvPr>
            <p:ph idx="101"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4" name="Image 1" descr="DGLRM logo">    </p:cNvPr>
          <p:cNvPicPr>
            <a:picLocks noChangeAspect="1"/>
          </p:cNvPicPr>
          <p:nvPr/>
        </p:nvPicPr>
        <p:blipFill>
          <a:blip r:embed="rId2"/>
          <a:stretch>
            <a:fillRect/>
          </a:stretch>
        </p:blipFill>
        <p:spPr>
          <a:xfrm>
            <a:off x="548640" y="6336792"/>
            <a:ext cx="1143000" cy="307258"/>
          </a:xfrm>
          <a:prstGeom prst="rect">
            <a:avLst/>
          </a:prstGeom>
        </p:spPr>
      </p:pic>
      <p:sp>
        <p:nvSpPr>
          <p:cNvPr id="5"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chart" Target="/ppt/charts/chart1.xm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2.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chart" Target="/ppt/charts/chart3.xml"/><Relationship Id="rId4" Type="http://schemas.openxmlformats.org/officeDocument/2006/relationships/chart" Target="/ppt/charts/chart4.xml"/><Relationship Id="rId1" Type="http://schemas.openxmlformats.org/officeDocument/2006/relationships/image" Target="../media/image-11-1.png"/><Relationship Id="rId2" Type="http://schemas.openxmlformats.org/officeDocument/2006/relationships/image" Target="../media/image-11-2.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7863840" cy="2651760"/>
          </a:xfrm>
          <a:prstGeom prst="rect">
            <a:avLst/>
          </a:prstGeom>
          <a:noFill/>
          <a:ln/>
        </p:spPr>
        <p:txBody>
          <a:bodyPr wrap="square" lIns="0" tIns="0" rIns="0" bIns="0" rtlCol="0" anchor="b"/>
          <a:lstStyle/>
          <a:p>
            <a:pPr indent="0" marL="0">
              <a:spcAft>
                <a:spcPts val="800"/>
              </a:spcAft>
              <a:buNone/>
            </a:pPr>
            <a:r>
              <a:rPr lang="en-US" sz="4400" b="1" dirty="0">
                <a:solidFill>
                  <a:srgbClr val="FFFFFF"/>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200" b="1" dirty="0">
                <a:solidFill>
                  <a:srgbClr val="F2D0A9"/>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7863840" cy="365760"/>
          </a:xfrm>
          <a:prstGeom prst="rect">
            <a:avLst/>
          </a:prstGeom>
          <a:noFill/>
          <a:ln/>
        </p:spPr>
        <p:txBody>
          <a:bodyPr wrap="square" lIns="0" tIns="0" rIns="0" bIns="0" rtlCol="0" anchor="t"/>
          <a:lstStyle/>
          <a:p>
            <a:pPr indent="0" marL="0">
              <a:buNone/>
            </a:pPr>
            <a:r>
              <a:rPr lang="en-US" sz="1800" dirty="0">
                <a:solidFill>
                  <a:srgbClr val="FFFFFF"/>
                </a:solidFill>
              </a:rPr>
              <a:t>Niloufar Ahmadymarzdashty</a:t>
            </a:r>
            <a:pPr indent="0" marL="0">
              <a:buNone/>
            </a:pPr>
            <a:r>
              <a:rPr lang="en-US" sz="1800" baseline="30000" dirty="0">
                <a:solidFill>
                  <a:srgbClr val="FFFFFF"/>
                </a:solidFill>
              </a:rPr>
              <a:t>1</a:t>
            </a:r>
            <a:pPr indent="0" marL="0">
              <a:buNone/>
            </a:pPr>
            <a:r>
              <a:rPr lang="en-US" sz="1800" dirty="0">
                <a:solidFill>
                  <a:srgbClr val="FFFFFF"/>
                </a:solidFill>
              </a:rPr>
              <a:t>,  Milad Bahari Qaragoz</a:t>
            </a:r>
            <a:pPr indent="0" marL="0">
              <a:buNone/>
            </a:pPr>
            <a:r>
              <a:rPr lang="en-US" sz="1800" baseline="30000" dirty="0">
                <a:solidFill>
                  <a:srgbClr val="FFFFFF"/>
                </a:solidFill>
              </a:rPr>
              <a:t>2</a:t>
            </a:r>
            <a:endParaRPr lang="en-US" sz="1800" dirty="0"/>
          </a:p>
        </p:txBody>
      </p:sp>
      <p:sp>
        <p:nvSpPr>
          <p:cNvPr id="5" name="Text 2"/>
          <p:cNvSpPr txBox="1"/>
          <p:nvPr/>
        </p:nvSpPr>
        <p:spPr>
          <a:xfrm>
            <a:off x="822960" y="4709160"/>
            <a:ext cx="7863840" cy="548640"/>
          </a:xfrm>
          <a:prstGeom prst="rect">
            <a:avLst/>
          </a:prstGeom>
          <a:noFill/>
          <a:ln/>
        </p:spPr>
        <p:txBody>
          <a:bodyPr wrap="square" lIns="0" tIns="0" rIns="0" bIns="0" rtlCol="0" anchor="t"/>
          <a:lstStyle/>
          <a:p>
            <a:pPr indent="0" marL="0">
              <a:buNone/>
            </a:pPr>
            <a:r>
              <a:rPr lang="en-US" sz="1400" baseline="30000" dirty="0">
                <a:solidFill>
                  <a:srgbClr val="B7C3D3"/>
                </a:solidFill>
              </a:rPr>
              <a:t>1</a:t>
            </a:r>
            <a:pPr indent="0" marL="0">
              <a:buNone/>
            </a:pPr>
            <a:r>
              <a:rPr lang="en-US" sz="1400" dirty="0">
                <a:solidFill>
                  <a:srgbClr val="B7C3D3"/>
                </a:solidFill>
              </a:rPr>
              <a:t> Independent researcher</a:t>
            </a:r>
            <a:endParaRPr lang="en-US" sz="1400" dirty="0"/>
          </a:p>
          <a:p>
            <a:pPr indent="0" marL="0">
              <a:buNone/>
            </a:pPr>
            <a:r>
              <a:rPr lang="en-US" sz="1400" baseline="30000" dirty="0">
                <a:solidFill>
                  <a:srgbClr val="B7C3D3"/>
                </a:solidFill>
              </a:rPr>
              <a:t>2</a:t>
            </a:r>
            <a:pPr indent="0" marL="0">
              <a:buNone/>
            </a:pPr>
            <a:r>
              <a:rPr lang="en-US" sz="1400" dirty="0">
                <a:solidFill>
                  <a:srgbClr val="B7C3D3"/>
                </a:solidFill>
              </a:rPr>
              <a:t> Master's candidate, Friedrich-Alexander-Universität Erlangen-Nürnberg (FAU)</a:t>
            </a:r>
            <a:endParaRPr lang="en-US" sz="1400" dirty="0"/>
          </a:p>
        </p:txBody>
      </p:sp>
      <p:sp>
        <p:nvSpPr>
          <p:cNvPr id="6" name="Text 3"/>
          <p:cNvSpPr txBox="1"/>
          <p:nvPr/>
        </p:nvSpPr>
        <p:spPr>
          <a:xfrm>
            <a:off x="822960" y="5394960"/>
            <a:ext cx="7863840" cy="365760"/>
          </a:xfrm>
          <a:prstGeom prst="rect">
            <a:avLst/>
          </a:prstGeom>
          <a:noFill/>
          <a:ln/>
        </p:spPr>
        <p:txBody>
          <a:bodyPr wrap="square" lIns="0" tIns="0" rIns="0" bIns="0" rtlCol="0" anchor="t"/>
          <a:lstStyle/>
          <a:p>
            <a:pPr indent="0" marL="0">
              <a:buNone/>
            </a:pPr>
            <a:r>
              <a:rPr lang="en-US" sz="1600" b="1" dirty="0">
                <a:solidFill>
                  <a:srgbClr val="F2D0A9"/>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685800" y="3429000"/>
            <a:ext cx="10789920" cy="0"/>
          </a:xfrm>
          <a:prstGeom prst="line">
            <a:avLst/>
          </a:prstGeom>
          <a:noFill/>
          <a:ln w="19050">
            <a:solidFill>
              <a:srgbClr val="98A6B5"/>
            </a:solidFill>
            <a:prstDash val="dash"/>
          </a:ln>
        </p:spPr>
      </p:sp>
      <p:pic>
        <p:nvPicPr>
          <p:cNvPr id="4" name="Image 0" descr="Earth">    </p:cNvPr>
          <p:cNvPicPr>
            <a:picLocks noChangeAspect="1"/>
          </p:cNvPicPr>
          <p:nvPr/>
        </p:nvPicPr>
        <p:blipFill>
          <a:blip r:embed="rId1"/>
          <a:stretch>
            <a:fillRect/>
          </a:stretch>
        </p:blipFill>
        <p:spPr>
          <a:xfrm>
            <a:off x="457200" y="3218688"/>
            <a:ext cx="420624" cy="420624"/>
          </a:xfrm>
          <a:prstGeom prst="rect">
            <a:avLst/>
          </a:prstGeom>
        </p:spPr>
      </p:pic>
      <p:pic>
        <p:nvPicPr>
          <p:cNvPr id="5" name="Image 1" descr="Mars">    </p:cNvPr>
          <p:cNvPicPr>
            <a:picLocks noChangeAspect="1"/>
          </p:cNvPicPr>
          <p:nvPr/>
        </p:nvPicPr>
        <p:blipFill>
          <a:blip r:embed="rId2"/>
          <a:stretch>
            <a:fillRect/>
          </a:stretch>
        </p:blipFill>
        <p:spPr>
          <a:xfrm>
            <a:off x="11274552" y="3191256"/>
            <a:ext cx="475488" cy="475488"/>
          </a:xfrm>
          <a:prstGeom prst="rect">
            <a:avLst/>
          </a:prstGeom>
        </p:spPr>
      </p:pic>
      <p:sp>
        <p:nvSpPr>
          <p:cNvPr id="6" name="Part 1 bracket"/>
          <p:cNvSpPr/>
          <p:nvPr/>
        </p:nvSpPr>
        <p:spPr>
          <a:xfrm>
            <a:off x="1005840" y="2834640"/>
            <a:ext cx="4443984" cy="0"/>
          </a:xfrm>
          <a:prstGeom prst="line">
            <a:avLst/>
          </a:prstGeom>
          <a:noFill/>
          <a:ln w="12700">
            <a:solidFill>
              <a:srgbClr val="0B2545"/>
            </a:solidFill>
            <a:prstDash val="solid"/>
          </a:ln>
        </p:spPr>
      </p:sp>
      <p:sp>
        <p:nvSpPr>
          <p:cNvPr id="7" name="Part 1 bracket left"/>
          <p:cNvSpPr/>
          <p:nvPr/>
        </p:nvSpPr>
        <p:spPr>
          <a:xfrm>
            <a:off x="1005840" y="2834640"/>
            <a:ext cx="0" cy="137160"/>
          </a:xfrm>
          <a:prstGeom prst="line">
            <a:avLst/>
          </a:prstGeom>
          <a:noFill/>
          <a:ln w="12700">
            <a:solidFill>
              <a:srgbClr val="0B2545"/>
            </a:solidFill>
            <a:prstDash val="solid"/>
          </a:ln>
        </p:spPr>
      </p:sp>
      <p:sp>
        <p:nvSpPr>
          <p:cNvPr id="8" name="Part 1 bracket right"/>
          <p:cNvSpPr/>
          <p:nvPr/>
        </p:nvSpPr>
        <p:spPr>
          <a:xfrm>
            <a:off x="5449824" y="2834640"/>
            <a:ext cx="0" cy="137160"/>
          </a:xfrm>
          <a:prstGeom prst="line">
            <a:avLst/>
          </a:prstGeom>
          <a:noFill/>
          <a:ln w="12700">
            <a:solidFill>
              <a:srgbClr val="0B2545"/>
            </a:solidFill>
            <a:prstDash val="solid"/>
          </a:ln>
        </p:spPr>
      </p:sp>
      <p:sp>
        <p:nvSpPr>
          <p:cNvPr id="9"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10" name="Part 2 bracket"/>
          <p:cNvSpPr/>
          <p:nvPr/>
        </p:nvSpPr>
        <p:spPr>
          <a:xfrm>
            <a:off x="6711696" y="2834640"/>
            <a:ext cx="4443984" cy="0"/>
          </a:xfrm>
          <a:prstGeom prst="line">
            <a:avLst/>
          </a:prstGeom>
          <a:noFill/>
          <a:ln w="12700">
            <a:solidFill>
              <a:srgbClr val="0B2545"/>
            </a:solidFill>
            <a:prstDash val="solid"/>
          </a:ln>
        </p:spPr>
      </p:sp>
      <p:sp>
        <p:nvSpPr>
          <p:cNvPr id="11" name="Part 2 bracket left"/>
          <p:cNvSpPr/>
          <p:nvPr/>
        </p:nvSpPr>
        <p:spPr>
          <a:xfrm>
            <a:off x="6711696" y="2834640"/>
            <a:ext cx="0" cy="137160"/>
          </a:xfrm>
          <a:prstGeom prst="line">
            <a:avLst/>
          </a:prstGeom>
          <a:noFill/>
          <a:ln w="12700">
            <a:solidFill>
              <a:srgbClr val="0B2545"/>
            </a:solidFill>
            <a:prstDash val="solid"/>
          </a:ln>
        </p:spPr>
      </p:sp>
      <p:sp>
        <p:nvSpPr>
          <p:cNvPr id="12" name="Part 2 bracket right"/>
          <p:cNvSpPr/>
          <p:nvPr/>
        </p:nvSpPr>
        <p:spPr>
          <a:xfrm>
            <a:off x="11155680" y="2834640"/>
            <a:ext cx="0" cy="137160"/>
          </a:xfrm>
          <a:prstGeom prst="line">
            <a:avLst/>
          </a:prstGeom>
          <a:noFill/>
          <a:ln w="12700">
            <a:solidFill>
              <a:srgbClr val="0B2545"/>
            </a:solidFill>
            <a:prstDash val="solid"/>
          </a:ln>
        </p:spPr>
      </p:sp>
      <p:sp>
        <p:nvSpPr>
          <p:cNvPr id="13"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prediction</a:t>
            </a:r>
            <a:endParaRPr lang="en-US" sz="1600" dirty="0"/>
          </a:p>
          <a:p>
            <a:pPr algn="ctr" indent="0" marL="0">
              <a:buNone/>
            </a:pPr>
            <a:r>
              <a:rPr lang="en-US" sz="1400" dirty="0">
                <a:solidFill>
                  <a:schemeClr val="accent3"/>
                </a:solidFill>
              </a:rPr>
              <a:t>Milad Bahari Qaragoz</a:t>
            </a:r>
            <a:endParaRPr lang="en-US" sz="1600" dirty="0"/>
          </a:p>
        </p:txBody>
      </p:sp>
      <p:sp>
        <p:nvSpPr>
          <p:cNvPr id="14" name="Agenda 1"/>
          <p:cNvSpPr/>
          <p:nvPr/>
        </p:nvSpPr>
        <p:spPr>
          <a:xfrm>
            <a:off x="1005840" y="3108960"/>
            <a:ext cx="640080" cy="640080"/>
          </a:xfrm>
          <a:prstGeom prst="ellipse">
            <a:avLst/>
          </a:prstGeom>
          <a:solidFill>
            <a:schemeClr val="tx2"/>
          </a:solidFill>
          <a:ln/>
        </p:spPr>
      </p:sp>
      <p:sp>
        <p:nvSpPr>
          <p:cNvPr id="15"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6" name="Text 12"/>
          <p:cNvSpPr txBox="1"/>
          <p:nvPr/>
        </p:nvSpPr>
        <p:spPr>
          <a:xfrm>
            <a:off x="42976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Intro and motivation</a:t>
            </a:r>
            <a:endParaRPr lang="en-US" sz="1600" dirty="0"/>
          </a:p>
          <a:p>
            <a:pPr algn="ctr" indent="0" marL="0">
              <a:buNone/>
            </a:pPr>
            <a:r>
              <a:rPr lang="en-US" sz="1400" dirty="0">
                <a:solidFill>
                  <a:schemeClr val="tx1"/>
                </a:solidFill>
              </a:rPr>
              <a:t>Why predict muscle loss; from bed rest to Mars</a:t>
            </a:r>
            <a:endParaRPr lang="en-US" sz="1600" dirty="0"/>
          </a:p>
        </p:txBody>
      </p:sp>
      <p:sp>
        <p:nvSpPr>
          <p:cNvPr id="17" name="Agenda 2"/>
          <p:cNvSpPr/>
          <p:nvPr/>
        </p:nvSpPr>
        <p:spPr>
          <a:xfrm>
            <a:off x="2907792" y="3108960"/>
            <a:ext cx="640080" cy="640080"/>
          </a:xfrm>
          <a:prstGeom prst="ellipse">
            <a:avLst/>
          </a:prstGeom>
          <a:solidFill>
            <a:schemeClr val="tx2"/>
          </a:solidFill>
          <a:ln/>
        </p:spPr>
      </p:sp>
      <p:sp>
        <p:nvSpPr>
          <p:cNvPr id="18"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9" name="Text 15"/>
          <p:cNvSpPr txBox="1"/>
          <p:nvPr/>
        </p:nvSpPr>
        <p:spPr>
          <a:xfrm>
            <a:off x="2331720"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Literature research</a:t>
            </a:r>
            <a:endParaRPr lang="en-US" sz="1600" dirty="0"/>
          </a:p>
          <a:p>
            <a:pPr algn="ctr" indent="0" marL="0">
              <a:buNone/>
            </a:pPr>
            <a:r>
              <a:rPr lang="en-US" sz="1400" dirty="0">
                <a:solidFill>
                  <a:schemeClr val="tx1"/>
                </a:solidFill>
              </a:rPr>
              <a:t>Range of studies; search and screening</a:t>
            </a:r>
            <a:endParaRPr lang="en-US" sz="1600" dirty="0"/>
          </a:p>
        </p:txBody>
      </p:sp>
      <p:sp>
        <p:nvSpPr>
          <p:cNvPr id="20" name="Agenda 3"/>
          <p:cNvSpPr/>
          <p:nvPr/>
        </p:nvSpPr>
        <p:spPr>
          <a:xfrm>
            <a:off x="4809744" y="3108960"/>
            <a:ext cx="640080" cy="640080"/>
          </a:xfrm>
          <a:prstGeom prst="ellipse">
            <a:avLst/>
          </a:prstGeom>
          <a:solidFill>
            <a:schemeClr val="tx2"/>
          </a:solidFill>
          <a:ln/>
        </p:spPr>
      </p:sp>
      <p:sp>
        <p:nvSpPr>
          <p:cNvPr id="21"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2" name="Text 18"/>
          <p:cNvSpPr txBox="1"/>
          <p:nvPr/>
        </p:nvSpPr>
        <p:spPr>
          <a:xfrm>
            <a:off x="4233672"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Data extraction and database</a:t>
            </a:r>
            <a:endParaRPr lang="en-US" sz="1600" dirty="0"/>
          </a:p>
          <a:p>
            <a:pPr algn="ctr" indent="0" marL="0">
              <a:buNone/>
            </a:pPr>
            <a:r>
              <a:rPr lang="en-US" sz="1400" dirty="0">
                <a:solidFill>
                  <a:schemeClr val="tx1"/>
                </a:solidFill>
              </a:rPr>
              <a:t>Dataset contents; loss per muscle group</a:t>
            </a:r>
            <a:endParaRPr lang="en-US" sz="1600" dirty="0"/>
          </a:p>
        </p:txBody>
      </p:sp>
      <p:sp>
        <p:nvSpPr>
          <p:cNvPr id="23" name="Agenda 4"/>
          <p:cNvSpPr/>
          <p:nvPr/>
        </p:nvSpPr>
        <p:spPr>
          <a:xfrm>
            <a:off x="6711696" y="3108960"/>
            <a:ext cx="640080" cy="640080"/>
          </a:xfrm>
          <a:prstGeom prst="ellipse">
            <a:avLst/>
          </a:prstGeom>
          <a:solidFill>
            <a:schemeClr val="accent1"/>
          </a:solidFill>
          <a:ln/>
        </p:spPr>
      </p:sp>
      <p:sp>
        <p:nvSpPr>
          <p:cNvPr id="24"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5" name="Text 21"/>
          <p:cNvSpPr txBox="1"/>
          <p:nvPr/>
        </p:nvSpPr>
        <p:spPr>
          <a:xfrm>
            <a:off x="6135624"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ML framework</a:t>
            </a:r>
            <a:endParaRPr lang="en-US" sz="1600" dirty="0"/>
          </a:p>
          <a:p>
            <a:pPr algn="ctr" indent="0" marL="0">
              <a:buNone/>
            </a:pPr>
            <a:r>
              <a:rPr lang="en-US" sz="1400" dirty="0">
                <a:solidFill>
                  <a:schemeClr val="tx1"/>
                </a:solidFill>
              </a:rPr>
              <a:t>Testing on unseen campaigns</a:t>
            </a:r>
            <a:endParaRPr lang="en-US" sz="1600" dirty="0"/>
          </a:p>
        </p:txBody>
      </p:sp>
      <p:sp>
        <p:nvSpPr>
          <p:cNvPr id="26" name="Agenda 5"/>
          <p:cNvSpPr/>
          <p:nvPr/>
        </p:nvSpPr>
        <p:spPr>
          <a:xfrm>
            <a:off x="8613648" y="3108960"/>
            <a:ext cx="640080" cy="640080"/>
          </a:xfrm>
          <a:prstGeom prst="ellipse">
            <a:avLst/>
          </a:prstGeom>
          <a:solidFill>
            <a:schemeClr val="accent1"/>
          </a:solidFill>
          <a:ln/>
        </p:spPr>
      </p:sp>
      <p:sp>
        <p:nvSpPr>
          <p:cNvPr id="27"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8" name="Text 24"/>
          <p:cNvSpPr txBox="1"/>
          <p:nvPr/>
        </p:nvSpPr>
        <p:spPr>
          <a:xfrm>
            <a:off x="8037576"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Models and results</a:t>
            </a:r>
            <a:endParaRPr lang="en-US" sz="1600" dirty="0"/>
          </a:p>
          <a:p>
            <a:pPr algn="ctr" indent="0" marL="0">
              <a:buNone/>
            </a:pPr>
            <a:r>
              <a:rPr lang="en-US" sz="1400" dirty="0">
                <a:solidFill>
                  <a:schemeClr val="tx1"/>
                </a:solidFill>
              </a:rPr>
              <a:t>Models, results, LLM robustness and validity checks</a:t>
            </a:r>
            <a:endParaRPr lang="en-US" sz="1600" dirty="0"/>
          </a:p>
        </p:txBody>
      </p:sp>
      <p:sp>
        <p:nvSpPr>
          <p:cNvPr id="29" name="Agenda 6"/>
          <p:cNvSpPr/>
          <p:nvPr/>
        </p:nvSpPr>
        <p:spPr>
          <a:xfrm>
            <a:off x="10515600" y="3108960"/>
            <a:ext cx="640080" cy="640080"/>
          </a:xfrm>
          <a:prstGeom prst="ellipse">
            <a:avLst/>
          </a:prstGeom>
          <a:solidFill>
            <a:schemeClr val="accent1"/>
          </a:solidFill>
          <a:ln/>
        </p:spPr>
      </p:sp>
      <p:sp>
        <p:nvSpPr>
          <p:cNvPr id="30"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1" name="Text 27"/>
          <p:cNvSpPr txBox="1"/>
          <p:nvPr/>
        </p:nvSpPr>
        <p:spPr>
          <a:xfrm>
            <a:off x="9939528" y="3977640"/>
            <a:ext cx="1792224" cy="1463040"/>
          </a:xfrm>
          <a:prstGeom prst="rect">
            <a:avLst/>
          </a:prstGeom>
          <a:noFill/>
          <a:ln/>
        </p:spPr>
        <p:txBody>
          <a:bodyPr wrap="square" lIns="0" tIns="0" rIns="0" bIns="0" rtlCol="0" anchor="t"/>
          <a:lstStyle/>
          <a:p>
            <a:pPr algn="ctr" indent="0" marL="0">
              <a:buNone/>
            </a:pPr>
            <a:r>
              <a:rPr lang="en-US" sz="1600" b="1" dirty="0">
                <a:solidFill>
                  <a:schemeClr val="tx2"/>
                </a:solidFill>
              </a:rPr>
              <a:t>Conclusion</a:t>
            </a:r>
            <a:endParaRPr lang="en-US" sz="1600" dirty="0"/>
          </a:p>
          <a:p>
            <a:pPr algn="ctr" indent="0" marL="0">
              <a:buNone/>
            </a:pPr>
            <a:r>
              <a:rPr lang="en-US" sz="1400" dirty="0">
                <a:solidFill>
                  <a:schemeClr val="tx1"/>
                </a:solidFill>
              </a:rPr>
              <a:t>Findings, limitations, further work</a:t>
            </a:r>
            <a:endParaRPr lang="en-US" sz="1600" dirty="0"/>
          </a:p>
        </p:txBody>
      </p:sp>
      <p:sp>
        <p:nvSpPr>
          <p:cNvPr id="32" name="Text 28"/>
          <p:cNvSpPr txBox="1"/>
          <p:nvPr/>
        </p:nvSpPr>
        <p:spPr>
          <a:xfrm>
            <a:off x="548640" y="576072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predicting lower-limb muscle atrophy</a:t>
            </a:r>
            <a:endParaRPr lang="en-US" sz="2800" dirty="0"/>
          </a:p>
        </p:txBody>
      </p:sp>
      <p:sp>
        <p:nvSpPr>
          <p:cNvPr id="13" name="Text 9"/>
          <p:cNvSpPr txBox="1"/>
          <p:nvPr/>
        </p:nvSpPr>
        <p:spPr>
          <a:xfrm>
            <a:off x="548640" y="1234440"/>
            <a:ext cx="6035040" cy="42062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Why is this important?</a:t>
            </a:r>
            <a:endParaRPr lang="en-US" sz="2000" dirty="0"/>
          </a:p>
          <a:p>
            <a:pPr marL="342900" indent="-342900">
              <a:spcAft>
                <a:spcPts val="1000"/>
              </a:spcAft>
              <a:buSzPct val="100000"/>
              <a:buChar char="•"/>
            </a:pPr>
            <a:r>
              <a:rPr lang="en-US" sz="1700" dirty="0">
                <a:solidFill>
                  <a:schemeClr val="tx1"/>
                </a:solidFill>
              </a:rPr>
              <a:t>Prevention: identify risk early and leave time to intervene</a:t>
            </a:r>
            <a:endParaRPr lang="en-US" sz="2000" dirty="0"/>
          </a:p>
          <a:p>
            <a:pPr marL="342900" indent="-342900">
              <a:spcAft>
                <a:spcPts val="1000"/>
              </a:spcAft>
              <a:buSzPct val="100000"/>
              <a:buChar char="•"/>
            </a:pPr>
            <a:r>
              <a:rPr lang="en-US" sz="1700" dirty="0">
                <a:solidFill>
                  <a:schemeClr val="tx1"/>
                </a:solidFill>
              </a:rPr>
              <a:t>Countermeasures: match exercise and nutrition to the predicted risk</a:t>
            </a:r>
            <a:endParaRPr lang="en-US" sz="2000" dirty="0"/>
          </a:p>
          <a:p>
            <a:pPr marL="342900" indent="-342900">
              <a:spcAft>
                <a:spcPts val="1000"/>
              </a:spcAft>
              <a:buSzPct val="100000"/>
              <a:buChar char="•"/>
            </a:pPr>
            <a:r>
              <a:rPr lang="en-US" sz="1700" dirty="0">
                <a:solidFill>
                  <a:schemeClr val="tx1"/>
                </a:solidFill>
              </a:rPr>
              <a:t>Vulnerable muscles: show which muscles need closer monitoring</a:t>
            </a:r>
            <a:endParaRPr lang="en-US" sz="2000" dirty="0"/>
          </a:p>
          <a:p>
            <a:pPr marL="342900" indent="-342900">
              <a:spcAft>
                <a:spcPts val="1000"/>
              </a:spcAft>
              <a:buSzPct val="100000"/>
              <a:buChar char="•"/>
            </a:pPr>
            <a:r>
              <a:rPr lang="en-US" sz="1700" dirty="0">
                <a:solidFill>
                  <a:schemeClr val="tx1"/>
                </a:solidFill>
              </a:rPr>
              <a:t>Function: less muscle loss helps preserve strength and power</a:t>
            </a:r>
            <a:endParaRPr lang="en-US" sz="2000" dirty="0"/>
          </a:p>
          <a:p>
            <a:pPr marL="342900" indent="-342900">
              <a:spcAft>
                <a:spcPts val="1000"/>
              </a:spcAft>
              <a:buSzPct val="100000"/>
              <a:buChar char="•"/>
            </a:pPr>
            <a:r>
              <a:rPr lang="en-US" sz="1700" dirty="0">
                <a:solidFill>
                  <a:schemeClr val="tx1"/>
                </a:solidFill>
              </a:rPr>
              <a:t>Mission planning: estimate muscle loss on long missions with limited exercise equipment</a:t>
            </a:r>
            <a:endParaRPr lang="en-US" sz="2000" dirty="0"/>
          </a:p>
        </p:txBody>
      </p:sp>
      <p:sp>
        <p:nvSpPr>
          <p:cNvPr id="14" name="Illustration panel"/>
          <p:cNvSpPr/>
          <p:nvPr/>
        </p:nvSpPr>
        <p:spPr>
          <a:xfrm>
            <a:off x="6903720" y="1234440"/>
            <a:ext cx="4736592" cy="4892040"/>
          </a:xfrm>
          <a:prstGeom prst="rect">
            <a:avLst/>
          </a:prstGeom>
          <a:solidFill>
            <a:schemeClr val="bg2"/>
          </a:solidFill>
          <a:ln/>
        </p:spPr>
      </p:sp>
      <p:sp>
        <p:nvSpPr>
          <p:cNvPr id="15"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Figure 1. Unloading shrinks leg muscles</a:t>
            </a:r>
            <a:endParaRPr lang="en-US" sz="1400" dirty="0"/>
          </a:p>
        </p:txBody>
      </p:sp>
      <p:sp>
        <p:nvSpPr>
          <p:cNvPr id="16" name="Bed"/>
          <p:cNvSpPr/>
          <p:nvPr/>
        </p:nvSpPr>
        <p:spPr>
          <a:xfrm rot="360000">
            <a:off x="7315200" y="2377440"/>
            <a:ext cx="3931920" cy="128016"/>
          </a:xfrm>
          <a:prstGeom prst="rect">
            <a:avLst/>
          </a:prstGeom>
          <a:solidFill>
            <a:schemeClr val="accent3"/>
          </a:solidFill>
          <a:ln/>
        </p:spPr>
      </p:sp>
      <p:sp>
        <p:nvSpPr>
          <p:cNvPr id="17" name="Body"/>
          <p:cNvSpPr/>
          <p:nvPr/>
        </p:nvSpPr>
        <p:spPr>
          <a:xfrm rot="360000">
            <a:off x="7863840" y="2093976"/>
            <a:ext cx="2606040" cy="329184"/>
          </a:xfrm>
          <a:prstGeom prst="roundRect">
            <a:avLst>
              <a:gd name="adj" fmla="val 41667"/>
            </a:avLst>
          </a:prstGeom>
          <a:solidFill>
            <a:schemeClr val="tx2"/>
          </a:solidFill>
          <a:ln/>
        </p:spPr>
      </p:sp>
      <p:sp>
        <p:nvSpPr>
          <p:cNvPr id="18" name="Head"/>
          <p:cNvSpPr/>
          <p:nvPr/>
        </p:nvSpPr>
        <p:spPr>
          <a:xfrm>
            <a:off x="10469880" y="2167128"/>
            <a:ext cx="384048" cy="384048"/>
          </a:xfrm>
          <a:prstGeom prst="ellipse">
            <a:avLst/>
          </a:prstGeom>
          <a:solidFill>
            <a:schemeClr val="tx2"/>
          </a:solidFill>
          <a:ln/>
        </p:spPr>
      </p:sp>
      <p:sp>
        <p:nvSpPr>
          <p:cNvPr id="19"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20" name="Muscle before"/>
          <p:cNvSpPr/>
          <p:nvPr/>
        </p:nvSpPr>
        <p:spPr>
          <a:xfrm>
            <a:off x="7223760" y="3337560"/>
            <a:ext cx="1737360" cy="1737360"/>
          </a:xfrm>
          <a:prstGeom prst="ellipse">
            <a:avLst/>
          </a:prstGeom>
          <a:solidFill>
            <a:schemeClr val="accent1">
              <a:alpha val="75000"/>
            </a:schemeClr>
          </a:solidFill>
          <a:ln w="12700">
            <a:solidFill>
              <a:srgbClr val="C1440E"/>
            </a:solidFill>
            <a:prstDash val="solid"/>
          </a:ln>
        </p:spPr>
      </p:sp>
      <p:sp>
        <p:nvSpPr>
          <p:cNvPr id="21" name="Muscle before bone"/>
          <p:cNvSpPr/>
          <p:nvPr/>
        </p:nvSpPr>
        <p:spPr>
          <a:xfrm>
            <a:off x="7717536" y="4151376"/>
            <a:ext cx="384048" cy="384048"/>
          </a:xfrm>
          <a:prstGeom prst="ellipse">
            <a:avLst/>
          </a:prstGeom>
          <a:solidFill>
            <a:schemeClr val="bg1"/>
          </a:solidFill>
          <a:ln w="12700">
            <a:solidFill>
              <a:srgbClr val="98A6B5"/>
            </a:solidFill>
            <a:prstDash val="solid"/>
          </a:ln>
        </p:spPr>
      </p:sp>
      <p:sp>
        <p:nvSpPr>
          <p:cNvPr id="22" name="Arrow"/>
          <p:cNvSpPr/>
          <p:nvPr/>
        </p:nvSpPr>
        <p:spPr>
          <a:xfrm>
            <a:off x="9098280" y="4206240"/>
            <a:ext cx="548640" cy="0"/>
          </a:xfrm>
          <a:prstGeom prst="line">
            <a:avLst/>
          </a:prstGeom>
          <a:noFill/>
          <a:ln w="15875">
            <a:solidFill>
              <a:srgbClr val="1B2533"/>
            </a:solidFill>
            <a:prstDash val="solid"/>
            <a:tailEnd type="triangle"/>
          </a:ln>
        </p:spPr>
      </p:sp>
      <p:sp>
        <p:nvSpPr>
          <p:cNvPr id="23" name="Muscle after"/>
          <p:cNvSpPr/>
          <p:nvPr/>
        </p:nvSpPr>
        <p:spPr>
          <a:xfrm>
            <a:off x="9764214" y="3409134"/>
            <a:ext cx="1594211" cy="1594211"/>
          </a:xfrm>
          <a:prstGeom prst="ellipse">
            <a:avLst/>
          </a:prstGeom>
          <a:solidFill>
            <a:schemeClr val="accent1">
              <a:alpha val="75000"/>
            </a:schemeClr>
          </a:solidFill>
          <a:ln w="12700">
            <a:solidFill>
              <a:srgbClr val="C1440E"/>
            </a:solidFill>
            <a:prstDash val="solid"/>
          </a:ln>
        </p:spPr>
      </p:sp>
      <p:sp>
        <p:nvSpPr>
          <p:cNvPr id="24" name="Muscle after bone"/>
          <p:cNvSpPr/>
          <p:nvPr/>
        </p:nvSpPr>
        <p:spPr>
          <a:xfrm>
            <a:off x="10186416" y="4151376"/>
            <a:ext cx="384048" cy="384048"/>
          </a:xfrm>
          <a:prstGeom prst="ellipse">
            <a:avLst/>
          </a:prstGeom>
          <a:solidFill>
            <a:schemeClr val="bg1"/>
          </a:solidFill>
          <a:ln w="12700">
            <a:solidFill>
              <a:srgbClr val="98A6B5"/>
            </a:solidFill>
            <a:prstDash val="solid"/>
          </a:ln>
        </p:spPr>
      </p:sp>
      <p:sp>
        <p:nvSpPr>
          <p:cNvPr id="25" name="Original outline"/>
          <p:cNvSpPr/>
          <p:nvPr/>
        </p:nvSpPr>
        <p:spPr>
          <a:xfrm>
            <a:off x="9692640" y="3337560"/>
            <a:ext cx="1737360" cy="1737360"/>
          </a:xfrm>
          <a:prstGeom prst="ellipse">
            <a:avLst/>
          </a:prstGeom>
          <a:ln w="12700">
            <a:solidFill>
              <a:srgbClr val="1B2533"/>
            </a:solidFill>
            <a:prstDash val="dash"/>
          </a:ln>
        </p:spPr>
      </p:sp>
      <p:sp>
        <p:nvSpPr>
          <p:cNvPr id="26"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7"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After unloading</a:t>
            </a:r>
            <a:endParaRPr lang="en-US" sz="1300" dirty="0"/>
          </a:p>
        </p:txBody>
      </p:sp>
      <p:sp>
        <p:nvSpPr>
          <p:cNvPr id="28"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Schematic calf cross-section; dashed line = size before unloading.</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8988552" y="6382512"/>
            <a:ext cx="219456" cy="219456"/>
          </a:xfrm>
          <a:prstGeom prst="ellipse">
            <a:avLst/>
          </a:prstGeom>
          <a:solidFill>
            <a:schemeClr val="accent1"/>
          </a:solidFill>
          <a:ln w="9525">
            <a:solidFill>
              <a:srgbClr val="C1440E"/>
            </a:solidFill>
            <a:prstDash val="solid"/>
          </a:ln>
        </p:spPr>
      </p:sp>
      <p:sp>
        <p:nvSpPr>
          <p:cNvPr id="6" name="Tracker 2 Literature research"/>
          <p:cNvSpPr/>
          <p:nvPr/>
        </p:nvSpPr>
        <p:spPr>
          <a:xfrm>
            <a:off x="9386316" y="6432804"/>
            <a:ext cx="118872" cy="118872"/>
          </a:xfrm>
          <a:prstGeom prst="ellipse">
            <a:avLst/>
          </a:prstGeom>
          <a:solidFill>
            <a:schemeClr val="bg1"/>
          </a:solidFill>
          <a:ln w="9525">
            <a:solidFill>
              <a:srgbClr val="98A6B5"/>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1  Intro and motivation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From bed rest to Mars: analogue and application</a:t>
            </a:r>
            <a:endParaRPr lang="en-US" sz="2800" dirty="0"/>
          </a:p>
        </p:txBody>
      </p:sp>
      <p:sp>
        <p:nvSpPr>
          <p:cNvPr id="13"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Bed rest: the ground analogue</a:t>
            </a:r>
            <a:endParaRPr lang="en-US" sz="1900" dirty="0"/>
          </a:p>
          <a:p>
            <a:pPr marL="342900" indent="-342900">
              <a:spcAft>
                <a:spcPts val="400"/>
              </a:spcAft>
              <a:buSzPct val="100000"/>
              <a:buChar char="•"/>
            </a:pPr>
            <a:r>
              <a:rPr lang="en-US" sz="1600" dirty="0">
                <a:solidFill>
                  <a:schemeClr val="tx1"/>
                </a:solidFill>
              </a:rPr>
              <a:t>Spaceflight data on muscle are scarce</a:t>
            </a:r>
            <a:endParaRPr lang="en-US" sz="1900" dirty="0"/>
          </a:p>
          <a:p>
            <a:pPr marL="342900" indent="-342900">
              <a:spcAft>
                <a:spcPts val="400"/>
              </a:spcAft>
              <a:buSzPct val="100000"/>
              <a:buChar char="•"/>
            </a:pPr>
            <a:r>
              <a:rPr lang="en-US" sz="1600" dirty="0">
                <a:solidFill>
                  <a:schemeClr val="tx1"/>
                </a:solidFill>
              </a:rPr>
              <a:t>Head-down bed rest unloads the legs under controlled conditions</a:t>
            </a:r>
            <a:endParaRPr lang="en-US" sz="1900" dirty="0"/>
          </a:p>
          <a:p>
            <a:pPr indent="0" marL="0">
              <a:spcBef>
                <a:spcPts val="1800"/>
              </a:spcBef>
              <a:spcAft>
                <a:spcPts val="300"/>
              </a:spcAft>
              <a:buNone/>
            </a:pPr>
            <a:r>
              <a:rPr lang="en-US" sz="1900" b="1" dirty="0">
                <a:solidFill>
                  <a:schemeClr val="tx2"/>
                </a:solidFill>
              </a:rPr>
              <a:t>Mars: the long-term application</a:t>
            </a:r>
            <a:endParaRPr lang="en-US" sz="1900" dirty="0"/>
          </a:p>
          <a:p>
            <a:pPr marL="342900" indent="-342900">
              <a:spcAft>
                <a:spcPts val="400"/>
              </a:spcAft>
              <a:buSzPct val="100000"/>
              <a:buChar char="•"/>
            </a:pPr>
            <a:r>
              <a:rPr lang="en-US" sz="1600" dirty="0">
                <a:solidFill>
                  <a:schemeClr val="tx1"/>
                </a:solidFill>
              </a:rPr>
              <a:t>No early return in an emergency: the crew depends on its own fitness</a:t>
            </a:r>
            <a:endParaRPr lang="en-US" sz="1900" dirty="0"/>
          </a:p>
        </p:txBody>
      </p:sp>
      <p:sp>
        <p:nvSpPr>
          <p:cNvPr id="14" name="Mission panel"/>
          <p:cNvSpPr/>
          <p:nvPr/>
        </p:nvSpPr>
        <p:spPr>
          <a:xfrm>
            <a:off x="6492240" y="1188720"/>
            <a:ext cx="5148072" cy="3520440"/>
          </a:xfrm>
          <a:prstGeom prst="rect">
            <a:avLst/>
          </a:prstGeom>
          <a:solidFill>
            <a:schemeClr val="bg2"/>
          </a:solidFill>
          <a:ln/>
        </p:spPr>
      </p:sp>
      <p:sp>
        <p:nvSpPr>
          <p:cNvPr id="15"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Figure 2. Moon mission vs Mars mission</a:t>
            </a:r>
            <a:endParaRPr lang="en-US" sz="1400" dirty="0"/>
          </a:p>
        </p:txBody>
      </p:sp>
      <p:sp>
        <p:nvSpPr>
          <p:cNvPr id="16" name="Earth"/>
          <p:cNvSpPr/>
          <p:nvPr/>
        </p:nvSpPr>
        <p:spPr>
          <a:xfrm>
            <a:off x="6675120" y="1828800"/>
            <a:ext cx="548640" cy="548640"/>
          </a:xfrm>
          <a:prstGeom prst="ellipse">
            <a:avLst/>
          </a:prstGeom>
          <a:solidFill>
            <a:srgbClr val="0B2545"/>
          </a:solidFill>
          <a:ln/>
        </p:spPr>
      </p:sp>
      <p:pic>
        <p:nvPicPr>
          <p:cNvPr id="17" name="Image 2" descr="Earth (photo map, semi-transparent)">    </p:cNvPr>
          <p:cNvPicPr>
            <a:picLocks noChangeAspect="1"/>
          </p:cNvPicPr>
          <p:nvPr/>
        </p:nvPicPr>
        <p:blipFill>
          <a:blip r:embed="rId3"/>
          <a:stretch>
            <a:fillRect/>
          </a:stretch>
        </p:blipFill>
        <p:spPr>
          <a:xfrm>
            <a:off x="6675120" y="1828800"/>
            <a:ext cx="548640" cy="548640"/>
          </a:xfrm>
          <a:prstGeom prst="rect">
            <a:avLst/>
          </a:prstGeom>
        </p:spPr>
      </p:pic>
      <p:sp>
        <p:nvSpPr>
          <p:cNvPr id="18"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9" name="Moon"/>
          <p:cNvSpPr/>
          <p:nvPr/>
        </p:nvSpPr>
        <p:spPr>
          <a:xfrm>
            <a:off x="7863840" y="1965960"/>
            <a:ext cx="274320" cy="274320"/>
          </a:xfrm>
          <a:prstGeom prst="ellipse">
            <a:avLst/>
          </a:prstGeom>
          <a:solidFill>
            <a:srgbClr val="B8C4D1"/>
          </a:solidFill>
          <a:ln/>
        </p:spPr>
      </p:sp>
      <p:pic>
        <p:nvPicPr>
          <p:cNvPr id="20" name="Image 3" descr="Moon (photo map, semi-transparent)">    </p:cNvPr>
          <p:cNvPicPr>
            <a:picLocks noChangeAspect="1"/>
          </p:cNvPicPr>
          <p:nvPr/>
        </p:nvPicPr>
        <p:blipFill>
          <a:blip r:embed="rId4"/>
          <a:stretch>
            <a:fillRect/>
          </a:stretch>
        </p:blipFill>
        <p:spPr>
          <a:xfrm>
            <a:off x="7863840" y="1965960"/>
            <a:ext cx="274320" cy="274320"/>
          </a:xfrm>
          <a:prstGeom prst="rect">
            <a:avLst/>
          </a:prstGeom>
        </p:spPr>
      </p:pic>
      <p:sp>
        <p:nvSpPr>
          <p:cNvPr id="21"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2" name="Mars"/>
          <p:cNvSpPr/>
          <p:nvPr/>
        </p:nvSpPr>
        <p:spPr>
          <a:xfrm>
            <a:off x="10927080" y="1874520"/>
            <a:ext cx="457200" cy="457200"/>
          </a:xfrm>
          <a:prstGeom prst="ellipse">
            <a:avLst/>
          </a:prstGeom>
          <a:solidFill>
            <a:srgbClr val="C1440E"/>
          </a:solidFill>
          <a:ln/>
        </p:spPr>
      </p:sp>
      <p:pic>
        <p:nvPicPr>
          <p:cNvPr id="23" name="Image 4" descr="Mars (photo map, semi-transparent)">    </p:cNvPr>
          <p:cNvPicPr>
            <a:picLocks noChangeAspect="1"/>
          </p:cNvPicPr>
          <p:nvPr/>
        </p:nvPicPr>
        <p:blipFill>
          <a:blip r:embed="rId5"/>
          <a:stretch>
            <a:fillRect/>
          </a:stretch>
        </p:blipFill>
        <p:spPr>
          <a:xfrm>
            <a:off x="10927080" y="1874520"/>
            <a:ext cx="457200" cy="457200"/>
          </a:xfrm>
          <a:prstGeom prst="rect">
            <a:avLst/>
          </a:prstGeom>
        </p:spPr>
      </p:pic>
      <p:sp>
        <p:nvSpPr>
          <p:cNvPr id="24"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5" name="Route to Moon"/>
          <p:cNvSpPr/>
          <p:nvPr/>
        </p:nvSpPr>
        <p:spPr>
          <a:xfrm>
            <a:off x="7251192" y="2103120"/>
            <a:ext cx="594360" cy="0"/>
          </a:xfrm>
          <a:prstGeom prst="line">
            <a:avLst/>
          </a:prstGeom>
          <a:noFill/>
          <a:ln w="12700">
            <a:solidFill>
              <a:srgbClr val="5D6B7B"/>
            </a:solidFill>
            <a:prstDash val="dash"/>
            <a:tailEnd type="triangle"/>
          </a:ln>
        </p:spPr>
      </p:sp>
      <p:sp>
        <p:nvSpPr>
          <p:cNvPr id="26"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7" name="Route to Mars"/>
          <p:cNvSpPr/>
          <p:nvPr/>
        </p:nvSpPr>
        <p:spPr>
          <a:xfrm>
            <a:off x="8183880" y="2103120"/>
            <a:ext cx="2724912" cy="0"/>
          </a:xfrm>
          <a:prstGeom prst="line">
            <a:avLst/>
          </a:prstGeom>
          <a:noFill/>
          <a:ln w="12700">
            <a:solidFill>
              <a:srgbClr val="5D6B7B"/>
            </a:solidFill>
            <a:prstDash val="dash"/>
            <a:tailEnd type="triangle"/>
          </a:ln>
        </p:spPr>
      </p:sp>
      <p:sp>
        <p:nvSpPr>
          <p:cNvPr id="28"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9"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30" name="Moon mission bar"/>
          <p:cNvSpPr/>
          <p:nvPr/>
        </p:nvSpPr>
        <p:spPr>
          <a:xfrm>
            <a:off x="8229600" y="2880360"/>
            <a:ext cx="42672" cy="292608"/>
          </a:xfrm>
          <a:prstGeom prst="rect">
            <a:avLst/>
          </a:prstGeom>
          <a:solidFill>
            <a:srgbClr val="5D6B7B"/>
          </a:solidFill>
          <a:ln/>
        </p:spPr>
      </p:sp>
      <p:sp>
        <p:nvSpPr>
          <p:cNvPr id="31" name="Text 24"/>
          <p:cNvSpPr txBox="1"/>
          <p:nvPr/>
        </p:nvSpPr>
        <p:spPr>
          <a:xfrm>
            <a:off x="8327136" y="2880360"/>
            <a:ext cx="237744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 (Apollo 17)</a:t>
            </a:r>
            <a:endParaRPr lang="en-US" sz="1050" dirty="0"/>
          </a:p>
        </p:txBody>
      </p:sp>
      <p:sp>
        <p:nvSpPr>
          <p:cNvPr id="32"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3" name="Mars to Mars"/>
          <p:cNvSpPr/>
          <p:nvPr/>
        </p:nvSpPr>
        <p:spPr>
          <a:xfrm>
            <a:off x="8229600" y="3566160"/>
            <a:ext cx="640080" cy="292608"/>
          </a:xfrm>
          <a:prstGeom prst="rect">
            <a:avLst/>
          </a:prstGeom>
          <a:solidFill>
            <a:srgbClr val="C1440E"/>
          </a:solidFill>
          <a:ln w="12700">
            <a:solidFill>
              <a:srgbClr val="FFFFFF"/>
            </a:solidFill>
            <a:prstDash val="solid"/>
          </a:ln>
        </p:spPr>
      </p:sp>
      <p:sp>
        <p:nvSpPr>
          <p:cNvPr id="34"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5" name="Mars on Mars, about 500 days"/>
          <p:cNvSpPr/>
          <p:nvPr/>
        </p:nvSpPr>
        <p:spPr>
          <a:xfrm>
            <a:off x="8869680" y="3566160"/>
            <a:ext cx="1778000" cy="292608"/>
          </a:xfrm>
          <a:prstGeom prst="rect">
            <a:avLst/>
          </a:prstGeom>
          <a:solidFill>
            <a:srgbClr val="C1440E">
              <a:alpha val="55000"/>
            </a:srgbClr>
          </a:solidFill>
          <a:ln w="12700">
            <a:solidFill>
              <a:srgbClr val="FFFFFF"/>
            </a:solidFill>
            <a:prstDash val="solid"/>
          </a:ln>
        </p:spPr>
      </p:sp>
      <p:sp>
        <p:nvSpPr>
          <p:cNvPr id="36"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7" name="Mars home"/>
          <p:cNvSpPr/>
          <p:nvPr/>
        </p:nvSpPr>
        <p:spPr>
          <a:xfrm>
            <a:off x="10647680" y="3566160"/>
            <a:ext cx="640080" cy="292608"/>
          </a:xfrm>
          <a:prstGeom prst="rect">
            <a:avLst/>
          </a:prstGeom>
          <a:solidFill>
            <a:srgbClr val="C1440E"/>
          </a:solidFill>
          <a:ln w="12700">
            <a:solidFill>
              <a:srgbClr val="FFFFFF"/>
            </a:solidFill>
            <a:prstDash val="solid"/>
          </a:ln>
        </p:spPr>
      </p:sp>
      <p:sp>
        <p:nvSpPr>
          <p:cNvPr id="38"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9" name="Arrival marker"/>
          <p:cNvSpPr/>
          <p:nvPr/>
        </p:nvSpPr>
        <p:spPr>
          <a:xfrm>
            <a:off x="8869680" y="3886200"/>
            <a:ext cx="0" cy="182880"/>
          </a:xfrm>
          <a:prstGeom prst="line">
            <a:avLst/>
          </a:prstGeom>
          <a:noFill/>
          <a:ln w="12700">
            <a:solidFill>
              <a:srgbClr val="1B2533"/>
            </a:solidFill>
            <a:prstDash val="solid"/>
            <a:headEnd type="triangle"/>
          </a:ln>
        </p:spPr>
      </p:sp>
      <p:sp>
        <p:nvSpPr>
          <p:cNvPr id="40"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41" name="Time axis"/>
          <p:cNvSpPr/>
          <p:nvPr/>
        </p:nvSpPr>
        <p:spPr>
          <a:xfrm>
            <a:off x="8229600" y="4434840"/>
            <a:ext cx="3200400" cy="0"/>
          </a:xfrm>
          <a:prstGeom prst="line">
            <a:avLst/>
          </a:prstGeom>
          <a:noFill/>
          <a:ln w="9525">
            <a:solidFill>
              <a:srgbClr val="5D6B7B"/>
            </a:solidFill>
            <a:prstDash val="solid"/>
          </a:ln>
        </p:spPr>
      </p:sp>
      <p:sp>
        <p:nvSpPr>
          <p:cNvPr id="42" name="Tick 0"/>
          <p:cNvSpPr/>
          <p:nvPr/>
        </p:nvSpPr>
        <p:spPr>
          <a:xfrm>
            <a:off x="8229600" y="4434840"/>
            <a:ext cx="0" cy="54864"/>
          </a:xfrm>
          <a:prstGeom prst="line">
            <a:avLst/>
          </a:prstGeom>
          <a:noFill/>
          <a:ln w="9525">
            <a:solidFill>
              <a:srgbClr val="5D6B7B"/>
            </a:solidFill>
            <a:prstDash val="solid"/>
          </a:ln>
        </p:spPr>
      </p:sp>
      <p:sp>
        <p:nvSpPr>
          <p:cNvPr id="43"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4" name="Tick 1 year"/>
          <p:cNvSpPr/>
          <p:nvPr/>
        </p:nvSpPr>
        <p:spPr>
          <a:xfrm>
            <a:off x="9527540" y="4434840"/>
            <a:ext cx="0" cy="54864"/>
          </a:xfrm>
          <a:prstGeom prst="line">
            <a:avLst/>
          </a:prstGeom>
          <a:noFill/>
          <a:ln w="9525">
            <a:solidFill>
              <a:srgbClr val="5D6B7B"/>
            </a:solidFill>
            <a:prstDash val="solid"/>
          </a:ln>
        </p:spPr>
      </p:sp>
      <p:sp>
        <p:nvSpPr>
          <p:cNvPr id="45"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6" name="Tick 2 years"/>
          <p:cNvSpPr/>
          <p:nvPr/>
        </p:nvSpPr>
        <p:spPr>
          <a:xfrm>
            <a:off x="10825480" y="4434840"/>
            <a:ext cx="0" cy="54864"/>
          </a:xfrm>
          <a:prstGeom prst="line">
            <a:avLst/>
          </a:prstGeom>
          <a:noFill/>
          <a:ln w="9525">
            <a:solidFill>
              <a:srgbClr val="5D6B7B"/>
            </a:solidFill>
            <a:prstDash val="solid"/>
          </a:ln>
        </p:spPr>
      </p:sp>
      <p:sp>
        <p:nvSpPr>
          <p:cNvPr id="47"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8" name="Step 1"/>
          <p:cNvSpPr/>
          <p:nvPr/>
        </p:nvSpPr>
        <p:spPr>
          <a:xfrm>
            <a:off x="548640" y="4983480"/>
            <a:ext cx="2423160" cy="685800"/>
          </a:xfrm>
          <a:prstGeom prst="rect">
            <a:avLst/>
          </a:prstGeom>
          <a:solidFill>
            <a:srgbClr val="FFFFFF"/>
          </a:solidFill>
          <a:ln w="12700">
            <a:solidFill>
              <a:srgbClr val="98A6B5"/>
            </a:solidFill>
            <a:prstDash val="solid"/>
          </a:ln>
        </p:spPr>
      </p:sp>
      <p:sp>
        <p:nvSpPr>
          <p:cNvPr id="49"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50" name="Step 2"/>
          <p:cNvSpPr/>
          <p:nvPr/>
        </p:nvSpPr>
        <p:spPr>
          <a:xfrm>
            <a:off x="3429000" y="4983480"/>
            <a:ext cx="2423160" cy="685800"/>
          </a:xfrm>
          <a:prstGeom prst="rect">
            <a:avLst/>
          </a:prstGeom>
          <a:solidFill>
            <a:srgbClr val="0B2545"/>
          </a:solidFill>
          <a:ln w="12700">
            <a:solidFill>
              <a:srgbClr val="0B2545"/>
            </a:solidFill>
            <a:prstDash val="solid"/>
          </a:ln>
        </p:spPr>
      </p:sp>
      <p:sp>
        <p:nvSpPr>
          <p:cNvPr id="51"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2" name="Step 3"/>
          <p:cNvSpPr/>
          <p:nvPr/>
        </p:nvSpPr>
        <p:spPr>
          <a:xfrm>
            <a:off x="6309360" y="4983480"/>
            <a:ext cx="2423160" cy="685800"/>
          </a:xfrm>
          <a:prstGeom prst="rect">
            <a:avLst/>
          </a:prstGeom>
          <a:solidFill>
            <a:srgbClr val="FFFFFF"/>
          </a:solidFill>
          <a:ln w="12700">
            <a:solidFill>
              <a:srgbClr val="98A6B5"/>
            </a:solidFill>
            <a:prstDash val="dash"/>
          </a:ln>
        </p:spPr>
      </p:sp>
      <p:sp>
        <p:nvSpPr>
          <p:cNvPr id="53"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4" name="Step 4"/>
          <p:cNvSpPr/>
          <p:nvPr/>
        </p:nvSpPr>
        <p:spPr>
          <a:xfrm>
            <a:off x="9189720" y="4983480"/>
            <a:ext cx="2423160" cy="685800"/>
          </a:xfrm>
          <a:prstGeom prst="rect">
            <a:avLst/>
          </a:prstGeom>
          <a:solidFill>
            <a:srgbClr val="FFFFFF"/>
          </a:solidFill>
          <a:ln w="12700">
            <a:solidFill>
              <a:srgbClr val="98A6B5"/>
            </a:solidFill>
            <a:prstDash val="dash"/>
          </a:ln>
        </p:spPr>
      </p:sp>
      <p:sp>
        <p:nvSpPr>
          <p:cNvPr id="55"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6" name="Arrow 1"/>
          <p:cNvSpPr/>
          <p:nvPr/>
        </p:nvSpPr>
        <p:spPr>
          <a:xfrm>
            <a:off x="3017520" y="5326380"/>
            <a:ext cx="365760" cy="0"/>
          </a:xfrm>
          <a:prstGeom prst="line">
            <a:avLst/>
          </a:prstGeom>
          <a:noFill/>
          <a:ln w="15875">
            <a:solidFill>
              <a:srgbClr val="1B2533"/>
            </a:solidFill>
            <a:prstDash val="solid"/>
            <a:tailEnd type="triangle"/>
          </a:ln>
        </p:spPr>
      </p:sp>
      <p:sp>
        <p:nvSpPr>
          <p:cNvPr id="57"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8" name="Arrow 3"/>
          <p:cNvSpPr/>
          <p:nvPr/>
        </p:nvSpPr>
        <p:spPr>
          <a:xfrm>
            <a:off x="8778240" y="5326380"/>
            <a:ext cx="365760" cy="0"/>
          </a:xfrm>
          <a:prstGeom prst="line">
            <a:avLst/>
          </a:prstGeom>
          <a:noFill/>
          <a:ln w="15875">
            <a:solidFill>
              <a:srgbClr val="1B2533"/>
            </a:solidFill>
            <a:prstDash val="solid"/>
            <a:tailEnd type="triangle"/>
          </a:ln>
        </p:spPr>
      </p:sp>
      <p:sp>
        <p:nvSpPr>
          <p:cNvPr id="59" name="Text 52"/>
          <p:cNvSpPr txBox="1"/>
          <p:nvPr/>
        </p:nvSpPr>
        <p:spPr>
          <a:xfrm>
            <a:off x="548640" y="5733288"/>
            <a:ext cx="5486400" cy="228600"/>
          </a:xfrm>
          <a:prstGeom prst="rect">
            <a:avLst/>
          </a:prstGeom>
          <a:noFill/>
          <a:ln/>
        </p:spPr>
        <p:txBody>
          <a:bodyPr wrap="square" lIns="0" tIns="0" rIns="0" bIns="0" rtlCol="0" anchor="t"/>
          <a:lstStyle/>
          <a:p>
            <a:pPr indent="0" marL="0">
              <a:buNone/>
            </a:pPr>
            <a:r>
              <a:rPr lang="en-US" sz="1100" b="1" dirty="0">
                <a:solidFill>
                  <a:schemeClr val="tx2"/>
                </a:solidFill>
              </a:rPr>
              <a:t>Figure 3. From bed-rest data to crew readiness</a:t>
            </a:r>
            <a:endParaRPr lang="en-US" sz="1100" dirty="0"/>
          </a:p>
        </p:txBody>
      </p:sp>
      <p:sp>
        <p:nvSpPr>
          <p:cNvPr id="60" name="Text 53"/>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Range of unloading durations and studies</a:t>
            </a:r>
            <a:endParaRPr lang="en-US" sz="2800" dirty="0"/>
          </a:p>
        </p:txBody>
      </p:sp>
      <p:sp>
        <p:nvSpPr>
          <p:cNvPr id="13" name="Text 9"/>
          <p:cNvSpPr txBox="1"/>
          <p:nvPr/>
        </p:nvSpPr>
        <p:spPr>
          <a:xfrm>
            <a:off x="548640" y="1115568"/>
            <a:ext cx="11064240" cy="292608"/>
          </a:xfrm>
          <a:prstGeom prst="rect">
            <a:avLst/>
          </a:prstGeom>
          <a:noFill/>
          <a:ln/>
        </p:spPr>
        <p:txBody>
          <a:bodyPr wrap="square" lIns="0" tIns="0" rIns="0" bIns="0" rtlCol="0" anchor="t"/>
          <a:lstStyle/>
          <a:p>
            <a:pPr indent="0" marL="0">
              <a:buNone/>
            </a:pPr>
            <a:r>
              <a:rPr lang="en-US" sz="1400" b="1" dirty="0">
                <a:solidFill>
                  <a:schemeClr val="tx2"/>
                </a:solidFill>
              </a:rPr>
              <a:t>Figure 4. Unloading range in the abstract and in the final dataset</a:t>
            </a:r>
            <a:endParaRPr lang="en-US" sz="1400" dirty="0"/>
          </a:p>
        </p:txBody>
      </p:sp>
      <p:sp>
        <p:nvSpPr>
          <p:cNvPr id="14" name="Text 10"/>
          <p:cNvSpPr txBox="1"/>
          <p:nvPr/>
        </p:nvSpPr>
        <p:spPr>
          <a:xfrm>
            <a:off x="548640" y="148132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5" name="Abstract 14-119"/>
          <p:cNvSpPr/>
          <p:nvPr/>
        </p:nvSpPr>
        <p:spPr>
          <a:xfrm>
            <a:off x="3889248" y="1591056"/>
            <a:ext cx="4480560" cy="329184"/>
          </a:xfrm>
          <a:prstGeom prst="rect">
            <a:avLst/>
          </a:prstGeom>
          <a:solidFill>
            <a:srgbClr val="B8C4D1"/>
          </a:solidFill>
          <a:ln/>
        </p:spPr>
      </p:sp>
      <p:sp>
        <p:nvSpPr>
          <p:cNvPr id="16" name="Text 12"/>
          <p:cNvSpPr txBox="1"/>
          <p:nvPr/>
        </p:nvSpPr>
        <p:spPr>
          <a:xfrm>
            <a:off x="3477768" y="159105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7" name="Text 13"/>
          <p:cNvSpPr txBox="1"/>
          <p:nvPr/>
        </p:nvSpPr>
        <p:spPr>
          <a:xfrm>
            <a:off x="8433816" y="159105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8" name="Text 14"/>
          <p:cNvSpPr txBox="1"/>
          <p:nvPr/>
        </p:nvSpPr>
        <p:spPr>
          <a:xfrm>
            <a:off x="548640" y="2048256"/>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9" name="Final dataset 5-119"/>
          <p:cNvSpPr/>
          <p:nvPr/>
        </p:nvSpPr>
        <p:spPr>
          <a:xfrm>
            <a:off x="3505200" y="2157984"/>
            <a:ext cx="4864608" cy="329184"/>
          </a:xfrm>
          <a:prstGeom prst="rect">
            <a:avLst/>
          </a:prstGeom>
          <a:solidFill>
            <a:srgbClr val="0B2545"/>
          </a:solidFill>
          <a:ln/>
        </p:spPr>
      </p:sp>
      <p:sp>
        <p:nvSpPr>
          <p:cNvPr id="20" name="Final dataset 119-180"/>
          <p:cNvSpPr/>
          <p:nvPr/>
        </p:nvSpPr>
        <p:spPr>
          <a:xfrm>
            <a:off x="8369808" y="2157984"/>
            <a:ext cx="2602992" cy="329184"/>
          </a:xfrm>
          <a:prstGeom prst="rect">
            <a:avLst/>
          </a:prstGeom>
          <a:solidFill>
            <a:srgbClr val="C1440E"/>
          </a:solidFill>
          <a:ln/>
        </p:spPr>
      </p:sp>
      <p:sp>
        <p:nvSpPr>
          <p:cNvPr id="21" name="Text 17"/>
          <p:cNvSpPr txBox="1"/>
          <p:nvPr/>
        </p:nvSpPr>
        <p:spPr>
          <a:xfrm>
            <a:off x="3093720" y="2157984"/>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22" name="Text 18"/>
          <p:cNvSpPr txBox="1"/>
          <p:nvPr/>
        </p:nvSpPr>
        <p:spPr>
          <a:xfrm>
            <a:off x="11036808" y="2157984"/>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3" name="Text 19"/>
          <p:cNvSpPr txBox="1"/>
          <p:nvPr/>
        </p:nvSpPr>
        <p:spPr>
          <a:xfrm>
            <a:off x="3505200" y="2157984"/>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4" name="Text 20"/>
          <p:cNvSpPr txBox="1"/>
          <p:nvPr/>
        </p:nvSpPr>
        <p:spPr>
          <a:xfrm>
            <a:off x="8369808" y="2157984"/>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5" name="Day axis"/>
          <p:cNvSpPr/>
          <p:nvPr/>
        </p:nvSpPr>
        <p:spPr>
          <a:xfrm>
            <a:off x="3291840" y="2670048"/>
            <a:ext cx="7680960" cy="0"/>
          </a:xfrm>
          <a:prstGeom prst="line">
            <a:avLst/>
          </a:prstGeom>
          <a:noFill/>
          <a:ln w="9525">
            <a:solidFill>
              <a:srgbClr val="5D6B7B"/>
            </a:solidFill>
            <a:prstDash val="solid"/>
          </a:ln>
        </p:spPr>
      </p:sp>
      <p:sp>
        <p:nvSpPr>
          <p:cNvPr id="26" name="Tick 0"/>
          <p:cNvSpPr/>
          <p:nvPr/>
        </p:nvSpPr>
        <p:spPr>
          <a:xfrm>
            <a:off x="3291840" y="2670048"/>
            <a:ext cx="0" cy="54864"/>
          </a:xfrm>
          <a:prstGeom prst="line">
            <a:avLst/>
          </a:prstGeom>
          <a:noFill/>
          <a:ln w="9525">
            <a:solidFill>
              <a:srgbClr val="5D6B7B"/>
            </a:solidFill>
            <a:prstDash val="solid"/>
          </a:ln>
        </p:spPr>
      </p:sp>
      <p:sp>
        <p:nvSpPr>
          <p:cNvPr id="27" name="Text 23"/>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ick 30"/>
          <p:cNvSpPr/>
          <p:nvPr/>
        </p:nvSpPr>
        <p:spPr>
          <a:xfrm>
            <a:off x="4572000" y="2670048"/>
            <a:ext cx="0" cy="54864"/>
          </a:xfrm>
          <a:prstGeom prst="line">
            <a:avLst/>
          </a:prstGeom>
          <a:noFill/>
          <a:ln w="9525">
            <a:solidFill>
              <a:srgbClr val="5D6B7B"/>
            </a:solidFill>
            <a:prstDash val="solid"/>
          </a:ln>
        </p:spPr>
      </p:sp>
      <p:sp>
        <p:nvSpPr>
          <p:cNvPr id="29" name="Text 25"/>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30" name="Tick 60"/>
          <p:cNvSpPr/>
          <p:nvPr/>
        </p:nvSpPr>
        <p:spPr>
          <a:xfrm>
            <a:off x="5852160" y="2670048"/>
            <a:ext cx="0" cy="54864"/>
          </a:xfrm>
          <a:prstGeom prst="line">
            <a:avLst/>
          </a:prstGeom>
          <a:noFill/>
          <a:ln w="9525">
            <a:solidFill>
              <a:srgbClr val="5D6B7B"/>
            </a:solidFill>
            <a:prstDash val="solid"/>
          </a:ln>
        </p:spPr>
      </p:sp>
      <p:sp>
        <p:nvSpPr>
          <p:cNvPr id="31" name="Text 27"/>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2" name="Tick 90"/>
          <p:cNvSpPr/>
          <p:nvPr/>
        </p:nvSpPr>
        <p:spPr>
          <a:xfrm>
            <a:off x="7132320" y="2670048"/>
            <a:ext cx="0" cy="54864"/>
          </a:xfrm>
          <a:prstGeom prst="line">
            <a:avLst/>
          </a:prstGeom>
          <a:noFill/>
          <a:ln w="9525">
            <a:solidFill>
              <a:srgbClr val="5D6B7B"/>
            </a:solidFill>
            <a:prstDash val="solid"/>
          </a:ln>
        </p:spPr>
      </p:sp>
      <p:sp>
        <p:nvSpPr>
          <p:cNvPr id="33" name="Text 29"/>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4" name="Tick 119"/>
          <p:cNvSpPr/>
          <p:nvPr/>
        </p:nvSpPr>
        <p:spPr>
          <a:xfrm>
            <a:off x="8369808" y="2670048"/>
            <a:ext cx="0" cy="54864"/>
          </a:xfrm>
          <a:prstGeom prst="line">
            <a:avLst/>
          </a:prstGeom>
          <a:noFill/>
          <a:ln w="9525">
            <a:solidFill>
              <a:srgbClr val="5D6B7B"/>
            </a:solidFill>
            <a:prstDash val="solid"/>
          </a:ln>
        </p:spPr>
      </p:sp>
      <p:sp>
        <p:nvSpPr>
          <p:cNvPr id="35" name="Text 31"/>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6" name="Tick 150"/>
          <p:cNvSpPr/>
          <p:nvPr/>
        </p:nvSpPr>
        <p:spPr>
          <a:xfrm>
            <a:off x="9692640" y="2670048"/>
            <a:ext cx="0" cy="54864"/>
          </a:xfrm>
          <a:prstGeom prst="line">
            <a:avLst/>
          </a:prstGeom>
          <a:noFill/>
          <a:ln w="9525">
            <a:solidFill>
              <a:srgbClr val="5D6B7B"/>
            </a:solidFill>
            <a:prstDash val="solid"/>
          </a:ln>
        </p:spPr>
      </p:sp>
      <p:sp>
        <p:nvSpPr>
          <p:cNvPr id="37" name="Text 33"/>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8" name="Tick 180"/>
          <p:cNvSpPr/>
          <p:nvPr/>
        </p:nvSpPr>
        <p:spPr>
          <a:xfrm>
            <a:off x="10972800" y="2670048"/>
            <a:ext cx="0" cy="54864"/>
          </a:xfrm>
          <a:prstGeom prst="line">
            <a:avLst/>
          </a:prstGeom>
          <a:noFill/>
          <a:ln w="9525">
            <a:solidFill>
              <a:srgbClr val="5D6B7B"/>
            </a:solidFill>
            <a:prstDash val="solid"/>
          </a:ln>
        </p:spPr>
      </p:sp>
      <p:sp>
        <p:nvSpPr>
          <p:cNvPr id="39" name="Text 35"/>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40" name="Text 36"/>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sp>
        <p:nvSpPr>
          <p:cNvPr id="41" name="Text 37"/>
          <p:cNvSpPr txBox="1"/>
          <p:nvPr/>
        </p:nvSpPr>
        <p:spPr>
          <a:xfrm>
            <a:off x="3291840" y="3017520"/>
            <a:ext cx="7680960" cy="320040"/>
          </a:xfrm>
          <a:prstGeom prst="rect">
            <a:avLst/>
          </a:prstGeom>
          <a:noFill/>
          <a:ln/>
        </p:spPr>
        <p:txBody>
          <a:bodyPr wrap="square" lIns="0" tIns="0" rIns="0" bIns="0" rtlCol="0" anchor="t"/>
          <a:lstStyle/>
          <a:p>
            <a:pPr indent="0" marL="0">
              <a:buNone/>
            </a:pPr>
            <a:r>
              <a:rPr lang="en-US" sz="1400" b="1" dirty="0">
                <a:solidFill>
                  <a:schemeClr val="tx2"/>
                </a:solidFill>
              </a:rPr>
              <a:t>Figure 5. Studies published per year, by length of unloading</a:t>
            </a:r>
            <a:endParaRPr lang="en-US" sz="1400" dirty="0"/>
          </a:p>
        </p:txBody>
      </p:sp>
      <p:sp>
        <p:nvSpPr>
          <p:cNvPr id="42" name="Text 38"/>
          <p:cNvSpPr txBox="1"/>
          <p:nvPr/>
        </p:nvSpPr>
        <p:spPr>
          <a:xfrm>
            <a:off x="3291840" y="3310128"/>
            <a:ext cx="7680960" cy="228600"/>
          </a:xfrm>
          <a:prstGeom prst="rect">
            <a:avLst/>
          </a:prstGeom>
          <a:noFill/>
          <a:ln/>
        </p:spPr>
        <p:txBody>
          <a:bodyPr wrap="square" lIns="0" tIns="0" rIns="0" bIns="0" rtlCol="0" anchor="t"/>
          <a:lstStyle/>
          <a:p>
            <a:pPr indent="0" marL="0">
              <a:buNone/>
            </a:pPr>
            <a:r>
              <a:rPr lang="en-US" sz="1100" i="1" dirty="0">
                <a:solidFill>
                  <a:schemeClr val="accent3"/>
                </a:solidFill>
              </a:rPr>
              <a:t>Years without studies omitted</a:t>
            </a:r>
            <a:endParaRPr lang="en-US" sz="1100" dirty="0"/>
          </a:p>
        </p:txBody>
      </p:sp>
      <p:sp>
        <p:nvSpPr>
          <p:cNvPr id="43" name="Text 39"/>
          <p:cNvSpPr txBox="1"/>
          <p:nvPr/>
        </p:nvSpPr>
        <p:spPr>
          <a:xfrm>
            <a:off x="548640" y="3840480"/>
            <a:ext cx="2194560" cy="274320"/>
          </a:xfrm>
          <a:prstGeom prst="rect">
            <a:avLst/>
          </a:prstGeom>
          <a:noFill/>
          <a:ln/>
        </p:spPr>
        <p:txBody>
          <a:bodyPr wrap="square" lIns="0" tIns="0" rIns="0" bIns="0" rtlCol="0" anchor="t"/>
          <a:lstStyle/>
          <a:p>
            <a:pPr indent="0" marL="0">
              <a:buNone/>
            </a:pPr>
            <a:r>
              <a:rPr lang="en-US" sz="1300" b="1" dirty="0">
                <a:solidFill>
                  <a:schemeClr val="tx2"/>
                </a:solidFill>
              </a:rPr>
              <a:t>Length of unloading</a:t>
            </a:r>
            <a:endParaRPr lang="en-US" sz="1300" dirty="0"/>
          </a:p>
        </p:txBody>
      </p:sp>
      <p:sp>
        <p:nvSpPr>
          <p:cNvPr id="44" name="Legend 180 days (spaceflight)"/>
          <p:cNvSpPr/>
          <p:nvPr/>
        </p:nvSpPr>
        <p:spPr>
          <a:xfrm>
            <a:off x="548640" y="4261104"/>
            <a:ext cx="201168" cy="164592"/>
          </a:xfrm>
          <a:prstGeom prst="rect">
            <a:avLst/>
          </a:prstGeom>
          <a:solidFill>
            <a:srgbClr val="C1440E"/>
          </a:solidFill>
          <a:ln/>
        </p:spPr>
      </p:sp>
      <p:sp>
        <p:nvSpPr>
          <p:cNvPr id="45" name="Text 41"/>
          <p:cNvSpPr txBox="1"/>
          <p:nvPr/>
        </p:nvSpPr>
        <p:spPr>
          <a:xfrm>
            <a:off x="822960" y="4206240"/>
            <a:ext cx="1920240" cy="274320"/>
          </a:xfrm>
          <a:prstGeom prst="rect">
            <a:avLst/>
          </a:prstGeom>
          <a:noFill/>
          <a:ln/>
        </p:spPr>
        <p:txBody>
          <a:bodyPr wrap="square" lIns="0" tIns="0" rIns="0" bIns="0" rtlCol="0" anchor="ctr"/>
          <a:lstStyle/>
          <a:p>
            <a:pPr indent="0" marL="0">
              <a:buNone/>
            </a:pPr>
            <a:r>
              <a:rPr lang="en-US" sz="1200" dirty="0">
                <a:solidFill>
                  <a:schemeClr val="tx1"/>
                </a:solidFill>
              </a:rPr>
              <a:t>180 days (spaceflight)</a:t>
            </a:r>
            <a:endParaRPr lang="en-US" sz="1200" dirty="0"/>
          </a:p>
        </p:txBody>
      </p:sp>
      <p:sp>
        <p:nvSpPr>
          <p:cNvPr id="46" name="Legend 61 to 119 days"/>
          <p:cNvSpPr/>
          <p:nvPr/>
        </p:nvSpPr>
        <p:spPr>
          <a:xfrm>
            <a:off x="548640" y="4590288"/>
            <a:ext cx="201168" cy="164592"/>
          </a:xfrm>
          <a:prstGeom prst="rect">
            <a:avLst/>
          </a:prstGeom>
          <a:solidFill>
            <a:srgbClr val="0B2545"/>
          </a:solidFill>
          <a:ln/>
        </p:spPr>
      </p:sp>
      <p:sp>
        <p:nvSpPr>
          <p:cNvPr id="47" name="Text 43"/>
          <p:cNvSpPr txBox="1"/>
          <p:nvPr/>
        </p:nvSpPr>
        <p:spPr>
          <a:xfrm>
            <a:off x="822960" y="4535424"/>
            <a:ext cx="1920240" cy="274320"/>
          </a:xfrm>
          <a:prstGeom prst="rect">
            <a:avLst/>
          </a:prstGeom>
          <a:noFill/>
          <a:ln/>
        </p:spPr>
        <p:txBody>
          <a:bodyPr wrap="square" lIns="0" tIns="0" rIns="0" bIns="0" rtlCol="0" anchor="ctr"/>
          <a:lstStyle/>
          <a:p>
            <a:pPr indent="0" marL="0">
              <a:buNone/>
            </a:pPr>
            <a:r>
              <a:rPr lang="en-US" sz="1200" dirty="0">
                <a:solidFill>
                  <a:schemeClr val="tx1"/>
                </a:solidFill>
              </a:rPr>
              <a:t>61 to 119 days</a:t>
            </a:r>
            <a:endParaRPr lang="en-US" sz="1200" dirty="0"/>
          </a:p>
        </p:txBody>
      </p:sp>
      <p:sp>
        <p:nvSpPr>
          <p:cNvPr id="48" name="Legend 31 to 60 days"/>
          <p:cNvSpPr/>
          <p:nvPr/>
        </p:nvSpPr>
        <p:spPr>
          <a:xfrm>
            <a:off x="548640" y="4919472"/>
            <a:ext cx="201168" cy="164592"/>
          </a:xfrm>
          <a:prstGeom prst="rect">
            <a:avLst/>
          </a:prstGeom>
          <a:solidFill>
            <a:srgbClr val="5B80A5"/>
          </a:solidFill>
          <a:ln/>
        </p:spPr>
      </p:sp>
      <p:sp>
        <p:nvSpPr>
          <p:cNvPr id="49" name="Text 45"/>
          <p:cNvSpPr txBox="1"/>
          <p:nvPr/>
        </p:nvSpPr>
        <p:spPr>
          <a:xfrm>
            <a:off x="822960" y="4864608"/>
            <a:ext cx="1920240" cy="274320"/>
          </a:xfrm>
          <a:prstGeom prst="rect">
            <a:avLst/>
          </a:prstGeom>
          <a:noFill/>
          <a:ln/>
        </p:spPr>
        <p:txBody>
          <a:bodyPr wrap="square" lIns="0" tIns="0" rIns="0" bIns="0" rtlCol="0" anchor="ctr"/>
          <a:lstStyle/>
          <a:p>
            <a:pPr indent="0" marL="0">
              <a:buNone/>
            </a:pPr>
            <a:r>
              <a:rPr lang="en-US" sz="1200" dirty="0">
                <a:solidFill>
                  <a:schemeClr val="tx1"/>
                </a:solidFill>
              </a:rPr>
              <a:t>31 to 60 days</a:t>
            </a:r>
            <a:endParaRPr lang="en-US" sz="1200" dirty="0"/>
          </a:p>
        </p:txBody>
      </p:sp>
      <p:sp>
        <p:nvSpPr>
          <p:cNvPr id="50" name="Legend 15 to 30 days"/>
          <p:cNvSpPr/>
          <p:nvPr/>
        </p:nvSpPr>
        <p:spPr>
          <a:xfrm>
            <a:off x="548640" y="5248656"/>
            <a:ext cx="201168" cy="164592"/>
          </a:xfrm>
          <a:prstGeom prst="rect">
            <a:avLst/>
          </a:prstGeom>
          <a:solidFill>
            <a:srgbClr val="9AB0C7"/>
          </a:solidFill>
          <a:ln/>
        </p:spPr>
      </p:sp>
      <p:sp>
        <p:nvSpPr>
          <p:cNvPr id="51" name="Text 47"/>
          <p:cNvSpPr txBox="1"/>
          <p:nvPr/>
        </p:nvSpPr>
        <p:spPr>
          <a:xfrm>
            <a:off x="822960" y="5193792"/>
            <a:ext cx="1920240" cy="274320"/>
          </a:xfrm>
          <a:prstGeom prst="rect">
            <a:avLst/>
          </a:prstGeom>
          <a:noFill/>
          <a:ln/>
        </p:spPr>
        <p:txBody>
          <a:bodyPr wrap="square" lIns="0" tIns="0" rIns="0" bIns="0" rtlCol="0" anchor="ctr"/>
          <a:lstStyle/>
          <a:p>
            <a:pPr indent="0" marL="0">
              <a:buNone/>
            </a:pPr>
            <a:r>
              <a:rPr lang="en-US" sz="1200" dirty="0">
                <a:solidFill>
                  <a:schemeClr val="tx1"/>
                </a:solidFill>
              </a:rPr>
              <a:t>15 to 30 days</a:t>
            </a:r>
            <a:endParaRPr lang="en-US" sz="1200" dirty="0"/>
          </a:p>
        </p:txBody>
      </p:sp>
      <p:sp>
        <p:nvSpPr>
          <p:cNvPr id="52" name="Legend 5 to 14 days"/>
          <p:cNvSpPr/>
          <p:nvPr/>
        </p:nvSpPr>
        <p:spPr>
          <a:xfrm>
            <a:off x="548640" y="5577840"/>
            <a:ext cx="201168" cy="164592"/>
          </a:xfrm>
          <a:prstGeom prst="rect">
            <a:avLst/>
          </a:prstGeom>
          <a:solidFill>
            <a:srgbClr val="D3DCE6"/>
          </a:solidFill>
          <a:ln/>
        </p:spPr>
      </p:sp>
      <p:sp>
        <p:nvSpPr>
          <p:cNvPr id="53" name="Text 49"/>
          <p:cNvSpPr txBox="1"/>
          <p:nvPr/>
        </p:nvSpPr>
        <p:spPr>
          <a:xfrm>
            <a:off x="822960" y="5522976"/>
            <a:ext cx="1920240" cy="274320"/>
          </a:xfrm>
          <a:prstGeom prst="rect">
            <a:avLst/>
          </a:prstGeom>
          <a:noFill/>
          <a:ln/>
        </p:spPr>
        <p:txBody>
          <a:bodyPr wrap="square" lIns="0" tIns="0" rIns="0" bIns="0" rtlCol="0" anchor="ctr"/>
          <a:lstStyle/>
          <a:p>
            <a:pPr indent="0" marL="0">
              <a:buNone/>
            </a:pPr>
            <a:r>
              <a:rPr lang="en-US" sz="1200" dirty="0">
                <a:solidFill>
                  <a:schemeClr val="tx1"/>
                </a:solidFill>
              </a:rPr>
              <a:t>5 to 14 days</a:t>
            </a:r>
            <a:endParaRPr lang="en-US" sz="1200" dirty="0"/>
          </a:p>
        </p:txBody>
      </p:sp>
      <p:graphicFrame>
        <p:nvGraphicFramePr>
          <p:cNvPr id="54" name="Chart 0" descr=""/>
          <p:cNvGraphicFramePr/>
          <p:nvPr/>
        </p:nvGraphicFramePr>
        <p:xfrm>
          <a:off x="2743200" y="3566160"/>
          <a:ext cx="8595360" cy="2697480"/>
        </p:xfrm>
        <a:graphic xmlns:a="http://schemas.openxmlformats.org/drawingml/2006/main">
          <a:graphicData uri="http://schemas.openxmlformats.org/drawingml/2006/chart">
            <c:chart xmlns:c="http://schemas.openxmlformats.org/drawingml/2006/chart" r:id="rId3"/>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36024" y="6382512"/>
            <a:ext cx="219456" cy="219456"/>
          </a:xfrm>
          <a:prstGeom prst="ellipse">
            <a:avLst/>
          </a:prstGeom>
          <a:solidFill>
            <a:schemeClr val="accent1"/>
          </a:solidFill>
          <a:ln w="9525">
            <a:solidFill>
              <a:srgbClr val="C1440E"/>
            </a:solidFill>
            <a:prstDash val="solid"/>
          </a:ln>
        </p:spPr>
      </p:sp>
      <p:sp>
        <p:nvSpPr>
          <p:cNvPr id="7" name="Tracker 3 Data extraction and database"/>
          <p:cNvSpPr/>
          <p:nvPr/>
        </p:nvSpPr>
        <p:spPr>
          <a:xfrm>
            <a:off x="9733788" y="6432804"/>
            <a:ext cx="118872" cy="118872"/>
          </a:xfrm>
          <a:prstGeom prst="ellipse">
            <a:avLst/>
          </a:prstGeom>
          <a:solidFill>
            <a:schemeClr val="bg1"/>
          </a:solidFill>
          <a:ln w="9525">
            <a:solidFill>
              <a:srgbClr val="98A6B5"/>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2  Literature research</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Literature search and study selection</a:t>
            </a:r>
            <a:endParaRPr lang="en-US" sz="2800" dirty="0"/>
          </a:p>
        </p:txBody>
      </p:sp>
      <p:sp>
        <p:nvSpPr>
          <p:cNvPr id="13"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4" name="Step Identification"/>
          <p:cNvSpPr/>
          <p:nvPr/>
        </p:nvSpPr>
        <p:spPr>
          <a:xfrm>
            <a:off x="548640" y="2286000"/>
            <a:ext cx="1920240" cy="1325880"/>
          </a:xfrm>
          <a:prstGeom prst="rect">
            <a:avLst/>
          </a:prstGeom>
          <a:solidFill>
            <a:srgbClr val="FFFFFF"/>
          </a:solidFill>
          <a:ln w="12700">
            <a:solidFill>
              <a:srgbClr val="98A6B5"/>
            </a:solidFill>
            <a:prstDash val="solid"/>
          </a:ln>
        </p:spPr>
      </p:sp>
      <p:sp>
        <p:nvSpPr>
          <p:cNvPr id="15"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 10 from other sources</a:t>
            </a:r>
            <a:endParaRPr lang="en-US" sz="2600" dirty="0"/>
          </a:p>
        </p:txBody>
      </p:sp>
      <p:sp>
        <p:nvSpPr>
          <p:cNvPr id="16" name="Flow arrow 1"/>
          <p:cNvSpPr/>
          <p:nvPr/>
        </p:nvSpPr>
        <p:spPr>
          <a:xfrm>
            <a:off x="2505456" y="2948940"/>
            <a:ext cx="246888" cy="0"/>
          </a:xfrm>
          <a:prstGeom prst="line">
            <a:avLst/>
          </a:prstGeom>
          <a:noFill/>
          <a:ln w="15875">
            <a:solidFill>
              <a:srgbClr val="1B2533"/>
            </a:solidFill>
            <a:prstDash val="solid"/>
            <a:tailEnd type="triangle"/>
          </a:ln>
        </p:spPr>
      </p:sp>
      <p:sp>
        <p:nvSpPr>
          <p:cNvPr id="17"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8" name="Step Screening"/>
          <p:cNvSpPr/>
          <p:nvPr/>
        </p:nvSpPr>
        <p:spPr>
          <a:xfrm>
            <a:off x="2788920" y="2286000"/>
            <a:ext cx="1920240" cy="1325880"/>
          </a:xfrm>
          <a:prstGeom prst="rect">
            <a:avLst/>
          </a:prstGeom>
          <a:solidFill>
            <a:srgbClr val="FFFFFF"/>
          </a:solidFill>
          <a:ln w="12700">
            <a:solidFill>
              <a:srgbClr val="98A6B5"/>
            </a:solidFill>
            <a:prstDash val="solid"/>
          </a:ln>
        </p:spPr>
      </p:sp>
      <p:sp>
        <p:nvSpPr>
          <p:cNvPr id="19"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records after removing duplicates</a:t>
            </a:r>
            <a:endParaRPr lang="en-US" sz="2600" dirty="0"/>
          </a:p>
        </p:txBody>
      </p:sp>
      <p:sp>
        <p:nvSpPr>
          <p:cNvPr id="20" name="Flow arrow 2"/>
          <p:cNvSpPr/>
          <p:nvPr/>
        </p:nvSpPr>
        <p:spPr>
          <a:xfrm>
            <a:off x="4745736" y="2948940"/>
            <a:ext cx="246888" cy="0"/>
          </a:xfrm>
          <a:prstGeom prst="line">
            <a:avLst/>
          </a:prstGeom>
          <a:noFill/>
          <a:ln w="15875">
            <a:solidFill>
              <a:srgbClr val="1B2533"/>
            </a:solidFill>
            <a:prstDash val="solid"/>
            <a:tailEnd type="triangle"/>
          </a:ln>
        </p:spPr>
      </p:sp>
      <p:sp>
        <p:nvSpPr>
          <p:cNvPr id="21"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2" name="Step Full text"/>
          <p:cNvSpPr/>
          <p:nvPr/>
        </p:nvSpPr>
        <p:spPr>
          <a:xfrm>
            <a:off x="5029200" y="2286000"/>
            <a:ext cx="1920240" cy="1325880"/>
          </a:xfrm>
          <a:prstGeom prst="rect">
            <a:avLst/>
          </a:prstGeom>
          <a:solidFill>
            <a:srgbClr val="FFFFFF"/>
          </a:solidFill>
          <a:ln w="12700">
            <a:solidFill>
              <a:srgbClr val="98A6B5"/>
            </a:solidFill>
            <a:prstDash val="solid"/>
          </a:ln>
        </p:spPr>
      </p:sp>
      <p:sp>
        <p:nvSpPr>
          <p:cNvPr id="23"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sought</a:t>
            </a:r>
            <a:endParaRPr lang="en-US" sz="2600" dirty="0"/>
          </a:p>
        </p:txBody>
      </p:sp>
      <p:sp>
        <p:nvSpPr>
          <p:cNvPr id="24" name="Flow arrow 3"/>
          <p:cNvSpPr/>
          <p:nvPr/>
        </p:nvSpPr>
        <p:spPr>
          <a:xfrm>
            <a:off x="6986016" y="2948940"/>
            <a:ext cx="246888" cy="0"/>
          </a:xfrm>
          <a:prstGeom prst="line">
            <a:avLst/>
          </a:prstGeom>
          <a:noFill/>
          <a:ln w="15875">
            <a:solidFill>
              <a:srgbClr val="1B2533"/>
            </a:solidFill>
            <a:prstDash val="solid"/>
            <a:tailEnd type="triangle"/>
          </a:ln>
        </p:spPr>
      </p:sp>
      <p:sp>
        <p:nvSpPr>
          <p:cNvPr id="25"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6" name="Step Included"/>
          <p:cNvSpPr/>
          <p:nvPr/>
        </p:nvSpPr>
        <p:spPr>
          <a:xfrm>
            <a:off x="7269480" y="2286000"/>
            <a:ext cx="1920240" cy="1325880"/>
          </a:xfrm>
          <a:prstGeom prst="rect">
            <a:avLst/>
          </a:prstGeom>
          <a:solidFill>
            <a:srgbClr val="FFFFFF"/>
          </a:solidFill>
          <a:ln w="12700">
            <a:solidFill>
              <a:srgbClr val="98A6B5"/>
            </a:solidFill>
            <a:prstDash val="solid"/>
          </a:ln>
        </p:spPr>
      </p:sp>
      <p:sp>
        <p:nvSpPr>
          <p:cNvPr id="27"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8" name="Flow arrow 4"/>
          <p:cNvSpPr/>
          <p:nvPr/>
        </p:nvSpPr>
        <p:spPr>
          <a:xfrm>
            <a:off x="9226296" y="2948940"/>
            <a:ext cx="246888" cy="0"/>
          </a:xfrm>
          <a:prstGeom prst="line">
            <a:avLst/>
          </a:prstGeom>
          <a:noFill/>
          <a:ln w="15875">
            <a:solidFill>
              <a:srgbClr val="1B2533"/>
            </a:solidFill>
            <a:prstDash val="solid"/>
            <a:tailEnd type="triangle"/>
          </a:ln>
        </p:spPr>
      </p:sp>
      <p:sp>
        <p:nvSpPr>
          <p:cNvPr id="29"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30" name="Step Final dataset"/>
          <p:cNvSpPr/>
          <p:nvPr/>
        </p:nvSpPr>
        <p:spPr>
          <a:xfrm>
            <a:off x="9509760" y="2286000"/>
            <a:ext cx="1920240" cy="1325880"/>
          </a:xfrm>
          <a:prstGeom prst="rect">
            <a:avLst/>
          </a:prstGeom>
          <a:solidFill>
            <a:srgbClr val="0B2545"/>
          </a:solidFill>
          <a:ln w="12700">
            <a:solidFill>
              <a:srgbClr val="0B2545"/>
            </a:solidFill>
            <a:prstDash val="solid"/>
          </a:ln>
        </p:spPr>
      </p:sp>
      <p:sp>
        <p:nvSpPr>
          <p:cNvPr id="31"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2" name="Removed 1"/>
          <p:cNvSpPr/>
          <p:nvPr/>
        </p:nvSpPr>
        <p:spPr>
          <a:xfrm>
            <a:off x="2628900" y="2994660"/>
            <a:ext cx="0" cy="960120"/>
          </a:xfrm>
          <a:prstGeom prst="line">
            <a:avLst/>
          </a:prstGeom>
          <a:noFill/>
          <a:ln w="9525">
            <a:solidFill>
              <a:srgbClr val="98A6B5"/>
            </a:solidFill>
            <a:prstDash val="dash"/>
            <a:tailEnd type="triangle"/>
          </a:ln>
        </p:spPr>
      </p:sp>
      <p:sp>
        <p:nvSpPr>
          <p:cNvPr id="33" name="Text 29"/>
          <p:cNvSpPr txBox="1"/>
          <p:nvPr/>
        </p:nvSpPr>
        <p:spPr>
          <a:xfrm>
            <a:off x="162306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4" name="Removed 2"/>
          <p:cNvSpPr/>
          <p:nvPr/>
        </p:nvSpPr>
        <p:spPr>
          <a:xfrm>
            <a:off x="4869180" y="2994660"/>
            <a:ext cx="0" cy="960120"/>
          </a:xfrm>
          <a:prstGeom prst="line">
            <a:avLst/>
          </a:prstGeom>
          <a:noFill/>
          <a:ln w="9525">
            <a:solidFill>
              <a:srgbClr val="98A6B5"/>
            </a:solidFill>
            <a:prstDash val="dash"/>
            <a:tailEnd type="triangle"/>
          </a:ln>
        </p:spPr>
      </p:sp>
      <p:sp>
        <p:nvSpPr>
          <p:cNvPr id="35" name="Text 31"/>
          <p:cNvSpPr txBox="1"/>
          <p:nvPr/>
        </p:nvSpPr>
        <p:spPr>
          <a:xfrm>
            <a:off x="386334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3,516 excluded</a:t>
            </a:r>
            <a:endParaRPr lang="en-US" sz="1100" dirty="0"/>
          </a:p>
        </p:txBody>
      </p:sp>
      <p:sp>
        <p:nvSpPr>
          <p:cNvPr id="36" name="Removed 3"/>
          <p:cNvSpPr/>
          <p:nvPr/>
        </p:nvSpPr>
        <p:spPr>
          <a:xfrm>
            <a:off x="7109460" y="2994660"/>
            <a:ext cx="0" cy="960120"/>
          </a:xfrm>
          <a:prstGeom prst="line">
            <a:avLst/>
          </a:prstGeom>
          <a:noFill/>
          <a:ln w="9525">
            <a:solidFill>
              <a:srgbClr val="98A6B5"/>
            </a:solidFill>
            <a:prstDash val="dash"/>
            <a:tailEnd type="triangle"/>
          </a:ln>
        </p:spPr>
      </p:sp>
      <p:sp>
        <p:nvSpPr>
          <p:cNvPr id="37" name="Text 33"/>
          <p:cNvSpPr txBox="1"/>
          <p:nvPr/>
        </p:nvSpPr>
        <p:spPr>
          <a:xfrm>
            <a:off x="6103620" y="4000500"/>
            <a:ext cx="2011680" cy="137160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a:p>
            <a:pPr algn="ctr" indent="0" marL="0">
              <a:buNone/>
            </a:pPr>
            <a:r>
              <a:rPr lang="en-US" sz="1100" dirty="0">
                <a:solidFill>
                  <a:schemeClr val="accent3"/>
                </a:solidFill>
              </a:rPr>
              <a:t>11 excluded at full text</a:t>
            </a:r>
            <a:endParaRPr lang="en-US" sz="1100" dirty="0"/>
          </a:p>
        </p:txBody>
      </p:sp>
      <p:sp>
        <p:nvSpPr>
          <p:cNvPr id="38" name="Text 34"/>
          <p:cNvSpPr txBox="1"/>
          <p:nvPr/>
        </p:nvSpPr>
        <p:spPr>
          <a:xfrm>
            <a:off x="548640" y="580644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Figure 6. Flow of records, in the style of PRISMA 2020. Full-text counts as recorded; they are still being reconciled with the dataset.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Dataset composition</a:t>
            </a:r>
            <a:endParaRPr lang="en-US" sz="2800" dirty="0"/>
          </a:p>
        </p:txBody>
      </p:sp>
      <p:sp>
        <p:nvSpPr>
          <p:cNvPr id="13"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Table 1. 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15" name="Text 10"/>
          <p:cNvSpPr txBox="1"/>
          <p:nvPr/>
        </p:nvSpPr>
        <p:spPr>
          <a:xfrm>
            <a:off x="548640" y="484632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6"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Table 2. 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457200">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683496" y="6382512"/>
            <a:ext cx="219456" cy="219456"/>
          </a:xfrm>
          <a:prstGeom prst="ellipse">
            <a:avLst/>
          </a:prstGeom>
          <a:solidFill>
            <a:schemeClr val="accent1"/>
          </a:solidFill>
          <a:ln w="9525">
            <a:solidFill>
              <a:srgbClr val="C1440E"/>
            </a:solidFill>
            <a:prstDash val="solid"/>
          </a:ln>
        </p:spPr>
      </p:sp>
      <p:sp>
        <p:nvSpPr>
          <p:cNvPr id="8" name="Tracker 4 ML framework"/>
          <p:cNvSpPr/>
          <p:nvPr/>
        </p:nvSpPr>
        <p:spPr>
          <a:xfrm>
            <a:off x="10081260" y="6432804"/>
            <a:ext cx="118872" cy="118872"/>
          </a:xfrm>
          <a:prstGeom prst="ellipse">
            <a:avLst/>
          </a:prstGeom>
          <a:solidFill>
            <a:schemeClr val="bg1"/>
          </a:solidFill>
          <a:ln w="9525">
            <a:solidFill>
              <a:srgbClr val="98A6B5"/>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3  Data extraction and database</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Muscle atrophy by muscle group</a:t>
            </a:r>
            <a:endParaRPr lang="en-US" sz="2800" dirty="0"/>
          </a:p>
        </p:txBody>
      </p:sp>
      <p:sp>
        <p:nvSpPr>
          <p:cNvPr id="13" name="Grid 0"/>
          <p:cNvSpPr/>
          <p:nvPr/>
        </p:nvSpPr>
        <p:spPr>
          <a:xfrm>
            <a:off x="1234440" y="1371600"/>
            <a:ext cx="6309360" cy="0"/>
          </a:xfrm>
          <a:prstGeom prst="line">
            <a:avLst/>
          </a:prstGeom>
          <a:noFill/>
          <a:ln w="9525">
            <a:solidFill>
              <a:srgbClr val="5D6B7B"/>
            </a:solidFill>
            <a:prstDash val="solid"/>
          </a:ln>
        </p:spPr>
      </p:sp>
      <p:sp>
        <p:nvSpPr>
          <p:cNvPr id="14"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5" name="Grid -4"/>
          <p:cNvSpPr/>
          <p:nvPr/>
        </p:nvSpPr>
        <p:spPr>
          <a:xfrm>
            <a:off x="1234440" y="2019300"/>
            <a:ext cx="6309360" cy="0"/>
          </a:xfrm>
          <a:prstGeom prst="line">
            <a:avLst/>
          </a:prstGeom>
          <a:noFill/>
          <a:ln w="9525">
            <a:solidFill>
              <a:srgbClr val="E2E7ED"/>
            </a:solidFill>
            <a:prstDash val="solid"/>
          </a:ln>
        </p:spPr>
      </p:sp>
      <p:sp>
        <p:nvSpPr>
          <p:cNvPr id="16"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7" name="Grid -8"/>
          <p:cNvSpPr/>
          <p:nvPr/>
        </p:nvSpPr>
        <p:spPr>
          <a:xfrm>
            <a:off x="1234440" y="2667000"/>
            <a:ext cx="6309360" cy="0"/>
          </a:xfrm>
          <a:prstGeom prst="line">
            <a:avLst/>
          </a:prstGeom>
          <a:noFill/>
          <a:ln w="9525">
            <a:solidFill>
              <a:srgbClr val="E2E7ED"/>
            </a:solidFill>
            <a:prstDash val="solid"/>
          </a:ln>
        </p:spPr>
      </p:sp>
      <p:sp>
        <p:nvSpPr>
          <p:cNvPr id="18"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9" name="Grid -12"/>
          <p:cNvSpPr/>
          <p:nvPr/>
        </p:nvSpPr>
        <p:spPr>
          <a:xfrm>
            <a:off x="1234440" y="3314700"/>
            <a:ext cx="6309360" cy="0"/>
          </a:xfrm>
          <a:prstGeom prst="line">
            <a:avLst/>
          </a:prstGeom>
          <a:noFill/>
          <a:ln w="9525">
            <a:solidFill>
              <a:srgbClr val="E2E7ED"/>
            </a:solidFill>
            <a:prstDash val="solid"/>
          </a:ln>
        </p:spPr>
      </p:sp>
      <p:sp>
        <p:nvSpPr>
          <p:cNvPr id="20"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21" name="Grid -16"/>
          <p:cNvSpPr/>
          <p:nvPr/>
        </p:nvSpPr>
        <p:spPr>
          <a:xfrm>
            <a:off x="1234440" y="3962400"/>
            <a:ext cx="6309360" cy="0"/>
          </a:xfrm>
          <a:prstGeom prst="line">
            <a:avLst/>
          </a:prstGeom>
          <a:noFill/>
          <a:ln w="9525">
            <a:solidFill>
              <a:srgbClr val="E2E7ED"/>
            </a:solidFill>
            <a:prstDash val="solid"/>
          </a:ln>
        </p:spPr>
      </p:sp>
      <p:sp>
        <p:nvSpPr>
          <p:cNvPr id="22"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3" name="Grid -20"/>
          <p:cNvSpPr/>
          <p:nvPr/>
        </p:nvSpPr>
        <p:spPr>
          <a:xfrm>
            <a:off x="1234440" y="4610100"/>
            <a:ext cx="6309360" cy="0"/>
          </a:xfrm>
          <a:prstGeom prst="line">
            <a:avLst/>
          </a:prstGeom>
          <a:noFill/>
          <a:ln w="9525">
            <a:solidFill>
              <a:srgbClr val="E2E7ED"/>
            </a:solidFill>
            <a:prstDash val="solid"/>
          </a:ln>
        </p:spPr>
      </p:sp>
      <p:sp>
        <p:nvSpPr>
          <p:cNvPr id="24"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5" name="Grid -24"/>
          <p:cNvSpPr/>
          <p:nvPr/>
        </p:nvSpPr>
        <p:spPr>
          <a:xfrm>
            <a:off x="1234440" y="5257800"/>
            <a:ext cx="6309360" cy="0"/>
          </a:xfrm>
          <a:prstGeom prst="line">
            <a:avLst/>
          </a:prstGeom>
          <a:noFill/>
          <a:ln w="9525">
            <a:solidFill>
              <a:srgbClr val="E2E7ED"/>
            </a:solidFill>
            <a:prstDash val="solid"/>
          </a:ln>
        </p:spPr>
      </p:sp>
      <p:sp>
        <p:nvSpPr>
          <p:cNvPr id="26"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7"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8"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9"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30"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2"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3"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4" name="Day 60 line"/>
          <p:cNvSpPr/>
          <p:nvPr/>
        </p:nvSpPr>
        <p:spPr>
          <a:xfrm>
            <a:off x="4389120" y="1280160"/>
            <a:ext cx="0" cy="3977640"/>
          </a:xfrm>
          <a:prstGeom prst="line">
            <a:avLst/>
          </a:prstGeom>
          <a:noFill/>
          <a:ln w="12700">
            <a:solidFill>
              <a:srgbClr val="1B2533"/>
            </a:solidFill>
            <a:prstDash val="dash"/>
          </a:ln>
        </p:spPr>
      </p:sp>
      <p:sp>
        <p:nvSpPr>
          <p:cNvPr id="35"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6"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9AA5B1"/>
            </a:solidFill>
            <a:prstDash val="solid"/>
          </a:ln>
        </p:spPr>
      </p:sp>
      <p:sp>
        <p:nvSpPr>
          <p:cNvPr id="37" name="Deep hip rotators at day 60"/>
          <p:cNvSpPr/>
          <p:nvPr/>
        </p:nvSpPr>
        <p:spPr>
          <a:xfrm>
            <a:off x="4338828" y="1628966"/>
            <a:ext cx="100584" cy="100584"/>
          </a:xfrm>
          <a:prstGeom prst="ellipse">
            <a:avLst/>
          </a:prstGeom>
          <a:solidFill>
            <a:srgbClr val="9AA5B1"/>
          </a:solidFill>
          <a:ln w="6350">
            <a:solidFill>
              <a:srgbClr val="FFFFFF"/>
            </a:solidFill>
            <a:prstDash val="solid"/>
          </a:ln>
        </p:spPr>
      </p:sp>
      <p:sp>
        <p:nvSpPr>
          <p:cNvPr id="38"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3A9CA6"/>
            </a:solidFill>
            <a:prstDash val="solid"/>
          </a:ln>
        </p:spPr>
      </p:sp>
      <p:sp>
        <p:nvSpPr>
          <p:cNvPr id="39" name="Inner thigh (hip adductors) at day 60"/>
          <p:cNvSpPr/>
          <p:nvPr/>
        </p:nvSpPr>
        <p:spPr>
          <a:xfrm>
            <a:off x="4338828" y="2195703"/>
            <a:ext cx="100584" cy="100584"/>
          </a:xfrm>
          <a:prstGeom prst="ellipse">
            <a:avLst/>
          </a:prstGeom>
          <a:solidFill>
            <a:srgbClr val="3A9CA6"/>
          </a:solidFill>
          <a:ln w="6350">
            <a:solidFill>
              <a:srgbClr val="FFFFFF"/>
            </a:solidFill>
            <a:prstDash val="solid"/>
          </a:ln>
        </p:spPr>
      </p:sp>
      <p:sp>
        <p:nvSpPr>
          <p:cNvPr id="40"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9C6B98"/>
            </a:solidFill>
            <a:prstDash val="solid"/>
          </a:ln>
        </p:spPr>
      </p:sp>
      <p:sp>
        <p:nvSpPr>
          <p:cNvPr id="41" name="Glutes (hip extensors) at day 60"/>
          <p:cNvSpPr/>
          <p:nvPr/>
        </p:nvSpPr>
        <p:spPr>
          <a:xfrm>
            <a:off x="4338828" y="2309050"/>
            <a:ext cx="100584" cy="100584"/>
          </a:xfrm>
          <a:prstGeom prst="ellipse">
            <a:avLst/>
          </a:prstGeom>
          <a:solidFill>
            <a:srgbClr val="9C6B98"/>
          </a:solidFill>
          <a:ln w="6350">
            <a:solidFill>
              <a:srgbClr val="FFFFFF"/>
            </a:solidFill>
            <a:prstDash val="solid"/>
          </a:ln>
        </p:spPr>
      </p:sp>
      <p:sp>
        <p:nvSpPr>
          <p:cNvPr id="42"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6A994E"/>
            </a:solidFill>
            <a:prstDash val="solid"/>
          </a:ln>
        </p:spPr>
      </p:sp>
      <p:sp>
        <p:nvSpPr>
          <p:cNvPr id="43" name="Hip flexors at day 60"/>
          <p:cNvSpPr/>
          <p:nvPr/>
        </p:nvSpPr>
        <p:spPr>
          <a:xfrm>
            <a:off x="4338828" y="2422398"/>
            <a:ext cx="100584" cy="100584"/>
          </a:xfrm>
          <a:prstGeom prst="ellipse">
            <a:avLst/>
          </a:prstGeom>
          <a:solidFill>
            <a:srgbClr val="6A994E"/>
          </a:solidFill>
          <a:ln w="6350">
            <a:solidFill>
              <a:srgbClr val="FFFFFF"/>
            </a:solidFill>
            <a:prstDash val="solid"/>
          </a:ln>
        </p:spPr>
      </p:sp>
      <p:sp>
        <p:nvSpPr>
          <p:cNvPr id="44"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FC4"/>
            </a:solidFill>
            <a:prstDash val="solid"/>
          </a:ln>
        </p:spPr>
      </p:sp>
      <p:sp>
        <p:nvSpPr>
          <p:cNvPr id="45" name="Outer hip (hip abductors) at day 60"/>
          <p:cNvSpPr/>
          <p:nvPr/>
        </p:nvSpPr>
        <p:spPr>
          <a:xfrm>
            <a:off x="4338828" y="2794825"/>
            <a:ext cx="100584" cy="100584"/>
          </a:xfrm>
          <a:prstGeom prst="ellipse">
            <a:avLst/>
          </a:prstGeom>
          <a:solidFill>
            <a:srgbClr val="7B6FC4"/>
          </a:solidFill>
          <a:ln w="6350">
            <a:solidFill>
              <a:srgbClr val="FFFFFF"/>
            </a:solidFill>
            <a:prstDash val="solid"/>
          </a:ln>
        </p:spPr>
      </p:sp>
      <p:sp>
        <p:nvSpPr>
          <p:cNvPr id="46"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F86C6"/>
            </a:solidFill>
            <a:prstDash val="solid"/>
          </a:ln>
        </p:spPr>
      </p:sp>
      <p:sp>
        <p:nvSpPr>
          <p:cNvPr id="47" name="Back thigh (knee flexors) at day 60"/>
          <p:cNvSpPr/>
          <p:nvPr/>
        </p:nvSpPr>
        <p:spPr>
          <a:xfrm>
            <a:off x="4338828" y="2908173"/>
            <a:ext cx="100584" cy="100584"/>
          </a:xfrm>
          <a:prstGeom prst="ellipse">
            <a:avLst/>
          </a:prstGeom>
          <a:solidFill>
            <a:srgbClr val="4F86C6"/>
          </a:solidFill>
          <a:ln w="6350">
            <a:solidFill>
              <a:srgbClr val="FFFFFF"/>
            </a:solidFill>
            <a:prstDash val="solid"/>
          </a:ln>
        </p:spPr>
      </p:sp>
      <p:sp>
        <p:nvSpPr>
          <p:cNvPr id="48"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0B2545"/>
            </a:solidFill>
            <a:prstDash val="solid"/>
          </a:ln>
        </p:spPr>
      </p:sp>
      <p:sp>
        <p:nvSpPr>
          <p:cNvPr id="49" name="Front thigh (knee extensors) at day 60"/>
          <p:cNvSpPr/>
          <p:nvPr/>
        </p:nvSpPr>
        <p:spPr>
          <a:xfrm>
            <a:off x="4338828" y="2956751"/>
            <a:ext cx="100584" cy="100584"/>
          </a:xfrm>
          <a:prstGeom prst="ellipse">
            <a:avLst/>
          </a:prstGeom>
          <a:solidFill>
            <a:srgbClr val="0B2545"/>
          </a:solidFill>
          <a:ln w="6350">
            <a:solidFill>
              <a:srgbClr val="FFFFFF"/>
            </a:solidFill>
            <a:prstDash val="solid"/>
          </a:ln>
        </p:spPr>
      </p:sp>
      <p:sp>
        <p:nvSpPr>
          <p:cNvPr id="50"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E0A030"/>
            </a:solidFill>
            <a:prstDash val="solid"/>
          </a:ln>
        </p:spPr>
      </p:sp>
      <p:sp>
        <p:nvSpPr>
          <p:cNvPr id="51" name="Shin (dorsiflexors) at day 60"/>
          <p:cNvSpPr/>
          <p:nvPr/>
        </p:nvSpPr>
        <p:spPr>
          <a:xfrm>
            <a:off x="4338828" y="2972943"/>
            <a:ext cx="100584" cy="100584"/>
          </a:xfrm>
          <a:prstGeom prst="ellipse">
            <a:avLst/>
          </a:prstGeom>
          <a:solidFill>
            <a:srgbClr val="E0A030"/>
          </a:solidFill>
          <a:ln w="6350">
            <a:solidFill>
              <a:srgbClr val="FFFFFF"/>
            </a:solidFill>
            <a:prstDash val="solid"/>
          </a:ln>
        </p:spPr>
      </p:sp>
      <p:sp>
        <p:nvSpPr>
          <p:cNvPr id="52"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C1440E"/>
            </a:solidFill>
            <a:prstDash val="solid"/>
          </a:ln>
        </p:spPr>
      </p:sp>
      <p:sp>
        <p:nvSpPr>
          <p:cNvPr id="53" name="Calf (plantar flexors) at day 60"/>
          <p:cNvSpPr/>
          <p:nvPr/>
        </p:nvSpPr>
        <p:spPr>
          <a:xfrm>
            <a:off x="4338828" y="3879723"/>
            <a:ext cx="100584" cy="100584"/>
          </a:xfrm>
          <a:prstGeom prst="ellipse">
            <a:avLst/>
          </a:prstGeom>
          <a:solidFill>
            <a:srgbClr val="C1440E"/>
          </a:solidFill>
          <a:ln w="6350">
            <a:solidFill>
              <a:srgbClr val="FFFFFF"/>
            </a:solidFill>
            <a:prstDash val="solid"/>
          </a:ln>
        </p:spPr>
      </p:sp>
      <p:sp>
        <p:nvSpPr>
          <p:cNvPr id="54"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5" name="Deep hip rotators leader"/>
          <p:cNvSpPr/>
          <p:nvPr/>
        </p:nvSpPr>
        <p:spPr>
          <a:xfrm flipV="1">
            <a:off x="7518654" y="1508760"/>
            <a:ext cx="646938" cy="282571"/>
          </a:xfrm>
          <a:prstGeom prst="line">
            <a:avLst/>
          </a:prstGeom>
          <a:noFill/>
          <a:ln w="9525">
            <a:solidFill>
              <a:srgbClr val="9AA5B1"/>
            </a:solidFill>
            <a:prstDash val="solid"/>
          </a:ln>
        </p:spPr>
      </p:sp>
      <p:pic>
        <p:nvPicPr>
          <p:cNvPr id="56" name="Image 2" descr="Deep hip rotators (highlighted on a leg outline)">    </p:cNvPr>
          <p:cNvPicPr>
            <a:picLocks noChangeAspect="1"/>
          </p:cNvPicPr>
          <p:nvPr/>
        </p:nvPicPr>
        <p:blipFill>
          <a:blip r:embed="rId3"/>
          <a:stretch>
            <a:fillRect/>
          </a:stretch>
        </p:blipFill>
        <p:spPr>
          <a:xfrm>
            <a:off x="8229600" y="1280160"/>
            <a:ext cx="304800" cy="457200"/>
          </a:xfrm>
          <a:prstGeom prst="rect">
            <a:avLst/>
          </a:prstGeom>
        </p:spPr>
      </p:pic>
      <p:sp>
        <p:nvSpPr>
          <p:cNvPr id="57"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8"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9AA5B1"/>
                </a:solidFill>
              </a:rPr>
              <a:t>−1.9%</a:t>
            </a:r>
            <a:endParaRPr lang="en-US" sz="1300" dirty="0"/>
          </a:p>
        </p:txBody>
      </p:sp>
      <p:sp>
        <p:nvSpPr>
          <p:cNvPr id="59" name="Inner thigh (hip adductors) leader"/>
          <p:cNvSpPr/>
          <p:nvPr/>
        </p:nvSpPr>
        <p:spPr>
          <a:xfrm flipV="1">
            <a:off x="7518654" y="2002536"/>
            <a:ext cx="646938" cy="561985"/>
          </a:xfrm>
          <a:prstGeom prst="line">
            <a:avLst/>
          </a:prstGeom>
          <a:noFill/>
          <a:ln w="9525">
            <a:solidFill>
              <a:srgbClr val="3A9CA6"/>
            </a:solidFill>
            <a:prstDash val="solid"/>
          </a:ln>
        </p:spPr>
      </p:sp>
      <p:pic>
        <p:nvPicPr>
          <p:cNvPr id="60" name="Image 3" descr="Inner thigh (hip adductors) (highlighted on a leg outline)">    </p:cNvPr>
          <p:cNvPicPr>
            <a:picLocks noChangeAspect="1"/>
          </p:cNvPicPr>
          <p:nvPr/>
        </p:nvPicPr>
        <p:blipFill>
          <a:blip r:embed="rId4"/>
          <a:stretch>
            <a:fillRect/>
          </a:stretch>
        </p:blipFill>
        <p:spPr>
          <a:xfrm>
            <a:off x="8229600" y="1773936"/>
            <a:ext cx="304800" cy="457200"/>
          </a:xfrm>
          <a:prstGeom prst="rect">
            <a:avLst/>
          </a:prstGeom>
        </p:spPr>
      </p:pic>
      <p:sp>
        <p:nvSpPr>
          <p:cNvPr id="61"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2"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3A9CA6"/>
                </a:solidFill>
              </a:rPr>
              <a:t>−5.4%</a:t>
            </a:r>
            <a:endParaRPr lang="en-US" sz="1300" dirty="0"/>
          </a:p>
        </p:txBody>
      </p:sp>
      <p:sp>
        <p:nvSpPr>
          <p:cNvPr id="63" name="Glutes (hip extensors) leader"/>
          <p:cNvSpPr/>
          <p:nvPr/>
        </p:nvSpPr>
        <p:spPr>
          <a:xfrm flipV="1">
            <a:off x="7518654" y="2496312"/>
            <a:ext cx="646938" cy="222847"/>
          </a:xfrm>
          <a:prstGeom prst="line">
            <a:avLst/>
          </a:prstGeom>
          <a:noFill/>
          <a:ln w="9525">
            <a:solidFill>
              <a:srgbClr val="9C6B98"/>
            </a:solidFill>
            <a:prstDash val="solid"/>
          </a:ln>
        </p:spPr>
      </p:sp>
      <p:pic>
        <p:nvPicPr>
          <p:cNvPr id="64" name="Image 4" descr="Glutes (hip extensors) (highlighted on a leg outline)">    </p:cNvPr>
          <p:cNvPicPr>
            <a:picLocks noChangeAspect="1"/>
          </p:cNvPicPr>
          <p:nvPr/>
        </p:nvPicPr>
        <p:blipFill>
          <a:blip r:embed="rId5"/>
          <a:stretch>
            <a:fillRect/>
          </a:stretch>
        </p:blipFill>
        <p:spPr>
          <a:xfrm>
            <a:off x="8229600" y="2267712"/>
            <a:ext cx="304800" cy="457200"/>
          </a:xfrm>
          <a:prstGeom prst="rect">
            <a:avLst/>
          </a:prstGeom>
        </p:spPr>
      </p:pic>
      <p:sp>
        <p:nvSpPr>
          <p:cNvPr id="65"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6"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9C6B98"/>
                </a:solidFill>
              </a:rPr>
              <a:t>−6.1%</a:t>
            </a:r>
            <a:endParaRPr lang="en-US" sz="1300" dirty="0"/>
          </a:p>
        </p:txBody>
      </p:sp>
      <p:sp>
        <p:nvSpPr>
          <p:cNvPr id="67" name="Hip flexors leader"/>
          <p:cNvSpPr/>
          <p:nvPr/>
        </p:nvSpPr>
        <p:spPr>
          <a:xfrm>
            <a:off x="7518654" y="2873796"/>
            <a:ext cx="646938" cy="116292"/>
          </a:xfrm>
          <a:prstGeom prst="line">
            <a:avLst/>
          </a:prstGeom>
          <a:noFill/>
          <a:ln w="9525">
            <a:solidFill>
              <a:srgbClr val="6A994E"/>
            </a:solidFill>
            <a:prstDash val="solid"/>
          </a:ln>
        </p:spPr>
      </p:sp>
      <p:pic>
        <p:nvPicPr>
          <p:cNvPr id="68" name="Image 5" descr="Hip flexors (highlighted on a leg outline)">    </p:cNvPr>
          <p:cNvPicPr>
            <a:picLocks noChangeAspect="1"/>
          </p:cNvPicPr>
          <p:nvPr/>
        </p:nvPicPr>
        <p:blipFill>
          <a:blip r:embed="rId6"/>
          <a:stretch>
            <a:fillRect/>
          </a:stretch>
        </p:blipFill>
        <p:spPr>
          <a:xfrm>
            <a:off x="8229600" y="2761488"/>
            <a:ext cx="304800" cy="457200"/>
          </a:xfrm>
          <a:prstGeom prst="rect">
            <a:avLst/>
          </a:prstGeom>
        </p:spPr>
      </p:pic>
      <p:sp>
        <p:nvSpPr>
          <p:cNvPr id="69"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70"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6A994E"/>
                </a:solidFill>
              </a:rPr>
              <a:t>−6.8%</a:t>
            </a:r>
            <a:endParaRPr lang="en-US" sz="1300" dirty="0"/>
          </a:p>
        </p:txBody>
      </p:sp>
      <p:sp>
        <p:nvSpPr>
          <p:cNvPr id="71" name="Outer hip (hip abductors) leader"/>
          <p:cNvSpPr/>
          <p:nvPr/>
        </p:nvSpPr>
        <p:spPr>
          <a:xfrm>
            <a:off x="7518654" y="3381892"/>
            <a:ext cx="646938" cy="101972"/>
          </a:xfrm>
          <a:prstGeom prst="line">
            <a:avLst/>
          </a:prstGeom>
          <a:noFill/>
          <a:ln w="9525">
            <a:solidFill>
              <a:srgbClr val="7B6FC4"/>
            </a:solidFill>
            <a:prstDash val="solid"/>
          </a:ln>
        </p:spPr>
      </p:sp>
      <p:pic>
        <p:nvPicPr>
          <p:cNvPr id="72" name="Image 6" descr="Outer hip (hip abductors) (highlighted on a leg outline)">    </p:cNvPr>
          <p:cNvPicPr>
            <a:picLocks noChangeAspect="1"/>
          </p:cNvPicPr>
          <p:nvPr/>
        </p:nvPicPr>
        <p:blipFill>
          <a:blip r:embed="rId7"/>
          <a:stretch>
            <a:fillRect/>
          </a:stretch>
        </p:blipFill>
        <p:spPr>
          <a:xfrm>
            <a:off x="8229600" y="3255264"/>
            <a:ext cx="304800" cy="457200"/>
          </a:xfrm>
          <a:prstGeom prst="rect">
            <a:avLst/>
          </a:prstGeom>
        </p:spPr>
      </p:pic>
      <p:sp>
        <p:nvSpPr>
          <p:cNvPr id="73"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4"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FC4"/>
                </a:solidFill>
              </a:rPr>
              <a:t>−9.1%</a:t>
            </a:r>
            <a:endParaRPr lang="en-US" sz="1300" dirty="0"/>
          </a:p>
        </p:txBody>
      </p:sp>
      <p:sp>
        <p:nvSpPr>
          <p:cNvPr id="75" name="Back thigh (knee flexors) leader"/>
          <p:cNvSpPr/>
          <p:nvPr/>
        </p:nvSpPr>
        <p:spPr>
          <a:xfrm>
            <a:off x="7518654" y="3536530"/>
            <a:ext cx="646938" cy="441110"/>
          </a:xfrm>
          <a:prstGeom prst="line">
            <a:avLst/>
          </a:prstGeom>
          <a:noFill/>
          <a:ln w="9525">
            <a:solidFill>
              <a:srgbClr val="4F86C6"/>
            </a:solidFill>
            <a:prstDash val="solid"/>
          </a:ln>
        </p:spPr>
      </p:sp>
      <p:pic>
        <p:nvPicPr>
          <p:cNvPr id="76" name="Image 7" descr="Back thigh (knee flexors) (highlighted on a leg outline)">    </p:cNvPr>
          <p:cNvPicPr>
            <a:picLocks noChangeAspect="1"/>
          </p:cNvPicPr>
          <p:nvPr/>
        </p:nvPicPr>
        <p:blipFill>
          <a:blip r:embed="rId8"/>
          <a:stretch>
            <a:fillRect/>
          </a:stretch>
        </p:blipFill>
        <p:spPr>
          <a:xfrm>
            <a:off x="8229600" y="3749040"/>
            <a:ext cx="304800" cy="457200"/>
          </a:xfrm>
          <a:prstGeom prst="rect">
            <a:avLst/>
          </a:prstGeom>
        </p:spPr>
      </p:pic>
      <p:sp>
        <p:nvSpPr>
          <p:cNvPr id="77"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8"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F86C6"/>
                </a:solidFill>
              </a:rPr>
              <a:t>−9.8%</a:t>
            </a:r>
            <a:endParaRPr lang="en-US" sz="1300" dirty="0"/>
          </a:p>
        </p:txBody>
      </p:sp>
      <p:sp>
        <p:nvSpPr>
          <p:cNvPr id="79" name="Front thigh (knee extensors) leader"/>
          <p:cNvSpPr/>
          <p:nvPr/>
        </p:nvSpPr>
        <p:spPr>
          <a:xfrm>
            <a:off x="7518654" y="3602804"/>
            <a:ext cx="646938" cy="868612"/>
          </a:xfrm>
          <a:prstGeom prst="line">
            <a:avLst/>
          </a:prstGeom>
          <a:noFill/>
          <a:ln w="9525">
            <a:solidFill>
              <a:srgbClr val="0B2545"/>
            </a:solidFill>
            <a:prstDash val="solid"/>
          </a:ln>
        </p:spPr>
      </p:sp>
      <p:pic>
        <p:nvPicPr>
          <p:cNvPr id="80" name="Image 8" descr="Front thigh (knee extensors) (highlighted on a leg outline)">    </p:cNvPr>
          <p:cNvPicPr>
            <a:picLocks noChangeAspect="1"/>
          </p:cNvPicPr>
          <p:nvPr/>
        </p:nvPicPr>
        <p:blipFill>
          <a:blip r:embed="rId9"/>
          <a:stretch>
            <a:fillRect/>
          </a:stretch>
        </p:blipFill>
        <p:spPr>
          <a:xfrm>
            <a:off x="8229600" y="4242816"/>
            <a:ext cx="304800" cy="457200"/>
          </a:xfrm>
          <a:prstGeom prst="rect">
            <a:avLst/>
          </a:prstGeom>
        </p:spPr>
      </p:pic>
      <p:sp>
        <p:nvSpPr>
          <p:cNvPr id="81"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2"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0B2545"/>
                </a:solidFill>
              </a:rPr>
              <a:t>−10.1%</a:t>
            </a:r>
            <a:endParaRPr lang="en-US" sz="1300" dirty="0"/>
          </a:p>
        </p:txBody>
      </p:sp>
      <p:sp>
        <p:nvSpPr>
          <p:cNvPr id="83" name="Shin (dorsiflexors) leader"/>
          <p:cNvSpPr/>
          <p:nvPr/>
        </p:nvSpPr>
        <p:spPr>
          <a:xfrm>
            <a:off x="7518654" y="3624895"/>
            <a:ext cx="646938" cy="1340297"/>
          </a:xfrm>
          <a:prstGeom prst="line">
            <a:avLst/>
          </a:prstGeom>
          <a:noFill/>
          <a:ln w="9525">
            <a:solidFill>
              <a:srgbClr val="E0A030"/>
            </a:solidFill>
            <a:prstDash val="solid"/>
          </a:ln>
        </p:spPr>
      </p:sp>
      <p:pic>
        <p:nvPicPr>
          <p:cNvPr id="84" name="Image 9" descr="Shin (dorsiflexors) (highlighted on a leg outline)">    </p:cNvPr>
          <p:cNvPicPr>
            <a:picLocks noChangeAspect="1"/>
          </p:cNvPicPr>
          <p:nvPr/>
        </p:nvPicPr>
        <p:blipFill>
          <a:blip r:embed="rId10"/>
          <a:stretch>
            <a:fillRect/>
          </a:stretch>
        </p:blipFill>
        <p:spPr>
          <a:xfrm>
            <a:off x="8229600" y="4736592"/>
            <a:ext cx="304800" cy="457200"/>
          </a:xfrm>
          <a:prstGeom prst="rect">
            <a:avLst/>
          </a:prstGeom>
        </p:spPr>
      </p:pic>
      <p:sp>
        <p:nvSpPr>
          <p:cNvPr id="85"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6"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E0A030"/>
                </a:solidFill>
              </a:rPr>
              <a:t>−10.2%</a:t>
            </a:r>
            <a:endParaRPr lang="en-US" sz="1300" dirty="0"/>
          </a:p>
        </p:txBody>
      </p:sp>
      <p:sp>
        <p:nvSpPr>
          <p:cNvPr id="87" name="Calf (plantar flexors) leader"/>
          <p:cNvSpPr/>
          <p:nvPr/>
        </p:nvSpPr>
        <p:spPr>
          <a:xfrm>
            <a:off x="7518654" y="4861998"/>
            <a:ext cx="646938" cy="596970"/>
          </a:xfrm>
          <a:prstGeom prst="line">
            <a:avLst/>
          </a:prstGeom>
          <a:noFill/>
          <a:ln w="9525">
            <a:solidFill>
              <a:srgbClr val="C1440E"/>
            </a:solidFill>
            <a:prstDash val="solid"/>
          </a:ln>
        </p:spPr>
      </p:sp>
      <p:pic>
        <p:nvPicPr>
          <p:cNvPr id="88" name="Image 10" descr="Calf (plantar flexors) (highlighted on a leg outline)">    </p:cNvPr>
          <p:cNvPicPr>
            <a:picLocks noChangeAspect="1"/>
          </p:cNvPicPr>
          <p:nvPr/>
        </p:nvPicPr>
        <p:blipFill>
          <a:blip r:embed="rId11"/>
          <a:stretch>
            <a:fillRect/>
          </a:stretch>
        </p:blipFill>
        <p:spPr>
          <a:xfrm>
            <a:off x="8229600" y="5230368"/>
            <a:ext cx="304800" cy="457200"/>
          </a:xfrm>
          <a:prstGeom prst="rect">
            <a:avLst/>
          </a:prstGeom>
        </p:spPr>
      </p:pic>
      <p:sp>
        <p:nvSpPr>
          <p:cNvPr id="89"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90"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C1440E"/>
                </a:solidFill>
              </a:rPr>
              <a:t>−15.8%</a:t>
            </a:r>
            <a:endParaRPr lang="en-US" sz="1300" dirty="0"/>
          </a:p>
        </p:txBody>
      </p:sp>
      <p:sp>
        <p:nvSpPr>
          <p:cNvPr id="91"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Figure 7. Change in muscle size by muscle group: one shared time course (τ = 60 days) scaled to each group's day-60 estimate;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30968" y="6382512"/>
            <a:ext cx="219456" cy="219456"/>
          </a:xfrm>
          <a:prstGeom prst="ellipse">
            <a:avLst/>
          </a:prstGeom>
          <a:solidFill>
            <a:schemeClr val="accent1"/>
          </a:solidFill>
          <a:ln w="9525">
            <a:solidFill>
              <a:srgbClr val="C1440E"/>
            </a:solidFill>
            <a:prstDash val="solid"/>
          </a:ln>
        </p:spPr>
      </p:sp>
      <p:sp>
        <p:nvSpPr>
          <p:cNvPr id="9" name="Tracker 5 Models and results"/>
          <p:cNvSpPr/>
          <p:nvPr/>
        </p:nvSpPr>
        <p:spPr>
          <a:xfrm>
            <a:off x="10428732" y="6432804"/>
            <a:ext cx="118872" cy="118872"/>
          </a:xfrm>
          <a:prstGeom prst="ellipse">
            <a:avLst/>
          </a:prstGeom>
          <a:solidFill>
            <a:schemeClr val="bg1"/>
          </a:solidFill>
          <a:ln w="9525">
            <a:solidFill>
              <a:srgbClr val="98A6B5"/>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4  ML framework</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Evaluation: leave-one-campaign-out validation</a:t>
            </a:r>
            <a:endParaRPr lang="en-US" sz="2800" dirty="0"/>
          </a:p>
        </p:txBody>
      </p:sp>
      <p:sp>
        <p:nvSpPr>
          <p:cNvPr id="13" name="Input box"/>
          <p:cNvSpPr/>
          <p:nvPr/>
        </p:nvSpPr>
        <p:spPr>
          <a:xfrm>
            <a:off x="548640" y="1325880"/>
            <a:ext cx="4206240" cy="2514600"/>
          </a:xfrm>
          <a:prstGeom prst="rect">
            <a:avLst/>
          </a:prstGeom>
          <a:solidFill>
            <a:schemeClr val="bg1"/>
          </a:solidFill>
          <a:ln w="12700">
            <a:solidFill>
              <a:srgbClr val="98A6B5"/>
            </a:solidFill>
            <a:prstDash val="solid"/>
          </a:ln>
        </p:spPr>
      </p:sp>
      <p:sp>
        <p:nvSpPr>
          <p:cNvPr id="14"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5" name="Arrow input to model"/>
          <p:cNvSpPr/>
          <p:nvPr/>
        </p:nvSpPr>
        <p:spPr>
          <a:xfrm>
            <a:off x="4800600" y="2583180"/>
            <a:ext cx="457200" cy="0"/>
          </a:xfrm>
          <a:prstGeom prst="line">
            <a:avLst/>
          </a:prstGeom>
          <a:noFill/>
          <a:ln w="15875">
            <a:solidFill>
              <a:srgbClr val="1B2533"/>
            </a:solidFill>
            <a:prstDash val="solid"/>
            <a:tailEnd type="triangle"/>
          </a:ln>
        </p:spPr>
      </p:sp>
      <p:sp>
        <p:nvSpPr>
          <p:cNvPr id="16" name="Model box"/>
          <p:cNvSpPr/>
          <p:nvPr/>
        </p:nvSpPr>
        <p:spPr>
          <a:xfrm>
            <a:off x="5303520" y="1325880"/>
            <a:ext cx="3108960" cy="2514600"/>
          </a:xfrm>
          <a:prstGeom prst="rect">
            <a:avLst/>
          </a:prstGeom>
          <a:solidFill>
            <a:schemeClr val="bg1"/>
          </a:solidFill>
          <a:ln w="12700">
            <a:solidFill>
              <a:srgbClr val="98A6B5"/>
            </a:solidFill>
            <a:prstDash val="solid"/>
          </a:ln>
        </p:spPr>
      </p:sp>
      <p:sp>
        <p:nvSpPr>
          <p:cNvPr id="17"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classifier: returns a probability per range</a:t>
            </a:r>
            <a:endParaRPr lang="en-US" sz="1600" dirty="0"/>
          </a:p>
        </p:txBody>
      </p:sp>
      <p:sp>
        <p:nvSpPr>
          <p:cNvPr id="18" name="Arrow model to output"/>
          <p:cNvSpPr/>
          <p:nvPr/>
        </p:nvSpPr>
        <p:spPr>
          <a:xfrm>
            <a:off x="8458200" y="2583180"/>
            <a:ext cx="457200" cy="0"/>
          </a:xfrm>
          <a:prstGeom prst="line">
            <a:avLst/>
          </a:prstGeom>
          <a:noFill/>
          <a:ln w="15875">
            <a:solidFill>
              <a:srgbClr val="1B2533"/>
            </a:solidFill>
            <a:prstDash val="solid"/>
            <a:tailEnd type="triangle"/>
          </a:ln>
        </p:spPr>
      </p:sp>
      <p:sp>
        <p:nvSpPr>
          <p:cNvPr id="19" name="Output box"/>
          <p:cNvSpPr/>
          <p:nvPr/>
        </p:nvSpPr>
        <p:spPr>
          <a:xfrm>
            <a:off x="8961120" y="1325880"/>
            <a:ext cx="2679192" cy="2514600"/>
          </a:xfrm>
          <a:prstGeom prst="rect">
            <a:avLst/>
          </a:prstGeom>
          <a:solidFill>
            <a:schemeClr val="bg1"/>
          </a:solidFill>
          <a:ln w="12700">
            <a:solidFill>
              <a:srgbClr val="98A6B5"/>
            </a:solidFill>
            <a:prstDash val="solid"/>
          </a:ln>
        </p:spPr>
      </p:sp>
      <p:sp>
        <p:nvSpPr>
          <p:cNvPr id="20"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21" name="Text 17"/>
          <p:cNvSpPr txBox="1"/>
          <p:nvPr/>
        </p:nvSpPr>
        <p:spPr>
          <a:xfrm>
            <a:off x="548640" y="4023360"/>
            <a:ext cx="9144000" cy="274320"/>
          </a:xfrm>
          <a:prstGeom prst="rect">
            <a:avLst/>
          </a:prstGeom>
          <a:noFill/>
          <a:ln/>
        </p:spPr>
        <p:txBody>
          <a:bodyPr wrap="square" lIns="0" tIns="0" rIns="0" bIns="0" rtlCol="0" anchor="t"/>
          <a:lstStyle/>
          <a:p>
            <a:pPr indent="0" marL="0">
              <a:buNone/>
            </a:pPr>
            <a:r>
              <a:rPr lang="en-US" sz="1500" b="1" dirty="0">
                <a:solidFill>
                  <a:schemeClr val="tx2"/>
                </a:solidFill>
              </a:rPr>
              <a:t>Figure 8. Testing: hold out one campaign, train on the rest, repeat 32 times</a:t>
            </a:r>
            <a:endParaRPr lang="en-US" sz="1500" dirty="0"/>
          </a:p>
        </p:txBody>
      </p:sp>
      <p:sp>
        <p:nvSpPr>
          <p:cNvPr id="22" name="Training campaign 1"/>
          <p:cNvSpPr/>
          <p:nvPr/>
        </p:nvSpPr>
        <p:spPr>
          <a:xfrm>
            <a:off x="548640" y="4343400"/>
            <a:ext cx="246888" cy="246888"/>
          </a:xfrm>
          <a:prstGeom prst="rect">
            <a:avLst/>
          </a:prstGeom>
          <a:solidFill>
            <a:schemeClr val="accent6"/>
          </a:solidFill>
          <a:ln w="6350">
            <a:solidFill>
              <a:srgbClr val="98A6B5"/>
            </a:solidFill>
            <a:prstDash val="solid"/>
          </a:ln>
        </p:spPr>
      </p:sp>
      <p:sp>
        <p:nvSpPr>
          <p:cNvPr id="23" name="Training campaign 2"/>
          <p:cNvSpPr/>
          <p:nvPr/>
        </p:nvSpPr>
        <p:spPr>
          <a:xfrm>
            <a:off x="841248" y="4343400"/>
            <a:ext cx="246888" cy="246888"/>
          </a:xfrm>
          <a:prstGeom prst="rect">
            <a:avLst/>
          </a:prstGeom>
          <a:solidFill>
            <a:schemeClr val="accent6"/>
          </a:solidFill>
          <a:ln w="6350">
            <a:solidFill>
              <a:srgbClr val="98A6B5"/>
            </a:solidFill>
            <a:prstDash val="solid"/>
          </a:ln>
        </p:spPr>
      </p:sp>
      <p:sp>
        <p:nvSpPr>
          <p:cNvPr id="24" name="Training campaign 3"/>
          <p:cNvSpPr/>
          <p:nvPr/>
        </p:nvSpPr>
        <p:spPr>
          <a:xfrm>
            <a:off x="1133856" y="4343400"/>
            <a:ext cx="246888" cy="246888"/>
          </a:xfrm>
          <a:prstGeom prst="rect">
            <a:avLst/>
          </a:prstGeom>
          <a:solidFill>
            <a:schemeClr val="accent6"/>
          </a:solidFill>
          <a:ln w="6350">
            <a:solidFill>
              <a:srgbClr val="98A6B5"/>
            </a:solidFill>
            <a:prstDash val="solid"/>
          </a:ln>
        </p:spPr>
      </p:sp>
      <p:sp>
        <p:nvSpPr>
          <p:cNvPr id="25" name="Training campaign 4"/>
          <p:cNvSpPr/>
          <p:nvPr/>
        </p:nvSpPr>
        <p:spPr>
          <a:xfrm>
            <a:off x="1426464" y="4343400"/>
            <a:ext cx="246888" cy="246888"/>
          </a:xfrm>
          <a:prstGeom prst="rect">
            <a:avLst/>
          </a:prstGeom>
          <a:solidFill>
            <a:schemeClr val="accent6"/>
          </a:solidFill>
          <a:ln w="6350">
            <a:solidFill>
              <a:srgbClr val="98A6B5"/>
            </a:solidFill>
            <a:prstDash val="solid"/>
          </a:ln>
        </p:spPr>
      </p:sp>
      <p:sp>
        <p:nvSpPr>
          <p:cNvPr id="26" name="Training campaign 5"/>
          <p:cNvSpPr/>
          <p:nvPr/>
        </p:nvSpPr>
        <p:spPr>
          <a:xfrm>
            <a:off x="1719072" y="4343400"/>
            <a:ext cx="246888" cy="246888"/>
          </a:xfrm>
          <a:prstGeom prst="rect">
            <a:avLst/>
          </a:prstGeom>
          <a:solidFill>
            <a:schemeClr val="accent6"/>
          </a:solidFill>
          <a:ln w="6350">
            <a:solidFill>
              <a:srgbClr val="98A6B5"/>
            </a:solidFill>
            <a:prstDash val="solid"/>
          </a:ln>
        </p:spPr>
      </p:sp>
      <p:sp>
        <p:nvSpPr>
          <p:cNvPr id="27" name="Training campaign 6"/>
          <p:cNvSpPr/>
          <p:nvPr/>
        </p:nvSpPr>
        <p:spPr>
          <a:xfrm>
            <a:off x="2011680" y="4343400"/>
            <a:ext cx="246888" cy="246888"/>
          </a:xfrm>
          <a:prstGeom prst="rect">
            <a:avLst/>
          </a:prstGeom>
          <a:solidFill>
            <a:schemeClr val="accent6"/>
          </a:solidFill>
          <a:ln w="6350">
            <a:solidFill>
              <a:srgbClr val="98A6B5"/>
            </a:solidFill>
            <a:prstDash val="solid"/>
          </a:ln>
        </p:spPr>
      </p:sp>
      <p:sp>
        <p:nvSpPr>
          <p:cNvPr id="28" name="Training campaign 7"/>
          <p:cNvSpPr/>
          <p:nvPr/>
        </p:nvSpPr>
        <p:spPr>
          <a:xfrm>
            <a:off x="2304288" y="4343400"/>
            <a:ext cx="246888" cy="246888"/>
          </a:xfrm>
          <a:prstGeom prst="rect">
            <a:avLst/>
          </a:prstGeom>
          <a:solidFill>
            <a:schemeClr val="accent6"/>
          </a:solidFill>
          <a:ln w="6350">
            <a:solidFill>
              <a:srgbClr val="98A6B5"/>
            </a:solidFill>
            <a:prstDash val="solid"/>
          </a:ln>
        </p:spPr>
      </p:sp>
      <p:sp>
        <p:nvSpPr>
          <p:cNvPr id="29" name="Training campaign 8"/>
          <p:cNvSpPr/>
          <p:nvPr/>
        </p:nvSpPr>
        <p:spPr>
          <a:xfrm>
            <a:off x="2596896" y="4343400"/>
            <a:ext cx="246888" cy="246888"/>
          </a:xfrm>
          <a:prstGeom prst="rect">
            <a:avLst/>
          </a:prstGeom>
          <a:solidFill>
            <a:schemeClr val="accent6"/>
          </a:solidFill>
          <a:ln w="6350">
            <a:solidFill>
              <a:srgbClr val="98A6B5"/>
            </a:solidFill>
            <a:prstDash val="solid"/>
          </a:ln>
        </p:spPr>
      </p:sp>
      <p:sp>
        <p:nvSpPr>
          <p:cNvPr id="30" name="Training campaign 9"/>
          <p:cNvSpPr/>
          <p:nvPr/>
        </p:nvSpPr>
        <p:spPr>
          <a:xfrm>
            <a:off x="2889504" y="4343400"/>
            <a:ext cx="246888" cy="246888"/>
          </a:xfrm>
          <a:prstGeom prst="rect">
            <a:avLst/>
          </a:prstGeom>
          <a:solidFill>
            <a:schemeClr val="accent6"/>
          </a:solidFill>
          <a:ln w="6350">
            <a:solidFill>
              <a:srgbClr val="98A6B5"/>
            </a:solidFill>
            <a:prstDash val="solid"/>
          </a:ln>
        </p:spPr>
      </p:sp>
      <p:sp>
        <p:nvSpPr>
          <p:cNvPr id="31" name="Training campaign 10"/>
          <p:cNvSpPr/>
          <p:nvPr/>
        </p:nvSpPr>
        <p:spPr>
          <a:xfrm>
            <a:off x="3182112" y="4343400"/>
            <a:ext cx="246888" cy="246888"/>
          </a:xfrm>
          <a:prstGeom prst="rect">
            <a:avLst/>
          </a:prstGeom>
          <a:solidFill>
            <a:schemeClr val="accent6"/>
          </a:solidFill>
          <a:ln w="6350">
            <a:solidFill>
              <a:srgbClr val="98A6B5"/>
            </a:solidFill>
            <a:prstDash val="solid"/>
          </a:ln>
        </p:spPr>
      </p:sp>
      <p:sp>
        <p:nvSpPr>
          <p:cNvPr id="32" name="Training campaign 11"/>
          <p:cNvSpPr/>
          <p:nvPr/>
        </p:nvSpPr>
        <p:spPr>
          <a:xfrm>
            <a:off x="3474720" y="4343400"/>
            <a:ext cx="246888" cy="246888"/>
          </a:xfrm>
          <a:prstGeom prst="rect">
            <a:avLst/>
          </a:prstGeom>
          <a:solidFill>
            <a:schemeClr val="accent6"/>
          </a:solidFill>
          <a:ln w="6350">
            <a:solidFill>
              <a:srgbClr val="98A6B5"/>
            </a:solidFill>
            <a:prstDash val="solid"/>
          </a:ln>
        </p:spPr>
      </p:sp>
      <p:sp>
        <p:nvSpPr>
          <p:cNvPr id="33" name="Training campaign 12"/>
          <p:cNvSpPr/>
          <p:nvPr/>
        </p:nvSpPr>
        <p:spPr>
          <a:xfrm>
            <a:off x="3767328" y="4343400"/>
            <a:ext cx="246888" cy="246888"/>
          </a:xfrm>
          <a:prstGeom prst="rect">
            <a:avLst/>
          </a:prstGeom>
          <a:solidFill>
            <a:schemeClr val="accent6"/>
          </a:solidFill>
          <a:ln w="6350">
            <a:solidFill>
              <a:srgbClr val="98A6B5"/>
            </a:solidFill>
            <a:prstDash val="solid"/>
          </a:ln>
        </p:spPr>
      </p:sp>
      <p:sp>
        <p:nvSpPr>
          <p:cNvPr id="34" name="Training campaign 13"/>
          <p:cNvSpPr/>
          <p:nvPr/>
        </p:nvSpPr>
        <p:spPr>
          <a:xfrm>
            <a:off x="4059936" y="4343400"/>
            <a:ext cx="246888" cy="246888"/>
          </a:xfrm>
          <a:prstGeom prst="rect">
            <a:avLst/>
          </a:prstGeom>
          <a:solidFill>
            <a:schemeClr val="accent6"/>
          </a:solidFill>
          <a:ln w="6350">
            <a:solidFill>
              <a:srgbClr val="98A6B5"/>
            </a:solidFill>
            <a:prstDash val="solid"/>
          </a:ln>
        </p:spPr>
      </p:sp>
      <p:sp>
        <p:nvSpPr>
          <p:cNvPr id="35" name="Test campaign"/>
          <p:cNvSpPr/>
          <p:nvPr/>
        </p:nvSpPr>
        <p:spPr>
          <a:xfrm>
            <a:off x="4352544" y="4343400"/>
            <a:ext cx="246888" cy="246888"/>
          </a:xfrm>
          <a:prstGeom prst="rect">
            <a:avLst/>
          </a:prstGeom>
          <a:solidFill>
            <a:schemeClr val="accent1"/>
          </a:solidFill>
          <a:ln w="6350">
            <a:solidFill>
              <a:srgbClr val="C1440E"/>
            </a:solidFill>
            <a:prstDash val="solid"/>
          </a:ln>
        </p:spPr>
      </p:sp>
      <p:sp>
        <p:nvSpPr>
          <p:cNvPr id="36" name="Training campaign 15"/>
          <p:cNvSpPr/>
          <p:nvPr/>
        </p:nvSpPr>
        <p:spPr>
          <a:xfrm>
            <a:off x="4645152" y="4343400"/>
            <a:ext cx="246888" cy="246888"/>
          </a:xfrm>
          <a:prstGeom prst="rect">
            <a:avLst/>
          </a:prstGeom>
          <a:solidFill>
            <a:schemeClr val="accent6"/>
          </a:solidFill>
          <a:ln w="6350">
            <a:solidFill>
              <a:srgbClr val="98A6B5"/>
            </a:solidFill>
            <a:prstDash val="solid"/>
          </a:ln>
        </p:spPr>
      </p:sp>
      <p:sp>
        <p:nvSpPr>
          <p:cNvPr id="37" name="Training campaign 16"/>
          <p:cNvSpPr/>
          <p:nvPr/>
        </p:nvSpPr>
        <p:spPr>
          <a:xfrm>
            <a:off x="4937760" y="4343400"/>
            <a:ext cx="246888" cy="246888"/>
          </a:xfrm>
          <a:prstGeom prst="rect">
            <a:avLst/>
          </a:prstGeom>
          <a:solidFill>
            <a:schemeClr val="accent6"/>
          </a:solidFill>
          <a:ln w="6350">
            <a:solidFill>
              <a:srgbClr val="98A6B5"/>
            </a:solidFill>
            <a:prstDash val="solid"/>
          </a:ln>
        </p:spPr>
      </p:sp>
      <p:sp>
        <p:nvSpPr>
          <p:cNvPr id="38" name="Training campaign 17"/>
          <p:cNvSpPr/>
          <p:nvPr/>
        </p:nvSpPr>
        <p:spPr>
          <a:xfrm>
            <a:off x="5230368" y="4343400"/>
            <a:ext cx="246888" cy="246888"/>
          </a:xfrm>
          <a:prstGeom prst="rect">
            <a:avLst/>
          </a:prstGeom>
          <a:solidFill>
            <a:schemeClr val="accent6"/>
          </a:solidFill>
          <a:ln w="6350">
            <a:solidFill>
              <a:srgbClr val="98A6B5"/>
            </a:solidFill>
            <a:prstDash val="solid"/>
          </a:ln>
        </p:spPr>
      </p:sp>
      <p:sp>
        <p:nvSpPr>
          <p:cNvPr id="39" name="Training campaign 18"/>
          <p:cNvSpPr/>
          <p:nvPr/>
        </p:nvSpPr>
        <p:spPr>
          <a:xfrm>
            <a:off x="5522976" y="4343400"/>
            <a:ext cx="246888" cy="246888"/>
          </a:xfrm>
          <a:prstGeom prst="rect">
            <a:avLst/>
          </a:prstGeom>
          <a:solidFill>
            <a:schemeClr val="accent6"/>
          </a:solidFill>
          <a:ln w="6350">
            <a:solidFill>
              <a:srgbClr val="98A6B5"/>
            </a:solidFill>
            <a:prstDash val="solid"/>
          </a:ln>
        </p:spPr>
      </p:sp>
      <p:sp>
        <p:nvSpPr>
          <p:cNvPr id="40" name="Training campaign 19"/>
          <p:cNvSpPr/>
          <p:nvPr/>
        </p:nvSpPr>
        <p:spPr>
          <a:xfrm>
            <a:off x="5815584" y="4343400"/>
            <a:ext cx="246888" cy="246888"/>
          </a:xfrm>
          <a:prstGeom prst="rect">
            <a:avLst/>
          </a:prstGeom>
          <a:solidFill>
            <a:schemeClr val="accent6"/>
          </a:solidFill>
          <a:ln w="6350">
            <a:solidFill>
              <a:srgbClr val="98A6B5"/>
            </a:solidFill>
            <a:prstDash val="solid"/>
          </a:ln>
        </p:spPr>
      </p:sp>
      <p:sp>
        <p:nvSpPr>
          <p:cNvPr id="41" name="Training campaign 20"/>
          <p:cNvSpPr/>
          <p:nvPr/>
        </p:nvSpPr>
        <p:spPr>
          <a:xfrm>
            <a:off x="6108192" y="4343400"/>
            <a:ext cx="246888" cy="246888"/>
          </a:xfrm>
          <a:prstGeom prst="rect">
            <a:avLst/>
          </a:prstGeom>
          <a:solidFill>
            <a:schemeClr val="accent6"/>
          </a:solidFill>
          <a:ln w="6350">
            <a:solidFill>
              <a:srgbClr val="98A6B5"/>
            </a:solidFill>
            <a:prstDash val="solid"/>
          </a:ln>
        </p:spPr>
      </p:sp>
      <p:sp>
        <p:nvSpPr>
          <p:cNvPr id="42" name="Training campaign 21"/>
          <p:cNvSpPr/>
          <p:nvPr/>
        </p:nvSpPr>
        <p:spPr>
          <a:xfrm>
            <a:off x="6400800" y="4343400"/>
            <a:ext cx="246888" cy="246888"/>
          </a:xfrm>
          <a:prstGeom prst="rect">
            <a:avLst/>
          </a:prstGeom>
          <a:solidFill>
            <a:schemeClr val="accent6"/>
          </a:solidFill>
          <a:ln w="6350">
            <a:solidFill>
              <a:srgbClr val="98A6B5"/>
            </a:solidFill>
            <a:prstDash val="solid"/>
          </a:ln>
        </p:spPr>
      </p:sp>
      <p:sp>
        <p:nvSpPr>
          <p:cNvPr id="43" name="Training campaign 22"/>
          <p:cNvSpPr/>
          <p:nvPr/>
        </p:nvSpPr>
        <p:spPr>
          <a:xfrm>
            <a:off x="6693408" y="4343400"/>
            <a:ext cx="246888" cy="246888"/>
          </a:xfrm>
          <a:prstGeom prst="rect">
            <a:avLst/>
          </a:prstGeom>
          <a:solidFill>
            <a:schemeClr val="accent6"/>
          </a:solidFill>
          <a:ln w="6350">
            <a:solidFill>
              <a:srgbClr val="98A6B5"/>
            </a:solidFill>
            <a:prstDash val="solid"/>
          </a:ln>
        </p:spPr>
      </p:sp>
      <p:sp>
        <p:nvSpPr>
          <p:cNvPr id="44" name="Training campaign 23"/>
          <p:cNvSpPr/>
          <p:nvPr/>
        </p:nvSpPr>
        <p:spPr>
          <a:xfrm>
            <a:off x="6986016" y="4343400"/>
            <a:ext cx="246888" cy="246888"/>
          </a:xfrm>
          <a:prstGeom prst="rect">
            <a:avLst/>
          </a:prstGeom>
          <a:solidFill>
            <a:schemeClr val="accent6"/>
          </a:solidFill>
          <a:ln w="6350">
            <a:solidFill>
              <a:srgbClr val="98A6B5"/>
            </a:solidFill>
            <a:prstDash val="solid"/>
          </a:ln>
        </p:spPr>
      </p:sp>
      <p:sp>
        <p:nvSpPr>
          <p:cNvPr id="45" name="Training campaign 24"/>
          <p:cNvSpPr/>
          <p:nvPr/>
        </p:nvSpPr>
        <p:spPr>
          <a:xfrm>
            <a:off x="7278624" y="4343400"/>
            <a:ext cx="246888" cy="246888"/>
          </a:xfrm>
          <a:prstGeom prst="rect">
            <a:avLst/>
          </a:prstGeom>
          <a:solidFill>
            <a:schemeClr val="accent6"/>
          </a:solidFill>
          <a:ln w="6350">
            <a:solidFill>
              <a:srgbClr val="98A6B5"/>
            </a:solidFill>
            <a:prstDash val="solid"/>
          </a:ln>
        </p:spPr>
      </p:sp>
      <p:sp>
        <p:nvSpPr>
          <p:cNvPr id="46" name="Training campaign 25"/>
          <p:cNvSpPr/>
          <p:nvPr/>
        </p:nvSpPr>
        <p:spPr>
          <a:xfrm>
            <a:off x="7571232" y="4343400"/>
            <a:ext cx="246888" cy="246888"/>
          </a:xfrm>
          <a:prstGeom prst="rect">
            <a:avLst/>
          </a:prstGeom>
          <a:solidFill>
            <a:schemeClr val="accent6"/>
          </a:solidFill>
          <a:ln w="6350">
            <a:solidFill>
              <a:srgbClr val="98A6B5"/>
            </a:solidFill>
            <a:prstDash val="solid"/>
          </a:ln>
        </p:spPr>
      </p:sp>
      <p:sp>
        <p:nvSpPr>
          <p:cNvPr id="47" name="Training campaign 26"/>
          <p:cNvSpPr/>
          <p:nvPr/>
        </p:nvSpPr>
        <p:spPr>
          <a:xfrm>
            <a:off x="7863840" y="4343400"/>
            <a:ext cx="246888" cy="246888"/>
          </a:xfrm>
          <a:prstGeom prst="rect">
            <a:avLst/>
          </a:prstGeom>
          <a:solidFill>
            <a:schemeClr val="accent6"/>
          </a:solidFill>
          <a:ln w="6350">
            <a:solidFill>
              <a:srgbClr val="98A6B5"/>
            </a:solidFill>
            <a:prstDash val="solid"/>
          </a:ln>
        </p:spPr>
      </p:sp>
      <p:sp>
        <p:nvSpPr>
          <p:cNvPr id="48" name="Training campaign 27"/>
          <p:cNvSpPr/>
          <p:nvPr/>
        </p:nvSpPr>
        <p:spPr>
          <a:xfrm>
            <a:off x="8156448" y="4343400"/>
            <a:ext cx="246888" cy="246888"/>
          </a:xfrm>
          <a:prstGeom prst="rect">
            <a:avLst/>
          </a:prstGeom>
          <a:solidFill>
            <a:schemeClr val="accent6"/>
          </a:solidFill>
          <a:ln w="6350">
            <a:solidFill>
              <a:srgbClr val="98A6B5"/>
            </a:solidFill>
            <a:prstDash val="solid"/>
          </a:ln>
        </p:spPr>
      </p:sp>
      <p:sp>
        <p:nvSpPr>
          <p:cNvPr id="49" name="Training campaign 28"/>
          <p:cNvSpPr/>
          <p:nvPr/>
        </p:nvSpPr>
        <p:spPr>
          <a:xfrm>
            <a:off x="8449056" y="4343400"/>
            <a:ext cx="246888" cy="246888"/>
          </a:xfrm>
          <a:prstGeom prst="rect">
            <a:avLst/>
          </a:prstGeom>
          <a:solidFill>
            <a:schemeClr val="accent6"/>
          </a:solidFill>
          <a:ln w="6350">
            <a:solidFill>
              <a:srgbClr val="98A6B5"/>
            </a:solidFill>
            <a:prstDash val="solid"/>
          </a:ln>
        </p:spPr>
      </p:sp>
      <p:sp>
        <p:nvSpPr>
          <p:cNvPr id="50" name="Training campaign 29"/>
          <p:cNvSpPr/>
          <p:nvPr/>
        </p:nvSpPr>
        <p:spPr>
          <a:xfrm>
            <a:off x="8741664" y="4343400"/>
            <a:ext cx="246888" cy="246888"/>
          </a:xfrm>
          <a:prstGeom prst="rect">
            <a:avLst/>
          </a:prstGeom>
          <a:solidFill>
            <a:schemeClr val="accent6"/>
          </a:solidFill>
          <a:ln w="6350">
            <a:solidFill>
              <a:srgbClr val="98A6B5"/>
            </a:solidFill>
            <a:prstDash val="solid"/>
          </a:ln>
        </p:spPr>
      </p:sp>
      <p:sp>
        <p:nvSpPr>
          <p:cNvPr id="51" name="Training campaign 30"/>
          <p:cNvSpPr/>
          <p:nvPr/>
        </p:nvSpPr>
        <p:spPr>
          <a:xfrm>
            <a:off x="9034272" y="4343400"/>
            <a:ext cx="246888" cy="246888"/>
          </a:xfrm>
          <a:prstGeom prst="rect">
            <a:avLst/>
          </a:prstGeom>
          <a:solidFill>
            <a:schemeClr val="accent6"/>
          </a:solidFill>
          <a:ln w="6350">
            <a:solidFill>
              <a:srgbClr val="98A6B5"/>
            </a:solidFill>
            <a:prstDash val="solid"/>
          </a:ln>
        </p:spPr>
      </p:sp>
      <p:sp>
        <p:nvSpPr>
          <p:cNvPr id="52" name="Training campaign 31"/>
          <p:cNvSpPr/>
          <p:nvPr/>
        </p:nvSpPr>
        <p:spPr>
          <a:xfrm>
            <a:off x="9326880" y="4343400"/>
            <a:ext cx="246888" cy="246888"/>
          </a:xfrm>
          <a:prstGeom prst="rect">
            <a:avLst/>
          </a:prstGeom>
          <a:solidFill>
            <a:schemeClr val="accent6"/>
          </a:solidFill>
          <a:ln w="6350">
            <a:solidFill>
              <a:srgbClr val="98A6B5"/>
            </a:solidFill>
            <a:prstDash val="solid"/>
          </a:ln>
        </p:spPr>
      </p:sp>
      <p:sp>
        <p:nvSpPr>
          <p:cNvPr id="53" name="Training campaign 32"/>
          <p:cNvSpPr/>
          <p:nvPr/>
        </p:nvSpPr>
        <p:spPr>
          <a:xfrm>
            <a:off x="9619488" y="4343400"/>
            <a:ext cx="246888" cy="246888"/>
          </a:xfrm>
          <a:prstGeom prst="rect">
            <a:avLst/>
          </a:prstGeom>
          <a:solidFill>
            <a:schemeClr val="accent6"/>
          </a:solidFill>
          <a:ln w="6350">
            <a:solidFill>
              <a:srgbClr val="98A6B5"/>
            </a:solidFill>
            <a:prstDash val="solid"/>
          </a:ln>
        </p:spPr>
      </p:sp>
      <p:sp>
        <p:nvSpPr>
          <p:cNvPr id="54"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campaigns.  </a:t>
            </a:r>
            <a:pPr indent="0" marL="0">
              <a:buNone/>
            </a:pPr>
            <a:r>
              <a:rPr lang="en-US" sz="1400" dirty="0">
                <a:solidFill>
                  <a:schemeClr val="accent1"/>
                </a:solidFill>
              </a:rPr>
              <a:t>Orange: the held-out test campaign.</a:t>
            </a:r>
            <a:pPr indent="0" marL="0">
              <a:buNone/>
            </a:pPr>
            <a:r>
              <a:rPr lang="en-US" sz="1400" dirty="0">
                <a:solidFill>
                  <a:schemeClr val="tx1"/>
                </a:solidFill>
              </a:rPr>
              <a:t>  Each campaign is held out once.</a:t>
            </a:r>
            <a:endParaRPr lang="en-US" sz="1400" dirty="0"/>
          </a:p>
        </p:txBody>
      </p:sp>
      <p:sp>
        <p:nvSpPr>
          <p:cNvPr id="55"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campaigns, not measurements: the 346 rows used for modelling come from 32 of the 36 campaigns, and rows of one campaign share volunteers.</a:t>
            </a:r>
            <a:endParaRPr lang="en-US" sz="1400" dirty="0"/>
          </a:p>
          <a:p>
            <a:pPr marL="342900" indent="-342900">
              <a:spcAft>
                <a:spcPts val="400"/>
              </a:spcAft>
              <a:buSzPct val="100000"/>
              <a:buChar char="•"/>
            </a:pPr>
            <a:r>
              <a:rPr lang="en-US" sz="1400" dirty="0">
                <a:solidFill>
                  <a:schemeClr val="tx1"/>
                </a:solidFill>
              </a:rPr>
              <a:t>Score: average error in percentage points (pp), each campaign counted once. Predicted −10%, measured −13%: error 3 pp.</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LLM-based probabilistic classifier: input and output</a:t>
            </a:r>
            <a:endParaRPr lang="en-US" sz="2800" dirty="0"/>
          </a:p>
        </p:txBody>
      </p:sp>
      <p:sp>
        <p:nvSpPr>
          <p:cNvPr id="13" name="Request box"/>
          <p:cNvSpPr/>
          <p:nvPr/>
        </p:nvSpPr>
        <p:spPr>
          <a:xfrm>
            <a:off x="548640" y="1234440"/>
            <a:ext cx="4846320" cy="4160520"/>
          </a:xfrm>
          <a:prstGeom prst="rect">
            <a:avLst/>
          </a:prstGeom>
          <a:solidFill>
            <a:schemeClr val="bg1"/>
          </a:solidFill>
          <a:ln w="12700">
            <a:solidFill>
              <a:srgbClr val="98A6B5"/>
            </a:solidFill>
            <a:prstDash val="solid"/>
          </a:ln>
        </p:spPr>
      </p:sp>
      <p:sp>
        <p:nvSpPr>
          <p:cNvPr id="14"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campaigns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campaigns,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p:txBody>
      </p:sp>
      <p:sp>
        <p:nvSpPr>
          <p:cNvPr id="15" name="Arrow request to LLM"/>
          <p:cNvSpPr/>
          <p:nvPr/>
        </p:nvSpPr>
        <p:spPr>
          <a:xfrm>
            <a:off x="5486400" y="3383280"/>
            <a:ext cx="457200" cy="0"/>
          </a:xfrm>
          <a:prstGeom prst="line">
            <a:avLst/>
          </a:prstGeom>
          <a:noFill/>
          <a:ln w="15875">
            <a:solidFill>
              <a:srgbClr val="1B2533"/>
            </a:solidFill>
            <a:prstDash val="solid"/>
            <a:tailEnd type="triangle"/>
          </a:ln>
        </p:spPr>
      </p:sp>
      <p:sp>
        <p:nvSpPr>
          <p:cNvPr id="16" name="LLM box"/>
          <p:cNvSpPr/>
          <p:nvPr/>
        </p:nvSpPr>
        <p:spPr>
          <a:xfrm>
            <a:off x="5989320" y="2788920"/>
            <a:ext cx="1234440" cy="1188720"/>
          </a:xfrm>
          <a:prstGeom prst="rect">
            <a:avLst/>
          </a:prstGeom>
          <a:solidFill>
            <a:schemeClr val="bg2"/>
          </a:solidFill>
          <a:ln w="12700">
            <a:solidFill>
              <a:srgbClr val="98A6B5"/>
            </a:solidFill>
            <a:prstDash val="solid"/>
          </a:ln>
        </p:spPr>
      </p:sp>
      <p:sp>
        <p:nvSpPr>
          <p:cNvPr id="17"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400" b="1" dirty="0">
                <a:solidFill>
                  <a:schemeClr val="tx2"/>
                </a:solidFill>
              </a:rPr>
              <a:t>classifier</a:t>
            </a:r>
            <a:endParaRPr lang="en-US" sz="1600" dirty="0"/>
          </a:p>
          <a:p>
            <a:pPr algn="ctr" indent="0" marL="0">
              <a:buNone/>
            </a:pPr>
            <a:r>
              <a:rPr lang="en-US" sz="1100" dirty="0">
                <a:solidFill>
                  <a:schemeClr val="accent3"/>
                </a:solidFill>
              </a:rPr>
              <a:t>fixed version</a:t>
            </a:r>
            <a:endParaRPr lang="en-US" sz="1600" dirty="0"/>
          </a:p>
        </p:txBody>
      </p:sp>
      <p:sp>
        <p:nvSpPr>
          <p:cNvPr id="18" name="Arrow LLM to answer"/>
          <p:cNvSpPr/>
          <p:nvPr/>
        </p:nvSpPr>
        <p:spPr>
          <a:xfrm>
            <a:off x="7269480" y="3383280"/>
            <a:ext cx="457200" cy="0"/>
          </a:xfrm>
          <a:prstGeom prst="line">
            <a:avLst/>
          </a:prstGeom>
          <a:noFill/>
          <a:ln w="15875">
            <a:solidFill>
              <a:srgbClr val="1B2533"/>
            </a:solidFill>
            <a:prstDash val="solid"/>
            <a:tailEnd type="triangle"/>
          </a:ln>
        </p:spPr>
      </p:sp>
      <p:sp>
        <p:nvSpPr>
          <p:cNvPr id="19" name="Text 15"/>
          <p:cNvSpPr txBox="1"/>
          <p:nvPr/>
        </p:nvSpPr>
        <p:spPr>
          <a:xfrm>
            <a:off x="5486400" y="4069080"/>
            <a:ext cx="2240280" cy="1188720"/>
          </a:xfrm>
          <a:prstGeom prst="rect">
            <a:avLst/>
          </a:prstGeom>
          <a:noFill/>
          <a:ln/>
        </p:spPr>
        <p:txBody>
          <a:bodyPr wrap="square" lIns="0" tIns="0" rIns="0" bIns="0" rtlCol="0" anchor="t"/>
          <a:lstStyle/>
          <a:p>
            <a:pPr algn="ctr" indent="0" marL="0">
              <a:buNone/>
            </a:pPr>
            <a:r>
              <a:rPr lang="en-US" sz="1100" i="1" dirty="0">
                <a:solidFill>
                  <a:schemeClr val="accent3"/>
                </a:solidFill>
              </a:rPr>
              <a:t>Not a chat model: it is built for classification and returns only a probability for each listed option, never free text.</a:t>
            </a:r>
            <a:endParaRPr lang="en-US" sz="1100" dirty="0"/>
          </a:p>
        </p:txBody>
      </p:sp>
      <p:graphicFrame>
        <p:nvGraphicFramePr>
          <p:cNvPr id="20"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averages the range midpoints, weighted by probability (open ends count as −31% and +5%): −6.6%</a:t>
            </a:r>
            <a:endParaRPr lang="en-US" sz="1300" dirty="0"/>
          </a:p>
          <a:p>
            <a:pPr marL="342900" indent="-342900">
              <a:spcAft>
                <a:spcPts val="400"/>
              </a:spcAft>
              <a:buSzPct val="100000"/>
              <a:buChar char="•"/>
            </a:pPr>
            <a:r>
              <a:rPr lang="en-US" sz="1300" dirty="0">
                <a:solidFill>
                  <a:schemeClr val="tx1"/>
                </a:solidFill>
              </a:rPr>
              <a:t>Measured: −9.4%, an error of 2.8 pp, a typical row</a:t>
            </a:r>
            <a:endParaRPr lang="en-US" sz="1300" dirty="0"/>
          </a:p>
        </p:txBody>
      </p:sp>
      <p:sp>
        <p:nvSpPr>
          <p:cNvPr id="22" name="Text 17"/>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campaign's measurements, and any paper, author or campaign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Model comparison on held-out campaigns</a:t>
            </a:r>
            <a:endParaRPr lang="en-US" sz="2800" dirty="0"/>
          </a:p>
        </p:txBody>
      </p:sp>
      <p:graphicFrame>
        <p:nvGraphicFramePr>
          <p:cNvPr id="13" name="MAE chart with LLM" descr=""/>
          <p:cNvGraphicFramePr/>
          <p:nvPr/>
        </p:nvGraphicFramePr>
        <p:xfrm>
          <a:off x="457200" y="1188720"/>
          <a:ext cx="5669280" cy="3429000"/>
        </p:xfrm>
        <a:graphic xmlns:a="http://schemas.openxmlformats.org/drawingml/2006/main">
          <a:graphicData uri="http://schemas.openxmlformats.org/drawingml/2006/chart">
            <c:chart xmlns:c="http://schemas.openxmlformats.org/drawingml/2006/chart" r:id="rId3"/>
          </a:graphicData>
        </a:graphic>
      </p:graphicFrame>
      <p:graphicFrame>
        <p:nvGraphicFramePr>
          <p:cNvPr id="14" name="R2 chart with LLM" descr=""/>
          <p:cNvGraphicFramePr/>
          <p:nvPr/>
        </p:nvGraphicFramePr>
        <p:xfrm>
          <a:off x="6309360" y="1188720"/>
          <a:ext cx="5394960" cy="3429000"/>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548640" y="4681728"/>
            <a:ext cx="11064240" cy="128016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ML models explain more of the differences (R² 0.27 to 0.39), but none has lower error than the curve.</a:t>
            </a:r>
            <a:endParaRPr lang="en-US" sz="1400" dirty="0"/>
          </a:p>
          <a:p>
            <a:pPr marL="342900" indent="-342900">
              <a:spcAft>
                <a:spcPts val="400"/>
              </a:spcAft>
              <a:buSzPct val="100000"/>
              <a:buChar char="•"/>
            </a:pPr>
            <a:r>
              <a:rPr lang="en-US" sz="1400" dirty="0">
                <a:solidFill>
                  <a:schemeClr val="tx1"/>
                </a:solidFill>
              </a:rPr>
              <a:t>LLM vs curve, scored the same way: 2.71 vs 3.13 pp, so 0.42 pp smaller; closer in 20 of 32 campaigns.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a:t>
            </a:r>
            <a:endParaRPr lang="en-US" sz="1400" dirty="0"/>
          </a:p>
        </p:txBody>
      </p:sp>
      <p:sp>
        <p:nvSpPr>
          <p:cNvPr id="16"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378440" y="6382512"/>
            <a:ext cx="219456" cy="219456"/>
          </a:xfrm>
          <a:prstGeom prst="ellipse">
            <a:avLst/>
          </a:prstGeom>
          <a:solidFill>
            <a:schemeClr val="accent1"/>
          </a:solidFill>
          <a:ln w="9525">
            <a:solidFill>
              <a:srgbClr val="C1440E"/>
            </a:solidFill>
            <a:prstDash val="solid"/>
          </a:ln>
        </p:spPr>
      </p:sp>
      <p:sp>
        <p:nvSpPr>
          <p:cNvPr id="10" name="Tracker 6 Conclusion"/>
          <p:cNvSpPr/>
          <p:nvPr/>
        </p:nvSpPr>
        <p:spPr>
          <a:xfrm>
            <a:off x="10776204" y="6432804"/>
            <a:ext cx="118872" cy="118872"/>
          </a:xfrm>
          <a:prstGeom prst="ellipse">
            <a:avLst/>
          </a:prstGeom>
          <a:solidFill>
            <a:schemeClr val="bg1"/>
          </a:solidFill>
          <a:ln w="9525">
            <a:solidFill>
              <a:srgbClr val="98A6B5"/>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5  Models and results</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Robustness and validity checks of the LLM prediction</a:t>
            </a:r>
            <a:endParaRPr lang="en-US" sz="2800" dirty="0"/>
          </a:p>
        </p:txBody>
      </p:sp>
      <p:sp>
        <p:nvSpPr>
          <p:cNvPr id="13"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4"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a known campaign?</a:t>
            </a:r>
            <a:endParaRPr lang="en-US" sz="1600" dirty="0"/>
          </a:p>
          <a:p>
            <a:pPr marL="342900" indent="-342900">
              <a:spcAft>
                <a:spcPts val="400"/>
              </a:spcAft>
              <a:buSzPct val="100000"/>
              <a:buChar char="•"/>
            </a:pPr>
            <a:r>
              <a:rPr lang="en-US" sz="1400" dirty="0">
                <a:solidFill>
                  <a:schemeClr val="tx1"/>
                </a:solidFill>
              </a:rPr>
              <a:t>Everything identifying a campaign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campaign's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campaigns'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5"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campaigns'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predictions differ by 0.17 pp on average, well below the 0.42 pp gain</a:t>
            </a:r>
            <a:endParaRPr lang="en-US" sz="1600" dirty="0"/>
          </a:p>
        </p:txBody>
      </p:sp>
      <p:sp>
        <p:nvSpPr>
          <p:cNvPr id="16"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not in the original plan</a:t>
            </a:r>
            <a:endParaRPr lang="en-US" sz="1600" dirty="0"/>
          </a:p>
          <a:p>
            <a:pPr marL="342900" indent="-342900">
              <a:spcAft>
                <a:spcPts val="400"/>
              </a:spcAft>
              <a:buSzPct val="100000"/>
              <a:buChar char="•"/>
            </a:pPr>
            <a:r>
              <a:rPr lang="en-US" sz="1400" dirty="0">
                <a:solidFill>
                  <a:schemeClr val="tx1"/>
                </a:solidFill>
              </a:rPr>
              <a:t>Overconfident ranges: its 80% ranges hold the measured value 62% of the time, so we report only its single-number prediction</a:t>
            </a:r>
            <a:endParaRPr lang="en-US" sz="1600" dirty="0"/>
          </a:p>
          <a:p>
            <a:pPr marL="342900" indent="-342900">
              <a:spcAft>
                <a:spcPts val="400"/>
              </a:spcAft>
              <a:buSzPct val="100000"/>
              <a:buChar char="•"/>
            </a:pPr>
            <a:r>
              <a:rPr lang="en-US" sz="1400" dirty="0">
                <a:solidFill>
                  <a:schemeClr val="tx1"/>
                </a:solidFill>
              </a:rPr>
              <a:t>Given a campaign's own earlier scans, it does not use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8732520" y="6492240"/>
            <a:ext cx="2450592" cy="0"/>
          </a:xfrm>
          <a:prstGeom prst="line">
            <a:avLst/>
          </a:prstGeom>
          <a:noFill/>
          <a:ln w="9525">
            <a:solidFill>
              <a:srgbClr val="98A6B5"/>
            </a:solidFill>
            <a:prstDash val="dash"/>
          </a:ln>
        </p:spPr>
      </p:sp>
      <p:pic>
        <p:nvPicPr>
          <p:cNvPr id="3" name="Image 0" descr="Earth">    </p:cNvPr>
          <p:cNvPicPr>
            <a:picLocks noChangeAspect="1"/>
          </p:cNvPicPr>
          <p:nvPr/>
        </p:nvPicPr>
        <p:blipFill>
          <a:blip r:embed="rId1"/>
          <a:stretch>
            <a:fillRect/>
          </a:stretch>
        </p:blipFill>
        <p:spPr>
          <a:xfrm>
            <a:off x="8631936" y="6391656"/>
            <a:ext cx="201168" cy="201168"/>
          </a:xfrm>
          <a:prstGeom prst="rect">
            <a:avLst/>
          </a:prstGeom>
        </p:spPr>
      </p:pic>
      <p:pic>
        <p:nvPicPr>
          <p:cNvPr id="4" name="Image 1" descr="Mars">    </p:cNvPr>
          <p:cNvPicPr>
            <a:picLocks noChangeAspect="1"/>
          </p:cNvPicPr>
          <p:nvPr/>
        </p:nvPicPr>
        <p:blipFill>
          <a:blip r:embed="rId2"/>
          <a:stretch>
            <a:fillRect/>
          </a:stretch>
        </p:blipFill>
        <p:spPr>
          <a:xfrm>
            <a:off x="11073384" y="6382512"/>
            <a:ext cx="219456" cy="219456"/>
          </a:xfrm>
          <a:prstGeom prst="rect">
            <a:avLst/>
          </a:prstGeom>
        </p:spPr>
      </p:pic>
      <p:sp>
        <p:nvSpPr>
          <p:cNvPr id="5" name="Tracker 1 Intro and motivation"/>
          <p:cNvSpPr/>
          <p:nvPr/>
        </p:nvSpPr>
        <p:spPr>
          <a:xfrm>
            <a:off x="9038844" y="6432804"/>
            <a:ext cx="118872" cy="118872"/>
          </a:xfrm>
          <a:prstGeom prst="ellipse">
            <a:avLst/>
          </a:prstGeom>
          <a:solidFill>
            <a:schemeClr val="tx2"/>
          </a:solidFill>
          <a:ln w="9525">
            <a:solidFill>
              <a:srgbClr val="0B2545"/>
            </a:solidFill>
            <a:prstDash val="solid"/>
          </a:ln>
        </p:spPr>
      </p:sp>
      <p:sp>
        <p:nvSpPr>
          <p:cNvPr id="6" name="Tracker 2 Literature research"/>
          <p:cNvSpPr/>
          <p:nvPr/>
        </p:nvSpPr>
        <p:spPr>
          <a:xfrm>
            <a:off x="9386316" y="6432804"/>
            <a:ext cx="118872" cy="118872"/>
          </a:xfrm>
          <a:prstGeom prst="ellipse">
            <a:avLst/>
          </a:prstGeom>
          <a:solidFill>
            <a:schemeClr val="tx2"/>
          </a:solidFill>
          <a:ln w="9525">
            <a:solidFill>
              <a:srgbClr val="0B2545"/>
            </a:solidFill>
            <a:prstDash val="solid"/>
          </a:ln>
        </p:spPr>
      </p:sp>
      <p:sp>
        <p:nvSpPr>
          <p:cNvPr id="7" name="Tracker 3 Data extraction and database"/>
          <p:cNvSpPr/>
          <p:nvPr/>
        </p:nvSpPr>
        <p:spPr>
          <a:xfrm>
            <a:off x="9733788" y="6432804"/>
            <a:ext cx="118872" cy="118872"/>
          </a:xfrm>
          <a:prstGeom prst="ellipse">
            <a:avLst/>
          </a:prstGeom>
          <a:solidFill>
            <a:schemeClr val="tx2"/>
          </a:solidFill>
          <a:ln w="9525">
            <a:solidFill>
              <a:srgbClr val="0B2545"/>
            </a:solidFill>
            <a:prstDash val="solid"/>
          </a:ln>
        </p:spPr>
      </p:sp>
      <p:sp>
        <p:nvSpPr>
          <p:cNvPr id="8" name="Tracker 4 ML framework"/>
          <p:cNvSpPr/>
          <p:nvPr/>
        </p:nvSpPr>
        <p:spPr>
          <a:xfrm>
            <a:off x="10081260" y="6432804"/>
            <a:ext cx="118872" cy="118872"/>
          </a:xfrm>
          <a:prstGeom prst="ellipse">
            <a:avLst/>
          </a:prstGeom>
          <a:solidFill>
            <a:schemeClr val="tx2"/>
          </a:solidFill>
          <a:ln w="9525">
            <a:solidFill>
              <a:srgbClr val="0B2545"/>
            </a:solidFill>
            <a:prstDash val="solid"/>
          </a:ln>
        </p:spPr>
      </p:sp>
      <p:sp>
        <p:nvSpPr>
          <p:cNvPr id="9" name="Tracker 5 Models and results"/>
          <p:cNvSpPr/>
          <p:nvPr/>
        </p:nvSpPr>
        <p:spPr>
          <a:xfrm>
            <a:off x="10428732" y="6432804"/>
            <a:ext cx="118872" cy="118872"/>
          </a:xfrm>
          <a:prstGeom prst="ellipse">
            <a:avLst/>
          </a:prstGeom>
          <a:solidFill>
            <a:schemeClr val="tx2"/>
          </a:solidFill>
          <a:ln w="9525">
            <a:solidFill>
              <a:srgbClr val="0B2545"/>
            </a:solidFill>
            <a:prstDash val="solid"/>
          </a:ln>
        </p:spPr>
      </p:sp>
      <p:sp>
        <p:nvSpPr>
          <p:cNvPr id="10" name="Tracker 6 Conclusion"/>
          <p:cNvSpPr/>
          <p:nvPr/>
        </p:nvSpPr>
        <p:spPr>
          <a:xfrm>
            <a:off x="10725912" y="6382512"/>
            <a:ext cx="219456" cy="219456"/>
          </a:xfrm>
          <a:prstGeom prst="ellipse">
            <a:avLst/>
          </a:prstGeom>
          <a:solidFill>
            <a:schemeClr val="accent1"/>
          </a:solidFill>
          <a:ln w="9525">
            <a:solidFill>
              <a:srgbClr val="C1440E"/>
            </a:solidFill>
            <a:prstDash val="solid"/>
          </a:ln>
        </p:spPr>
      </p:sp>
      <p:sp>
        <p:nvSpPr>
          <p:cNvPr id="11" name="Text 7"/>
          <p:cNvSpPr txBox="1"/>
          <p:nvPr/>
        </p:nvSpPr>
        <p:spPr>
          <a:xfrm>
            <a:off x="5394960" y="6355080"/>
            <a:ext cx="301752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a:t>
            </a:r>
            <a:endParaRPr lang="en-US" sz="1000" dirty="0"/>
          </a:p>
        </p:txBody>
      </p:sp>
      <p:sp>
        <p:nvSpPr>
          <p:cNvPr id="1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3" name="Text 9"/>
          <p:cNvSpPr txBox="1"/>
          <p:nvPr/>
        </p:nvSpPr>
        <p:spPr>
          <a:xfrm>
            <a:off x="54864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ML models do not beat a duration-only curve (3.18 vs 3.16 pp)</a:t>
            </a:r>
            <a:endParaRPr lang="en-US" sz="2000" dirty="0"/>
          </a:p>
          <a:p>
            <a:pPr marL="342900" indent="-342900">
              <a:spcAft>
                <a:spcPts val="400"/>
              </a:spcAft>
              <a:buSzPct val="100000"/>
              <a:buChar char="•"/>
            </a:pPr>
            <a:r>
              <a:rPr lang="en-US" sz="1800" dirty="0">
                <a:solidFill>
                  <a:schemeClr val="tx1"/>
                </a:solidFill>
              </a:rPr>
              <a:t>The LLM classifier lowers the error to 2.71 pp (curve 3.13 pp)</a:t>
            </a:r>
            <a:endParaRPr lang="en-US" sz="2000" dirty="0"/>
          </a:p>
        </p:txBody>
      </p:sp>
      <p:sp>
        <p:nvSpPr>
          <p:cNvPr id="14" name="Text 10"/>
          <p:cNvSpPr txBox="1"/>
          <p:nvPr/>
        </p:nvSpPr>
        <p:spPr>
          <a:xfrm>
            <a:off x="6309360" y="1280160"/>
            <a:ext cx="530352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32 independent campaigns, mostly young men</a:t>
            </a:r>
            <a:endParaRPr lang="en-US" sz="2000" dirty="0"/>
          </a:p>
          <a:p>
            <a:pPr marL="342900" indent="-342900">
              <a:spcAft>
                <a:spcPts val="400"/>
              </a:spcAft>
              <a:buSzPct val="100000"/>
              <a:buChar char="•"/>
            </a:pPr>
            <a:r>
              <a:rPr lang="en-US" sz="1800" dirty="0">
                <a:solidFill>
                  <a:schemeClr val="tx1"/>
                </a:solidFill>
              </a:rPr>
              <a:t>No bed-rest data beyond day 119</a:t>
            </a:r>
            <a:endParaRPr lang="en-US" sz="2000" dirty="0"/>
          </a:p>
          <a:p>
            <a:pPr marL="342900" indent="-342900">
              <a:spcAft>
                <a:spcPts val="400"/>
              </a:spcAft>
              <a:buSzPct val="100000"/>
              <a:buChar char="•"/>
            </a:pPr>
            <a:r>
              <a:rPr lang="en-US" sz="1800" dirty="0">
                <a:solidFill>
                  <a:schemeClr val="tx1"/>
                </a:solidFill>
              </a:rPr>
              <a:t>Group averages, not individual astronauts</a:t>
            </a:r>
            <a:endParaRPr lang="en-US" sz="2000" dirty="0"/>
          </a:p>
          <a:p>
            <a:pPr marL="342900" indent="-342900">
              <a:spcAft>
                <a:spcPts val="400"/>
              </a:spcAft>
              <a:buSzPct val="100000"/>
              <a:buChar char="•"/>
            </a:pPr>
            <a:r>
              <a:rPr lang="en-US" sz="1800" dirty="0">
                <a:solidFill>
                  <a:schemeClr val="tx1"/>
                </a:solidFill>
              </a:rPr>
              <a:t>Bed rest is not spaceflight</a:t>
            </a:r>
            <a:endParaRPr lang="en-US" sz="2000" dirty="0"/>
          </a:p>
        </p:txBody>
      </p:sp>
      <p:sp>
        <p:nvSpPr>
          <p:cNvPr id="15" name="Divider"/>
          <p:cNvSpPr/>
          <p:nvPr/>
        </p:nvSpPr>
        <p:spPr>
          <a:xfrm>
            <a:off x="548640" y="3840480"/>
            <a:ext cx="11064240" cy="0"/>
          </a:xfrm>
          <a:prstGeom prst="line">
            <a:avLst/>
          </a:prstGeom>
          <a:noFill/>
          <a:ln w="9525">
            <a:solidFill>
              <a:srgbClr val="98A6B5"/>
            </a:solidFill>
            <a:prstDash val="solid"/>
          </a:ln>
        </p:spPr>
      </p:sp>
      <p:sp>
        <p:nvSpPr>
          <p:cNvPr id="16" name="Text 12"/>
          <p:cNvSpPr txBox="1"/>
          <p:nvPr/>
        </p:nvSpPr>
        <p:spPr>
          <a:xfrm>
            <a:off x="548640" y="4023360"/>
            <a:ext cx="11064240" cy="210312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600" dirty="0">
                <a:solidFill>
                  <a:schemeClr val="tx1"/>
                </a:solidFill>
              </a:rPr>
              <a:t>Muscle-specific modelling: estimate each muscle's susceptibility and combine it with baseline volumes into total lower-limb volume loss</a:t>
            </a:r>
            <a:endParaRPr lang="en-US" sz="2000" dirty="0"/>
          </a:p>
          <a:p>
            <a:pPr marL="342900" indent="-342900">
              <a:spcAft>
                <a:spcPts val="400"/>
              </a:spcAft>
              <a:buSzPct val="100000"/>
              <a:buChar char="•"/>
            </a:pPr>
            <a:r>
              <a:rPr lang="en-US" sz="1600" dirty="0">
                <a:solidFill>
                  <a:schemeClr val="tx1"/>
                </a:solidFill>
              </a:rPr>
              <a:t>Individual and functional prediction: participant-level data over time, linked to strength and function</a:t>
            </a:r>
            <a:endParaRPr lang="en-US" sz="2000" dirty="0"/>
          </a:p>
          <a:p>
            <a:pPr marL="342900" indent="-342900">
              <a:spcAft>
                <a:spcPts val="400"/>
              </a:spcAft>
              <a:buSzPct val="100000"/>
              <a:buChar char="•"/>
            </a:pPr>
            <a:r>
              <a:rPr lang="en-US" sz="1600" dirty="0">
                <a:solidFill>
                  <a:schemeClr val="tx1"/>
                </a:solidFill>
              </a:rPr>
              <a:t>Validation on independent campaigns and spaceflight data before any personal risk-assessment tool</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2"/>
          <a:stretch>
            <a:fillRect/>
          </a:stretch>
        </p:blipFill>
        <p:spPr>
          <a:xfrm>
            <a:off x="822960" y="548640"/>
            <a:ext cx="2926080" cy="786581"/>
          </a:xfrm>
          <a:prstGeom prst="rect">
            <a:avLst/>
          </a:prstGeom>
        </p:spPr>
      </p:pic>
      <p:sp>
        <p:nvSpPr>
          <p:cNvPr id="3" name="Text 0"/>
          <p:cNvSpPr txBox="1"/>
          <p:nvPr/>
        </p:nvSpPr>
        <p:spPr>
          <a:xfrm>
            <a:off x="822960" y="1920240"/>
            <a:ext cx="8961120" cy="1737360"/>
          </a:xfrm>
          <a:prstGeom prst="rect">
            <a:avLst/>
          </a:prstGeom>
          <a:noFill/>
          <a:ln/>
        </p:spPr>
        <p:txBody>
          <a:bodyPr wrap="square" lIns="0" tIns="0" rIns="0" bIns="0" rtlCol="0" anchor="b"/>
          <a:lstStyle/>
          <a:p>
            <a:pPr indent="0" marL="0">
              <a:spcAft>
                <a:spcPts val="1000"/>
              </a:spcAft>
              <a:buNone/>
            </a:pPr>
            <a:r>
              <a:rPr lang="en-US" sz="4600" b="1" dirty="0">
                <a:solidFill>
                  <a:srgbClr val="FFFFFF"/>
                </a:solidFill>
                <a:latin typeface="Cambria" pitchFamily="34" charset="0"/>
                <a:ea typeface="Cambria" pitchFamily="34" charset="-122"/>
                <a:cs typeface="Cambria" pitchFamily="34" charset="-120"/>
              </a:rPr>
              <a:t>Thank you for listening</a:t>
            </a:r>
            <a:endParaRPr lang="en-US" sz="4600" dirty="0"/>
          </a:p>
          <a:p>
            <a:pPr indent="0" marL="0">
              <a:spcAft>
                <a:spcPts val="1000"/>
              </a:spcAft>
              <a:buNone/>
            </a:pPr>
            <a:r>
              <a:rPr lang="en-US" sz="2600" b="1" dirty="0">
                <a:solidFill>
                  <a:srgbClr val="F2D0A9"/>
                </a:solidFill>
                <a:latin typeface="Cambria" pitchFamily="34" charset="0"/>
                <a:ea typeface="Cambria" pitchFamily="34" charset="-122"/>
                <a:cs typeface="Cambria" pitchFamily="34" charset="-120"/>
              </a:rPr>
              <a:t>Questions are welcome</a:t>
            </a:r>
            <a:endParaRPr lang="en-US" sz="4600" dirty="0"/>
          </a:p>
        </p:txBody>
      </p:sp>
      <p:sp>
        <p:nvSpPr>
          <p:cNvPr id="4" name="Text 1"/>
          <p:cNvSpPr txBox="1"/>
          <p:nvPr/>
        </p:nvSpPr>
        <p:spPr>
          <a:xfrm>
            <a:off x="822960" y="3931920"/>
            <a:ext cx="7680960" cy="365760"/>
          </a:xfrm>
          <a:prstGeom prst="rect">
            <a:avLst/>
          </a:prstGeom>
          <a:noFill/>
          <a:ln/>
        </p:spPr>
        <p:txBody>
          <a:bodyPr wrap="square" lIns="0" tIns="0" rIns="0" bIns="0" rtlCol="0" anchor="t"/>
          <a:lstStyle/>
          <a:p>
            <a:pPr indent="0" marL="0">
              <a:buNone/>
            </a:pPr>
            <a:r>
              <a:rPr lang="en-US" sz="1600" b="1" dirty="0">
                <a:solidFill>
                  <a:srgbClr val="F2D0A9"/>
                </a:solidFill>
              </a:rPr>
              <a:t>From Bed Rest to Mars  |  64. Jahrestagung der DGLRM</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coverage and limitations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Four sources searched from 2013 on, plus 10 older or open-data studies (sources and queries on the next slide)</a:t>
            </a:r>
            <a:endParaRPr lang="en-US" sz="1500" dirty="0"/>
          </a:p>
          <a:p>
            <a:pPr marL="342900" indent="-342900">
              <a:spcAft>
                <a:spcPts val="400"/>
              </a:spcAft>
              <a:buSzPct val="100000"/>
              <a:buChar char="•"/>
            </a:pPr>
            <a:r>
              <a:rPr lang="en-US" sz="1400" dirty="0">
                <a:solidFill>
                  <a:schemeClr val="tx1"/>
                </a:solidFill>
              </a:rPr>
              <a:t>Not covered: Embase (no access)</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campaign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campaign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literature search sources and query</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Table 3. Sources (searched 4 September 2026)</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solidFill>
                      <a:srgbClr val="0B2545"/>
                    </a:solidFill>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dirty="0">
                          <a:solidFill>
                            <a:srgbClr val="1B2533"/>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dirty="0">
                          <a:solidFill>
                            <a:srgbClr val="1B2533"/>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r h="347472">
                <a:tc>
                  <a:txBody>
                    <a:bodyPr/>
                    <a:lstStyle/>
                    <a:p>
                      <a:pPr algn="l" indent="0" marL="0">
                        <a:buNone/>
                      </a:pPr>
                      <a:r>
                        <a:rPr lang="en-US" sz="1300" b="1" dirty="0">
                          <a:solidFill>
                            <a:srgbClr val="1B2533"/>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c>
                  <a:txBody>
                    <a:bodyPr/>
                    <a:lstStyle/>
                    <a:p>
                      <a:pPr algn="r" indent="0" marL="0">
                        <a:buNone/>
                      </a:pPr>
                      <a:r>
                        <a:rPr lang="en-US" sz="1300" b="1" dirty="0">
                          <a:solidFill>
                            <a:srgbClr val="1B2533"/>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2E7ED"/>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Figure 12. 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8A6B5"/>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8A6B5"/>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8A6B5"/>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dataset expansion and composition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The abstract had 15 studies. Did adding 37 change the analysis after seeing data?</a:t>
            </a:r>
            <a:endParaRPr lang="en-US" sz="1500" dirty="0"/>
          </a:p>
          <a:p>
            <a:pPr marL="342900" indent="-342900">
              <a:spcAft>
                <a:spcPts val="400"/>
              </a:spcAft>
              <a:buSzPct val="100000"/>
              <a:buChar char="•"/>
            </a:pPr>
            <a:r>
              <a:rPr lang="en-US" sz="1400" dirty="0">
                <a:solidFill>
                  <a:schemeClr val="tx1"/>
                </a:solidFill>
              </a:rPr>
              <a:t>Eligibility criteria were fixed before screening; the dataset was frozen (14 and 19 September) before the final models</a:t>
            </a:r>
            <a:endParaRPr lang="en-US" sz="1500" dirty="0"/>
          </a:p>
          <a:p>
            <a:pPr marL="342900" indent="-342900">
              <a:spcAft>
                <a:spcPts val="400"/>
              </a:spcAft>
              <a:buSzPct val="100000"/>
              <a:buChar char="•"/>
            </a:pPr>
            <a:r>
              <a:rPr lang="en-US" sz="1400" dirty="0">
                <a:solidFill>
                  <a:schemeClr val="tx1"/>
                </a:solidFill>
              </a:rPr>
              <a:t>The curve shape was chosen by a rule declared before fitting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Slide 5 shows 180 days, but the model stops at day 119. Why?</a:t>
            </a:r>
            <a:endParaRPr lang="en-US" sz="1500" dirty="0"/>
          </a:p>
          <a:p>
            <a:pPr marL="342900" indent="-342900">
              <a:spcAft>
                <a:spcPts val="400"/>
              </a:spcAft>
              <a:buSzPct val="100000"/>
              <a:buChar char="•"/>
            </a:pPr>
            <a:r>
              <a:rPr lang="en-US" sz="1400" dirty="0">
                <a:solidFill>
                  <a:schemeClr val="tx1"/>
                </a:solidFill>
              </a:rPr>
              <a:t>The 14 spaceflight rows were measured after landing, so they leave the model with the 264 recovery rows</a:t>
            </a:r>
            <a:endParaRPr lang="en-US" sz="1500" dirty="0"/>
          </a:p>
          <a:p>
            <a:pPr marL="342900" indent="-342900">
              <a:spcAft>
                <a:spcPts val="400"/>
              </a:spcAft>
              <a:buSzPct val="100000"/>
              <a:buChar char="•"/>
            </a:pPr>
            <a:r>
              <a:rPr lang="en-US" sz="1400" dirty="0">
                <a:solidFill>
                  <a:schemeClr val="tx1"/>
                </a:solidFill>
              </a:rPr>
              <a:t>8 of the 14 are one back muscle (lumbar multifidus)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Mostly young men: does this apply to women and older crews?</a:t>
            </a:r>
            <a:endParaRPr lang="en-US" sz="1500" dirty="0"/>
          </a:p>
          <a:p>
            <a:pPr marL="342900" indent="-342900">
              <a:spcAft>
                <a:spcPts val="400"/>
              </a:spcAft>
              <a:buSzPct val="100000"/>
              <a:buChar char="•"/>
            </a:pPr>
            <a:r>
              <a:rPr lang="en-US" sz="1400" dirty="0">
                <a:solidFill>
                  <a:schemeClr val="tx1"/>
                </a:solidFill>
              </a:rPr>
              <a:t>Rows, not people: men only 567, mixed 113, women only 40 (35 of them WISE-2005), not reported 22</a:t>
            </a:r>
            <a:endParaRPr lang="en-US" sz="1500" dirty="0"/>
          </a:p>
          <a:p>
            <a:pPr marL="342900" indent="-342900">
              <a:spcAft>
                <a:spcPts val="400"/>
              </a:spcAft>
              <a:buSzPct val="100000"/>
              <a:buChar char="•"/>
            </a:pPr>
            <a:r>
              <a:rPr lang="en-US" sz="1400" dirty="0">
                <a:solidFill>
                  <a:schemeClr val="tx1"/>
                </a:solidFill>
              </a:rPr>
              <a:t>Healthy young 692, middle-aged 8, older 42: the results describe young men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What exactly is a row's percentage change?</a:t>
            </a:r>
            <a:endParaRPr lang="en-US" sz="1500" dirty="0"/>
          </a:p>
          <a:p>
            <a:pPr marL="342900" indent="-342900">
              <a:spcAft>
                <a:spcPts val="400"/>
              </a:spcAft>
              <a:buSzPct val="100000"/>
              <a:buChar char="•"/>
            </a:pPr>
            <a:r>
              <a:rPr lang="en-US" sz="1400" dirty="0">
                <a:solidFill>
                  <a:schemeClr val="tx1"/>
                </a:solidFill>
              </a:rPr>
              <a:t>Follow-up vs the same group's own baseline; negative means loss</a:t>
            </a:r>
            <a:endParaRPr lang="en-US" sz="1500" dirty="0"/>
          </a:p>
          <a:p>
            <a:pPr marL="342900" indent="-342900">
              <a:spcAft>
                <a:spcPts val="400"/>
              </a:spcAft>
              <a:buSzPct val="100000"/>
              <a:buChar char="•"/>
            </a:pPr>
            <a:r>
              <a:rPr lang="en-US" sz="1400" dirty="0">
                <a:solidFill>
                  <a:schemeClr val="tx1"/>
                </a:solidFill>
              </a:rPr>
              <a:t>Recomputed from the printed values; where a paper prints the mean of individual changes, that value is kept and labelled</a:t>
            </a:r>
            <a:endParaRPr lang="en-US" sz="1500" dirty="0"/>
          </a:p>
          <a:p>
            <a:pPr marL="342900" indent="-342900">
              <a:spcAft>
                <a:spcPts val="400"/>
              </a:spcAft>
              <a:buSzPct val="100000"/>
              <a:buChar char="•"/>
            </a:pPr>
            <a:r>
              <a:rPr lang="en-US" sz="1400" dirty="0">
                <a:solidFill>
                  <a:schemeClr val="tx1"/>
                </a:solidFill>
              </a:rPr>
              <a:t>Rows weighted by number of participants: only 8 of 32 campaigns report the spread of the change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certainty of the muscle-group curves</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each line fitted to its own muscle?</a:t>
            </a:r>
            <a:endParaRPr lang="en-US" sz="1500" dirty="0"/>
          </a:p>
          <a:p>
            <a:pPr marL="342900" indent="-342900">
              <a:spcAft>
                <a:spcPts val="400"/>
              </a:spcAft>
              <a:buSzPct val="100000"/>
              <a:buChar char="•"/>
            </a:pPr>
            <a:r>
              <a:rPr lang="en-US" sz="1400" dirty="0">
                <a:solidFill>
                  <a:schemeClr val="tx1"/>
                </a:solidFill>
              </a:rPr>
              <a:t>No. The day-60 values are fitted per muscle group (named muscles, 25 campaigns); the lines share one time course (τ = 60 days)</a:t>
            </a:r>
            <a:endParaRPr lang="en-US" sz="1500" dirty="0"/>
          </a:p>
          <a:p>
            <a:pPr marL="342900" indent="-342900">
              <a:spcAft>
                <a:spcPts val="400"/>
              </a:spcAft>
              <a:buSzPct val="100000"/>
              <a:buChar char="•"/>
            </a:pPr>
            <a:r>
              <a:rPr lang="en-US" sz="1400" dirty="0">
                <a:solidFill>
                  <a:schemeClr val="tx1"/>
                </a:solidFill>
              </a:rPr>
              <a:t>Separate shapes cannot be estimated: six of nine groups rest on four campaigns or fewer</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a saturating curve?</a:t>
            </a:r>
            <a:endParaRPr lang="en-US" sz="1500" dirty="0"/>
          </a:p>
          <a:p>
            <a:pPr marL="342900" indent="-342900">
              <a:spcAft>
                <a:spcPts val="400"/>
              </a:spcAft>
              <a:buSzPct val="100000"/>
              <a:buChar char="•"/>
            </a:pPr>
            <a:r>
              <a:rPr lang="en-US" sz="1400" dirty="0">
                <a:solidFill>
                  <a:schemeClr val="tx1"/>
                </a:solidFill>
              </a:rPr>
              <a:t>Logarithmic, saturating and spline curves fit equally well (within 1.3 AIC points): the loss slows, but the data cannot say along which curve</a:t>
            </a:r>
            <a:endParaRPr lang="en-US" sz="1500" dirty="0"/>
          </a:p>
          <a:p>
            <a:pPr marL="342900" indent="-342900">
              <a:spcAft>
                <a:spcPts val="400"/>
              </a:spcAft>
              <a:buSzPct val="100000"/>
              <a:buChar char="•"/>
            </a:pPr>
            <a:r>
              <a:rPr lang="en-US" sz="1400" dirty="0">
                <a:solidFill>
                  <a:schemeClr val="tx1"/>
                </a:solidFill>
              </a:rPr>
              <a:t>By day 119 the curve reaches 86% of its plateau, −17.3% (95% CI −20.9 to −13.7)</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certain are the day-60 values?</a:t>
            </a:r>
            <a:endParaRPr lang="en-US" sz="1500" dirty="0"/>
          </a:p>
          <a:p>
            <a:pPr marL="342900" indent="-342900">
              <a:spcAft>
                <a:spcPts val="400"/>
              </a:spcAft>
              <a:buSzPct val="100000"/>
              <a:buChar char="•"/>
            </a:pPr>
            <a:r>
              <a:rPr lang="en-US" sz="1400" dirty="0">
                <a:solidFill>
                  <a:schemeClr val="tx1"/>
                </a:solidFill>
              </a:rPr>
              <a:t>Calf −15.8% (95% CI −18.9 to −12.7); front thigh −10.1% (−13.6 to −6.6); hip rotators −1.9% (−3.9 to 0.2)</a:t>
            </a:r>
            <a:endParaRPr lang="en-US" sz="1500" dirty="0"/>
          </a:p>
          <a:p>
            <a:pPr marL="342900" indent="-342900">
              <a:spcAft>
                <a:spcPts val="400"/>
              </a:spcAft>
              <a:buSzPct val="100000"/>
              <a:buChar char="•"/>
            </a:pPr>
            <a:r>
              <a:rPr lang="en-US" sz="1400" dirty="0">
                <a:solidFill>
                  <a:schemeClr val="tx1"/>
                </a:solidFill>
              </a:rPr>
              <a:t>Calf vs shin, the ankle's opposing pair: 5.6 pp more loss (2.1 to 9.1), p = 0.003</a:t>
            </a:r>
            <a:endParaRPr lang="en-US" sz="1500" dirty="0"/>
          </a:p>
          <a:p>
            <a:pPr marL="342900" indent="-342900">
              <a:spcAft>
                <a:spcPts val="400"/>
              </a:spcAft>
              <a:buSzPct val="100000"/>
              <a:buChar char="•"/>
            </a:pPr>
            <a:r>
              <a:rPr lang="en-US" sz="1400" dirty="0">
                <a:solidFill>
                  <a:schemeClr val="tx1"/>
                </a:solidFill>
              </a:rPr>
              <a:t>Hip rotators and outer hip: one campaign each</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calf result an artefact of how often it is scanned?</a:t>
            </a:r>
            <a:endParaRPr lang="en-US" sz="1500" dirty="0"/>
          </a:p>
          <a:p>
            <a:pPr marL="342900" indent="-342900">
              <a:spcAft>
                <a:spcPts val="400"/>
              </a:spcAft>
              <a:buSzPct val="100000"/>
              <a:buChar char="•"/>
            </a:pPr>
            <a:r>
              <a:rPr lang="en-US" sz="1400" dirty="0">
                <a:solidFill>
                  <a:schemeClr val="tx1"/>
                </a:solidFill>
              </a:rPr>
              <a:t>The order holds after adjusting for duration, countermeasure group and imaging method</a:t>
            </a:r>
            <a:endParaRPr lang="en-US" sz="1500" dirty="0"/>
          </a:p>
          <a:p>
            <a:pPr marL="342900" indent="-342900">
              <a:spcAft>
                <a:spcPts val="400"/>
              </a:spcAft>
              <a:buSzPct val="100000"/>
              <a:buChar char="•"/>
            </a:pPr>
            <a:r>
              <a:rPr lang="en-US" sz="1400" dirty="0">
                <a:solidFill>
                  <a:schemeClr val="tx1"/>
                </a:solidFill>
              </a:rPr>
              <a:t>Calf: 78 rows from 13 campaigns, the second best-covered group after the front thigh (86 rows, 22 campaigns)</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significance and relevance of the LLM gain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present it as a secondary finding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campaigns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Using the size of each win: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campaigns?</a:t>
            </a:r>
            <a:endParaRPr lang="en-US" sz="1500" dirty="0"/>
          </a:p>
          <a:p>
            <a:pPr marL="342900" indent="-342900">
              <a:spcAft>
                <a:spcPts val="400"/>
              </a:spcAft>
              <a:buSzPct val="100000"/>
              <a:buChar char="•"/>
            </a:pPr>
            <a:r>
              <a:rPr lang="en-US" sz="1400" dirty="0">
                <a:solidFill>
                  <a:schemeClr val="tx1"/>
                </a:solidFill>
              </a:rPr>
              <a:t>3 long MRI campaigns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campaign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campaign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the saved LLM predictions;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ML results and fairness of the comparison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campaign;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campaigns leave room for about 3 campaign-level inputs (about 10 campaigns per input)</a:t>
            </a:r>
            <a:endParaRPr lang="en-US" sz="1500" dirty="0"/>
          </a:p>
          <a:p>
            <a:pPr marL="342900" indent="-342900">
              <a:spcAft>
                <a:spcPts val="400"/>
              </a:spcAft>
              <a:buSzPct val="100000"/>
              <a:buChar char="•"/>
            </a:pPr>
            <a:r>
              <a:rPr lang="en-US" sz="1400" dirty="0">
                <a:solidFill>
                  <a:schemeClr val="tx1"/>
                </a:solidFill>
              </a:rPr>
              <a:t>Age and sex are fixed within a campaign (271 of the 346 modelling rows men-only), so they act as a campaign label; 100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campaign</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next control to run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applicability to Mars mission planning</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campaign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B2533"/>
      </a:dk1>
      <a:lt1>
        <a:srgbClr val="FFFFFF"/>
      </a:lt1>
      <a:dk2>
        <a:srgbClr val="0B2545"/>
      </a:dk2>
      <a:lt2>
        <a:srgbClr val="F0F3F7"/>
      </a:lt2>
      <a:accent1>
        <a:srgbClr val="C1440E"/>
      </a:accent1>
      <a:accent2>
        <a:srgbClr val="2F6690"/>
      </a:accent2>
      <a:accent3>
        <a:srgbClr val="5D6B7B"/>
      </a:accent3>
      <a:accent4>
        <a:srgbClr val="B8C4D1"/>
      </a:accent4>
      <a:accent5>
        <a:srgbClr val="98A6B5"/>
      </a:accent5>
      <a:accent6>
        <a:srgbClr val="E2E7ED"/>
      </a:accent6>
      <a:hlink>
        <a:srgbClr val="2F6690"/>
      </a:hlink>
      <a:folHlink>
        <a:srgbClr val="5D6B7B"/>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2026-10-09T11:36:16Z</dcterms:created>
  <dcterms:modified xsi:type="dcterms:W3CDTF">2026-10-09T11:36:16Z</dcterms:modified>
</cp:coreProperties>
</file>