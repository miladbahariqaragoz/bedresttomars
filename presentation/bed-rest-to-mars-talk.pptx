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53f19e8-233d-ac0a-f81f-f45064007b27}">
          <p14:sldIdLst>
            <p14:sldId id="256"/>
            <p14:sldId id="257"/>
          </p14:sldIdLst>
        </p14:section>
        <p14:section name="Part 1" id="{d36f6662-859a-5a74-00a1-7967bd5bdf87}">
          <p14:sldIdLst>
            <p14:sldId id="258"/>
            <p14:sldId id="259"/>
            <p14:sldId id="260"/>
            <p14:sldId id="261"/>
            <p14:sldId id="262"/>
            <p14:sldId id="263"/>
            <p14:sldId id="264"/>
          </p14:sldIdLst>
        </p14:section>
        <p14:section name="Part 2" id="{065d1f1c-712c-594d-8b5c-4deb215b4375}">
          <p14:sldIdLst>
            <p14:sldId id="265"/>
            <p14:sldId id="266"/>
            <p14:sldId id="267"/>
            <p14:sldId id="268"/>
            <p14:sldId id="269"/>
            <p14:sldId id="270"/>
            <p14:sldId id="271"/>
          </p14:sldIdLst>
        </p14:section>
        <p14:section name="Backup" id="{19eb8296-13a5-95b7-42b4-9a69f575c3b6}">
          <p14:sldIdLst>
            <p14:sldId id="272"/>
            <p14:sldId id="273"/>
            <p14:sldId id="274"/>
            <p14:sldId id="275"/>
          </p14:sldIdLst>
        </p14:section>
        <p14:section name="Backup" id="{0d7cd1b5-551f-694f-80a6-d4bdd7fbead0}">
          <p14:sldIdLst/>
        </p14:section>
        <p14:section name="Backup" id="{d6c38d3a-3b9e-701e-763e-af796516014e}">
          <p14:sldIdLst/>
        </p14:section>
        <p14:section name="Backup" id="{4ae08df2-d6f4-64d1-94b1-6275c6d21fe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3.34</c:v>
                </c:pt>
                <c:pt idx="1">
                  <c:v>3.28</c:v>
                </c:pt>
                <c:pt idx="2">
                  <c:v>3.28</c:v>
                </c:pt>
                <c:pt idx="3">
                  <c:v>3.22</c:v>
                </c:pt>
                <c:pt idx="4">
                  <c:v>3.18</c:v>
                </c:pt>
                <c:pt idx="5">
                  <c:v>3.16</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0.3</c:v>
                </c:pt>
                <c:pt idx="1">
                  <c:v>0.27</c:v>
                </c:pt>
                <c:pt idx="2">
                  <c:v>0.36</c:v>
                </c:pt>
                <c:pt idx="3">
                  <c:v>0.39</c:v>
                </c:pt>
                <c:pt idx="4">
                  <c:v>0.34</c:v>
                </c:pt>
                <c:pt idx="5">
                  <c:v>0.14</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(co-author): why this matters, why bed rest, the dataset, and which muscles lose most. Part 2: how we tested models, the LLM forecast,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studies, because several papers report the same volunteers. So we test by holding out one whole study, training on the other 31 and predicting the held-out one, 32 times. The code checks that no study appears on both sides of a split.
The score is the mean absolute error in percentage points, averaged so that each study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We compared four standard models, ridge regression, random forest, support vector regression and gradient boosting, tuned inside each training fold. We later added TabPFN, a neural network pretrained for small tables.
On the left is the error on the held-out study. The duration curve scores 3.16 percentage points and the best model, the random forest, 3.18. None of them is lower than the curve.
On the right, the ML models explain two to three times more variance. R squared is computed over all rows together, so it rewards getting the differences between muscles right, and the models do learn that the calf loses more than the hip. The error is averaged per study, and most of what remains is a shift that applies to a whole study, from its scanner, its volunteers or its protocol. None of our columns describes that, so 32 studies give the models nothing to learn it from. We had committed in advance to report this result whichever way it came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studies and as many rows from those studies as fit, most similar first. The question asks which of 19 ranges the change will fall in.
On the right is what came back for this row: a probability for each range. We never ask the model for a number. Our code turns the probabilities into a forecast, here minus 6.6 percent against an observed minus 9.4. We chose this row because its error is the model's median error.
The request never contains the held-out study's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forty-five seconds.
These are the same two charts with the language model added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studies.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study and recall its result. With every identifying detail removed, the gain is 0.30 points and its interval stays above zero. When we asked the model to choose the study's name from a list of options, it was right 19 percent of the time, where guessing gives 8 percent. If asked: of the three studies behind most of the gain, it named only one.
When we shuffle the other studies' values, the gain turns into a loss of 1.25 points, and with no reference data the error rises to 5.85. The gain comes from reading those data.
Reordering the rows or shifting the range edges changes the error by 1 to 3 percent. Repeating 20 requests moves the forecasts by 0.17 points on average, well under the 0.42 gain.
Three limitations: we added this model after the ML result; its 80 percent ranges contain the truth only 62 percent of the time, so we quote only point forecasts; and when given a study's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studies, standard ML models and TabPFN do not beat a curve that only knows the number of days. A language model that reads each study's description and the other studies' data reduces the error from 3.13 to 2.71 points. The limitations and next steps are on the slide; the main one is that 32 studies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studies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548640" y="635508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DGLRM 2026</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3"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4"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5"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400" dirty="0">
                <a:solidFill>
                  <a:schemeClr val="accent3"/>
                </a:solidFill>
              </a:rPr>
              <a:t>DGLRM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forecasting</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5720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Motivation</a:t>
            </a:r>
            <a:endParaRPr lang="en-US" sz="1600" dirty="0"/>
          </a:p>
          <a:p>
            <a:pPr algn="ctr" indent="0" marL="0">
              <a:buNone/>
            </a:pPr>
            <a:r>
              <a:rPr lang="en-US" sz="1400" dirty="0">
                <a:solidFill>
                  <a:schemeClr val="tx1"/>
                </a:solidFill>
              </a:rPr>
              <a:t>Why forecast muscle loss, and why bed rest</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59152"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Data</a:t>
            </a:r>
            <a:endParaRPr lang="en-US" sz="1600" dirty="0"/>
          </a:p>
          <a:p>
            <a:pPr algn="ctr" indent="0" marL="0">
              <a:buNone/>
            </a:pPr>
            <a:r>
              <a:rPr lang="en-US" sz="1400" dirty="0">
                <a:solidFill>
                  <a:schemeClr val="tx1"/>
                </a:solidFill>
              </a:rPr>
              <a:t>Range of unloading, search and dataset</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61104"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Muscles</a:t>
            </a:r>
            <a:endParaRPr lang="en-US" sz="1600" dirty="0"/>
          </a:p>
          <a:p>
            <a:pPr algn="ctr" indent="0" marL="0">
              <a:buNone/>
            </a:pPr>
            <a:r>
              <a:rPr lang="en-US" sz="1400" dirty="0">
                <a:solidFill>
                  <a:schemeClr val="tx1"/>
                </a:solidFill>
              </a:rPr>
              <a:t>Which muscles lose most</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63056"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Models</a:t>
            </a:r>
            <a:endParaRPr lang="en-US" sz="1600" dirty="0"/>
          </a:p>
          <a:p>
            <a:pPr algn="ctr" indent="0" marL="0">
              <a:buNone/>
            </a:pPr>
            <a:r>
              <a:rPr lang="en-US" sz="1400" dirty="0">
                <a:solidFill>
                  <a:schemeClr val="tx1"/>
                </a:solidFill>
              </a:rPr>
              <a:t>Testing setup; ML vs the duration curve</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65008"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LLM forecast</a:t>
            </a:r>
            <a:endParaRPr lang="en-US" sz="1600" dirty="0"/>
          </a:p>
          <a:p>
            <a:pPr algn="ctr" indent="0" marL="0">
              <a:buNone/>
            </a:pPr>
            <a:r>
              <a:rPr lang="en-US" sz="1400" dirty="0">
                <a:solidFill>
                  <a:schemeClr val="tx1"/>
                </a:solidFill>
              </a:rPr>
              <a:t>What it sees, results,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6696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Conclusions</a:t>
            </a:r>
            <a:endParaRPr lang="en-US" sz="1600" dirty="0"/>
          </a:p>
          <a:p>
            <a:pPr algn="ctr" indent="0" marL="0">
              <a:buNone/>
            </a:pPr>
            <a:r>
              <a:rPr lang="en-US" sz="1400" dirty="0">
                <a:solidFill>
                  <a:schemeClr val="tx1"/>
                </a:solidFill>
              </a:rPr>
              <a:t>Findings, limits, next steps</a:t>
            </a:r>
            <a:endParaRPr lang="en-US" sz="1600" dirty="0"/>
          </a:p>
        </p:txBody>
      </p:sp>
      <p:sp>
        <p:nvSpPr>
          <p:cNvPr id="30" name="Text 28"/>
          <p:cNvSpPr txBox="1"/>
          <p:nvPr/>
        </p:nvSpPr>
        <p:spPr>
          <a:xfrm>
            <a:off x="548640" y="557784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forecast muscle loss?</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Unloaded muscles that hold the body up against gravity lose mass and strength</a:t>
            </a:r>
            <a:endParaRPr lang="en-US" sz="1400" dirty="0"/>
          </a:p>
          <a:p>
            <a:pPr marL="342900" indent="-342900">
              <a:spcAft>
                <a:spcPts val="400"/>
              </a:spcAft>
              <a:buSzPct val="100000"/>
              <a:buChar char="•"/>
            </a:pPr>
            <a:r>
              <a:rPr lang="en-US" sz="1600" dirty="0">
                <a:solidFill>
                  <a:schemeClr val="tx1"/>
                </a:solidFill>
              </a:rPr>
              <a:t>A transit to Mars takes about six months; the crew must stand, move and work on arrival</a:t>
            </a:r>
            <a:endParaRPr lang="en-US" sz="1400" dirty="0"/>
          </a:p>
          <a:p>
            <a:pPr marL="342900" indent="-342900">
              <a:spcAft>
                <a:spcPts val="400"/>
              </a:spcAft>
              <a:buSzPct val="100000"/>
              <a:buChar char="•"/>
            </a:pPr>
            <a:r>
              <a:rPr lang="en-US" sz="1600" dirty="0">
                <a:solidFill>
                  <a:schemeClr val="tx1"/>
                </a:solidFill>
              </a:rPr>
              <a:t>Countermeasures are planned before departure, so planners need to know how much of a given muscle is lost after a given number of days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bed rest to Mars: why use bed-rest data?</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Spaceflight data on leg muscle size are scarce, and the groups measured are small</a:t>
            </a:r>
            <a:endParaRPr lang="en-US" sz="1400" dirty="0"/>
          </a:p>
          <a:p>
            <a:pPr marL="342900" indent="-342900">
              <a:spcAft>
                <a:spcPts val="400"/>
              </a:spcAft>
              <a:buSzPct val="100000"/>
              <a:buChar char="•"/>
            </a:pPr>
            <a:r>
              <a:rPr lang="en-US" sz="1600" dirty="0">
                <a:solidFill>
                  <a:schemeClr val="tx1"/>
                </a:solidFill>
              </a:rPr>
              <a:t>Bed rest is the established ground model: healthy volunteers lie in bed, usually tilted 6° head-down so that body fluids shift towards the head as in orbit</a:t>
            </a:r>
            <a:endParaRPr lang="en-US" sz="1400" dirty="0"/>
          </a:p>
          <a:p>
            <a:pPr marL="342900" indent="-342900">
              <a:spcAft>
                <a:spcPts val="400"/>
              </a:spcAft>
              <a:buSzPct val="100000"/>
              <a:buChar char="•"/>
            </a:pPr>
            <a:r>
              <a:rPr lang="en-US" sz="1600" dirty="0">
                <a:solidFill>
                  <a:schemeClr val="tx1"/>
                </a:solidFill>
              </a:rPr>
              <a:t>Three decades of campaigns at NASA, MEDES (Toulouse), Charité (Berlin), DLR (Cologne) and elsewhere</a:t>
            </a:r>
            <a:endParaRPr lang="en-US" sz="1400" dirty="0"/>
          </a:p>
          <a:p>
            <a:pPr marL="342900" indent="-342900">
              <a:spcAft>
                <a:spcPts val="400"/>
              </a:spcAft>
              <a:buSzPct val="100000"/>
              <a:buChar char="•"/>
            </a:pPr>
            <a:r>
              <a:rPr lang="en-US" sz="1600" dirty="0">
                <a:solidFill>
                  <a:schemeClr val="tx1"/>
                </a:solidFill>
              </a:rPr>
              <a:t>Bed rest imitates weightlessness but is not the same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range of unloading did we study?</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Unloading models: head-down and horizontal bed rest, dry immersion, one-leg suspension; spaceflight kept separate</a:t>
            </a:r>
            <a:endParaRPr lang="en-US" sz="1400" dirty="0"/>
          </a:p>
          <a:p>
            <a:pPr marL="342900" indent="-342900">
              <a:spcAft>
                <a:spcPts val="400"/>
              </a:spcAft>
              <a:buSzPct val="100000"/>
              <a:buChar char="•"/>
            </a:pPr>
            <a:r>
              <a:rPr lang="en-US" sz="1600" dirty="0">
                <a:solidFill>
                  <a:schemeClr val="tx1"/>
                </a:solidFill>
              </a:rPr>
              <a:t>At least 5 days of continuous unloading; scans from day 5 to day 119</a:t>
            </a:r>
            <a:endParaRPr lang="en-US" sz="1400" dirty="0"/>
          </a:p>
          <a:p>
            <a:pPr marL="342900" indent="-342900">
              <a:spcAft>
                <a:spcPts val="400"/>
              </a:spcAft>
              <a:buSzPct val="100000"/>
              <a:buChar char="•"/>
            </a:pPr>
            <a:r>
              <a:rPr lang="en-US" sz="1600" dirty="0">
                <a:solidFill>
                  <a:schemeClr val="tx1"/>
                </a:solidFill>
              </a:rPr>
              <a:t>Leg muscle size measured as volume, cross-sectional area, thickness or lean mass, by MRI, CT, DXA, pQCT or ultrasound</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the dataset was built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Systematic search of PubMed, Scopus, Web of Science and NASA's technical reports, 2013 onwards: 5,731 records</a:t>
            </a:r>
            <a:endParaRPr lang="en-US" sz="1400" dirty="0"/>
          </a:p>
          <a:p>
            <a:pPr marL="342900" indent="-342900">
              <a:spcAft>
                <a:spcPts val="400"/>
              </a:spcAft>
              <a:buSzPct val="100000"/>
              <a:buChar char="•"/>
            </a:pPr>
            <a:r>
              <a:rPr lang="en-US" sz="1600" dirty="0">
                <a:solidFill>
                  <a:schemeClr val="tx1"/>
                </a:solidFill>
              </a:rPr>
              <a:t>Plus 9 older studies and one campaign from NASA's open bed-rest archive</a:t>
            </a:r>
            <a:endParaRPr lang="en-US" sz="1400" dirty="0"/>
          </a:p>
          <a:p>
            <a:pPr marL="342900" indent="-342900">
              <a:spcAft>
                <a:spcPts val="400"/>
              </a:spcAft>
              <a:buSzPct val="100000"/>
              <a:buChar char="•"/>
            </a:pPr>
            <a:r>
              <a:rPr lang="en-US" sz="1600" dirty="0">
                <a:solidFill>
                  <a:schemeClr val="tx1"/>
                </a:solidFill>
              </a:rPr>
              <a:t>Extraction form fixed before extraction: one row per study, group, muscle and scan day</a:t>
            </a:r>
            <a:endParaRPr lang="en-US" sz="1400" dirty="0"/>
          </a:p>
          <a:p>
            <a:pPr marL="342900" indent="-342900">
              <a:spcAft>
                <a:spcPts val="400"/>
              </a:spcAft>
              <a:buSzPct val="100000"/>
              <a:buChar char="•"/>
            </a:pPr>
            <a:r>
              <a:rPr lang="en-US" sz="1600" dirty="0">
                <a:solidFill>
                  <a:schemeClr val="tx1"/>
                </a:solidFill>
              </a:rPr>
              <a:t>Papers that report the same volunteers merged into one campaign</a:t>
            </a:r>
            <a:endParaRPr lang="en-US" sz="1400" dirty="0"/>
          </a:p>
          <a:p>
            <a:pPr indent="0" marL="0">
              <a:buNone/>
            </a:pPr>
            <a:r>
              <a:rPr lang="en-US" sz="1400" i="1" dirty="0">
                <a:solidFill>
                  <a:schemeClr val="accent3"/>
                </a:solidFill>
              </a:rPr>
              <a:t>Possible figure: search flow diagram (figures/F1_corpus)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final dataset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742 measurements from 52 studies (1992 to 2026) and 36 independent campaigns</a:t>
            </a:r>
            <a:endParaRPr lang="en-US" sz="1400" dirty="0"/>
          </a:p>
          <a:p>
            <a:pPr marL="342900" indent="-342900">
              <a:spcAft>
                <a:spcPts val="400"/>
              </a:spcAft>
              <a:buSzPct val="100000"/>
              <a:buChar char="•"/>
            </a:pPr>
            <a:r>
              <a:rPr lang="en-US" sz="1600" dirty="0">
                <a:solidFill>
                  <a:schemeClr val="tx1"/>
                </a:solidFill>
              </a:rPr>
              <a:t>Mostly MRI volumes of named muscles in young men during head-down bed rest</a:t>
            </a:r>
            <a:endParaRPr lang="en-US" sz="1400" dirty="0"/>
          </a:p>
          <a:p>
            <a:pPr marL="342900" indent="-342900">
              <a:spcAft>
                <a:spcPts val="400"/>
              </a:spcAft>
              <a:buSzPct val="100000"/>
              <a:buChar char="•"/>
            </a:pPr>
            <a:r>
              <a:rPr lang="en-US" sz="1600" dirty="0">
                <a:solidFill>
                  <a:schemeClr val="tx1"/>
                </a:solidFill>
              </a:rPr>
              <a:t>Uneven: the MEDES 90-day campaign gives 40% of rows; 15 campaigns give 5 rows or fewer</a:t>
            </a:r>
            <a:endParaRPr lang="en-US" sz="1400" dirty="0"/>
          </a:p>
          <a:p>
            <a:pPr marL="342900" indent="-342900">
              <a:spcAft>
                <a:spcPts val="400"/>
              </a:spcAft>
              <a:buSzPct val="100000"/>
              <a:buChar char="•"/>
            </a:pPr>
            <a:r>
              <a:rPr lang="en-US" sz="1600" dirty="0">
                <a:solidFill>
                  <a:schemeClr val="tx1"/>
                </a:solidFill>
              </a:rPr>
              <a:t>Used for modelling: 346 measurements from 32 campaigns</a:t>
            </a:r>
            <a:endParaRPr lang="en-US" sz="1400" dirty="0"/>
          </a:p>
          <a:p>
            <a:pPr indent="0" marL="0">
              <a:buNone/>
            </a:pPr>
            <a:r>
              <a:rPr lang="en-US" sz="1400" i="1" dirty="0">
                <a:solidFill>
                  <a:schemeClr val="accent3"/>
                </a:solidFill>
              </a:rPr>
              <a:t>Possible figure: campaign timeline (figures/F1b_campaigns)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was extracted from each study</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Muscle, day of the scan, planned length of bed rest, % change from before bed rest</a:t>
            </a:r>
            <a:endParaRPr lang="en-US" sz="1400" dirty="0"/>
          </a:p>
          <a:p>
            <a:pPr marL="342900" indent="-342900">
              <a:spcAft>
                <a:spcPts val="400"/>
              </a:spcAft>
              <a:buSzPct val="100000"/>
              <a:buChar char="•"/>
            </a:pPr>
            <a:r>
              <a:rPr lang="en-US" sz="1600" dirty="0">
                <a:solidFill>
                  <a:schemeClr val="tx1"/>
                </a:solidFill>
              </a:rPr>
              <a:t>Group: control or countermeasure, group size, sex, age</a:t>
            </a:r>
            <a:endParaRPr lang="en-US" sz="1400" dirty="0"/>
          </a:p>
          <a:p>
            <a:pPr marL="342900" indent="-342900">
              <a:spcAft>
                <a:spcPts val="400"/>
              </a:spcAft>
              <a:buSzPct val="100000"/>
              <a:buChar char="•"/>
            </a:pPr>
            <a:r>
              <a:rPr lang="en-US" sz="1600" dirty="0">
                <a:solidFill>
                  <a:schemeClr val="tx1"/>
                </a:solidFill>
              </a:rPr>
              <a:t>Measurement: imaging method, quantity, position along the muscle</a:t>
            </a:r>
            <a:endParaRPr lang="en-US" sz="1400" dirty="0"/>
          </a:p>
          <a:p>
            <a:pPr marL="342900" indent="-342900">
              <a:spcAft>
                <a:spcPts val="400"/>
              </a:spcAft>
              <a:buSzPct val="100000"/>
              <a:buChar char="•"/>
            </a:pPr>
            <a:r>
              <a:rPr lang="en-US" sz="1600" dirty="0">
                <a:solidFill>
                  <a:schemeClr val="tx1"/>
                </a:solidFill>
              </a:rPr>
              <a:t>Source of every value: DOI and page, table or figure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3  Muscles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Are all muscles affected the same?</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No. Calf muscles (plantar flexors) lose most: −15.8% at day 60, 5.7 pp more than the front thigh</a:t>
            </a:r>
            <a:endParaRPr lang="en-US" sz="1400" dirty="0"/>
          </a:p>
          <a:p>
            <a:pPr marL="342900" indent="-342900">
              <a:spcAft>
                <a:spcPts val="400"/>
              </a:spcAft>
              <a:buSzPct val="100000"/>
              <a:buChar char="•"/>
            </a:pPr>
            <a:r>
              <a:rPr lang="en-US" sz="1600" dirty="0">
                <a:solidFill>
                  <a:schemeClr val="tx1"/>
                </a:solidFill>
              </a:rPr>
              <a:t>Front thigh, back thigh and shin muscles lose around 10%; hip muscles least</a:t>
            </a:r>
            <a:endParaRPr lang="en-US" sz="1400" dirty="0"/>
          </a:p>
          <a:p>
            <a:pPr marL="342900" indent="-342900">
              <a:spcAft>
                <a:spcPts val="400"/>
              </a:spcAft>
              <a:buSzPct val="100000"/>
              <a:buChar char="•"/>
            </a:pPr>
            <a:r>
              <a:rPr lang="en-US" sz="1600" dirty="0">
                <a:solidFill>
                  <a:schemeClr val="tx1"/>
                </a:solidFill>
              </a:rPr>
              <a:t>30% of the differences between measurements lie between muscles within the same study</a:t>
            </a:r>
            <a:endParaRPr lang="en-US" sz="1400" dirty="0"/>
          </a:p>
          <a:p>
            <a:pPr marL="342900" indent="-342900">
              <a:spcAft>
                <a:spcPts val="400"/>
              </a:spcAft>
              <a:buSzPct val="100000"/>
              <a:buChar char="•"/>
            </a:pPr>
            <a:r>
              <a:rPr lang="en-US" sz="1600" dirty="0">
                <a:solidFill>
                  <a:schemeClr val="tx1"/>
                </a:solidFill>
              </a:rPr>
              <a:t>Groups with countermeasures lose 3.7 pp less than controls</a:t>
            </a:r>
            <a:endParaRPr lang="en-US" sz="1400" dirty="0"/>
          </a:p>
          <a:p>
            <a:pPr indent="0" marL="0">
              <a:buNone/>
            </a:pPr>
            <a:r>
              <a:rPr lang="en-US" sz="1400" i="1" dirty="0">
                <a:solidFill>
                  <a:schemeClr val="accent3"/>
                </a:solidFill>
              </a:rPr>
              <a:t>Possible figure: muscle ranking (figures/F3_muscles)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data to forecasts</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Bridge to part 2: the data show that loss depends on time and on the muscle</a:t>
            </a:r>
            <a:endParaRPr lang="en-US" sz="1400" dirty="0"/>
          </a:p>
          <a:p>
            <a:pPr marL="342900" indent="-342900">
              <a:spcAft>
                <a:spcPts val="400"/>
              </a:spcAft>
              <a:buSzPct val="100000"/>
              <a:buChar char="•"/>
            </a:pPr>
            <a:r>
              <a:rPr lang="en-US" sz="1600" dirty="0">
                <a:solidFill>
                  <a:schemeClr val="tx1"/>
                </a:solidFill>
              </a:rPr>
              <a:t>Next question: can a model forecast the loss in a study it has never seen?</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model is tested on a study it has not seen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forecast</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study, train on the rest, repeat 32 times</a:t>
            </a:r>
            <a:endParaRPr lang="en-US" sz="1500" dirty="0"/>
          </a:p>
        </p:txBody>
      </p:sp>
      <p:sp>
        <p:nvSpPr>
          <p:cNvPr id="20" name="Training study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study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study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study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study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study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study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study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study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study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study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study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study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study"/>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study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study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study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study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study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study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study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study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study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study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study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study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study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study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study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study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study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study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studies.  </a:t>
            </a:r>
            <a:pPr indent="0" marL="0">
              <a:buNone/>
            </a:pPr>
            <a:r>
              <a:rPr lang="en-US" sz="1400" dirty="0">
                <a:solidFill>
                  <a:schemeClr val="accent1"/>
                </a:solidFill>
              </a:rPr>
              <a:t>Red: the held-out test study.</a:t>
            </a:r>
            <a:pPr indent="0" marL="0">
              <a:buNone/>
            </a:pPr>
            <a:r>
              <a:rPr lang="en-US" sz="1400" dirty="0">
                <a:solidFill>
                  <a:schemeClr val="tx1"/>
                </a:solidFill>
              </a:rPr>
              <a:t>  Each study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studies, not measurements: the 346 measurements come from only 32 independent studies, because several papers report the same volunteers.</a:t>
            </a:r>
            <a:endParaRPr lang="en-US" sz="1400" dirty="0"/>
          </a:p>
          <a:p>
            <a:pPr marL="342900" indent="-342900">
              <a:spcAft>
                <a:spcPts val="400"/>
              </a:spcAft>
              <a:buSzPct val="100000"/>
              <a:buChar char="•"/>
            </a:pPr>
            <a:r>
              <a:rPr lang="en-US" sz="1400" dirty="0">
                <a:solidFill>
                  <a:schemeClr val="tx1"/>
                </a:solidFill>
              </a:rPr>
              <a:t>Score: average error in percentage points (pp). Forecast −10%, measured −13%: error 3 pp. Each study counts once.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No ML model has lower error than the duration curve</a:t>
            </a:r>
            <a:endParaRPr lang="en-US" sz="2800" dirty="0"/>
          </a:p>
        </p:txBody>
      </p:sp>
      <p:graphicFrame>
        <p:nvGraphicFramePr>
          <p:cNvPr id="11" name="MAE chart" descr=""/>
          <p:cNvGraphicFramePr/>
          <p:nvPr/>
        </p:nvGraphicFramePr>
        <p:xfrm>
          <a:off x="457200" y="1188720"/>
          <a:ext cx="566928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descr=""/>
          <p:cNvGraphicFramePr/>
          <p:nvPr/>
        </p:nvGraphicFramePr>
        <p:xfrm>
          <a:off x="6309360" y="118872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5074920"/>
            <a:ext cx="110642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R² is the share of the differences between measurements that a model explains: 0 is none, 1 is all. The ML models explain more (0.27 to 0.39 vs 0.14) because they learn which muscles shrink more.</a:t>
            </a:r>
            <a:endParaRPr lang="en-US" sz="1400" dirty="0"/>
          </a:p>
          <a:p>
            <a:pPr marL="342900" indent="-342900">
              <a:spcAft>
                <a:spcPts val="400"/>
              </a:spcAft>
              <a:buSzPct val="100000"/>
              <a:buChar char="•"/>
            </a:pPr>
            <a:r>
              <a:rPr lang="en-US" sz="1400" dirty="0">
                <a:solidFill>
                  <a:schemeClr val="tx1"/>
                </a:solidFill>
              </a:rPr>
              <a:t>Their error on a new study is still no lower. Most of the error left is a shift that affects a whole study (its scanner, volunteers, protocol), and none of our inputs describe 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forecast: what is sent and what comes back</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studies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studies,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a:p>
            <a:pPr indent="0" marL="0">
              <a:spcAft>
                <a:spcPts val="100"/>
              </a:spcAft>
              <a:buNone/>
            </a:pPr>
            <a:r>
              <a:rPr lang="en-US" sz="1100" i="1" dirty="0">
                <a:solidFill>
                  <a:schemeClr val="accent3"/>
                </a:solidFill>
              </a:rPr>
              <a:t>Field names as sent; "campaign" means study.</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forecast,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study's measurements, and any paper, author or study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LLM forecast has the lowest error of all models</a:t>
            </a:r>
            <a:endParaRPr lang="en-US" sz="2800" dirty="0"/>
          </a:p>
        </p:txBody>
      </p:sp>
      <p:graphicFrame>
        <p:nvGraphicFramePr>
          <p:cNvPr id="11" name="MAE chart with LLM" descr=""/>
          <p:cNvGraphicFramePr/>
          <p:nvPr/>
        </p:nvGraphicFramePr>
        <p:xfrm>
          <a:off x="457200" y="1188720"/>
          <a:ext cx="566928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8920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Same measurements, scored the same way: error 2.71 vs 3.13 pp, so 0.42 pp smaller. Closer than the curve in 20 of 32 studies.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 No other model achieves this.</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on the LLM forecast</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published studies?</a:t>
            </a:r>
            <a:endParaRPr lang="en-US" sz="1600" dirty="0"/>
          </a:p>
          <a:p>
            <a:pPr marL="342900" indent="-342900">
              <a:spcAft>
                <a:spcPts val="400"/>
              </a:spcAft>
              <a:buSzPct val="100000"/>
              <a:buChar char="•"/>
            </a:pPr>
            <a:r>
              <a:rPr lang="en-US" sz="1400" dirty="0">
                <a:solidFill>
                  <a:schemeClr val="tx1"/>
                </a:solidFill>
              </a:rPr>
              <a:t>Everything identifying a study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study's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studies'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studies'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forecasts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so it was not part of the original plan</a:t>
            </a:r>
            <a:endParaRPr lang="en-US" sz="1600" dirty="0"/>
          </a:p>
          <a:p>
            <a:pPr marL="342900" indent="-342900">
              <a:spcAft>
                <a:spcPts val="400"/>
              </a:spcAft>
              <a:buSzPct val="100000"/>
              <a:buChar char="•"/>
            </a:pPr>
            <a:r>
              <a:rPr lang="en-US" sz="1400" dirty="0">
                <a:solidFill>
                  <a:schemeClr val="tx1"/>
                </a:solidFill>
              </a:rPr>
              <a:t>Overconfident: when it is 80% sure the value is in a range, it is there only 62% of the time. We therefore report only its single-number forecast.</a:t>
            </a:r>
            <a:endParaRPr lang="en-US" sz="1600" dirty="0"/>
          </a:p>
          <a:p>
            <a:pPr marL="342900" indent="-342900">
              <a:spcAft>
                <a:spcPts val="400"/>
              </a:spcAft>
              <a:buSzPct val="100000"/>
              <a:buChar char="•"/>
            </a:pPr>
            <a:r>
              <a:rPr lang="en-US" sz="1400" dirty="0">
                <a:solidFill>
                  <a:schemeClr val="tx1"/>
                </a:solidFill>
              </a:rPr>
              <a:t>When also given a study's own earlier scans, it does not make use of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s"/>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studies, no ML model forecasts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study's description and the other studies' data cuts the error to 2.71 pp (curve 3.13 pp), and this holds under every check.</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studies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study, and with MRI scans only</a:t>
            </a:r>
            <a:endParaRPr lang="en-US" sz="2000" dirty="0"/>
          </a:p>
          <a:p>
            <a:pPr marL="342900" indent="-342900">
              <a:spcAft>
                <a:spcPts val="400"/>
              </a:spcAft>
              <a:buSzPct val="100000"/>
              <a:buChar char="•"/>
            </a:pPr>
            <a:r>
              <a:rPr lang="en-US" sz="1800" dirty="0">
                <a:solidFill>
                  <a:schemeClr val="tx1"/>
                </a:solidFill>
              </a:rPr>
              <a:t>Extend the forecast to a 180-day mission, with an uncertainty range</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dataset good enough?</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Searched PubMed, Scopus, Web of Science and NASA reports from 2013 on (5,731 records), plus 9 older studies</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study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study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LLM gain real, and does it matter?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report it as a finding, not the headline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studies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The size of the wins matters: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studies?</a:t>
            </a:r>
            <a:endParaRPr lang="en-US" sz="1500" dirty="0"/>
          </a:p>
          <a:p>
            <a:pPr marL="342900" indent="-342900">
              <a:spcAft>
                <a:spcPts val="400"/>
              </a:spcAft>
              <a:buSzPct val="100000"/>
              <a:buChar char="•"/>
            </a:pPr>
            <a:r>
              <a:rPr lang="en-US" sz="1400" dirty="0">
                <a:solidFill>
                  <a:schemeClr val="tx1"/>
                </a:solidFill>
              </a:rPr>
              <a:t>3 long MRI studies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study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study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results/forecast_predictions.csv;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why did ML fail, and was the comparison fair?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study;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studies leave room for about 3 study-level inputs (about 10 studies per input)</a:t>
            </a:r>
            <a:endParaRPr lang="en-US" sz="1500" dirty="0"/>
          </a:p>
          <a:p>
            <a:pPr marL="342900" indent="-342900">
              <a:spcAft>
                <a:spcPts val="400"/>
              </a:spcAft>
              <a:buSzPct val="100000"/>
              <a:buChar char="•"/>
            </a:pPr>
            <a:r>
              <a:rPr lang="en-US" sz="1400" dirty="0">
                <a:solidFill>
                  <a:schemeClr val="tx1"/>
                </a:solidFill>
              </a:rPr>
              <a:t>Age and sex are fixed within a study (347 of 425 rows men-only), so they act as a study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study</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obvious next control</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can this be used to plan a Mars mission?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study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2026-10-06T10:35:54Z</dcterms:created>
  <dcterms:modified xsi:type="dcterms:W3CDTF">2026-10-06T10:35:54Z</dcterms:modified>
</cp:coreProperties>
</file>