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d0841e5-3fab-0860-2eca-e27087ff7d1a}">
          <p14:sldIdLst>
            <p14:sldId id="256"/>
            <p14:sldId id="257"/>
          </p14:sldIdLst>
        </p14:section>
        <p14:section name="Part 1" id="{e52363c4-ae97-bd7d-9b3f-534dc9bf0b2e}">
          <p14:sldIdLst>
            <p14:sldId id="258"/>
            <p14:sldId id="259"/>
            <p14:sldId id="260"/>
            <p14:sldId id="261"/>
            <p14:sldId id="262"/>
            <p14:sldId id="263"/>
            <p14:sldId id="264"/>
          </p14:sldIdLst>
        </p14:section>
        <p14:section name="Part 2" id="{59ca29a9-e4ae-f324-92c6-452453aa92c6}">
          <p14:sldIdLst>
            <p14:sldId id="265"/>
            <p14:sldId id="266"/>
            <p14:sldId id="267"/>
            <p14:sldId id="268"/>
            <p14:sldId id="269"/>
            <p14:sldId id="270"/>
            <p14:sldId id="271"/>
          </p14:sldIdLst>
        </p14:section>
        <p14:section name="Backup" id="{4437c8ef-bd8a-1585-fae8-d77fb4670869}">
          <p14:sldIdLst>
            <p14:sldId id="272"/>
            <p14:sldId id="273"/>
            <p14:sldId id="274"/>
            <p14:sldId id="275"/>
          </p14:sldIdLst>
        </p14:section>
        <p14:section name="Backup" id="{8eba0c1a-eeab-9252-eda9-3aecba7abf71}">
          <p14:sldIdLst/>
        </p14:section>
        <p14:section name="Backup" id="{ea074bdf-8fb6-a27e-0088-d55549b01248}">
          <p14:sldIdLst/>
        </p14:section>
        <p14:section name="Backup" id="{2e965657-e482-5f77-a0ac-6739f81528b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(co-author). Placeholder: fill in authors, affiliation and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DGLRM 2026</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2011680"/>
            <a:ext cx="10515600" cy="914400"/>
          </a:xfrm>
          <a:prstGeom prst="rect">
            <a:avLst/>
          </a:prstGeom>
          <a:noFill/>
          <a:ln/>
        </p:spPr>
        <p:txBody>
          <a:bodyPr wrap="square" lIns="0" tIns="0" rIns="0" bIns="0" rtlCol="0" anchor="t"/>
          <a:lstStyle/>
          <a:p>
            <a:pPr indent="0" marL="0">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p:txBody>
      </p:sp>
      <p:sp>
        <p:nvSpPr>
          <p:cNvPr id="3" name="Text 1"/>
          <p:cNvSpPr txBox="1"/>
          <p:nvPr/>
        </p:nvSpPr>
        <p:spPr>
          <a:xfrm>
            <a:off x="822960" y="2926080"/>
            <a:ext cx="10515600" cy="548640"/>
          </a:xfrm>
          <a:prstGeom prst="rect">
            <a:avLst/>
          </a:prstGeom>
          <a:noFill/>
          <a:ln/>
        </p:spPr>
        <p:txBody>
          <a:bodyPr wrap="square" lIns="0" tIns="0" rIns="0" bIns="0" rtlCol="0" anchor="t"/>
          <a:lstStyle/>
          <a:p>
            <a:pPr indent="0" marL="0">
              <a:buNone/>
            </a:pPr>
            <a:r>
              <a:rPr lang="en-US" sz="2400" dirty="0">
                <a:solidFill>
                  <a:schemeClr val="tx1"/>
                </a:solidFill>
              </a:rPr>
              <a:t>Forecasting lower-limb muscle loss during unloading</a:t>
            </a:r>
            <a:endParaRPr lang="en-US" sz="2400" dirty="0"/>
          </a:p>
        </p:txBody>
      </p:sp>
      <p:sp>
        <p:nvSpPr>
          <p:cNvPr id="4" name="Text 2"/>
          <p:cNvSpPr txBox="1"/>
          <p:nvPr/>
        </p:nvSpPr>
        <p:spPr>
          <a:xfrm>
            <a:off x="822960" y="3931920"/>
            <a:ext cx="10515600" cy="365760"/>
          </a:xfrm>
          <a:prstGeom prst="rect">
            <a:avLst/>
          </a:prstGeom>
          <a:noFill/>
          <a:ln/>
        </p:spPr>
        <p:txBody>
          <a:bodyPr wrap="square" lIns="0" tIns="0" rIns="0" bIns="0" rtlCol="0" anchor="t"/>
          <a:lstStyle/>
          <a:p>
            <a:pPr indent="0" marL="0">
              <a:buNone/>
            </a:pPr>
            <a:r>
              <a:rPr lang="en-US" sz="1600" dirty="0">
                <a:solidFill>
                  <a:schemeClr val="accent3"/>
                </a:solidFill>
              </a:rPr>
              <a:t>[Authors]  |  [Affiliation]</a:t>
            </a:r>
            <a:endParaRPr lang="en-US" sz="1600" dirty="0"/>
          </a:p>
        </p:txBody>
      </p:sp>
      <p:sp>
        <p:nvSpPr>
          <p:cNvPr id="5" name="Text 3"/>
          <p:cNvSpPr txBox="1"/>
          <p:nvPr/>
        </p:nvSpPr>
        <p:spPr>
          <a:xfrm>
            <a:off x="822960" y="4343400"/>
            <a:ext cx="10515600" cy="365760"/>
          </a:xfrm>
          <a:prstGeom prst="rect">
            <a:avLst/>
          </a:prstGeom>
          <a:noFill/>
          <a:ln/>
        </p:spPr>
        <p:txBody>
          <a:bodyPr wrap="square" lIns="0" tIns="0" rIns="0" bIns="0" rtlCol="0" anchor="t"/>
          <a:lstStyle/>
          <a:p>
            <a:pPr indent="0" marL="0">
              <a:buNone/>
            </a:pPr>
            <a:r>
              <a:rPr lang="en-US" sz="1600" dirty="0">
                <a:solidFill>
                  <a:schemeClr val="accent3"/>
                </a:solidFill>
              </a:rPr>
              <a:t>DGLRM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[Co-author]</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[Presenter]</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forecast muscle loss?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Unloaded muscles that hold the body up against gravity lose mass and strength</a:t>
            </a:r>
            <a:endParaRPr lang="en-US" sz="1400" dirty="0"/>
          </a:p>
          <a:p>
            <a:pPr marL="342900" indent="-342900">
              <a:spcAft>
                <a:spcPts val="400"/>
              </a:spcAft>
              <a:buSzPct val="100000"/>
              <a:buChar char="•"/>
            </a:pPr>
            <a:r>
              <a:rPr lang="en-US" sz="1600" dirty="0">
                <a:solidFill>
                  <a:schemeClr val="tx1"/>
                </a:solidFill>
              </a:rPr>
              <a:t>A transit to Mars takes about six months; the crew must stand, move and work on arrival</a:t>
            </a:r>
            <a:endParaRPr lang="en-US" sz="1400" dirty="0"/>
          </a:p>
          <a:p>
            <a:pPr marL="342900" indent="-342900">
              <a:spcAft>
                <a:spcPts val="400"/>
              </a:spcAft>
              <a:buSzPct val="100000"/>
              <a:buChar char="•"/>
            </a:pPr>
            <a:r>
              <a:rPr lang="en-US" sz="1600" dirty="0">
                <a:solidFill>
                  <a:schemeClr val="tx1"/>
                </a:solidFill>
              </a:rPr>
              <a:t>Countermeasures are planned before departure, so planners need to know how much of a given muscle is lost after a given number of days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why use bed-rest data?</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Spaceflight data on leg muscle size are scarce, and the groups measured are small</a:t>
            </a:r>
            <a:endParaRPr lang="en-US" sz="1400" dirty="0"/>
          </a:p>
          <a:p>
            <a:pPr marL="342900" indent="-342900">
              <a:spcAft>
                <a:spcPts val="400"/>
              </a:spcAft>
              <a:buSzPct val="100000"/>
              <a:buChar char="•"/>
            </a:pPr>
            <a:r>
              <a:rPr lang="en-US" sz="1600" dirty="0">
                <a:solidFill>
                  <a:schemeClr val="tx1"/>
                </a:solidFill>
              </a:rPr>
              <a:t>Bed rest is the established ground model: healthy volunteers lie in bed, usually tilted 6° head-down so that body fluids shift towards the head as in orbit</a:t>
            </a:r>
            <a:endParaRPr lang="en-US" sz="1400" dirty="0"/>
          </a:p>
          <a:p>
            <a:pPr marL="342900" indent="-342900">
              <a:spcAft>
                <a:spcPts val="400"/>
              </a:spcAft>
              <a:buSzPct val="100000"/>
              <a:buChar char="•"/>
            </a:pPr>
            <a:r>
              <a:rPr lang="en-US" sz="1600" dirty="0">
                <a:solidFill>
                  <a:schemeClr val="tx1"/>
                </a:solidFill>
              </a:rPr>
              <a:t>Three decades of campaigns at NASA, MEDES (Toulouse), Charité (Berlin), DLR (Cologne) and elsewhere</a:t>
            </a:r>
            <a:endParaRPr lang="en-US" sz="1400" dirty="0"/>
          </a:p>
          <a:p>
            <a:pPr marL="342900" indent="-342900">
              <a:spcAft>
                <a:spcPts val="400"/>
              </a:spcAft>
              <a:buSzPct val="100000"/>
              <a:buChar char="•"/>
            </a:pPr>
            <a:r>
              <a:rPr lang="en-US" sz="1600" dirty="0">
                <a:solidFill>
                  <a:schemeClr val="tx1"/>
                </a:solidFill>
              </a:rPr>
              <a:t>Bed rest imitates weightlessness but is not the same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of unloading did we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Unloading models: head-down and horizontal bed rest, dry immersion, one-leg suspension; spaceflight kept separate</a:t>
            </a:r>
            <a:endParaRPr lang="en-US" sz="1400" dirty="0"/>
          </a:p>
          <a:p>
            <a:pPr marL="342900" indent="-342900">
              <a:spcAft>
                <a:spcPts val="400"/>
              </a:spcAft>
              <a:buSzPct val="100000"/>
              <a:buChar char="•"/>
            </a:pPr>
            <a:r>
              <a:rPr lang="en-US" sz="1600" dirty="0">
                <a:solidFill>
                  <a:schemeClr val="tx1"/>
                </a:solidFill>
              </a:rPr>
              <a:t>At least 5 days of continuous unloading; scans from day 5 to day 119</a:t>
            </a:r>
            <a:endParaRPr lang="en-US" sz="1400" dirty="0"/>
          </a:p>
          <a:p>
            <a:pPr marL="342900" indent="-342900">
              <a:spcAft>
                <a:spcPts val="400"/>
              </a:spcAft>
              <a:buSzPct val="100000"/>
              <a:buChar char="•"/>
            </a:pPr>
            <a:r>
              <a:rPr lang="en-US" sz="1600" dirty="0">
                <a:solidFill>
                  <a:schemeClr val="tx1"/>
                </a:solidFill>
              </a:rPr>
              <a:t>Leg muscle size measured as volume, cross-sectional area, thickness or lean mass, by MRI, CT, DXA, pQCT or ultrasound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co-author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modelling and evaluation</dc:title>
  <dc:subject>PptxGenJS Presentation</dc:subject>
  <dc:creator>PptxGenJS</dc:creator>
  <cp:lastModifiedBy>PptxGenJS</cp:lastModifiedBy>
  <cp:revision>1</cp:revision>
  <dcterms:created xsi:type="dcterms:W3CDTF">2026-10-05T15:29:17Z</dcterms:created>
  <dcterms:modified xsi:type="dcterms:W3CDTF">2026-10-05T15:29:17Z</dcterms:modified>
</cp:coreProperties>
</file>