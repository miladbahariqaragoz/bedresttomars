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d21bf98-29d6-497b-02fc-89cf0cea36ff}">
          <p14:sldIdLst>
            <p14:sldId id="256"/>
            <p14:sldId id="257"/>
          </p14:sldIdLst>
        </p14:section>
        <p14:section name="Part 1" id="{a1bedddd-1c0f-e864-0c43-7ad5b88f8bf6}">
          <p14:sldIdLst>
            <p14:sldId id="258"/>
            <p14:sldId id="259"/>
            <p14:sldId id="260"/>
            <p14:sldId id="261"/>
            <p14:sldId id="262"/>
            <p14:sldId id="263"/>
          </p14:sldIdLst>
        </p14:section>
        <p14:section name="Part 2" id="{bb744a5d-0be8-e184-1fbf-4b0f3c6ad334}">
          <p14:sldIdLst>
            <p14:sldId id="264"/>
            <p14:sldId id="265"/>
            <p14:sldId id="266"/>
            <p14:sldId id="267"/>
            <p14:sldId id="268"/>
          </p14:sldIdLst>
        </p14:section>
        <p14:section name="Backup" id="{9f6f70a9-77b1-6fea-4d94-91cff1f9aae4}">
          <p14:sldIdLst>
            <p14:sldId id="269"/>
            <p14:sldId id="270"/>
            <p14:sldId id="271"/>
            <p14:sldId id="272"/>
            <p14:sldId id="273"/>
          </p14:sldIdLst>
        </p14:section>
        <p14:section name="Backup" id="{3f51455a-6f5c-1224-6df7-4d51a3e8c1ce}">
          <p14:sldIdLst/>
        </p14:section>
        <p14:section name="Backup" id="{47d30702-ed73-6bf3-224e-515bbb3d4b49}">
          <p14:sldIdLst/>
        </p14:section>
        <p14:section name="Backup" id="{91357859-b4e9-1f46-088a-5c462f59e8f8}">
          <p14:sldIdLst/>
        </p14:section>
        <p14:section name="Backup" id="{5bdc692e-7fb3-c0ff-1abf-4b1fed4522e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D3DCE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9AB0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B80A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0B254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8A6B5"/>
            </a:solidFill>
            <a:prstDash val="solid"/>
            <a:round/>
          </a:ln>
        </c:spPr>
        <c:txPr>
          <a:bodyPr/>
          <a:lstStyle/>
          <a:p>
            <a:pPr>
              <a:defRPr sz="1000" b="0" i="0" u="none" strike="noStrike">
                <a:solidFill>
                  <a:srgbClr val="5D6B7B"/>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2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D6B7B"/>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9.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B8C4D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D6B7B"/>
                    </a:solidFill>
                    <a:latin typeface="Arial"/>
                  </a:defRPr>
                </a:pPr>
                <a:r>
                  <a:rPr sz="1000" b="0" i="0" u="none" strike="noStrike">
                    <a:solidFill>
                      <a:srgbClr val="5D6B7B"/>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533"/>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2E7E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10. Error,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2E7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11.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2E7ED"/>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orange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It is not a chat model that writes text: you give it a described situation and a fixed list of options, and it returns a probability for each option, nothing else.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tuned inside each training fold, and later TabPFN, a neural network pretrained for small tables. On the left is the error on the held-out campaign. The duration curve scores 3.16 percentage points and the best ML model, the random forest, 3.18: none of them is lower than the curve. On the right, the ML models explain two to three times more variance, because they learn that the calf loses more than the hip. Most of the error left is a shift that applies to a whole campaign, from its scanner, its volunteers or its protocol, and none of our columns describes it. We had committed in advance to report this result whichever way it came out.
The language model is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An LLM-based probabilistic classifier that reads each campaign's description and the other campaigns' data reduces the error from 3.13 to 2.71 points. The main limitation is the small sample of 32 campaigns, mostly young men, with no bed-rest data beyond day 119.
Next, we want to link the muscles, so that one muscle's loss predicts another's and a weighted sum estimates strength loss, and to build a risk-assessment system based on a person's characteristics.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Gradient stripe, Earth blue to Mars red">    </p:cNvPr>
          <p:cNvPicPr>
            <a:picLocks noChangeAspect="1"/>
          </p:cNvPicPr>
          <p:nvPr/>
        </p:nvPicPr>
        <p:blipFill>
          <a:blip r:embed="rId1"/>
          <a:stretch>
            <a:fillRect/>
          </a:stretch>
        </p:blipFill>
        <p:spPr>
          <a:xfrm>
            <a:off x="0" y="0"/>
            <a:ext cx="12191695" cy="82296"/>
          </a:xfrm>
          <a:prstGeom prst="rect">
            <a:avLst/>
          </a:prstGeom>
        </p:spPr>
      </p:pic>
      <p:sp>
        <p:nvSpPr>
          <p:cNvPr id="3" name="Text 0"/>
          <p:cNvSpPr/>
          <p:nvPr>
            <p:ph idx="101"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4" name="Image 1" descr="DGLRM logo">    </p:cNvPr>
          <p:cNvPicPr>
            <a:picLocks noChangeAspect="1"/>
          </p:cNvPicPr>
          <p:nvPr/>
        </p:nvPicPr>
        <p:blipFill>
          <a:blip r:embed="rId2"/>
          <a:stretch>
            <a:fillRect/>
          </a:stretch>
        </p:blipFill>
        <p:spPr>
          <a:xfrm>
            <a:off x="548640" y="6336792"/>
            <a:ext cx="1143000" cy="307258"/>
          </a:xfrm>
          <a:prstGeom prst="rect">
            <a:avLst/>
          </a:prstGeom>
        </p:spPr>
      </p:pic>
      <p:sp>
        <p:nvSpPr>
          <p:cNvPr id="5"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2.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3.xml"/><Relationship Id="rId4" Type="http://schemas.openxmlformats.org/officeDocument/2006/relationships/chart" Target="/ppt/charts/chart4.xm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7863840" cy="2651760"/>
          </a:xfrm>
          <a:prstGeom prst="rect">
            <a:avLst/>
          </a:prstGeom>
          <a:noFill/>
          <a:ln/>
        </p:spPr>
        <p:txBody>
          <a:bodyPr wrap="square" lIns="0" tIns="0" rIns="0" bIns="0" rtlCol="0" anchor="b"/>
          <a:lstStyle/>
          <a:p>
            <a:pPr indent="0" marL="0">
              <a:spcAft>
                <a:spcPts val="800"/>
              </a:spcAft>
              <a:buNone/>
            </a:pPr>
            <a:r>
              <a:rPr lang="en-US" sz="4400" b="1" dirty="0">
                <a:solidFill>
                  <a:srgbClr val="FFFFFF"/>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200" b="1" dirty="0">
                <a:solidFill>
                  <a:srgbClr val="F2D0A9"/>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7863840" cy="365760"/>
          </a:xfrm>
          <a:prstGeom prst="rect">
            <a:avLst/>
          </a:prstGeom>
          <a:noFill/>
          <a:ln/>
        </p:spPr>
        <p:txBody>
          <a:bodyPr wrap="square" lIns="0" tIns="0" rIns="0" bIns="0" rtlCol="0" anchor="t"/>
          <a:lstStyle/>
          <a:p>
            <a:pPr indent="0" marL="0">
              <a:buNone/>
            </a:pPr>
            <a:r>
              <a:rPr lang="en-US" sz="1800" dirty="0">
                <a:solidFill>
                  <a:srgbClr val="FFFFFF"/>
                </a:solidFill>
              </a:rPr>
              <a:t>Niloufar Ahmadymarzdashty</a:t>
            </a:r>
            <a:pPr indent="0" marL="0">
              <a:buNone/>
            </a:pPr>
            <a:r>
              <a:rPr lang="en-US" sz="1800" baseline="30000" dirty="0">
                <a:solidFill>
                  <a:srgbClr val="FFFFFF"/>
                </a:solidFill>
              </a:rPr>
              <a:t>1</a:t>
            </a:r>
            <a:pPr indent="0" marL="0">
              <a:buNone/>
            </a:pPr>
            <a:r>
              <a:rPr lang="en-US" sz="1800" dirty="0">
                <a:solidFill>
                  <a:srgbClr val="FFFFFF"/>
                </a:solidFill>
              </a:rPr>
              <a:t>,  Milad Bahari Qaragoz</a:t>
            </a:r>
            <a:pPr indent="0" marL="0">
              <a:buNone/>
            </a:pPr>
            <a:r>
              <a:rPr lang="en-US" sz="1800" baseline="30000" dirty="0">
                <a:solidFill>
                  <a:srgbClr val="FFFFFF"/>
                </a:solidFill>
              </a:rPr>
              <a:t>2</a:t>
            </a:r>
            <a:endParaRPr lang="en-US" sz="1800" dirty="0"/>
          </a:p>
        </p:txBody>
      </p:sp>
      <p:sp>
        <p:nvSpPr>
          <p:cNvPr id="5" name="Text 2"/>
          <p:cNvSpPr txBox="1"/>
          <p:nvPr/>
        </p:nvSpPr>
        <p:spPr>
          <a:xfrm>
            <a:off x="822960" y="4709160"/>
            <a:ext cx="7863840" cy="548640"/>
          </a:xfrm>
          <a:prstGeom prst="rect">
            <a:avLst/>
          </a:prstGeom>
          <a:noFill/>
          <a:ln/>
        </p:spPr>
        <p:txBody>
          <a:bodyPr wrap="square" lIns="0" tIns="0" rIns="0" bIns="0" rtlCol="0" anchor="t"/>
          <a:lstStyle/>
          <a:p>
            <a:pPr indent="0" marL="0">
              <a:buNone/>
            </a:pPr>
            <a:r>
              <a:rPr lang="en-US" sz="1400" baseline="30000" dirty="0">
                <a:solidFill>
                  <a:srgbClr val="B7C3D3"/>
                </a:solidFill>
              </a:rPr>
              <a:t>1</a:t>
            </a:r>
            <a:pPr indent="0" marL="0">
              <a:buNone/>
            </a:pPr>
            <a:r>
              <a:rPr lang="en-US" sz="1400" dirty="0">
                <a:solidFill>
                  <a:srgbClr val="B7C3D3"/>
                </a:solidFill>
              </a:rPr>
              <a:t> Independent researcher</a:t>
            </a:r>
            <a:endParaRPr lang="en-US" sz="1400" dirty="0"/>
          </a:p>
          <a:p>
            <a:pPr indent="0" marL="0">
              <a:buNone/>
            </a:pPr>
            <a:r>
              <a:rPr lang="en-US" sz="1400" baseline="30000" dirty="0">
                <a:solidFill>
                  <a:srgbClr val="B7C3D3"/>
                </a:solidFill>
              </a:rPr>
              <a:t>2</a:t>
            </a:r>
            <a:pPr indent="0" marL="0">
              <a:buNone/>
            </a:pPr>
            <a:r>
              <a:rPr lang="en-US" sz="1400" dirty="0">
                <a:solidFill>
                  <a:srgbClr val="B7C3D3"/>
                </a:solidFill>
              </a:rPr>
              <a:t> Master's candidate, Friedrich-Alexander-Universität Erlangen-Nürnberg (FAU)</a:t>
            </a:r>
            <a:endParaRPr lang="en-US" sz="1400" dirty="0"/>
          </a:p>
        </p:txBody>
      </p:sp>
      <p:sp>
        <p:nvSpPr>
          <p:cNvPr id="6" name="Text 3"/>
          <p:cNvSpPr txBox="1"/>
          <p:nvPr/>
        </p:nvSpPr>
        <p:spPr>
          <a:xfrm>
            <a:off x="822960" y="5394960"/>
            <a:ext cx="7863840" cy="365760"/>
          </a:xfrm>
          <a:prstGeom prst="rect">
            <a:avLst/>
          </a:prstGeom>
          <a:noFill/>
          <a:ln/>
        </p:spPr>
        <p:txBody>
          <a:bodyPr wrap="square" lIns="0" tIns="0" rIns="0" bIns="0" rtlCol="0" anchor="t"/>
          <a:lstStyle/>
          <a:p>
            <a:pPr indent="0" marL="0">
              <a:buNone/>
            </a:pPr>
            <a:r>
              <a:rPr lang="en-US" sz="1600" b="1" dirty="0">
                <a:solidFill>
                  <a:srgbClr val="F2D0A9"/>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685800" y="3429000"/>
            <a:ext cx="10789920" cy="0"/>
          </a:xfrm>
          <a:prstGeom prst="line">
            <a:avLst/>
          </a:prstGeom>
          <a:noFill/>
          <a:ln w="19050">
            <a:solidFill>
              <a:srgbClr val="98A6B5"/>
            </a:solidFill>
            <a:prstDash val="dash"/>
          </a:ln>
        </p:spPr>
      </p:sp>
      <p:pic>
        <p:nvPicPr>
          <p:cNvPr id="4" name="Image 0" descr="Earth">    </p:cNvPr>
          <p:cNvPicPr>
            <a:picLocks noChangeAspect="1"/>
          </p:cNvPicPr>
          <p:nvPr/>
        </p:nvPicPr>
        <p:blipFill>
          <a:blip r:embed="rId1"/>
          <a:stretch>
            <a:fillRect/>
          </a:stretch>
        </p:blipFill>
        <p:spPr>
          <a:xfrm>
            <a:off x="457200" y="3218688"/>
            <a:ext cx="420624" cy="420624"/>
          </a:xfrm>
          <a:prstGeom prst="rect">
            <a:avLst/>
          </a:prstGeom>
        </p:spPr>
      </p:pic>
      <p:pic>
        <p:nvPicPr>
          <p:cNvPr id="5" name="Image 1" descr="Mars">    </p:cNvPr>
          <p:cNvPicPr>
            <a:picLocks noChangeAspect="1"/>
          </p:cNvPicPr>
          <p:nvPr/>
        </p:nvPicPr>
        <p:blipFill>
          <a:blip r:embed="rId2"/>
          <a:stretch>
            <a:fillRect/>
          </a:stretch>
        </p:blipFill>
        <p:spPr>
          <a:xfrm>
            <a:off x="11274552" y="3191256"/>
            <a:ext cx="475488" cy="475488"/>
          </a:xfrm>
          <a:prstGeom prst="rect">
            <a:avLst/>
          </a:prstGeom>
        </p:spPr>
      </p:pic>
      <p:sp>
        <p:nvSpPr>
          <p:cNvPr id="6" name="Part 1 bracket"/>
          <p:cNvSpPr/>
          <p:nvPr/>
        </p:nvSpPr>
        <p:spPr>
          <a:xfrm>
            <a:off x="1005840" y="2834640"/>
            <a:ext cx="4443984" cy="0"/>
          </a:xfrm>
          <a:prstGeom prst="line">
            <a:avLst/>
          </a:prstGeom>
          <a:noFill/>
          <a:ln w="12700">
            <a:solidFill>
              <a:srgbClr val="0B2545"/>
            </a:solidFill>
            <a:prstDash val="solid"/>
          </a:ln>
        </p:spPr>
      </p:sp>
      <p:sp>
        <p:nvSpPr>
          <p:cNvPr id="7" name="Part 1 bracket left"/>
          <p:cNvSpPr/>
          <p:nvPr/>
        </p:nvSpPr>
        <p:spPr>
          <a:xfrm>
            <a:off x="1005840" y="2834640"/>
            <a:ext cx="0" cy="137160"/>
          </a:xfrm>
          <a:prstGeom prst="line">
            <a:avLst/>
          </a:prstGeom>
          <a:noFill/>
          <a:ln w="12700">
            <a:solidFill>
              <a:srgbClr val="0B2545"/>
            </a:solidFill>
            <a:prstDash val="solid"/>
          </a:ln>
        </p:spPr>
      </p:sp>
      <p:sp>
        <p:nvSpPr>
          <p:cNvPr id="8" name="Part 1 bracket right"/>
          <p:cNvSpPr/>
          <p:nvPr/>
        </p:nvSpPr>
        <p:spPr>
          <a:xfrm>
            <a:off x="5449824" y="2834640"/>
            <a:ext cx="0" cy="137160"/>
          </a:xfrm>
          <a:prstGeom prst="line">
            <a:avLst/>
          </a:prstGeom>
          <a:noFill/>
          <a:ln w="12700">
            <a:solidFill>
              <a:srgbClr val="0B2545"/>
            </a:solidFill>
            <a:prstDash val="solid"/>
          </a:ln>
        </p:spPr>
      </p:sp>
      <p:sp>
        <p:nvSpPr>
          <p:cNvPr id="9"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10" name="Part 2 bracket"/>
          <p:cNvSpPr/>
          <p:nvPr/>
        </p:nvSpPr>
        <p:spPr>
          <a:xfrm>
            <a:off x="6711696" y="2834640"/>
            <a:ext cx="4443984" cy="0"/>
          </a:xfrm>
          <a:prstGeom prst="line">
            <a:avLst/>
          </a:prstGeom>
          <a:noFill/>
          <a:ln w="12700">
            <a:solidFill>
              <a:srgbClr val="0B2545"/>
            </a:solidFill>
            <a:prstDash val="solid"/>
          </a:ln>
        </p:spPr>
      </p:sp>
      <p:sp>
        <p:nvSpPr>
          <p:cNvPr id="11" name="Part 2 bracket left"/>
          <p:cNvSpPr/>
          <p:nvPr/>
        </p:nvSpPr>
        <p:spPr>
          <a:xfrm>
            <a:off x="6711696" y="2834640"/>
            <a:ext cx="0" cy="137160"/>
          </a:xfrm>
          <a:prstGeom prst="line">
            <a:avLst/>
          </a:prstGeom>
          <a:noFill/>
          <a:ln w="12700">
            <a:solidFill>
              <a:srgbClr val="0B2545"/>
            </a:solidFill>
            <a:prstDash val="solid"/>
          </a:ln>
        </p:spPr>
      </p:sp>
      <p:sp>
        <p:nvSpPr>
          <p:cNvPr id="12" name="Part 2 bracket right"/>
          <p:cNvSpPr/>
          <p:nvPr/>
        </p:nvSpPr>
        <p:spPr>
          <a:xfrm>
            <a:off x="11155680" y="2834640"/>
            <a:ext cx="0" cy="137160"/>
          </a:xfrm>
          <a:prstGeom prst="line">
            <a:avLst/>
          </a:prstGeom>
          <a:noFill/>
          <a:ln w="12700">
            <a:solidFill>
              <a:srgbClr val="0B2545"/>
            </a:solidFill>
            <a:prstDash val="solid"/>
          </a:ln>
        </p:spPr>
      </p:sp>
      <p:sp>
        <p:nvSpPr>
          <p:cNvPr id="13"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4" name="Agenda 1"/>
          <p:cNvSpPr/>
          <p:nvPr/>
        </p:nvSpPr>
        <p:spPr>
          <a:xfrm>
            <a:off x="1005840" y="3108960"/>
            <a:ext cx="640080" cy="640080"/>
          </a:xfrm>
          <a:prstGeom prst="ellipse">
            <a:avLst/>
          </a:prstGeom>
          <a:solidFill>
            <a:schemeClr val="tx2"/>
          </a:solidFill>
          <a:ln/>
        </p:spPr>
      </p:sp>
      <p:sp>
        <p:nvSpPr>
          <p:cNvPr id="15"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6"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7" name="Agenda 2"/>
          <p:cNvSpPr/>
          <p:nvPr/>
        </p:nvSpPr>
        <p:spPr>
          <a:xfrm>
            <a:off x="2907792" y="3108960"/>
            <a:ext cx="640080" cy="640080"/>
          </a:xfrm>
          <a:prstGeom prst="ellipse">
            <a:avLst/>
          </a:prstGeom>
          <a:solidFill>
            <a:schemeClr val="tx2"/>
          </a:solidFill>
          <a:ln/>
        </p:spPr>
      </p:sp>
      <p:sp>
        <p:nvSpPr>
          <p:cNvPr id="18"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9"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20" name="Agenda 3"/>
          <p:cNvSpPr/>
          <p:nvPr/>
        </p:nvSpPr>
        <p:spPr>
          <a:xfrm>
            <a:off x="4809744" y="3108960"/>
            <a:ext cx="640080" cy="640080"/>
          </a:xfrm>
          <a:prstGeom prst="ellipse">
            <a:avLst/>
          </a:prstGeom>
          <a:solidFill>
            <a:schemeClr val="tx2"/>
          </a:solidFill>
          <a:ln/>
        </p:spPr>
      </p:sp>
      <p:sp>
        <p:nvSpPr>
          <p:cNvPr id="21"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3" name="Agenda 4"/>
          <p:cNvSpPr/>
          <p:nvPr/>
        </p:nvSpPr>
        <p:spPr>
          <a:xfrm>
            <a:off x="6711696" y="3108960"/>
            <a:ext cx="640080" cy="640080"/>
          </a:xfrm>
          <a:prstGeom prst="ellipse">
            <a:avLst/>
          </a:prstGeom>
          <a:solidFill>
            <a:schemeClr val="accent1"/>
          </a:solidFill>
          <a:ln/>
        </p:spPr>
      </p:sp>
      <p:sp>
        <p:nvSpPr>
          <p:cNvPr id="24"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5"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6" name="Agenda 5"/>
          <p:cNvSpPr/>
          <p:nvPr/>
        </p:nvSpPr>
        <p:spPr>
          <a:xfrm>
            <a:off x="8613648" y="3108960"/>
            <a:ext cx="640080" cy="640080"/>
          </a:xfrm>
          <a:prstGeom prst="ellipse">
            <a:avLst/>
          </a:prstGeom>
          <a:solidFill>
            <a:schemeClr val="accent1"/>
          </a:solidFill>
          <a:ln/>
        </p:spPr>
      </p:sp>
      <p:sp>
        <p:nvSpPr>
          <p:cNvPr id="27"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8"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Models used, results, LLM validity checks</a:t>
            </a:r>
            <a:endParaRPr lang="en-US" sz="1600" dirty="0"/>
          </a:p>
        </p:txBody>
      </p:sp>
      <p:sp>
        <p:nvSpPr>
          <p:cNvPr id="29" name="Agenda 6"/>
          <p:cNvSpPr/>
          <p:nvPr/>
        </p:nvSpPr>
        <p:spPr>
          <a:xfrm>
            <a:off x="10515600" y="3108960"/>
            <a:ext cx="640080" cy="640080"/>
          </a:xfrm>
          <a:prstGeom prst="ellipse">
            <a:avLst/>
          </a:prstGeom>
          <a:solidFill>
            <a:schemeClr val="accent1"/>
          </a:solidFill>
          <a:ln/>
        </p:spPr>
      </p:sp>
      <p:sp>
        <p:nvSpPr>
          <p:cNvPr id="30"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1"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32" name="Text 28"/>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predicting lower-limb muscle atrophy</a:t>
            </a:r>
            <a:endParaRPr lang="en-US" sz="2800" dirty="0"/>
          </a:p>
        </p:txBody>
      </p:sp>
      <p:sp>
        <p:nvSpPr>
          <p:cNvPr id="13"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is this important?</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4" name="Illustration panel"/>
          <p:cNvSpPr/>
          <p:nvPr/>
        </p:nvSpPr>
        <p:spPr>
          <a:xfrm>
            <a:off x="6903720" y="1234440"/>
            <a:ext cx="4736592" cy="4892040"/>
          </a:xfrm>
          <a:prstGeom prst="rect">
            <a:avLst/>
          </a:prstGeom>
          <a:solidFill>
            <a:schemeClr val="bg2"/>
          </a:solidFill>
          <a:ln/>
        </p:spPr>
      </p:sp>
      <p:sp>
        <p:nvSpPr>
          <p:cNvPr id="15"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Figure 1. Unloading shrinks leg muscles</a:t>
            </a:r>
            <a:endParaRPr lang="en-US" sz="1400" dirty="0"/>
          </a:p>
        </p:txBody>
      </p:sp>
      <p:sp>
        <p:nvSpPr>
          <p:cNvPr id="16" name="Bed"/>
          <p:cNvSpPr/>
          <p:nvPr/>
        </p:nvSpPr>
        <p:spPr>
          <a:xfrm rot="360000">
            <a:off x="7315200" y="2377440"/>
            <a:ext cx="3931920" cy="128016"/>
          </a:xfrm>
          <a:prstGeom prst="rect">
            <a:avLst/>
          </a:prstGeom>
          <a:solidFill>
            <a:schemeClr val="accent3"/>
          </a:solidFill>
          <a:ln/>
        </p:spPr>
      </p:sp>
      <p:sp>
        <p:nvSpPr>
          <p:cNvPr id="17" name="Body"/>
          <p:cNvSpPr/>
          <p:nvPr/>
        </p:nvSpPr>
        <p:spPr>
          <a:xfrm rot="360000">
            <a:off x="7863840" y="2093976"/>
            <a:ext cx="2606040" cy="329184"/>
          </a:xfrm>
          <a:prstGeom prst="roundRect">
            <a:avLst>
              <a:gd name="adj" fmla="val 41667"/>
            </a:avLst>
          </a:prstGeom>
          <a:solidFill>
            <a:schemeClr val="tx2"/>
          </a:solidFill>
          <a:ln/>
        </p:spPr>
      </p:sp>
      <p:sp>
        <p:nvSpPr>
          <p:cNvPr id="18" name="Head"/>
          <p:cNvSpPr/>
          <p:nvPr/>
        </p:nvSpPr>
        <p:spPr>
          <a:xfrm>
            <a:off x="10469880" y="2167128"/>
            <a:ext cx="384048" cy="384048"/>
          </a:xfrm>
          <a:prstGeom prst="ellipse">
            <a:avLst/>
          </a:prstGeom>
          <a:solidFill>
            <a:schemeClr val="tx2"/>
          </a:solidFill>
          <a:ln/>
        </p:spPr>
      </p:sp>
      <p:sp>
        <p:nvSpPr>
          <p:cNvPr id="19"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20" name="Muscle before"/>
          <p:cNvSpPr/>
          <p:nvPr/>
        </p:nvSpPr>
        <p:spPr>
          <a:xfrm>
            <a:off x="7223760" y="3337560"/>
            <a:ext cx="1737360" cy="1737360"/>
          </a:xfrm>
          <a:prstGeom prst="ellipse">
            <a:avLst/>
          </a:prstGeom>
          <a:solidFill>
            <a:schemeClr val="accent1">
              <a:alpha val="75000"/>
            </a:schemeClr>
          </a:solidFill>
          <a:ln w="12700">
            <a:solidFill>
              <a:srgbClr val="C1440E"/>
            </a:solidFill>
            <a:prstDash val="solid"/>
          </a:ln>
        </p:spPr>
      </p:sp>
      <p:sp>
        <p:nvSpPr>
          <p:cNvPr id="21" name="Muscle before bone"/>
          <p:cNvSpPr/>
          <p:nvPr/>
        </p:nvSpPr>
        <p:spPr>
          <a:xfrm>
            <a:off x="7717536" y="4151376"/>
            <a:ext cx="384048" cy="384048"/>
          </a:xfrm>
          <a:prstGeom prst="ellipse">
            <a:avLst/>
          </a:prstGeom>
          <a:solidFill>
            <a:schemeClr val="bg1"/>
          </a:solidFill>
          <a:ln w="12700">
            <a:solidFill>
              <a:srgbClr val="98A6B5"/>
            </a:solidFill>
            <a:prstDash val="solid"/>
          </a:ln>
        </p:spPr>
      </p:sp>
      <p:sp>
        <p:nvSpPr>
          <p:cNvPr id="22" name="Arrow"/>
          <p:cNvSpPr/>
          <p:nvPr/>
        </p:nvSpPr>
        <p:spPr>
          <a:xfrm>
            <a:off x="9098280" y="4206240"/>
            <a:ext cx="548640" cy="0"/>
          </a:xfrm>
          <a:prstGeom prst="line">
            <a:avLst/>
          </a:prstGeom>
          <a:noFill/>
          <a:ln w="15875">
            <a:solidFill>
              <a:srgbClr val="1B2533"/>
            </a:solidFill>
            <a:prstDash val="solid"/>
            <a:tailEnd type="triangle"/>
          </a:ln>
        </p:spPr>
      </p:sp>
      <p:sp>
        <p:nvSpPr>
          <p:cNvPr id="23" name="Muscle after"/>
          <p:cNvSpPr/>
          <p:nvPr/>
        </p:nvSpPr>
        <p:spPr>
          <a:xfrm>
            <a:off x="9764214" y="3409134"/>
            <a:ext cx="1594211" cy="1594211"/>
          </a:xfrm>
          <a:prstGeom prst="ellipse">
            <a:avLst/>
          </a:prstGeom>
          <a:solidFill>
            <a:schemeClr val="accent1">
              <a:alpha val="75000"/>
            </a:schemeClr>
          </a:solidFill>
          <a:ln w="12700">
            <a:solidFill>
              <a:srgbClr val="C1440E"/>
            </a:solidFill>
            <a:prstDash val="solid"/>
          </a:ln>
        </p:spPr>
      </p:sp>
      <p:sp>
        <p:nvSpPr>
          <p:cNvPr id="24" name="Muscle after bone"/>
          <p:cNvSpPr/>
          <p:nvPr/>
        </p:nvSpPr>
        <p:spPr>
          <a:xfrm>
            <a:off x="10186416" y="4151376"/>
            <a:ext cx="384048" cy="384048"/>
          </a:xfrm>
          <a:prstGeom prst="ellipse">
            <a:avLst/>
          </a:prstGeom>
          <a:solidFill>
            <a:schemeClr val="bg1"/>
          </a:solidFill>
          <a:ln w="12700">
            <a:solidFill>
              <a:srgbClr val="98A6B5"/>
            </a:solidFill>
            <a:prstDash val="solid"/>
          </a:ln>
        </p:spPr>
      </p:sp>
      <p:sp>
        <p:nvSpPr>
          <p:cNvPr id="25" name="Original outline"/>
          <p:cNvSpPr/>
          <p:nvPr/>
        </p:nvSpPr>
        <p:spPr>
          <a:xfrm>
            <a:off x="9692640" y="3337560"/>
            <a:ext cx="1737360" cy="1737360"/>
          </a:xfrm>
          <a:prstGeom prst="ellipse">
            <a:avLst/>
          </a:prstGeom>
          <a:ln w="12700">
            <a:solidFill>
              <a:srgbClr val="1B2533"/>
            </a:solidFill>
            <a:prstDash val="dash"/>
          </a:ln>
        </p:spPr>
      </p:sp>
      <p:sp>
        <p:nvSpPr>
          <p:cNvPr id="26"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7"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8"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analogue and application</a:t>
            </a:r>
            <a:endParaRPr lang="en-US" sz="2800" dirty="0"/>
          </a:p>
        </p:txBody>
      </p:sp>
      <p:sp>
        <p:nvSpPr>
          <p:cNvPr id="13"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 the crew depends on its own fitness</a:t>
            </a:r>
            <a:endParaRPr lang="en-US" sz="1900" dirty="0"/>
          </a:p>
        </p:txBody>
      </p:sp>
      <p:sp>
        <p:nvSpPr>
          <p:cNvPr id="14" name="Mission panel"/>
          <p:cNvSpPr/>
          <p:nvPr/>
        </p:nvSpPr>
        <p:spPr>
          <a:xfrm>
            <a:off x="6492240" y="1188720"/>
            <a:ext cx="5148072" cy="3520440"/>
          </a:xfrm>
          <a:prstGeom prst="rect">
            <a:avLst/>
          </a:prstGeom>
          <a:solidFill>
            <a:schemeClr val="bg2"/>
          </a:solidFill>
          <a:ln/>
        </p:spPr>
      </p:sp>
      <p:sp>
        <p:nvSpPr>
          <p:cNvPr id="15"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Figure 2. Moon mission vs Mars mission</a:t>
            </a:r>
            <a:endParaRPr lang="en-US" sz="1400" dirty="0"/>
          </a:p>
        </p:txBody>
      </p:sp>
      <p:sp>
        <p:nvSpPr>
          <p:cNvPr id="16" name="Earth"/>
          <p:cNvSpPr/>
          <p:nvPr/>
        </p:nvSpPr>
        <p:spPr>
          <a:xfrm>
            <a:off x="6675120" y="1828800"/>
            <a:ext cx="548640" cy="548640"/>
          </a:xfrm>
          <a:prstGeom prst="ellipse">
            <a:avLst/>
          </a:prstGeom>
          <a:solidFill>
            <a:srgbClr val="0B2545"/>
          </a:solidFill>
          <a:ln/>
        </p:spPr>
      </p:sp>
      <p:pic>
        <p:nvPicPr>
          <p:cNvPr id="17" name="Image 2" descr="Earth (photo map, semi-transparent)">    </p:cNvPr>
          <p:cNvPicPr>
            <a:picLocks noChangeAspect="1"/>
          </p:cNvPicPr>
          <p:nvPr/>
        </p:nvPicPr>
        <p:blipFill>
          <a:blip r:embed="rId3"/>
          <a:stretch>
            <a:fillRect/>
          </a:stretch>
        </p:blipFill>
        <p:spPr>
          <a:xfrm>
            <a:off x="6675120" y="1828800"/>
            <a:ext cx="548640" cy="548640"/>
          </a:xfrm>
          <a:prstGeom prst="rect">
            <a:avLst/>
          </a:prstGeom>
        </p:spPr>
      </p:pic>
      <p:sp>
        <p:nvSpPr>
          <p:cNvPr id="18"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9" name="Moon"/>
          <p:cNvSpPr/>
          <p:nvPr/>
        </p:nvSpPr>
        <p:spPr>
          <a:xfrm>
            <a:off x="7863840" y="1965960"/>
            <a:ext cx="274320" cy="274320"/>
          </a:xfrm>
          <a:prstGeom prst="ellipse">
            <a:avLst/>
          </a:prstGeom>
          <a:solidFill>
            <a:srgbClr val="B8C4D1"/>
          </a:solidFill>
          <a:ln/>
        </p:spPr>
      </p:sp>
      <p:pic>
        <p:nvPicPr>
          <p:cNvPr id="20" name="Image 3" descr="Moon (photo map, semi-transparent)">    </p:cNvPr>
          <p:cNvPicPr>
            <a:picLocks noChangeAspect="1"/>
          </p:cNvPicPr>
          <p:nvPr/>
        </p:nvPicPr>
        <p:blipFill>
          <a:blip r:embed="rId4"/>
          <a:stretch>
            <a:fillRect/>
          </a:stretch>
        </p:blipFill>
        <p:spPr>
          <a:xfrm>
            <a:off x="7863840" y="1965960"/>
            <a:ext cx="274320" cy="274320"/>
          </a:xfrm>
          <a:prstGeom prst="rect">
            <a:avLst/>
          </a:prstGeom>
        </p:spPr>
      </p:pic>
      <p:sp>
        <p:nvSpPr>
          <p:cNvPr id="21"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2" name="Mars"/>
          <p:cNvSpPr/>
          <p:nvPr/>
        </p:nvSpPr>
        <p:spPr>
          <a:xfrm>
            <a:off x="10927080" y="1874520"/>
            <a:ext cx="457200" cy="457200"/>
          </a:xfrm>
          <a:prstGeom prst="ellipse">
            <a:avLst/>
          </a:prstGeom>
          <a:solidFill>
            <a:srgbClr val="C1440E"/>
          </a:solidFill>
          <a:ln/>
        </p:spPr>
      </p:sp>
      <p:pic>
        <p:nvPicPr>
          <p:cNvPr id="23" name="Image 4" descr="Mars (photo map, semi-transparent)">    </p:cNvPr>
          <p:cNvPicPr>
            <a:picLocks noChangeAspect="1"/>
          </p:cNvPicPr>
          <p:nvPr/>
        </p:nvPicPr>
        <p:blipFill>
          <a:blip r:embed="rId5"/>
          <a:stretch>
            <a:fillRect/>
          </a:stretch>
        </p:blipFill>
        <p:spPr>
          <a:xfrm>
            <a:off x="10927080" y="1874520"/>
            <a:ext cx="457200" cy="457200"/>
          </a:xfrm>
          <a:prstGeom prst="rect">
            <a:avLst/>
          </a:prstGeom>
        </p:spPr>
      </p:pic>
      <p:sp>
        <p:nvSpPr>
          <p:cNvPr id="24"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5" name="Route to Moon"/>
          <p:cNvSpPr/>
          <p:nvPr/>
        </p:nvSpPr>
        <p:spPr>
          <a:xfrm>
            <a:off x="7251192" y="2103120"/>
            <a:ext cx="594360" cy="0"/>
          </a:xfrm>
          <a:prstGeom prst="line">
            <a:avLst/>
          </a:prstGeom>
          <a:noFill/>
          <a:ln w="12700">
            <a:solidFill>
              <a:srgbClr val="5D6B7B"/>
            </a:solidFill>
            <a:prstDash val="dash"/>
            <a:tailEnd type="triangle"/>
          </a:ln>
        </p:spPr>
      </p:sp>
      <p:sp>
        <p:nvSpPr>
          <p:cNvPr id="26"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7" name="Route to Mars"/>
          <p:cNvSpPr/>
          <p:nvPr/>
        </p:nvSpPr>
        <p:spPr>
          <a:xfrm>
            <a:off x="8183880" y="2103120"/>
            <a:ext cx="2724912" cy="0"/>
          </a:xfrm>
          <a:prstGeom prst="line">
            <a:avLst/>
          </a:prstGeom>
          <a:noFill/>
          <a:ln w="12700">
            <a:solidFill>
              <a:srgbClr val="5D6B7B"/>
            </a:solidFill>
            <a:prstDash val="dash"/>
            <a:tailEnd type="triangle"/>
          </a:ln>
        </p:spPr>
      </p:sp>
      <p:sp>
        <p:nvSpPr>
          <p:cNvPr id="28"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9"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30" name="Moon mission bar"/>
          <p:cNvSpPr/>
          <p:nvPr/>
        </p:nvSpPr>
        <p:spPr>
          <a:xfrm>
            <a:off x="8229600" y="2880360"/>
            <a:ext cx="42672" cy="292608"/>
          </a:xfrm>
          <a:prstGeom prst="rect">
            <a:avLst/>
          </a:prstGeom>
          <a:solidFill>
            <a:srgbClr val="5D6B7B"/>
          </a:solidFill>
          <a:ln/>
        </p:spPr>
      </p:sp>
      <p:sp>
        <p:nvSpPr>
          <p:cNvPr id="31"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2"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3" name="Mars to Mars"/>
          <p:cNvSpPr/>
          <p:nvPr/>
        </p:nvSpPr>
        <p:spPr>
          <a:xfrm>
            <a:off x="8229600" y="3566160"/>
            <a:ext cx="640080" cy="292608"/>
          </a:xfrm>
          <a:prstGeom prst="rect">
            <a:avLst/>
          </a:prstGeom>
          <a:solidFill>
            <a:srgbClr val="C1440E"/>
          </a:solidFill>
          <a:ln w="12700">
            <a:solidFill>
              <a:srgbClr val="FFFFFF"/>
            </a:solidFill>
            <a:prstDash val="solid"/>
          </a:ln>
        </p:spPr>
      </p:sp>
      <p:sp>
        <p:nvSpPr>
          <p:cNvPr id="34"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5" name="Mars on Mars, about 500 days"/>
          <p:cNvSpPr/>
          <p:nvPr/>
        </p:nvSpPr>
        <p:spPr>
          <a:xfrm>
            <a:off x="8869680" y="3566160"/>
            <a:ext cx="1778000" cy="292608"/>
          </a:xfrm>
          <a:prstGeom prst="rect">
            <a:avLst/>
          </a:prstGeom>
          <a:solidFill>
            <a:srgbClr val="C1440E">
              <a:alpha val="55000"/>
            </a:srgbClr>
          </a:solidFill>
          <a:ln w="12700">
            <a:solidFill>
              <a:srgbClr val="FFFFFF"/>
            </a:solidFill>
            <a:prstDash val="solid"/>
          </a:ln>
        </p:spPr>
      </p:sp>
      <p:sp>
        <p:nvSpPr>
          <p:cNvPr id="36"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7" name="Mars home"/>
          <p:cNvSpPr/>
          <p:nvPr/>
        </p:nvSpPr>
        <p:spPr>
          <a:xfrm>
            <a:off x="10647680" y="3566160"/>
            <a:ext cx="640080" cy="292608"/>
          </a:xfrm>
          <a:prstGeom prst="rect">
            <a:avLst/>
          </a:prstGeom>
          <a:solidFill>
            <a:srgbClr val="C1440E"/>
          </a:solidFill>
          <a:ln w="12700">
            <a:solidFill>
              <a:srgbClr val="FFFFFF"/>
            </a:solidFill>
            <a:prstDash val="solid"/>
          </a:ln>
        </p:spPr>
      </p:sp>
      <p:sp>
        <p:nvSpPr>
          <p:cNvPr id="38"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9" name="Arrival marker"/>
          <p:cNvSpPr/>
          <p:nvPr/>
        </p:nvSpPr>
        <p:spPr>
          <a:xfrm>
            <a:off x="8869680" y="3886200"/>
            <a:ext cx="0" cy="182880"/>
          </a:xfrm>
          <a:prstGeom prst="line">
            <a:avLst/>
          </a:prstGeom>
          <a:noFill/>
          <a:ln w="12700">
            <a:solidFill>
              <a:srgbClr val="1B2533"/>
            </a:solidFill>
            <a:prstDash val="solid"/>
            <a:headEnd type="triangle"/>
          </a:ln>
        </p:spPr>
      </p:sp>
      <p:sp>
        <p:nvSpPr>
          <p:cNvPr id="40"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41" name="Time axis"/>
          <p:cNvSpPr/>
          <p:nvPr/>
        </p:nvSpPr>
        <p:spPr>
          <a:xfrm>
            <a:off x="8229600" y="4434840"/>
            <a:ext cx="3200400" cy="0"/>
          </a:xfrm>
          <a:prstGeom prst="line">
            <a:avLst/>
          </a:prstGeom>
          <a:noFill/>
          <a:ln w="9525">
            <a:solidFill>
              <a:srgbClr val="5D6B7B"/>
            </a:solidFill>
            <a:prstDash val="solid"/>
          </a:ln>
        </p:spPr>
      </p:sp>
      <p:sp>
        <p:nvSpPr>
          <p:cNvPr id="42" name="Tick 0"/>
          <p:cNvSpPr/>
          <p:nvPr/>
        </p:nvSpPr>
        <p:spPr>
          <a:xfrm>
            <a:off x="8229600" y="4434840"/>
            <a:ext cx="0" cy="54864"/>
          </a:xfrm>
          <a:prstGeom prst="line">
            <a:avLst/>
          </a:prstGeom>
          <a:noFill/>
          <a:ln w="9525">
            <a:solidFill>
              <a:srgbClr val="5D6B7B"/>
            </a:solidFill>
            <a:prstDash val="solid"/>
          </a:ln>
        </p:spPr>
      </p:sp>
      <p:sp>
        <p:nvSpPr>
          <p:cNvPr id="43"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4" name="Tick 1 year"/>
          <p:cNvSpPr/>
          <p:nvPr/>
        </p:nvSpPr>
        <p:spPr>
          <a:xfrm>
            <a:off x="9527540" y="4434840"/>
            <a:ext cx="0" cy="54864"/>
          </a:xfrm>
          <a:prstGeom prst="line">
            <a:avLst/>
          </a:prstGeom>
          <a:noFill/>
          <a:ln w="9525">
            <a:solidFill>
              <a:srgbClr val="5D6B7B"/>
            </a:solidFill>
            <a:prstDash val="solid"/>
          </a:ln>
        </p:spPr>
      </p:sp>
      <p:sp>
        <p:nvSpPr>
          <p:cNvPr id="45"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6" name="Tick 2 years"/>
          <p:cNvSpPr/>
          <p:nvPr/>
        </p:nvSpPr>
        <p:spPr>
          <a:xfrm>
            <a:off x="10825480" y="4434840"/>
            <a:ext cx="0" cy="54864"/>
          </a:xfrm>
          <a:prstGeom prst="line">
            <a:avLst/>
          </a:prstGeom>
          <a:noFill/>
          <a:ln w="9525">
            <a:solidFill>
              <a:srgbClr val="5D6B7B"/>
            </a:solidFill>
            <a:prstDash val="solid"/>
          </a:ln>
        </p:spPr>
      </p:sp>
      <p:sp>
        <p:nvSpPr>
          <p:cNvPr id="47"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8" name="Step 1"/>
          <p:cNvSpPr/>
          <p:nvPr/>
        </p:nvSpPr>
        <p:spPr>
          <a:xfrm>
            <a:off x="548640" y="4983480"/>
            <a:ext cx="2423160" cy="685800"/>
          </a:xfrm>
          <a:prstGeom prst="rect">
            <a:avLst/>
          </a:prstGeom>
          <a:solidFill>
            <a:srgbClr val="FFFFFF"/>
          </a:solidFill>
          <a:ln w="12700">
            <a:solidFill>
              <a:srgbClr val="98A6B5"/>
            </a:solidFill>
            <a:prstDash val="solid"/>
          </a:ln>
        </p:spPr>
      </p:sp>
      <p:sp>
        <p:nvSpPr>
          <p:cNvPr id="49"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50" name="Step 2"/>
          <p:cNvSpPr/>
          <p:nvPr/>
        </p:nvSpPr>
        <p:spPr>
          <a:xfrm>
            <a:off x="3429000" y="4983480"/>
            <a:ext cx="2423160" cy="685800"/>
          </a:xfrm>
          <a:prstGeom prst="rect">
            <a:avLst/>
          </a:prstGeom>
          <a:solidFill>
            <a:srgbClr val="0B2545"/>
          </a:solidFill>
          <a:ln w="12700">
            <a:solidFill>
              <a:srgbClr val="0B2545"/>
            </a:solidFill>
            <a:prstDash val="solid"/>
          </a:ln>
        </p:spPr>
      </p:sp>
      <p:sp>
        <p:nvSpPr>
          <p:cNvPr id="51"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2" name="Step 3"/>
          <p:cNvSpPr/>
          <p:nvPr/>
        </p:nvSpPr>
        <p:spPr>
          <a:xfrm>
            <a:off x="6309360" y="4983480"/>
            <a:ext cx="2423160" cy="685800"/>
          </a:xfrm>
          <a:prstGeom prst="rect">
            <a:avLst/>
          </a:prstGeom>
          <a:solidFill>
            <a:srgbClr val="FFFFFF"/>
          </a:solidFill>
          <a:ln w="12700">
            <a:solidFill>
              <a:srgbClr val="98A6B5"/>
            </a:solidFill>
            <a:prstDash val="dash"/>
          </a:ln>
        </p:spPr>
      </p:sp>
      <p:sp>
        <p:nvSpPr>
          <p:cNvPr id="53"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4" name="Step 4"/>
          <p:cNvSpPr/>
          <p:nvPr/>
        </p:nvSpPr>
        <p:spPr>
          <a:xfrm>
            <a:off x="9189720" y="4983480"/>
            <a:ext cx="2423160" cy="685800"/>
          </a:xfrm>
          <a:prstGeom prst="rect">
            <a:avLst/>
          </a:prstGeom>
          <a:solidFill>
            <a:srgbClr val="FFFFFF"/>
          </a:solidFill>
          <a:ln w="12700">
            <a:solidFill>
              <a:srgbClr val="98A6B5"/>
            </a:solidFill>
            <a:prstDash val="dash"/>
          </a:ln>
        </p:spPr>
      </p:sp>
      <p:sp>
        <p:nvSpPr>
          <p:cNvPr id="55"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6" name="Arrow 1"/>
          <p:cNvSpPr/>
          <p:nvPr/>
        </p:nvSpPr>
        <p:spPr>
          <a:xfrm>
            <a:off x="3017520" y="5326380"/>
            <a:ext cx="365760" cy="0"/>
          </a:xfrm>
          <a:prstGeom prst="line">
            <a:avLst/>
          </a:prstGeom>
          <a:noFill/>
          <a:ln w="15875">
            <a:solidFill>
              <a:srgbClr val="1B2533"/>
            </a:solidFill>
            <a:prstDash val="solid"/>
            <a:tailEnd type="triangle"/>
          </a:ln>
        </p:spPr>
      </p:sp>
      <p:sp>
        <p:nvSpPr>
          <p:cNvPr id="57"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8" name="Arrow 3"/>
          <p:cNvSpPr/>
          <p:nvPr/>
        </p:nvSpPr>
        <p:spPr>
          <a:xfrm>
            <a:off x="8778240" y="5326380"/>
            <a:ext cx="365760" cy="0"/>
          </a:xfrm>
          <a:prstGeom prst="line">
            <a:avLst/>
          </a:prstGeom>
          <a:noFill/>
          <a:ln w="15875">
            <a:solidFill>
              <a:srgbClr val="1B2533"/>
            </a:solidFill>
            <a:prstDash val="solid"/>
            <a:tailEnd type="triangle"/>
          </a:ln>
        </p:spPr>
      </p:sp>
      <p:sp>
        <p:nvSpPr>
          <p:cNvPr id="59" name="Text 52"/>
          <p:cNvSpPr txBox="1"/>
          <p:nvPr/>
        </p:nvSpPr>
        <p:spPr>
          <a:xfrm>
            <a:off x="548640" y="5733288"/>
            <a:ext cx="5486400" cy="228600"/>
          </a:xfrm>
          <a:prstGeom prst="rect">
            <a:avLst/>
          </a:prstGeom>
          <a:noFill/>
          <a:ln/>
        </p:spPr>
        <p:txBody>
          <a:bodyPr wrap="square" lIns="0" tIns="0" rIns="0" bIns="0" rtlCol="0" anchor="t"/>
          <a:lstStyle/>
          <a:p>
            <a:pPr indent="0" marL="0">
              <a:buNone/>
            </a:pPr>
            <a:r>
              <a:rPr lang="en-US" sz="1100" b="1" dirty="0">
                <a:solidFill>
                  <a:schemeClr val="tx2"/>
                </a:solidFill>
              </a:rPr>
              <a:t>Figure 3. From bed-rest data to crew readiness</a:t>
            </a:r>
            <a:endParaRPr lang="en-US" sz="1100" dirty="0"/>
          </a:p>
        </p:txBody>
      </p:sp>
      <p:sp>
        <p:nvSpPr>
          <p:cNvPr id="60" name="Text 53"/>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Range of unloading durations and studies</a:t>
            </a:r>
            <a:endParaRPr lang="en-US" sz="2800" dirty="0"/>
          </a:p>
        </p:txBody>
      </p:sp>
      <p:sp>
        <p:nvSpPr>
          <p:cNvPr id="13" name="Text 9"/>
          <p:cNvSpPr txBox="1"/>
          <p:nvPr/>
        </p:nvSpPr>
        <p:spPr>
          <a:xfrm>
            <a:off x="548640" y="1115568"/>
            <a:ext cx="11064240" cy="292608"/>
          </a:xfrm>
          <a:prstGeom prst="rect">
            <a:avLst/>
          </a:prstGeom>
          <a:noFill/>
          <a:ln/>
        </p:spPr>
        <p:txBody>
          <a:bodyPr wrap="square" lIns="0" tIns="0" rIns="0" bIns="0" rtlCol="0" anchor="t"/>
          <a:lstStyle/>
          <a:p>
            <a:pPr indent="0" marL="0">
              <a:buNone/>
            </a:pPr>
            <a:r>
              <a:rPr lang="en-US" sz="1400" b="1" dirty="0">
                <a:solidFill>
                  <a:schemeClr val="tx2"/>
                </a:solidFill>
              </a:rPr>
              <a:t>Figure 4. Unloading range in the abstract and in the final dataset</a:t>
            </a:r>
            <a:endParaRPr lang="en-US" sz="1400" dirty="0"/>
          </a:p>
        </p:txBody>
      </p:sp>
      <p:sp>
        <p:nvSpPr>
          <p:cNvPr id="14" name="Text 10"/>
          <p:cNvSpPr txBox="1"/>
          <p:nvPr/>
        </p:nvSpPr>
        <p:spPr>
          <a:xfrm>
            <a:off x="548640" y="148132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5" name="Abstract 14-119"/>
          <p:cNvSpPr/>
          <p:nvPr/>
        </p:nvSpPr>
        <p:spPr>
          <a:xfrm>
            <a:off x="3889248" y="1591056"/>
            <a:ext cx="4480560" cy="329184"/>
          </a:xfrm>
          <a:prstGeom prst="rect">
            <a:avLst/>
          </a:prstGeom>
          <a:solidFill>
            <a:srgbClr val="B8C4D1"/>
          </a:solidFill>
          <a:ln/>
        </p:spPr>
      </p:sp>
      <p:sp>
        <p:nvSpPr>
          <p:cNvPr id="16" name="Text 12"/>
          <p:cNvSpPr txBox="1"/>
          <p:nvPr/>
        </p:nvSpPr>
        <p:spPr>
          <a:xfrm>
            <a:off x="3477768" y="159105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7" name="Text 13"/>
          <p:cNvSpPr txBox="1"/>
          <p:nvPr/>
        </p:nvSpPr>
        <p:spPr>
          <a:xfrm>
            <a:off x="8433816" y="159105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8" name="Text 14"/>
          <p:cNvSpPr txBox="1"/>
          <p:nvPr/>
        </p:nvSpPr>
        <p:spPr>
          <a:xfrm>
            <a:off x="548640" y="2048256"/>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9" name="Final dataset 5-119"/>
          <p:cNvSpPr/>
          <p:nvPr/>
        </p:nvSpPr>
        <p:spPr>
          <a:xfrm>
            <a:off x="3505200" y="2157984"/>
            <a:ext cx="4864608" cy="329184"/>
          </a:xfrm>
          <a:prstGeom prst="rect">
            <a:avLst/>
          </a:prstGeom>
          <a:solidFill>
            <a:srgbClr val="0B2545"/>
          </a:solidFill>
          <a:ln/>
        </p:spPr>
      </p:sp>
      <p:sp>
        <p:nvSpPr>
          <p:cNvPr id="20" name="Final dataset 119-180"/>
          <p:cNvSpPr/>
          <p:nvPr/>
        </p:nvSpPr>
        <p:spPr>
          <a:xfrm>
            <a:off x="8369808" y="2157984"/>
            <a:ext cx="2602992" cy="329184"/>
          </a:xfrm>
          <a:prstGeom prst="rect">
            <a:avLst/>
          </a:prstGeom>
          <a:solidFill>
            <a:srgbClr val="C1440E"/>
          </a:solidFill>
          <a:ln/>
        </p:spPr>
      </p:sp>
      <p:sp>
        <p:nvSpPr>
          <p:cNvPr id="21" name="Text 17"/>
          <p:cNvSpPr txBox="1"/>
          <p:nvPr/>
        </p:nvSpPr>
        <p:spPr>
          <a:xfrm>
            <a:off x="3093720" y="2157984"/>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22" name="Text 18"/>
          <p:cNvSpPr txBox="1"/>
          <p:nvPr/>
        </p:nvSpPr>
        <p:spPr>
          <a:xfrm>
            <a:off x="11036808" y="2157984"/>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3" name="Text 19"/>
          <p:cNvSpPr txBox="1"/>
          <p:nvPr/>
        </p:nvSpPr>
        <p:spPr>
          <a:xfrm>
            <a:off x="3505200" y="2157984"/>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4" name="Text 20"/>
          <p:cNvSpPr txBox="1"/>
          <p:nvPr/>
        </p:nvSpPr>
        <p:spPr>
          <a:xfrm>
            <a:off x="8369808" y="2157984"/>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5" name="Day axis"/>
          <p:cNvSpPr/>
          <p:nvPr/>
        </p:nvSpPr>
        <p:spPr>
          <a:xfrm>
            <a:off x="3291840" y="2670048"/>
            <a:ext cx="7680960" cy="0"/>
          </a:xfrm>
          <a:prstGeom prst="line">
            <a:avLst/>
          </a:prstGeom>
          <a:noFill/>
          <a:ln w="9525">
            <a:solidFill>
              <a:srgbClr val="5D6B7B"/>
            </a:solidFill>
            <a:prstDash val="solid"/>
          </a:ln>
        </p:spPr>
      </p:sp>
      <p:sp>
        <p:nvSpPr>
          <p:cNvPr id="26" name="Tick 0"/>
          <p:cNvSpPr/>
          <p:nvPr/>
        </p:nvSpPr>
        <p:spPr>
          <a:xfrm>
            <a:off x="3291840" y="2670048"/>
            <a:ext cx="0" cy="54864"/>
          </a:xfrm>
          <a:prstGeom prst="line">
            <a:avLst/>
          </a:prstGeom>
          <a:noFill/>
          <a:ln w="9525">
            <a:solidFill>
              <a:srgbClr val="5D6B7B"/>
            </a:solidFill>
            <a:prstDash val="solid"/>
          </a:ln>
        </p:spPr>
      </p:sp>
      <p:sp>
        <p:nvSpPr>
          <p:cNvPr id="27" name="Text 23"/>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ick 30"/>
          <p:cNvSpPr/>
          <p:nvPr/>
        </p:nvSpPr>
        <p:spPr>
          <a:xfrm>
            <a:off x="4572000" y="2670048"/>
            <a:ext cx="0" cy="54864"/>
          </a:xfrm>
          <a:prstGeom prst="line">
            <a:avLst/>
          </a:prstGeom>
          <a:noFill/>
          <a:ln w="9525">
            <a:solidFill>
              <a:srgbClr val="5D6B7B"/>
            </a:solidFill>
            <a:prstDash val="solid"/>
          </a:ln>
        </p:spPr>
      </p:sp>
      <p:sp>
        <p:nvSpPr>
          <p:cNvPr id="29" name="Text 25"/>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30" name="Tick 60"/>
          <p:cNvSpPr/>
          <p:nvPr/>
        </p:nvSpPr>
        <p:spPr>
          <a:xfrm>
            <a:off x="5852160" y="2670048"/>
            <a:ext cx="0" cy="54864"/>
          </a:xfrm>
          <a:prstGeom prst="line">
            <a:avLst/>
          </a:prstGeom>
          <a:noFill/>
          <a:ln w="9525">
            <a:solidFill>
              <a:srgbClr val="5D6B7B"/>
            </a:solidFill>
            <a:prstDash val="solid"/>
          </a:ln>
        </p:spPr>
      </p:sp>
      <p:sp>
        <p:nvSpPr>
          <p:cNvPr id="31" name="Text 27"/>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2" name="Tick 90"/>
          <p:cNvSpPr/>
          <p:nvPr/>
        </p:nvSpPr>
        <p:spPr>
          <a:xfrm>
            <a:off x="7132320" y="2670048"/>
            <a:ext cx="0" cy="54864"/>
          </a:xfrm>
          <a:prstGeom prst="line">
            <a:avLst/>
          </a:prstGeom>
          <a:noFill/>
          <a:ln w="9525">
            <a:solidFill>
              <a:srgbClr val="5D6B7B"/>
            </a:solidFill>
            <a:prstDash val="solid"/>
          </a:ln>
        </p:spPr>
      </p:sp>
      <p:sp>
        <p:nvSpPr>
          <p:cNvPr id="33" name="Text 29"/>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4" name="Tick 119"/>
          <p:cNvSpPr/>
          <p:nvPr/>
        </p:nvSpPr>
        <p:spPr>
          <a:xfrm>
            <a:off x="8369808" y="2670048"/>
            <a:ext cx="0" cy="54864"/>
          </a:xfrm>
          <a:prstGeom prst="line">
            <a:avLst/>
          </a:prstGeom>
          <a:noFill/>
          <a:ln w="9525">
            <a:solidFill>
              <a:srgbClr val="5D6B7B"/>
            </a:solidFill>
            <a:prstDash val="solid"/>
          </a:ln>
        </p:spPr>
      </p:sp>
      <p:sp>
        <p:nvSpPr>
          <p:cNvPr id="35" name="Text 31"/>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6" name="Tick 150"/>
          <p:cNvSpPr/>
          <p:nvPr/>
        </p:nvSpPr>
        <p:spPr>
          <a:xfrm>
            <a:off x="9692640" y="2670048"/>
            <a:ext cx="0" cy="54864"/>
          </a:xfrm>
          <a:prstGeom prst="line">
            <a:avLst/>
          </a:prstGeom>
          <a:noFill/>
          <a:ln w="9525">
            <a:solidFill>
              <a:srgbClr val="5D6B7B"/>
            </a:solidFill>
            <a:prstDash val="solid"/>
          </a:ln>
        </p:spPr>
      </p:sp>
      <p:sp>
        <p:nvSpPr>
          <p:cNvPr id="37" name="Text 33"/>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8" name="Tick 180"/>
          <p:cNvSpPr/>
          <p:nvPr/>
        </p:nvSpPr>
        <p:spPr>
          <a:xfrm>
            <a:off x="10972800" y="2670048"/>
            <a:ext cx="0" cy="54864"/>
          </a:xfrm>
          <a:prstGeom prst="line">
            <a:avLst/>
          </a:prstGeom>
          <a:noFill/>
          <a:ln w="9525">
            <a:solidFill>
              <a:srgbClr val="5D6B7B"/>
            </a:solidFill>
            <a:prstDash val="solid"/>
          </a:ln>
        </p:spPr>
      </p:sp>
      <p:sp>
        <p:nvSpPr>
          <p:cNvPr id="39" name="Text 35"/>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40" name="Text 36"/>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41" name="Text 37"/>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Figure 5. Studies published per year, by length of unloading</a:t>
            </a:r>
            <a:endParaRPr lang="en-US" sz="1400" dirty="0"/>
          </a:p>
        </p:txBody>
      </p:sp>
      <p:sp>
        <p:nvSpPr>
          <p:cNvPr id="42" name="Text 38"/>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3" name="Text 39"/>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4" name="Legend 180 days (spaceflight)"/>
          <p:cNvSpPr/>
          <p:nvPr/>
        </p:nvSpPr>
        <p:spPr>
          <a:xfrm>
            <a:off x="548640" y="4261104"/>
            <a:ext cx="201168" cy="164592"/>
          </a:xfrm>
          <a:prstGeom prst="rect">
            <a:avLst/>
          </a:prstGeom>
          <a:solidFill>
            <a:srgbClr val="C1440E"/>
          </a:solidFill>
          <a:ln/>
        </p:spPr>
      </p:sp>
      <p:sp>
        <p:nvSpPr>
          <p:cNvPr id="45" name="Text 41"/>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6" name="Legend 61 to 119 days"/>
          <p:cNvSpPr/>
          <p:nvPr/>
        </p:nvSpPr>
        <p:spPr>
          <a:xfrm>
            <a:off x="548640" y="4590288"/>
            <a:ext cx="201168" cy="164592"/>
          </a:xfrm>
          <a:prstGeom prst="rect">
            <a:avLst/>
          </a:prstGeom>
          <a:solidFill>
            <a:srgbClr val="0B2545"/>
          </a:solidFill>
          <a:ln/>
        </p:spPr>
      </p:sp>
      <p:sp>
        <p:nvSpPr>
          <p:cNvPr id="47" name="Text 43"/>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8" name="Legend 31 to 60 days"/>
          <p:cNvSpPr/>
          <p:nvPr/>
        </p:nvSpPr>
        <p:spPr>
          <a:xfrm>
            <a:off x="548640" y="4919472"/>
            <a:ext cx="201168" cy="164592"/>
          </a:xfrm>
          <a:prstGeom prst="rect">
            <a:avLst/>
          </a:prstGeom>
          <a:solidFill>
            <a:srgbClr val="5B80A5"/>
          </a:solidFill>
          <a:ln/>
        </p:spPr>
      </p:sp>
      <p:sp>
        <p:nvSpPr>
          <p:cNvPr id="49" name="Text 45"/>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50" name="Legend 15 to 30 days"/>
          <p:cNvSpPr/>
          <p:nvPr/>
        </p:nvSpPr>
        <p:spPr>
          <a:xfrm>
            <a:off x="548640" y="5248656"/>
            <a:ext cx="201168" cy="164592"/>
          </a:xfrm>
          <a:prstGeom prst="rect">
            <a:avLst/>
          </a:prstGeom>
          <a:solidFill>
            <a:srgbClr val="9AB0C7"/>
          </a:solidFill>
          <a:ln/>
        </p:spPr>
      </p:sp>
      <p:sp>
        <p:nvSpPr>
          <p:cNvPr id="51" name="Text 47"/>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52" name="Legend 5 to 14 days"/>
          <p:cNvSpPr/>
          <p:nvPr/>
        </p:nvSpPr>
        <p:spPr>
          <a:xfrm>
            <a:off x="548640" y="5577840"/>
            <a:ext cx="201168" cy="164592"/>
          </a:xfrm>
          <a:prstGeom prst="rect">
            <a:avLst/>
          </a:prstGeom>
          <a:solidFill>
            <a:srgbClr val="D3DCE6"/>
          </a:solidFill>
          <a:ln/>
        </p:spPr>
      </p:sp>
      <p:sp>
        <p:nvSpPr>
          <p:cNvPr id="53" name="Text 49"/>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4"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Literature search and study selection</a:t>
            </a:r>
            <a:endParaRPr lang="en-US" sz="2800" dirty="0"/>
          </a:p>
        </p:txBody>
      </p:sp>
      <p:sp>
        <p:nvSpPr>
          <p:cNvPr id="13"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4" name="Step Identification"/>
          <p:cNvSpPr/>
          <p:nvPr/>
        </p:nvSpPr>
        <p:spPr>
          <a:xfrm>
            <a:off x="548640" y="2286000"/>
            <a:ext cx="1920240" cy="1325880"/>
          </a:xfrm>
          <a:prstGeom prst="rect">
            <a:avLst/>
          </a:prstGeom>
          <a:solidFill>
            <a:srgbClr val="FFFFFF"/>
          </a:solidFill>
          <a:ln w="12700">
            <a:solidFill>
              <a:srgbClr val="98A6B5"/>
            </a:solidFill>
            <a:prstDash val="solid"/>
          </a:ln>
        </p:spPr>
      </p:sp>
      <p:sp>
        <p:nvSpPr>
          <p:cNvPr id="15"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6" name="Flow arrow 1"/>
          <p:cNvSpPr/>
          <p:nvPr/>
        </p:nvSpPr>
        <p:spPr>
          <a:xfrm>
            <a:off x="2505456" y="2948940"/>
            <a:ext cx="246888" cy="0"/>
          </a:xfrm>
          <a:prstGeom prst="line">
            <a:avLst/>
          </a:prstGeom>
          <a:noFill/>
          <a:ln w="15875">
            <a:solidFill>
              <a:srgbClr val="1B2533"/>
            </a:solidFill>
            <a:prstDash val="solid"/>
            <a:tailEnd type="triangle"/>
          </a:ln>
        </p:spPr>
      </p:sp>
      <p:sp>
        <p:nvSpPr>
          <p:cNvPr id="17"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8" name="Step Screening"/>
          <p:cNvSpPr/>
          <p:nvPr/>
        </p:nvSpPr>
        <p:spPr>
          <a:xfrm>
            <a:off x="2788920" y="2286000"/>
            <a:ext cx="1920240" cy="1325880"/>
          </a:xfrm>
          <a:prstGeom prst="rect">
            <a:avLst/>
          </a:prstGeom>
          <a:solidFill>
            <a:srgbClr val="FFFFFF"/>
          </a:solidFill>
          <a:ln w="12700">
            <a:solidFill>
              <a:srgbClr val="98A6B5"/>
            </a:solidFill>
            <a:prstDash val="solid"/>
          </a:ln>
        </p:spPr>
      </p:sp>
      <p:sp>
        <p:nvSpPr>
          <p:cNvPr id="19"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20" name="Flow arrow 2"/>
          <p:cNvSpPr/>
          <p:nvPr/>
        </p:nvSpPr>
        <p:spPr>
          <a:xfrm>
            <a:off x="4745736" y="2948940"/>
            <a:ext cx="246888" cy="0"/>
          </a:xfrm>
          <a:prstGeom prst="line">
            <a:avLst/>
          </a:prstGeom>
          <a:noFill/>
          <a:ln w="15875">
            <a:solidFill>
              <a:srgbClr val="1B2533"/>
            </a:solidFill>
            <a:prstDash val="solid"/>
            <a:tailEnd type="triangle"/>
          </a:ln>
        </p:spPr>
      </p:sp>
      <p:sp>
        <p:nvSpPr>
          <p:cNvPr id="21"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2" name="Step Full text"/>
          <p:cNvSpPr/>
          <p:nvPr/>
        </p:nvSpPr>
        <p:spPr>
          <a:xfrm>
            <a:off x="5029200" y="2286000"/>
            <a:ext cx="1920240" cy="1325880"/>
          </a:xfrm>
          <a:prstGeom prst="rect">
            <a:avLst/>
          </a:prstGeom>
          <a:solidFill>
            <a:srgbClr val="FFFFFF"/>
          </a:solidFill>
          <a:ln w="12700">
            <a:solidFill>
              <a:srgbClr val="98A6B5"/>
            </a:solidFill>
            <a:prstDash val="solid"/>
          </a:ln>
        </p:spPr>
      </p:sp>
      <p:sp>
        <p:nvSpPr>
          <p:cNvPr id="23"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4" name="Flow arrow 3"/>
          <p:cNvSpPr/>
          <p:nvPr/>
        </p:nvSpPr>
        <p:spPr>
          <a:xfrm>
            <a:off x="6986016" y="2948940"/>
            <a:ext cx="246888" cy="0"/>
          </a:xfrm>
          <a:prstGeom prst="line">
            <a:avLst/>
          </a:prstGeom>
          <a:noFill/>
          <a:ln w="15875">
            <a:solidFill>
              <a:srgbClr val="1B2533"/>
            </a:solidFill>
            <a:prstDash val="solid"/>
            <a:tailEnd type="triangle"/>
          </a:ln>
        </p:spPr>
      </p:sp>
      <p:sp>
        <p:nvSpPr>
          <p:cNvPr id="25"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6" name="Step Included"/>
          <p:cNvSpPr/>
          <p:nvPr/>
        </p:nvSpPr>
        <p:spPr>
          <a:xfrm>
            <a:off x="7269480" y="2286000"/>
            <a:ext cx="1920240" cy="1325880"/>
          </a:xfrm>
          <a:prstGeom prst="rect">
            <a:avLst/>
          </a:prstGeom>
          <a:solidFill>
            <a:srgbClr val="FFFFFF"/>
          </a:solidFill>
          <a:ln w="12700">
            <a:solidFill>
              <a:srgbClr val="98A6B5"/>
            </a:solidFill>
            <a:prstDash val="solid"/>
          </a:ln>
        </p:spPr>
      </p:sp>
      <p:sp>
        <p:nvSpPr>
          <p:cNvPr id="27"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8" name="Flow arrow 4"/>
          <p:cNvSpPr/>
          <p:nvPr/>
        </p:nvSpPr>
        <p:spPr>
          <a:xfrm>
            <a:off x="9226296" y="2948940"/>
            <a:ext cx="246888" cy="0"/>
          </a:xfrm>
          <a:prstGeom prst="line">
            <a:avLst/>
          </a:prstGeom>
          <a:noFill/>
          <a:ln w="15875">
            <a:solidFill>
              <a:srgbClr val="1B2533"/>
            </a:solidFill>
            <a:prstDash val="solid"/>
            <a:tailEnd type="triangle"/>
          </a:ln>
        </p:spPr>
      </p:sp>
      <p:sp>
        <p:nvSpPr>
          <p:cNvPr id="29"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30" name="Step Final dataset"/>
          <p:cNvSpPr/>
          <p:nvPr/>
        </p:nvSpPr>
        <p:spPr>
          <a:xfrm>
            <a:off x="9509760" y="2286000"/>
            <a:ext cx="1920240" cy="1325880"/>
          </a:xfrm>
          <a:prstGeom prst="rect">
            <a:avLst/>
          </a:prstGeom>
          <a:solidFill>
            <a:srgbClr val="0B2545"/>
          </a:solidFill>
          <a:ln w="12700">
            <a:solidFill>
              <a:srgbClr val="0B2545"/>
            </a:solidFill>
            <a:prstDash val="solid"/>
          </a:ln>
        </p:spPr>
      </p:sp>
      <p:sp>
        <p:nvSpPr>
          <p:cNvPr id="31"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2" name="Removed 1"/>
          <p:cNvSpPr/>
          <p:nvPr/>
        </p:nvSpPr>
        <p:spPr>
          <a:xfrm>
            <a:off x="2628900" y="2994660"/>
            <a:ext cx="0" cy="960120"/>
          </a:xfrm>
          <a:prstGeom prst="line">
            <a:avLst/>
          </a:prstGeom>
          <a:noFill/>
          <a:ln w="9525">
            <a:solidFill>
              <a:srgbClr val="98A6B5"/>
            </a:solidFill>
            <a:prstDash val="dash"/>
            <a:tailEnd type="triangle"/>
          </a:ln>
        </p:spPr>
      </p:sp>
      <p:sp>
        <p:nvSpPr>
          <p:cNvPr id="33"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4" name="Removed 2"/>
          <p:cNvSpPr/>
          <p:nvPr/>
        </p:nvSpPr>
        <p:spPr>
          <a:xfrm>
            <a:off x="4869180" y="2994660"/>
            <a:ext cx="0" cy="960120"/>
          </a:xfrm>
          <a:prstGeom prst="line">
            <a:avLst/>
          </a:prstGeom>
          <a:noFill/>
          <a:ln w="9525">
            <a:solidFill>
              <a:srgbClr val="98A6B5"/>
            </a:solidFill>
            <a:prstDash val="dash"/>
            <a:tailEnd type="triangle"/>
          </a:ln>
        </p:spPr>
      </p:sp>
      <p:sp>
        <p:nvSpPr>
          <p:cNvPr id="35"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6" name="Removed 3"/>
          <p:cNvSpPr/>
          <p:nvPr/>
        </p:nvSpPr>
        <p:spPr>
          <a:xfrm>
            <a:off x="7109460" y="2994660"/>
            <a:ext cx="0" cy="960120"/>
          </a:xfrm>
          <a:prstGeom prst="line">
            <a:avLst/>
          </a:prstGeom>
          <a:noFill/>
          <a:ln w="9525">
            <a:solidFill>
              <a:srgbClr val="98A6B5"/>
            </a:solidFill>
            <a:prstDash val="dash"/>
            <a:tailEnd type="triangle"/>
          </a:ln>
        </p:spPr>
      </p:sp>
      <p:sp>
        <p:nvSpPr>
          <p:cNvPr id="37"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8" name="Text 34"/>
          <p:cNvSpPr txBox="1"/>
          <p:nvPr/>
        </p:nvSpPr>
        <p:spPr>
          <a:xfrm>
            <a:off x="548640" y="5806440"/>
            <a:ext cx="8229600" cy="274320"/>
          </a:xfrm>
          <a:prstGeom prst="rect">
            <a:avLst/>
          </a:prstGeom>
          <a:noFill/>
          <a:ln/>
        </p:spPr>
        <p:txBody>
          <a:bodyPr wrap="square" lIns="0" tIns="0" rIns="0" bIns="0" rtlCol="0" anchor="t"/>
          <a:lstStyle/>
          <a:p>
            <a:pPr indent="0" marL="0">
              <a:buNone/>
            </a:pPr>
            <a:r>
              <a:rPr lang="en-US" sz="1100" i="1" dirty="0">
                <a:solidFill>
                  <a:schemeClr val="accent3"/>
                </a:solidFill>
              </a:rPr>
              <a:t>Figure 6. 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Dataset composition</a:t>
            </a:r>
            <a:endParaRPr lang="en-US" sz="2800" dirty="0"/>
          </a:p>
        </p:txBody>
      </p:sp>
      <p:sp>
        <p:nvSpPr>
          <p:cNvPr id="13"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Table 1. 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15"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6"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Table 2. 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atrophy by muscle group</a:t>
            </a:r>
            <a:endParaRPr lang="en-US" sz="2800" dirty="0"/>
          </a:p>
        </p:txBody>
      </p:sp>
      <p:sp>
        <p:nvSpPr>
          <p:cNvPr id="13" name="Grid 0"/>
          <p:cNvSpPr/>
          <p:nvPr/>
        </p:nvSpPr>
        <p:spPr>
          <a:xfrm>
            <a:off x="1234440" y="1371600"/>
            <a:ext cx="6309360" cy="0"/>
          </a:xfrm>
          <a:prstGeom prst="line">
            <a:avLst/>
          </a:prstGeom>
          <a:noFill/>
          <a:ln w="9525">
            <a:solidFill>
              <a:srgbClr val="5D6B7B"/>
            </a:solidFill>
            <a:prstDash val="solid"/>
          </a:ln>
        </p:spPr>
      </p:sp>
      <p:sp>
        <p:nvSpPr>
          <p:cNvPr id="14"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5" name="Grid -4"/>
          <p:cNvSpPr/>
          <p:nvPr/>
        </p:nvSpPr>
        <p:spPr>
          <a:xfrm>
            <a:off x="1234440" y="2019300"/>
            <a:ext cx="6309360" cy="0"/>
          </a:xfrm>
          <a:prstGeom prst="line">
            <a:avLst/>
          </a:prstGeom>
          <a:noFill/>
          <a:ln w="9525">
            <a:solidFill>
              <a:srgbClr val="E2E7ED"/>
            </a:solidFill>
            <a:prstDash val="solid"/>
          </a:ln>
        </p:spPr>
      </p:sp>
      <p:sp>
        <p:nvSpPr>
          <p:cNvPr id="16"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7" name="Grid -8"/>
          <p:cNvSpPr/>
          <p:nvPr/>
        </p:nvSpPr>
        <p:spPr>
          <a:xfrm>
            <a:off x="1234440" y="2667000"/>
            <a:ext cx="6309360" cy="0"/>
          </a:xfrm>
          <a:prstGeom prst="line">
            <a:avLst/>
          </a:prstGeom>
          <a:noFill/>
          <a:ln w="9525">
            <a:solidFill>
              <a:srgbClr val="E2E7ED"/>
            </a:solidFill>
            <a:prstDash val="solid"/>
          </a:ln>
        </p:spPr>
      </p:sp>
      <p:sp>
        <p:nvSpPr>
          <p:cNvPr id="18"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9" name="Grid -12"/>
          <p:cNvSpPr/>
          <p:nvPr/>
        </p:nvSpPr>
        <p:spPr>
          <a:xfrm>
            <a:off x="1234440" y="3314700"/>
            <a:ext cx="6309360" cy="0"/>
          </a:xfrm>
          <a:prstGeom prst="line">
            <a:avLst/>
          </a:prstGeom>
          <a:noFill/>
          <a:ln w="9525">
            <a:solidFill>
              <a:srgbClr val="E2E7ED"/>
            </a:solidFill>
            <a:prstDash val="solid"/>
          </a:ln>
        </p:spPr>
      </p:sp>
      <p:sp>
        <p:nvSpPr>
          <p:cNvPr id="20"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21" name="Grid -16"/>
          <p:cNvSpPr/>
          <p:nvPr/>
        </p:nvSpPr>
        <p:spPr>
          <a:xfrm>
            <a:off x="1234440" y="3962400"/>
            <a:ext cx="6309360" cy="0"/>
          </a:xfrm>
          <a:prstGeom prst="line">
            <a:avLst/>
          </a:prstGeom>
          <a:noFill/>
          <a:ln w="9525">
            <a:solidFill>
              <a:srgbClr val="E2E7ED"/>
            </a:solidFill>
            <a:prstDash val="solid"/>
          </a:ln>
        </p:spPr>
      </p:sp>
      <p:sp>
        <p:nvSpPr>
          <p:cNvPr id="22"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3" name="Grid -20"/>
          <p:cNvSpPr/>
          <p:nvPr/>
        </p:nvSpPr>
        <p:spPr>
          <a:xfrm>
            <a:off x="1234440" y="4610100"/>
            <a:ext cx="6309360" cy="0"/>
          </a:xfrm>
          <a:prstGeom prst="line">
            <a:avLst/>
          </a:prstGeom>
          <a:noFill/>
          <a:ln w="9525">
            <a:solidFill>
              <a:srgbClr val="E2E7ED"/>
            </a:solidFill>
            <a:prstDash val="solid"/>
          </a:ln>
        </p:spPr>
      </p:sp>
      <p:sp>
        <p:nvSpPr>
          <p:cNvPr id="24"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5" name="Grid -24"/>
          <p:cNvSpPr/>
          <p:nvPr/>
        </p:nvSpPr>
        <p:spPr>
          <a:xfrm>
            <a:off x="1234440" y="5257800"/>
            <a:ext cx="6309360" cy="0"/>
          </a:xfrm>
          <a:prstGeom prst="line">
            <a:avLst/>
          </a:prstGeom>
          <a:noFill/>
          <a:ln w="9525">
            <a:solidFill>
              <a:srgbClr val="E2E7ED"/>
            </a:solidFill>
            <a:prstDash val="solid"/>
          </a:ln>
        </p:spPr>
      </p:sp>
      <p:sp>
        <p:nvSpPr>
          <p:cNvPr id="26"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7"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9"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0"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2"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3"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4" name="Day 60 line"/>
          <p:cNvSpPr/>
          <p:nvPr/>
        </p:nvSpPr>
        <p:spPr>
          <a:xfrm>
            <a:off x="4389120" y="1280160"/>
            <a:ext cx="0" cy="3977640"/>
          </a:xfrm>
          <a:prstGeom prst="line">
            <a:avLst/>
          </a:prstGeom>
          <a:noFill/>
          <a:ln w="12700">
            <a:solidFill>
              <a:srgbClr val="1B2533"/>
            </a:solidFill>
            <a:prstDash val="dash"/>
          </a:ln>
        </p:spPr>
      </p:sp>
      <p:sp>
        <p:nvSpPr>
          <p:cNvPr id="35"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6"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9AA5B1"/>
            </a:solidFill>
            <a:prstDash val="solid"/>
          </a:ln>
        </p:spPr>
      </p:sp>
      <p:sp>
        <p:nvSpPr>
          <p:cNvPr id="37" name="Deep hip rotators at day 60"/>
          <p:cNvSpPr/>
          <p:nvPr/>
        </p:nvSpPr>
        <p:spPr>
          <a:xfrm>
            <a:off x="4338828" y="1628966"/>
            <a:ext cx="100584" cy="100584"/>
          </a:xfrm>
          <a:prstGeom prst="ellipse">
            <a:avLst/>
          </a:prstGeom>
          <a:solidFill>
            <a:srgbClr val="9AA5B1"/>
          </a:solidFill>
          <a:ln w="6350">
            <a:solidFill>
              <a:srgbClr val="FFFFFF"/>
            </a:solidFill>
            <a:prstDash val="solid"/>
          </a:ln>
        </p:spPr>
      </p:sp>
      <p:sp>
        <p:nvSpPr>
          <p:cNvPr id="38"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3A9CA6"/>
            </a:solidFill>
            <a:prstDash val="solid"/>
          </a:ln>
        </p:spPr>
      </p:sp>
      <p:sp>
        <p:nvSpPr>
          <p:cNvPr id="39" name="Inner thigh (hip adductors) at day 60"/>
          <p:cNvSpPr/>
          <p:nvPr/>
        </p:nvSpPr>
        <p:spPr>
          <a:xfrm>
            <a:off x="4338828" y="2195703"/>
            <a:ext cx="100584" cy="100584"/>
          </a:xfrm>
          <a:prstGeom prst="ellipse">
            <a:avLst/>
          </a:prstGeom>
          <a:solidFill>
            <a:srgbClr val="3A9CA6"/>
          </a:solidFill>
          <a:ln w="6350">
            <a:solidFill>
              <a:srgbClr val="FFFFFF"/>
            </a:solidFill>
            <a:prstDash val="solid"/>
          </a:ln>
        </p:spPr>
      </p:sp>
      <p:sp>
        <p:nvSpPr>
          <p:cNvPr id="40"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9C6B98"/>
            </a:solidFill>
            <a:prstDash val="solid"/>
          </a:ln>
        </p:spPr>
      </p:sp>
      <p:sp>
        <p:nvSpPr>
          <p:cNvPr id="41" name="Glutes (hip extensors) at day 60"/>
          <p:cNvSpPr/>
          <p:nvPr/>
        </p:nvSpPr>
        <p:spPr>
          <a:xfrm>
            <a:off x="4338828" y="2309050"/>
            <a:ext cx="100584" cy="100584"/>
          </a:xfrm>
          <a:prstGeom prst="ellipse">
            <a:avLst/>
          </a:prstGeom>
          <a:solidFill>
            <a:srgbClr val="9C6B98"/>
          </a:solidFill>
          <a:ln w="6350">
            <a:solidFill>
              <a:srgbClr val="FFFFFF"/>
            </a:solidFill>
            <a:prstDash val="solid"/>
          </a:ln>
        </p:spPr>
      </p:sp>
      <p:sp>
        <p:nvSpPr>
          <p:cNvPr id="42"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6A994E"/>
            </a:solidFill>
            <a:prstDash val="solid"/>
          </a:ln>
        </p:spPr>
      </p:sp>
      <p:sp>
        <p:nvSpPr>
          <p:cNvPr id="43" name="Hip flexors at day 60"/>
          <p:cNvSpPr/>
          <p:nvPr/>
        </p:nvSpPr>
        <p:spPr>
          <a:xfrm>
            <a:off x="4338828" y="2422398"/>
            <a:ext cx="100584" cy="100584"/>
          </a:xfrm>
          <a:prstGeom prst="ellipse">
            <a:avLst/>
          </a:prstGeom>
          <a:solidFill>
            <a:srgbClr val="6A994E"/>
          </a:solidFill>
          <a:ln w="6350">
            <a:solidFill>
              <a:srgbClr val="FFFFFF"/>
            </a:solidFill>
            <a:prstDash val="solid"/>
          </a:ln>
        </p:spPr>
      </p:sp>
      <p:sp>
        <p:nvSpPr>
          <p:cNvPr id="44"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FC4"/>
            </a:solidFill>
            <a:prstDash val="solid"/>
          </a:ln>
        </p:spPr>
      </p:sp>
      <p:sp>
        <p:nvSpPr>
          <p:cNvPr id="45" name="Outer hip (hip abductors) at day 60"/>
          <p:cNvSpPr/>
          <p:nvPr/>
        </p:nvSpPr>
        <p:spPr>
          <a:xfrm>
            <a:off x="4338828" y="2794825"/>
            <a:ext cx="100584" cy="100584"/>
          </a:xfrm>
          <a:prstGeom prst="ellipse">
            <a:avLst/>
          </a:prstGeom>
          <a:solidFill>
            <a:srgbClr val="7B6FC4"/>
          </a:solidFill>
          <a:ln w="6350">
            <a:solidFill>
              <a:srgbClr val="FFFFFF"/>
            </a:solidFill>
            <a:prstDash val="solid"/>
          </a:ln>
        </p:spPr>
      </p:sp>
      <p:sp>
        <p:nvSpPr>
          <p:cNvPr id="46"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F86C6"/>
            </a:solidFill>
            <a:prstDash val="solid"/>
          </a:ln>
        </p:spPr>
      </p:sp>
      <p:sp>
        <p:nvSpPr>
          <p:cNvPr id="47" name="Back thigh (knee flexors) at day 60"/>
          <p:cNvSpPr/>
          <p:nvPr/>
        </p:nvSpPr>
        <p:spPr>
          <a:xfrm>
            <a:off x="4338828" y="2908173"/>
            <a:ext cx="100584" cy="100584"/>
          </a:xfrm>
          <a:prstGeom prst="ellipse">
            <a:avLst/>
          </a:prstGeom>
          <a:solidFill>
            <a:srgbClr val="4F86C6"/>
          </a:solidFill>
          <a:ln w="6350">
            <a:solidFill>
              <a:srgbClr val="FFFFFF"/>
            </a:solidFill>
            <a:prstDash val="solid"/>
          </a:ln>
        </p:spPr>
      </p:sp>
      <p:sp>
        <p:nvSpPr>
          <p:cNvPr id="48"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0B2545"/>
            </a:solidFill>
            <a:prstDash val="solid"/>
          </a:ln>
        </p:spPr>
      </p:sp>
      <p:sp>
        <p:nvSpPr>
          <p:cNvPr id="49" name="Front thigh (knee extensors) at day 60"/>
          <p:cNvSpPr/>
          <p:nvPr/>
        </p:nvSpPr>
        <p:spPr>
          <a:xfrm>
            <a:off x="4338828" y="2956751"/>
            <a:ext cx="100584" cy="100584"/>
          </a:xfrm>
          <a:prstGeom prst="ellipse">
            <a:avLst/>
          </a:prstGeom>
          <a:solidFill>
            <a:srgbClr val="0B2545"/>
          </a:solidFill>
          <a:ln w="6350">
            <a:solidFill>
              <a:srgbClr val="FFFFFF"/>
            </a:solidFill>
            <a:prstDash val="solid"/>
          </a:ln>
        </p:spPr>
      </p:sp>
      <p:sp>
        <p:nvSpPr>
          <p:cNvPr id="50"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E0A030"/>
            </a:solidFill>
            <a:prstDash val="solid"/>
          </a:ln>
        </p:spPr>
      </p:sp>
      <p:sp>
        <p:nvSpPr>
          <p:cNvPr id="51" name="Shin (dorsiflexors) at day 60"/>
          <p:cNvSpPr/>
          <p:nvPr/>
        </p:nvSpPr>
        <p:spPr>
          <a:xfrm>
            <a:off x="4338828" y="2972943"/>
            <a:ext cx="100584" cy="100584"/>
          </a:xfrm>
          <a:prstGeom prst="ellipse">
            <a:avLst/>
          </a:prstGeom>
          <a:solidFill>
            <a:srgbClr val="E0A030"/>
          </a:solidFill>
          <a:ln w="6350">
            <a:solidFill>
              <a:srgbClr val="FFFFFF"/>
            </a:solidFill>
            <a:prstDash val="solid"/>
          </a:ln>
        </p:spPr>
      </p:sp>
      <p:sp>
        <p:nvSpPr>
          <p:cNvPr id="52"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C1440E"/>
            </a:solidFill>
            <a:prstDash val="solid"/>
          </a:ln>
        </p:spPr>
      </p:sp>
      <p:sp>
        <p:nvSpPr>
          <p:cNvPr id="53" name="Calf (plantar flexors) at day 60"/>
          <p:cNvSpPr/>
          <p:nvPr/>
        </p:nvSpPr>
        <p:spPr>
          <a:xfrm>
            <a:off x="4338828" y="3879723"/>
            <a:ext cx="100584" cy="100584"/>
          </a:xfrm>
          <a:prstGeom prst="ellipse">
            <a:avLst/>
          </a:prstGeom>
          <a:solidFill>
            <a:srgbClr val="C1440E"/>
          </a:solidFill>
          <a:ln w="6350">
            <a:solidFill>
              <a:srgbClr val="FFFFFF"/>
            </a:solidFill>
            <a:prstDash val="solid"/>
          </a:ln>
        </p:spPr>
      </p:sp>
      <p:sp>
        <p:nvSpPr>
          <p:cNvPr id="54"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5" name="Deep hip rotators leader"/>
          <p:cNvSpPr/>
          <p:nvPr/>
        </p:nvSpPr>
        <p:spPr>
          <a:xfrm flipV="1">
            <a:off x="7518654" y="1508760"/>
            <a:ext cx="646938" cy="282571"/>
          </a:xfrm>
          <a:prstGeom prst="line">
            <a:avLst/>
          </a:prstGeom>
          <a:noFill/>
          <a:ln w="9525">
            <a:solidFill>
              <a:srgbClr val="9AA5B1"/>
            </a:solidFill>
            <a:prstDash val="solid"/>
          </a:ln>
        </p:spPr>
      </p:sp>
      <p:pic>
        <p:nvPicPr>
          <p:cNvPr id="56" name="Image 2" descr="Deep hip rotators (highlighted on a leg outline)">    </p:cNvPr>
          <p:cNvPicPr>
            <a:picLocks noChangeAspect="1"/>
          </p:cNvPicPr>
          <p:nvPr/>
        </p:nvPicPr>
        <p:blipFill>
          <a:blip r:embed="rId3"/>
          <a:stretch>
            <a:fillRect/>
          </a:stretch>
        </p:blipFill>
        <p:spPr>
          <a:xfrm>
            <a:off x="8229600" y="1280160"/>
            <a:ext cx="304800" cy="457200"/>
          </a:xfrm>
          <a:prstGeom prst="rect">
            <a:avLst/>
          </a:prstGeom>
        </p:spPr>
      </p:pic>
      <p:sp>
        <p:nvSpPr>
          <p:cNvPr id="57"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8"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9AA5B1"/>
                </a:solidFill>
              </a:rPr>
              <a:t>−1.9%</a:t>
            </a:r>
            <a:endParaRPr lang="en-US" sz="1300" dirty="0"/>
          </a:p>
        </p:txBody>
      </p:sp>
      <p:sp>
        <p:nvSpPr>
          <p:cNvPr id="59" name="Inner thigh (hip adductors) leader"/>
          <p:cNvSpPr/>
          <p:nvPr/>
        </p:nvSpPr>
        <p:spPr>
          <a:xfrm flipV="1">
            <a:off x="7518654" y="2002536"/>
            <a:ext cx="646938" cy="561985"/>
          </a:xfrm>
          <a:prstGeom prst="line">
            <a:avLst/>
          </a:prstGeom>
          <a:noFill/>
          <a:ln w="9525">
            <a:solidFill>
              <a:srgbClr val="3A9CA6"/>
            </a:solidFill>
            <a:prstDash val="solid"/>
          </a:ln>
        </p:spPr>
      </p:sp>
      <p:pic>
        <p:nvPicPr>
          <p:cNvPr id="60" name="Image 3" descr="Inner thigh (hip adductors) (highlighted on a leg outline)">    </p:cNvPr>
          <p:cNvPicPr>
            <a:picLocks noChangeAspect="1"/>
          </p:cNvPicPr>
          <p:nvPr/>
        </p:nvPicPr>
        <p:blipFill>
          <a:blip r:embed="rId4"/>
          <a:stretch>
            <a:fillRect/>
          </a:stretch>
        </p:blipFill>
        <p:spPr>
          <a:xfrm>
            <a:off x="8229600" y="1773936"/>
            <a:ext cx="304800" cy="457200"/>
          </a:xfrm>
          <a:prstGeom prst="rect">
            <a:avLst/>
          </a:prstGeom>
        </p:spPr>
      </p:pic>
      <p:sp>
        <p:nvSpPr>
          <p:cNvPr id="61"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2"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3A9CA6"/>
                </a:solidFill>
              </a:rPr>
              <a:t>−5.4%</a:t>
            </a:r>
            <a:endParaRPr lang="en-US" sz="1300" dirty="0"/>
          </a:p>
        </p:txBody>
      </p:sp>
      <p:sp>
        <p:nvSpPr>
          <p:cNvPr id="63" name="Glutes (hip extensors) leader"/>
          <p:cNvSpPr/>
          <p:nvPr/>
        </p:nvSpPr>
        <p:spPr>
          <a:xfrm flipV="1">
            <a:off x="7518654" y="2496312"/>
            <a:ext cx="646938" cy="222847"/>
          </a:xfrm>
          <a:prstGeom prst="line">
            <a:avLst/>
          </a:prstGeom>
          <a:noFill/>
          <a:ln w="9525">
            <a:solidFill>
              <a:srgbClr val="9C6B98"/>
            </a:solidFill>
            <a:prstDash val="solid"/>
          </a:ln>
        </p:spPr>
      </p:sp>
      <p:pic>
        <p:nvPicPr>
          <p:cNvPr id="64" name="Image 4" descr="Glutes (hip extensors) (highlighted on a leg outline)">    </p:cNvPr>
          <p:cNvPicPr>
            <a:picLocks noChangeAspect="1"/>
          </p:cNvPicPr>
          <p:nvPr/>
        </p:nvPicPr>
        <p:blipFill>
          <a:blip r:embed="rId5"/>
          <a:stretch>
            <a:fillRect/>
          </a:stretch>
        </p:blipFill>
        <p:spPr>
          <a:xfrm>
            <a:off x="8229600" y="2267712"/>
            <a:ext cx="304800" cy="457200"/>
          </a:xfrm>
          <a:prstGeom prst="rect">
            <a:avLst/>
          </a:prstGeom>
        </p:spPr>
      </p:pic>
      <p:sp>
        <p:nvSpPr>
          <p:cNvPr id="65"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6"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9C6B98"/>
                </a:solidFill>
              </a:rPr>
              <a:t>−6.1%</a:t>
            </a:r>
            <a:endParaRPr lang="en-US" sz="1300" dirty="0"/>
          </a:p>
        </p:txBody>
      </p:sp>
      <p:sp>
        <p:nvSpPr>
          <p:cNvPr id="67" name="Hip flexors leader"/>
          <p:cNvSpPr/>
          <p:nvPr/>
        </p:nvSpPr>
        <p:spPr>
          <a:xfrm>
            <a:off x="7518654" y="2873796"/>
            <a:ext cx="646938" cy="116292"/>
          </a:xfrm>
          <a:prstGeom prst="line">
            <a:avLst/>
          </a:prstGeom>
          <a:noFill/>
          <a:ln w="9525">
            <a:solidFill>
              <a:srgbClr val="6A994E"/>
            </a:solidFill>
            <a:prstDash val="solid"/>
          </a:ln>
        </p:spPr>
      </p:sp>
      <p:pic>
        <p:nvPicPr>
          <p:cNvPr id="68" name="Image 5" descr="Hip flexors (highlighted on a leg outline)">    </p:cNvPr>
          <p:cNvPicPr>
            <a:picLocks noChangeAspect="1"/>
          </p:cNvPicPr>
          <p:nvPr/>
        </p:nvPicPr>
        <p:blipFill>
          <a:blip r:embed="rId6"/>
          <a:stretch>
            <a:fillRect/>
          </a:stretch>
        </p:blipFill>
        <p:spPr>
          <a:xfrm>
            <a:off x="8229600" y="2761488"/>
            <a:ext cx="304800" cy="457200"/>
          </a:xfrm>
          <a:prstGeom prst="rect">
            <a:avLst/>
          </a:prstGeom>
        </p:spPr>
      </p:pic>
      <p:sp>
        <p:nvSpPr>
          <p:cNvPr id="69"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70"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6A994E"/>
                </a:solidFill>
              </a:rPr>
              <a:t>−6.8%</a:t>
            </a:r>
            <a:endParaRPr lang="en-US" sz="1300" dirty="0"/>
          </a:p>
        </p:txBody>
      </p:sp>
      <p:sp>
        <p:nvSpPr>
          <p:cNvPr id="71" name="Outer hip (hip abductors) leader"/>
          <p:cNvSpPr/>
          <p:nvPr/>
        </p:nvSpPr>
        <p:spPr>
          <a:xfrm>
            <a:off x="7518654" y="3381892"/>
            <a:ext cx="646938" cy="101972"/>
          </a:xfrm>
          <a:prstGeom prst="line">
            <a:avLst/>
          </a:prstGeom>
          <a:noFill/>
          <a:ln w="9525">
            <a:solidFill>
              <a:srgbClr val="7B6FC4"/>
            </a:solidFill>
            <a:prstDash val="solid"/>
          </a:ln>
        </p:spPr>
      </p:sp>
      <p:pic>
        <p:nvPicPr>
          <p:cNvPr id="72" name="Image 6" descr="Outer hip (hip abductors) (highlighted on a leg outline)">    </p:cNvPr>
          <p:cNvPicPr>
            <a:picLocks noChangeAspect="1"/>
          </p:cNvPicPr>
          <p:nvPr/>
        </p:nvPicPr>
        <p:blipFill>
          <a:blip r:embed="rId7"/>
          <a:stretch>
            <a:fillRect/>
          </a:stretch>
        </p:blipFill>
        <p:spPr>
          <a:xfrm>
            <a:off x="8229600" y="3255264"/>
            <a:ext cx="304800" cy="457200"/>
          </a:xfrm>
          <a:prstGeom prst="rect">
            <a:avLst/>
          </a:prstGeom>
        </p:spPr>
      </p:pic>
      <p:sp>
        <p:nvSpPr>
          <p:cNvPr id="73"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4"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FC4"/>
                </a:solidFill>
              </a:rPr>
              <a:t>−9.1%</a:t>
            </a:r>
            <a:endParaRPr lang="en-US" sz="1300" dirty="0"/>
          </a:p>
        </p:txBody>
      </p:sp>
      <p:sp>
        <p:nvSpPr>
          <p:cNvPr id="75" name="Back thigh (knee flexors) leader"/>
          <p:cNvSpPr/>
          <p:nvPr/>
        </p:nvSpPr>
        <p:spPr>
          <a:xfrm>
            <a:off x="7518654" y="3536530"/>
            <a:ext cx="646938" cy="441110"/>
          </a:xfrm>
          <a:prstGeom prst="line">
            <a:avLst/>
          </a:prstGeom>
          <a:noFill/>
          <a:ln w="9525">
            <a:solidFill>
              <a:srgbClr val="4F86C6"/>
            </a:solidFill>
            <a:prstDash val="solid"/>
          </a:ln>
        </p:spPr>
      </p:sp>
      <p:pic>
        <p:nvPicPr>
          <p:cNvPr id="76" name="Image 7" descr="Back thigh (knee flexors) (highlighted on a leg outline)">    </p:cNvPr>
          <p:cNvPicPr>
            <a:picLocks noChangeAspect="1"/>
          </p:cNvPicPr>
          <p:nvPr/>
        </p:nvPicPr>
        <p:blipFill>
          <a:blip r:embed="rId8"/>
          <a:stretch>
            <a:fillRect/>
          </a:stretch>
        </p:blipFill>
        <p:spPr>
          <a:xfrm>
            <a:off x="8229600" y="3749040"/>
            <a:ext cx="304800" cy="457200"/>
          </a:xfrm>
          <a:prstGeom prst="rect">
            <a:avLst/>
          </a:prstGeom>
        </p:spPr>
      </p:pic>
      <p:sp>
        <p:nvSpPr>
          <p:cNvPr id="77"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8"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F86C6"/>
                </a:solidFill>
              </a:rPr>
              <a:t>−9.8%</a:t>
            </a:r>
            <a:endParaRPr lang="en-US" sz="1300" dirty="0"/>
          </a:p>
        </p:txBody>
      </p:sp>
      <p:sp>
        <p:nvSpPr>
          <p:cNvPr id="79" name="Front thigh (knee extensors) leader"/>
          <p:cNvSpPr/>
          <p:nvPr/>
        </p:nvSpPr>
        <p:spPr>
          <a:xfrm>
            <a:off x="7518654" y="3602804"/>
            <a:ext cx="646938" cy="868612"/>
          </a:xfrm>
          <a:prstGeom prst="line">
            <a:avLst/>
          </a:prstGeom>
          <a:noFill/>
          <a:ln w="9525">
            <a:solidFill>
              <a:srgbClr val="0B2545"/>
            </a:solidFill>
            <a:prstDash val="solid"/>
          </a:ln>
        </p:spPr>
      </p:sp>
      <p:pic>
        <p:nvPicPr>
          <p:cNvPr id="80" name="Image 8" descr="Front thigh (knee extensors) (highlighted on a leg outline)">    </p:cNvPr>
          <p:cNvPicPr>
            <a:picLocks noChangeAspect="1"/>
          </p:cNvPicPr>
          <p:nvPr/>
        </p:nvPicPr>
        <p:blipFill>
          <a:blip r:embed="rId9"/>
          <a:stretch>
            <a:fillRect/>
          </a:stretch>
        </p:blipFill>
        <p:spPr>
          <a:xfrm>
            <a:off x="8229600" y="4242816"/>
            <a:ext cx="304800" cy="457200"/>
          </a:xfrm>
          <a:prstGeom prst="rect">
            <a:avLst/>
          </a:prstGeom>
        </p:spPr>
      </p:pic>
      <p:sp>
        <p:nvSpPr>
          <p:cNvPr id="81"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2"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0B2545"/>
                </a:solidFill>
              </a:rPr>
              <a:t>−10.1%</a:t>
            </a:r>
            <a:endParaRPr lang="en-US" sz="1300" dirty="0"/>
          </a:p>
        </p:txBody>
      </p:sp>
      <p:sp>
        <p:nvSpPr>
          <p:cNvPr id="83" name="Shin (dorsiflexors) leader"/>
          <p:cNvSpPr/>
          <p:nvPr/>
        </p:nvSpPr>
        <p:spPr>
          <a:xfrm>
            <a:off x="7518654" y="3624895"/>
            <a:ext cx="646938" cy="1340297"/>
          </a:xfrm>
          <a:prstGeom prst="line">
            <a:avLst/>
          </a:prstGeom>
          <a:noFill/>
          <a:ln w="9525">
            <a:solidFill>
              <a:srgbClr val="E0A030"/>
            </a:solidFill>
            <a:prstDash val="solid"/>
          </a:ln>
        </p:spPr>
      </p:sp>
      <p:pic>
        <p:nvPicPr>
          <p:cNvPr id="84" name="Image 9" descr="Shin (dorsiflexors) (highlighted on a leg outline)">    </p:cNvPr>
          <p:cNvPicPr>
            <a:picLocks noChangeAspect="1"/>
          </p:cNvPicPr>
          <p:nvPr/>
        </p:nvPicPr>
        <p:blipFill>
          <a:blip r:embed="rId10"/>
          <a:stretch>
            <a:fillRect/>
          </a:stretch>
        </p:blipFill>
        <p:spPr>
          <a:xfrm>
            <a:off x="8229600" y="4736592"/>
            <a:ext cx="304800" cy="457200"/>
          </a:xfrm>
          <a:prstGeom prst="rect">
            <a:avLst/>
          </a:prstGeom>
        </p:spPr>
      </p:pic>
      <p:sp>
        <p:nvSpPr>
          <p:cNvPr id="85"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6"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E0A030"/>
                </a:solidFill>
              </a:rPr>
              <a:t>−10.2%</a:t>
            </a:r>
            <a:endParaRPr lang="en-US" sz="1300" dirty="0"/>
          </a:p>
        </p:txBody>
      </p:sp>
      <p:sp>
        <p:nvSpPr>
          <p:cNvPr id="87" name="Calf (plantar flexors) leader"/>
          <p:cNvSpPr/>
          <p:nvPr/>
        </p:nvSpPr>
        <p:spPr>
          <a:xfrm>
            <a:off x="7518654" y="4861998"/>
            <a:ext cx="646938" cy="596970"/>
          </a:xfrm>
          <a:prstGeom prst="line">
            <a:avLst/>
          </a:prstGeom>
          <a:noFill/>
          <a:ln w="9525">
            <a:solidFill>
              <a:srgbClr val="C1440E"/>
            </a:solidFill>
            <a:prstDash val="solid"/>
          </a:ln>
        </p:spPr>
      </p:sp>
      <p:pic>
        <p:nvPicPr>
          <p:cNvPr id="88" name="Image 10" descr="Calf (plantar flexors) (highlighted on a leg outline)">    </p:cNvPr>
          <p:cNvPicPr>
            <a:picLocks noChangeAspect="1"/>
          </p:cNvPicPr>
          <p:nvPr/>
        </p:nvPicPr>
        <p:blipFill>
          <a:blip r:embed="rId11"/>
          <a:stretch>
            <a:fillRect/>
          </a:stretch>
        </p:blipFill>
        <p:spPr>
          <a:xfrm>
            <a:off x="8229600" y="5230368"/>
            <a:ext cx="304800" cy="457200"/>
          </a:xfrm>
          <a:prstGeom prst="rect">
            <a:avLst/>
          </a:prstGeom>
        </p:spPr>
      </p:pic>
      <p:sp>
        <p:nvSpPr>
          <p:cNvPr id="89"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90"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C1440E"/>
                </a:solidFill>
              </a:rPr>
              <a:t>−15.8%</a:t>
            </a:r>
            <a:endParaRPr lang="en-US" sz="1300" dirty="0"/>
          </a:p>
        </p:txBody>
      </p:sp>
      <p:sp>
        <p:nvSpPr>
          <p:cNvPr id="91"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Figure 7. Change in muscle size by muscle group: one shared time course (τ = 60 days) scaled to each group's day-60 estimate;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30968" y="6382512"/>
            <a:ext cx="219456" cy="219456"/>
          </a:xfrm>
          <a:prstGeom prst="ellipse">
            <a:avLst/>
          </a:prstGeom>
          <a:solidFill>
            <a:schemeClr val="accent1"/>
          </a:solidFill>
          <a:ln w="9525">
            <a:solidFill>
              <a:srgbClr val="C1440E"/>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leave-one-campaign-out validation</a:t>
            </a:r>
            <a:endParaRPr lang="en-US" sz="2800" dirty="0"/>
          </a:p>
        </p:txBody>
      </p:sp>
      <p:sp>
        <p:nvSpPr>
          <p:cNvPr id="13" name="Input box"/>
          <p:cNvSpPr/>
          <p:nvPr/>
        </p:nvSpPr>
        <p:spPr>
          <a:xfrm>
            <a:off x="548640" y="1325880"/>
            <a:ext cx="4206240" cy="2514600"/>
          </a:xfrm>
          <a:prstGeom prst="rect">
            <a:avLst/>
          </a:prstGeom>
          <a:solidFill>
            <a:schemeClr val="bg1"/>
          </a:solidFill>
          <a:ln w="12700">
            <a:solidFill>
              <a:srgbClr val="98A6B5"/>
            </a:solidFill>
            <a:prstDash val="solid"/>
          </a:ln>
        </p:spPr>
      </p:sp>
      <p:sp>
        <p:nvSpPr>
          <p:cNvPr id="14"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5" name="Arrow input to model"/>
          <p:cNvSpPr/>
          <p:nvPr/>
        </p:nvSpPr>
        <p:spPr>
          <a:xfrm>
            <a:off x="4800600" y="2583180"/>
            <a:ext cx="457200" cy="0"/>
          </a:xfrm>
          <a:prstGeom prst="line">
            <a:avLst/>
          </a:prstGeom>
          <a:noFill/>
          <a:ln w="15875">
            <a:solidFill>
              <a:srgbClr val="1B2533"/>
            </a:solidFill>
            <a:prstDash val="solid"/>
            <a:tailEnd type="triangle"/>
          </a:ln>
        </p:spPr>
      </p:sp>
      <p:sp>
        <p:nvSpPr>
          <p:cNvPr id="16" name="Model box"/>
          <p:cNvSpPr/>
          <p:nvPr/>
        </p:nvSpPr>
        <p:spPr>
          <a:xfrm>
            <a:off x="5303520" y="1325880"/>
            <a:ext cx="3108960" cy="2514600"/>
          </a:xfrm>
          <a:prstGeom prst="rect">
            <a:avLst/>
          </a:prstGeom>
          <a:solidFill>
            <a:schemeClr val="bg1"/>
          </a:solidFill>
          <a:ln w="12700">
            <a:solidFill>
              <a:srgbClr val="98A6B5"/>
            </a:solidFill>
            <a:prstDash val="solid"/>
          </a:ln>
        </p:spPr>
      </p:sp>
      <p:sp>
        <p:nvSpPr>
          <p:cNvPr id="17"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classifier: returns a probability per range</a:t>
            </a:r>
            <a:endParaRPr lang="en-US" sz="1600" dirty="0"/>
          </a:p>
        </p:txBody>
      </p:sp>
      <p:sp>
        <p:nvSpPr>
          <p:cNvPr id="18" name="Arrow model to output"/>
          <p:cNvSpPr/>
          <p:nvPr/>
        </p:nvSpPr>
        <p:spPr>
          <a:xfrm>
            <a:off x="8458200" y="2583180"/>
            <a:ext cx="457200" cy="0"/>
          </a:xfrm>
          <a:prstGeom prst="line">
            <a:avLst/>
          </a:prstGeom>
          <a:noFill/>
          <a:ln w="15875">
            <a:solidFill>
              <a:srgbClr val="1B2533"/>
            </a:solidFill>
            <a:prstDash val="solid"/>
            <a:tailEnd type="triangle"/>
          </a:ln>
        </p:spPr>
      </p:sp>
      <p:sp>
        <p:nvSpPr>
          <p:cNvPr id="19" name="Output box"/>
          <p:cNvSpPr/>
          <p:nvPr/>
        </p:nvSpPr>
        <p:spPr>
          <a:xfrm>
            <a:off x="8961120" y="1325880"/>
            <a:ext cx="2679192" cy="2514600"/>
          </a:xfrm>
          <a:prstGeom prst="rect">
            <a:avLst/>
          </a:prstGeom>
          <a:solidFill>
            <a:schemeClr val="bg1"/>
          </a:solidFill>
          <a:ln w="12700">
            <a:solidFill>
              <a:srgbClr val="98A6B5"/>
            </a:solidFill>
            <a:prstDash val="solid"/>
          </a:ln>
        </p:spPr>
      </p:sp>
      <p:sp>
        <p:nvSpPr>
          <p:cNvPr id="20"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21" name="Text 17"/>
          <p:cNvSpPr txBox="1"/>
          <p:nvPr/>
        </p:nvSpPr>
        <p:spPr>
          <a:xfrm>
            <a:off x="548640" y="4023360"/>
            <a:ext cx="9144000" cy="274320"/>
          </a:xfrm>
          <a:prstGeom prst="rect">
            <a:avLst/>
          </a:prstGeom>
          <a:noFill/>
          <a:ln/>
        </p:spPr>
        <p:txBody>
          <a:bodyPr wrap="square" lIns="0" tIns="0" rIns="0" bIns="0" rtlCol="0" anchor="t"/>
          <a:lstStyle/>
          <a:p>
            <a:pPr indent="0" marL="0">
              <a:buNone/>
            </a:pPr>
            <a:r>
              <a:rPr lang="en-US" sz="1500" b="1" dirty="0">
                <a:solidFill>
                  <a:schemeClr val="tx2"/>
                </a:solidFill>
              </a:rPr>
              <a:t>Figure 8. Testing: hold out one campaign, train on the rest, repeat 32 times</a:t>
            </a:r>
            <a:endParaRPr lang="en-US" sz="1500" dirty="0"/>
          </a:p>
        </p:txBody>
      </p:sp>
      <p:sp>
        <p:nvSpPr>
          <p:cNvPr id="22" name="Training campaign 1"/>
          <p:cNvSpPr/>
          <p:nvPr/>
        </p:nvSpPr>
        <p:spPr>
          <a:xfrm>
            <a:off x="548640" y="4343400"/>
            <a:ext cx="246888" cy="246888"/>
          </a:xfrm>
          <a:prstGeom prst="rect">
            <a:avLst/>
          </a:prstGeom>
          <a:solidFill>
            <a:schemeClr val="accent6"/>
          </a:solidFill>
          <a:ln w="6350">
            <a:solidFill>
              <a:srgbClr val="98A6B5"/>
            </a:solidFill>
            <a:prstDash val="solid"/>
          </a:ln>
        </p:spPr>
      </p:sp>
      <p:sp>
        <p:nvSpPr>
          <p:cNvPr id="23" name="Training campaign 2"/>
          <p:cNvSpPr/>
          <p:nvPr/>
        </p:nvSpPr>
        <p:spPr>
          <a:xfrm>
            <a:off x="841248" y="4343400"/>
            <a:ext cx="246888" cy="246888"/>
          </a:xfrm>
          <a:prstGeom prst="rect">
            <a:avLst/>
          </a:prstGeom>
          <a:solidFill>
            <a:schemeClr val="accent6"/>
          </a:solidFill>
          <a:ln w="6350">
            <a:solidFill>
              <a:srgbClr val="98A6B5"/>
            </a:solidFill>
            <a:prstDash val="solid"/>
          </a:ln>
        </p:spPr>
      </p:sp>
      <p:sp>
        <p:nvSpPr>
          <p:cNvPr id="24" name="Training campaign 3"/>
          <p:cNvSpPr/>
          <p:nvPr/>
        </p:nvSpPr>
        <p:spPr>
          <a:xfrm>
            <a:off x="1133856" y="4343400"/>
            <a:ext cx="246888" cy="246888"/>
          </a:xfrm>
          <a:prstGeom prst="rect">
            <a:avLst/>
          </a:prstGeom>
          <a:solidFill>
            <a:schemeClr val="accent6"/>
          </a:solidFill>
          <a:ln w="6350">
            <a:solidFill>
              <a:srgbClr val="98A6B5"/>
            </a:solidFill>
            <a:prstDash val="solid"/>
          </a:ln>
        </p:spPr>
      </p:sp>
      <p:sp>
        <p:nvSpPr>
          <p:cNvPr id="25" name="Training campaign 4"/>
          <p:cNvSpPr/>
          <p:nvPr/>
        </p:nvSpPr>
        <p:spPr>
          <a:xfrm>
            <a:off x="1426464" y="4343400"/>
            <a:ext cx="246888" cy="246888"/>
          </a:xfrm>
          <a:prstGeom prst="rect">
            <a:avLst/>
          </a:prstGeom>
          <a:solidFill>
            <a:schemeClr val="accent6"/>
          </a:solidFill>
          <a:ln w="6350">
            <a:solidFill>
              <a:srgbClr val="98A6B5"/>
            </a:solidFill>
            <a:prstDash val="solid"/>
          </a:ln>
        </p:spPr>
      </p:sp>
      <p:sp>
        <p:nvSpPr>
          <p:cNvPr id="26" name="Training campaign 5"/>
          <p:cNvSpPr/>
          <p:nvPr/>
        </p:nvSpPr>
        <p:spPr>
          <a:xfrm>
            <a:off x="1719072" y="4343400"/>
            <a:ext cx="246888" cy="246888"/>
          </a:xfrm>
          <a:prstGeom prst="rect">
            <a:avLst/>
          </a:prstGeom>
          <a:solidFill>
            <a:schemeClr val="accent6"/>
          </a:solidFill>
          <a:ln w="6350">
            <a:solidFill>
              <a:srgbClr val="98A6B5"/>
            </a:solidFill>
            <a:prstDash val="solid"/>
          </a:ln>
        </p:spPr>
      </p:sp>
      <p:sp>
        <p:nvSpPr>
          <p:cNvPr id="27" name="Training campaign 6"/>
          <p:cNvSpPr/>
          <p:nvPr/>
        </p:nvSpPr>
        <p:spPr>
          <a:xfrm>
            <a:off x="2011680" y="4343400"/>
            <a:ext cx="246888" cy="246888"/>
          </a:xfrm>
          <a:prstGeom prst="rect">
            <a:avLst/>
          </a:prstGeom>
          <a:solidFill>
            <a:schemeClr val="accent6"/>
          </a:solidFill>
          <a:ln w="6350">
            <a:solidFill>
              <a:srgbClr val="98A6B5"/>
            </a:solidFill>
            <a:prstDash val="solid"/>
          </a:ln>
        </p:spPr>
      </p:sp>
      <p:sp>
        <p:nvSpPr>
          <p:cNvPr id="28" name="Training campaign 7"/>
          <p:cNvSpPr/>
          <p:nvPr/>
        </p:nvSpPr>
        <p:spPr>
          <a:xfrm>
            <a:off x="2304288" y="4343400"/>
            <a:ext cx="246888" cy="246888"/>
          </a:xfrm>
          <a:prstGeom prst="rect">
            <a:avLst/>
          </a:prstGeom>
          <a:solidFill>
            <a:schemeClr val="accent6"/>
          </a:solidFill>
          <a:ln w="6350">
            <a:solidFill>
              <a:srgbClr val="98A6B5"/>
            </a:solidFill>
            <a:prstDash val="solid"/>
          </a:ln>
        </p:spPr>
      </p:sp>
      <p:sp>
        <p:nvSpPr>
          <p:cNvPr id="29" name="Training campaign 8"/>
          <p:cNvSpPr/>
          <p:nvPr/>
        </p:nvSpPr>
        <p:spPr>
          <a:xfrm>
            <a:off x="2596896" y="4343400"/>
            <a:ext cx="246888" cy="246888"/>
          </a:xfrm>
          <a:prstGeom prst="rect">
            <a:avLst/>
          </a:prstGeom>
          <a:solidFill>
            <a:schemeClr val="accent6"/>
          </a:solidFill>
          <a:ln w="6350">
            <a:solidFill>
              <a:srgbClr val="98A6B5"/>
            </a:solidFill>
            <a:prstDash val="solid"/>
          </a:ln>
        </p:spPr>
      </p:sp>
      <p:sp>
        <p:nvSpPr>
          <p:cNvPr id="30" name="Training campaign 9"/>
          <p:cNvSpPr/>
          <p:nvPr/>
        </p:nvSpPr>
        <p:spPr>
          <a:xfrm>
            <a:off x="2889504" y="4343400"/>
            <a:ext cx="246888" cy="246888"/>
          </a:xfrm>
          <a:prstGeom prst="rect">
            <a:avLst/>
          </a:prstGeom>
          <a:solidFill>
            <a:schemeClr val="accent6"/>
          </a:solidFill>
          <a:ln w="6350">
            <a:solidFill>
              <a:srgbClr val="98A6B5"/>
            </a:solidFill>
            <a:prstDash val="solid"/>
          </a:ln>
        </p:spPr>
      </p:sp>
      <p:sp>
        <p:nvSpPr>
          <p:cNvPr id="31" name="Training campaign 10"/>
          <p:cNvSpPr/>
          <p:nvPr/>
        </p:nvSpPr>
        <p:spPr>
          <a:xfrm>
            <a:off x="3182112" y="4343400"/>
            <a:ext cx="246888" cy="246888"/>
          </a:xfrm>
          <a:prstGeom prst="rect">
            <a:avLst/>
          </a:prstGeom>
          <a:solidFill>
            <a:schemeClr val="accent6"/>
          </a:solidFill>
          <a:ln w="6350">
            <a:solidFill>
              <a:srgbClr val="98A6B5"/>
            </a:solidFill>
            <a:prstDash val="solid"/>
          </a:ln>
        </p:spPr>
      </p:sp>
      <p:sp>
        <p:nvSpPr>
          <p:cNvPr id="32" name="Training campaign 11"/>
          <p:cNvSpPr/>
          <p:nvPr/>
        </p:nvSpPr>
        <p:spPr>
          <a:xfrm>
            <a:off x="3474720" y="4343400"/>
            <a:ext cx="246888" cy="246888"/>
          </a:xfrm>
          <a:prstGeom prst="rect">
            <a:avLst/>
          </a:prstGeom>
          <a:solidFill>
            <a:schemeClr val="accent6"/>
          </a:solidFill>
          <a:ln w="6350">
            <a:solidFill>
              <a:srgbClr val="98A6B5"/>
            </a:solidFill>
            <a:prstDash val="solid"/>
          </a:ln>
        </p:spPr>
      </p:sp>
      <p:sp>
        <p:nvSpPr>
          <p:cNvPr id="33" name="Training campaign 12"/>
          <p:cNvSpPr/>
          <p:nvPr/>
        </p:nvSpPr>
        <p:spPr>
          <a:xfrm>
            <a:off x="3767328" y="4343400"/>
            <a:ext cx="246888" cy="246888"/>
          </a:xfrm>
          <a:prstGeom prst="rect">
            <a:avLst/>
          </a:prstGeom>
          <a:solidFill>
            <a:schemeClr val="accent6"/>
          </a:solidFill>
          <a:ln w="6350">
            <a:solidFill>
              <a:srgbClr val="98A6B5"/>
            </a:solidFill>
            <a:prstDash val="solid"/>
          </a:ln>
        </p:spPr>
      </p:sp>
      <p:sp>
        <p:nvSpPr>
          <p:cNvPr id="34" name="Training campaign 13"/>
          <p:cNvSpPr/>
          <p:nvPr/>
        </p:nvSpPr>
        <p:spPr>
          <a:xfrm>
            <a:off x="4059936" y="4343400"/>
            <a:ext cx="246888" cy="246888"/>
          </a:xfrm>
          <a:prstGeom prst="rect">
            <a:avLst/>
          </a:prstGeom>
          <a:solidFill>
            <a:schemeClr val="accent6"/>
          </a:solidFill>
          <a:ln w="6350">
            <a:solidFill>
              <a:srgbClr val="98A6B5"/>
            </a:solidFill>
            <a:prstDash val="solid"/>
          </a:ln>
        </p:spPr>
      </p:sp>
      <p:sp>
        <p:nvSpPr>
          <p:cNvPr id="35" name="Test campaign"/>
          <p:cNvSpPr/>
          <p:nvPr/>
        </p:nvSpPr>
        <p:spPr>
          <a:xfrm>
            <a:off x="4352544" y="4343400"/>
            <a:ext cx="246888" cy="246888"/>
          </a:xfrm>
          <a:prstGeom prst="rect">
            <a:avLst/>
          </a:prstGeom>
          <a:solidFill>
            <a:schemeClr val="accent1"/>
          </a:solidFill>
          <a:ln w="6350">
            <a:solidFill>
              <a:srgbClr val="C1440E"/>
            </a:solidFill>
            <a:prstDash val="solid"/>
          </a:ln>
        </p:spPr>
      </p:sp>
      <p:sp>
        <p:nvSpPr>
          <p:cNvPr id="36" name="Training campaign 15"/>
          <p:cNvSpPr/>
          <p:nvPr/>
        </p:nvSpPr>
        <p:spPr>
          <a:xfrm>
            <a:off x="4645152" y="4343400"/>
            <a:ext cx="246888" cy="246888"/>
          </a:xfrm>
          <a:prstGeom prst="rect">
            <a:avLst/>
          </a:prstGeom>
          <a:solidFill>
            <a:schemeClr val="accent6"/>
          </a:solidFill>
          <a:ln w="6350">
            <a:solidFill>
              <a:srgbClr val="98A6B5"/>
            </a:solidFill>
            <a:prstDash val="solid"/>
          </a:ln>
        </p:spPr>
      </p:sp>
      <p:sp>
        <p:nvSpPr>
          <p:cNvPr id="37" name="Training campaign 16"/>
          <p:cNvSpPr/>
          <p:nvPr/>
        </p:nvSpPr>
        <p:spPr>
          <a:xfrm>
            <a:off x="4937760" y="4343400"/>
            <a:ext cx="246888" cy="246888"/>
          </a:xfrm>
          <a:prstGeom prst="rect">
            <a:avLst/>
          </a:prstGeom>
          <a:solidFill>
            <a:schemeClr val="accent6"/>
          </a:solidFill>
          <a:ln w="6350">
            <a:solidFill>
              <a:srgbClr val="98A6B5"/>
            </a:solidFill>
            <a:prstDash val="solid"/>
          </a:ln>
        </p:spPr>
      </p:sp>
      <p:sp>
        <p:nvSpPr>
          <p:cNvPr id="38" name="Training campaign 17"/>
          <p:cNvSpPr/>
          <p:nvPr/>
        </p:nvSpPr>
        <p:spPr>
          <a:xfrm>
            <a:off x="5230368" y="4343400"/>
            <a:ext cx="246888" cy="246888"/>
          </a:xfrm>
          <a:prstGeom prst="rect">
            <a:avLst/>
          </a:prstGeom>
          <a:solidFill>
            <a:schemeClr val="accent6"/>
          </a:solidFill>
          <a:ln w="6350">
            <a:solidFill>
              <a:srgbClr val="98A6B5"/>
            </a:solidFill>
            <a:prstDash val="solid"/>
          </a:ln>
        </p:spPr>
      </p:sp>
      <p:sp>
        <p:nvSpPr>
          <p:cNvPr id="39" name="Training campaign 18"/>
          <p:cNvSpPr/>
          <p:nvPr/>
        </p:nvSpPr>
        <p:spPr>
          <a:xfrm>
            <a:off x="5522976" y="4343400"/>
            <a:ext cx="246888" cy="246888"/>
          </a:xfrm>
          <a:prstGeom prst="rect">
            <a:avLst/>
          </a:prstGeom>
          <a:solidFill>
            <a:schemeClr val="accent6"/>
          </a:solidFill>
          <a:ln w="6350">
            <a:solidFill>
              <a:srgbClr val="98A6B5"/>
            </a:solidFill>
            <a:prstDash val="solid"/>
          </a:ln>
        </p:spPr>
      </p:sp>
      <p:sp>
        <p:nvSpPr>
          <p:cNvPr id="40" name="Training campaign 19"/>
          <p:cNvSpPr/>
          <p:nvPr/>
        </p:nvSpPr>
        <p:spPr>
          <a:xfrm>
            <a:off x="5815584" y="4343400"/>
            <a:ext cx="246888" cy="246888"/>
          </a:xfrm>
          <a:prstGeom prst="rect">
            <a:avLst/>
          </a:prstGeom>
          <a:solidFill>
            <a:schemeClr val="accent6"/>
          </a:solidFill>
          <a:ln w="6350">
            <a:solidFill>
              <a:srgbClr val="98A6B5"/>
            </a:solidFill>
            <a:prstDash val="solid"/>
          </a:ln>
        </p:spPr>
      </p:sp>
      <p:sp>
        <p:nvSpPr>
          <p:cNvPr id="41" name="Training campaign 20"/>
          <p:cNvSpPr/>
          <p:nvPr/>
        </p:nvSpPr>
        <p:spPr>
          <a:xfrm>
            <a:off x="6108192" y="4343400"/>
            <a:ext cx="246888" cy="246888"/>
          </a:xfrm>
          <a:prstGeom prst="rect">
            <a:avLst/>
          </a:prstGeom>
          <a:solidFill>
            <a:schemeClr val="accent6"/>
          </a:solidFill>
          <a:ln w="6350">
            <a:solidFill>
              <a:srgbClr val="98A6B5"/>
            </a:solidFill>
            <a:prstDash val="solid"/>
          </a:ln>
        </p:spPr>
      </p:sp>
      <p:sp>
        <p:nvSpPr>
          <p:cNvPr id="42" name="Training campaign 21"/>
          <p:cNvSpPr/>
          <p:nvPr/>
        </p:nvSpPr>
        <p:spPr>
          <a:xfrm>
            <a:off x="6400800" y="4343400"/>
            <a:ext cx="246888" cy="246888"/>
          </a:xfrm>
          <a:prstGeom prst="rect">
            <a:avLst/>
          </a:prstGeom>
          <a:solidFill>
            <a:schemeClr val="accent6"/>
          </a:solidFill>
          <a:ln w="6350">
            <a:solidFill>
              <a:srgbClr val="98A6B5"/>
            </a:solidFill>
            <a:prstDash val="solid"/>
          </a:ln>
        </p:spPr>
      </p:sp>
      <p:sp>
        <p:nvSpPr>
          <p:cNvPr id="43" name="Training campaign 22"/>
          <p:cNvSpPr/>
          <p:nvPr/>
        </p:nvSpPr>
        <p:spPr>
          <a:xfrm>
            <a:off x="6693408" y="4343400"/>
            <a:ext cx="246888" cy="246888"/>
          </a:xfrm>
          <a:prstGeom prst="rect">
            <a:avLst/>
          </a:prstGeom>
          <a:solidFill>
            <a:schemeClr val="accent6"/>
          </a:solidFill>
          <a:ln w="6350">
            <a:solidFill>
              <a:srgbClr val="98A6B5"/>
            </a:solidFill>
            <a:prstDash val="solid"/>
          </a:ln>
        </p:spPr>
      </p:sp>
      <p:sp>
        <p:nvSpPr>
          <p:cNvPr id="44" name="Training campaign 23"/>
          <p:cNvSpPr/>
          <p:nvPr/>
        </p:nvSpPr>
        <p:spPr>
          <a:xfrm>
            <a:off x="6986016" y="4343400"/>
            <a:ext cx="246888" cy="246888"/>
          </a:xfrm>
          <a:prstGeom prst="rect">
            <a:avLst/>
          </a:prstGeom>
          <a:solidFill>
            <a:schemeClr val="accent6"/>
          </a:solidFill>
          <a:ln w="6350">
            <a:solidFill>
              <a:srgbClr val="98A6B5"/>
            </a:solidFill>
            <a:prstDash val="solid"/>
          </a:ln>
        </p:spPr>
      </p:sp>
      <p:sp>
        <p:nvSpPr>
          <p:cNvPr id="45" name="Training campaign 24"/>
          <p:cNvSpPr/>
          <p:nvPr/>
        </p:nvSpPr>
        <p:spPr>
          <a:xfrm>
            <a:off x="7278624" y="4343400"/>
            <a:ext cx="246888" cy="246888"/>
          </a:xfrm>
          <a:prstGeom prst="rect">
            <a:avLst/>
          </a:prstGeom>
          <a:solidFill>
            <a:schemeClr val="accent6"/>
          </a:solidFill>
          <a:ln w="6350">
            <a:solidFill>
              <a:srgbClr val="98A6B5"/>
            </a:solidFill>
            <a:prstDash val="solid"/>
          </a:ln>
        </p:spPr>
      </p:sp>
      <p:sp>
        <p:nvSpPr>
          <p:cNvPr id="46" name="Training campaign 25"/>
          <p:cNvSpPr/>
          <p:nvPr/>
        </p:nvSpPr>
        <p:spPr>
          <a:xfrm>
            <a:off x="7571232" y="4343400"/>
            <a:ext cx="246888" cy="246888"/>
          </a:xfrm>
          <a:prstGeom prst="rect">
            <a:avLst/>
          </a:prstGeom>
          <a:solidFill>
            <a:schemeClr val="accent6"/>
          </a:solidFill>
          <a:ln w="6350">
            <a:solidFill>
              <a:srgbClr val="98A6B5"/>
            </a:solidFill>
            <a:prstDash val="solid"/>
          </a:ln>
        </p:spPr>
      </p:sp>
      <p:sp>
        <p:nvSpPr>
          <p:cNvPr id="47" name="Training campaign 26"/>
          <p:cNvSpPr/>
          <p:nvPr/>
        </p:nvSpPr>
        <p:spPr>
          <a:xfrm>
            <a:off x="7863840" y="4343400"/>
            <a:ext cx="246888" cy="246888"/>
          </a:xfrm>
          <a:prstGeom prst="rect">
            <a:avLst/>
          </a:prstGeom>
          <a:solidFill>
            <a:schemeClr val="accent6"/>
          </a:solidFill>
          <a:ln w="6350">
            <a:solidFill>
              <a:srgbClr val="98A6B5"/>
            </a:solidFill>
            <a:prstDash val="solid"/>
          </a:ln>
        </p:spPr>
      </p:sp>
      <p:sp>
        <p:nvSpPr>
          <p:cNvPr id="48" name="Training campaign 27"/>
          <p:cNvSpPr/>
          <p:nvPr/>
        </p:nvSpPr>
        <p:spPr>
          <a:xfrm>
            <a:off x="8156448" y="4343400"/>
            <a:ext cx="246888" cy="246888"/>
          </a:xfrm>
          <a:prstGeom prst="rect">
            <a:avLst/>
          </a:prstGeom>
          <a:solidFill>
            <a:schemeClr val="accent6"/>
          </a:solidFill>
          <a:ln w="6350">
            <a:solidFill>
              <a:srgbClr val="98A6B5"/>
            </a:solidFill>
            <a:prstDash val="solid"/>
          </a:ln>
        </p:spPr>
      </p:sp>
      <p:sp>
        <p:nvSpPr>
          <p:cNvPr id="49" name="Training campaign 28"/>
          <p:cNvSpPr/>
          <p:nvPr/>
        </p:nvSpPr>
        <p:spPr>
          <a:xfrm>
            <a:off x="8449056" y="4343400"/>
            <a:ext cx="246888" cy="246888"/>
          </a:xfrm>
          <a:prstGeom prst="rect">
            <a:avLst/>
          </a:prstGeom>
          <a:solidFill>
            <a:schemeClr val="accent6"/>
          </a:solidFill>
          <a:ln w="6350">
            <a:solidFill>
              <a:srgbClr val="98A6B5"/>
            </a:solidFill>
            <a:prstDash val="solid"/>
          </a:ln>
        </p:spPr>
      </p:sp>
      <p:sp>
        <p:nvSpPr>
          <p:cNvPr id="50" name="Training campaign 29"/>
          <p:cNvSpPr/>
          <p:nvPr/>
        </p:nvSpPr>
        <p:spPr>
          <a:xfrm>
            <a:off x="8741664" y="4343400"/>
            <a:ext cx="246888" cy="246888"/>
          </a:xfrm>
          <a:prstGeom prst="rect">
            <a:avLst/>
          </a:prstGeom>
          <a:solidFill>
            <a:schemeClr val="accent6"/>
          </a:solidFill>
          <a:ln w="6350">
            <a:solidFill>
              <a:srgbClr val="98A6B5"/>
            </a:solidFill>
            <a:prstDash val="solid"/>
          </a:ln>
        </p:spPr>
      </p:sp>
      <p:sp>
        <p:nvSpPr>
          <p:cNvPr id="51" name="Training campaign 30"/>
          <p:cNvSpPr/>
          <p:nvPr/>
        </p:nvSpPr>
        <p:spPr>
          <a:xfrm>
            <a:off x="9034272" y="4343400"/>
            <a:ext cx="246888" cy="246888"/>
          </a:xfrm>
          <a:prstGeom prst="rect">
            <a:avLst/>
          </a:prstGeom>
          <a:solidFill>
            <a:schemeClr val="accent6"/>
          </a:solidFill>
          <a:ln w="6350">
            <a:solidFill>
              <a:srgbClr val="98A6B5"/>
            </a:solidFill>
            <a:prstDash val="solid"/>
          </a:ln>
        </p:spPr>
      </p:sp>
      <p:sp>
        <p:nvSpPr>
          <p:cNvPr id="52" name="Training campaign 31"/>
          <p:cNvSpPr/>
          <p:nvPr/>
        </p:nvSpPr>
        <p:spPr>
          <a:xfrm>
            <a:off x="9326880" y="4343400"/>
            <a:ext cx="246888" cy="246888"/>
          </a:xfrm>
          <a:prstGeom prst="rect">
            <a:avLst/>
          </a:prstGeom>
          <a:solidFill>
            <a:schemeClr val="accent6"/>
          </a:solidFill>
          <a:ln w="6350">
            <a:solidFill>
              <a:srgbClr val="98A6B5"/>
            </a:solidFill>
            <a:prstDash val="solid"/>
          </a:ln>
        </p:spPr>
      </p:sp>
      <p:sp>
        <p:nvSpPr>
          <p:cNvPr id="53" name="Training campaign 32"/>
          <p:cNvSpPr/>
          <p:nvPr/>
        </p:nvSpPr>
        <p:spPr>
          <a:xfrm>
            <a:off x="9619488" y="4343400"/>
            <a:ext cx="246888" cy="246888"/>
          </a:xfrm>
          <a:prstGeom prst="rect">
            <a:avLst/>
          </a:prstGeom>
          <a:solidFill>
            <a:schemeClr val="accent6"/>
          </a:solidFill>
          <a:ln w="6350">
            <a:solidFill>
              <a:srgbClr val="98A6B5"/>
            </a:solidFill>
            <a:prstDash val="solid"/>
          </a:ln>
        </p:spPr>
      </p:sp>
      <p:sp>
        <p:nvSpPr>
          <p:cNvPr id="54"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Orange: the held-out test campaign.</a:t>
            </a:r>
            <a:pPr indent="0" marL="0">
              <a:buNone/>
            </a:pPr>
            <a:r>
              <a:rPr lang="en-US" sz="1400" dirty="0">
                <a:solidFill>
                  <a:schemeClr val="tx1"/>
                </a:solidFill>
              </a:rPr>
              <a:t>  Each campaign is held out once.</a:t>
            </a:r>
            <a:endParaRPr lang="en-US" sz="1400" dirty="0"/>
          </a:p>
        </p:txBody>
      </p:sp>
      <p:sp>
        <p:nvSpPr>
          <p:cNvPr id="55"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LLM-based probabilistic classifier: input and output</a:t>
            </a:r>
            <a:endParaRPr lang="en-US" sz="2800" dirty="0"/>
          </a:p>
        </p:txBody>
      </p:sp>
      <p:sp>
        <p:nvSpPr>
          <p:cNvPr id="13" name="Request box"/>
          <p:cNvSpPr/>
          <p:nvPr/>
        </p:nvSpPr>
        <p:spPr>
          <a:xfrm>
            <a:off x="548640" y="1234440"/>
            <a:ext cx="4846320" cy="4160520"/>
          </a:xfrm>
          <a:prstGeom prst="rect">
            <a:avLst/>
          </a:prstGeom>
          <a:solidFill>
            <a:schemeClr val="bg1"/>
          </a:solidFill>
          <a:ln w="12700">
            <a:solidFill>
              <a:srgbClr val="98A6B5"/>
            </a:solidFill>
            <a:prstDash val="solid"/>
          </a:ln>
        </p:spPr>
      </p:sp>
      <p:sp>
        <p:nvSpPr>
          <p:cNvPr id="14"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5" name="Arrow request to LLM"/>
          <p:cNvSpPr/>
          <p:nvPr/>
        </p:nvSpPr>
        <p:spPr>
          <a:xfrm>
            <a:off x="5486400" y="3383280"/>
            <a:ext cx="457200" cy="0"/>
          </a:xfrm>
          <a:prstGeom prst="line">
            <a:avLst/>
          </a:prstGeom>
          <a:noFill/>
          <a:ln w="15875">
            <a:solidFill>
              <a:srgbClr val="1B2533"/>
            </a:solidFill>
            <a:prstDash val="solid"/>
            <a:tailEnd type="triangle"/>
          </a:ln>
        </p:spPr>
      </p:sp>
      <p:sp>
        <p:nvSpPr>
          <p:cNvPr id="16" name="LLM box"/>
          <p:cNvSpPr/>
          <p:nvPr/>
        </p:nvSpPr>
        <p:spPr>
          <a:xfrm>
            <a:off x="5989320" y="2788920"/>
            <a:ext cx="1234440" cy="1188720"/>
          </a:xfrm>
          <a:prstGeom prst="rect">
            <a:avLst/>
          </a:prstGeom>
          <a:solidFill>
            <a:schemeClr val="bg2"/>
          </a:solidFill>
          <a:ln w="12700">
            <a:solidFill>
              <a:srgbClr val="98A6B5"/>
            </a:solidFill>
            <a:prstDash val="solid"/>
          </a:ln>
        </p:spPr>
      </p:sp>
      <p:sp>
        <p:nvSpPr>
          <p:cNvPr id="17"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400" b="1" dirty="0">
                <a:solidFill>
                  <a:schemeClr val="tx2"/>
                </a:solidFill>
              </a:rPr>
              <a:t>classifier</a:t>
            </a:r>
            <a:endParaRPr lang="en-US" sz="1600" dirty="0"/>
          </a:p>
          <a:p>
            <a:pPr algn="ctr" indent="0" marL="0">
              <a:buNone/>
            </a:pPr>
            <a:r>
              <a:rPr lang="en-US" sz="1100" dirty="0">
                <a:solidFill>
                  <a:schemeClr val="accent3"/>
                </a:solidFill>
              </a:rPr>
              <a:t>fixed version</a:t>
            </a:r>
            <a:endParaRPr lang="en-US" sz="1600" dirty="0"/>
          </a:p>
        </p:txBody>
      </p:sp>
      <p:sp>
        <p:nvSpPr>
          <p:cNvPr id="18" name="Arrow LLM to answer"/>
          <p:cNvSpPr/>
          <p:nvPr/>
        </p:nvSpPr>
        <p:spPr>
          <a:xfrm>
            <a:off x="7269480" y="3383280"/>
            <a:ext cx="457200" cy="0"/>
          </a:xfrm>
          <a:prstGeom prst="line">
            <a:avLst/>
          </a:prstGeom>
          <a:noFill/>
          <a:ln w="15875">
            <a:solidFill>
              <a:srgbClr val="1B2533"/>
            </a:solidFill>
            <a:prstDash val="solid"/>
            <a:tailEnd type="triangle"/>
          </a:ln>
        </p:spPr>
      </p:sp>
      <p:sp>
        <p:nvSpPr>
          <p:cNvPr id="19" name="Text 15"/>
          <p:cNvSpPr txBox="1"/>
          <p:nvPr/>
        </p:nvSpPr>
        <p:spPr>
          <a:xfrm>
            <a:off x="5486400" y="4069080"/>
            <a:ext cx="2240280" cy="1188720"/>
          </a:xfrm>
          <a:prstGeom prst="rect">
            <a:avLst/>
          </a:prstGeom>
          <a:noFill/>
          <a:ln/>
        </p:spPr>
        <p:txBody>
          <a:bodyPr wrap="square" lIns="0" tIns="0" rIns="0" bIns="0" rtlCol="0" anchor="t"/>
          <a:lstStyle/>
          <a:p>
            <a:pPr algn="ctr" indent="0" marL="0">
              <a:buNone/>
            </a:pPr>
            <a:r>
              <a:rPr lang="en-US" sz="1100" i="1" dirty="0">
                <a:solidFill>
                  <a:schemeClr val="accent3"/>
                </a:solidFill>
              </a:rPr>
              <a:t>Not a chat model: it is built for classification and returns only a probability for each listed option, never free text.</a:t>
            </a:r>
            <a:endParaRPr lang="en-US" sz="1100" dirty="0"/>
          </a:p>
        </p:txBody>
      </p:sp>
      <p:graphicFrame>
        <p:nvGraphicFramePr>
          <p:cNvPr id="20"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prediction,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22" name="Text 17"/>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Model comparison on held-out campaigns</a:t>
            </a:r>
            <a:endParaRPr lang="en-US" sz="2800" dirty="0"/>
          </a:p>
        </p:txBody>
      </p:sp>
      <p:graphicFrame>
        <p:nvGraphicFramePr>
          <p:cNvPr id="13"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3"/>
          </a:graphicData>
        </a:graphic>
      </p:graphicFrame>
      <p:graphicFrame>
        <p:nvGraphicFramePr>
          <p:cNvPr id="14"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of the differences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6"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of the LLM prediction</a:t>
            </a:r>
            <a:endParaRPr lang="en-US" sz="2800" dirty="0"/>
          </a:p>
        </p:txBody>
      </p:sp>
      <p:sp>
        <p:nvSpPr>
          <p:cNvPr id="13"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4"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5"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well below the 0.42 pp gain</a:t>
            </a:r>
            <a:endParaRPr lang="en-US" sz="1600" dirty="0"/>
          </a:p>
        </p:txBody>
      </p:sp>
      <p:sp>
        <p:nvSpPr>
          <p:cNvPr id="16"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428732" y="6432804"/>
            <a:ext cx="118872" cy="118872"/>
          </a:xfrm>
          <a:prstGeom prst="ellipse">
            <a:avLst/>
          </a:prstGeom>
          <a:solidFill>
            <a:schemeClr val="tx2"/>
          </a:solidFill>
          <a:ln w="9525">
            <a:solidFill>
              <a:srgbClr val="0B2545"/>
            </a:solidFill>
            <a:prstDash val="solid"/>
          </a:ln>
        </p:spPr>
      </p:sp>
      <p:sp>
        <p:nvSpPr>
          <p:cNvPr id="10" name="Tracker 6 Conclusion"/>
          <p:cNvSpPr/>
          <p:nvPr/>
        </p:nvSpPr>
        <p:spPr>
          <a:xfrm>
            <a:off x="10725912" y="6382512"/>
            <a:ext cx="219456" cy="219456"/>
          </a:xfrm>
          <a:prstGeom prst="ellipse">
            <a:avLst/>
          </a:prstGeom>
          <a:solidFill>
            <a:schemeClr val="accent1"/>
          </a:solidFill>
          <a:ln w="9525">
            <a:solidFill>
              <a:srgbClr val="C1440E"/>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3" name="Text 9"/>
          <p:cNvSpPr txBox="1"/>
          <p:nvPr/>
        </p:nvSpPr>
        <p:spPr>
          <a:xfrm>
            <a:off x="54864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ML models do not beat a duration-only curve (3.18 vs 3.16 pp)</a:t>
            </a:r>
            <a:endParaRPr lang="en-US" sz="2000" dirty="0"/>
          </a:p>
          <a:p>
            <a:pPr marL="342900" indent="-342900">
              <a:spcAft>
                <a:spcPts val="400"/>
              </a:spcAft>
              <a:buSzPct val="100000"/>
              <a:buChar char="•"/>
            </a:pPr>
            <a:r>
              <a:rPr lang="en-US" sz="1800" dirty="0">
                <a:solidFill>
                  <a:schemeClr val="tx1"/>
                </a:solidFill>
              </a:rPr>
              <a:t>The LLM classifier lowers the error to 2.71 pp (curve 3.13 pp)</a:t>
            </a:r>
            <a:endParaRPr lang="en-US" sz="2000" dirty="0"/>
          </a:p>
        </p:txBody>
      </p:sp>
      <p:sp>
        <p:nvSpPr>
          <p:cNvPr id="14" name="Text 10"/>
          <p:cNvSpPr txBox="1"/>
          <p:nvPr/>
        </p:nvSpPr>
        <p:spPr>
          <a:xfrm>
            <a:off x="630936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32 independent campaigns, mostly young men</a:t>
            </a:r>
            <a:endParaRPr lang="en-US" sz="2000" dirty="0"/>
          </a:p>
          <a:p>
            <a:pPr marL="342900" indent="-342900">
              <a:spcAft>
                <a:spcPts val="400"/>
              </a:spcAft>
              <a:buSzPct val="100000"/>
              <a:buChar char="•"/>
            </a:pPr>
            <a:r>
              <a:rPr lang="en-US" sz="1800" dirty="0">
                <a:solidFill>
                  <a:schemeClr val="tx1"/>
                </a:solidFill>
              </a:rPr>
              <a:t>No bed-rest data beyond day 119</a:t>
            </a:r>
            <a:endParaRPr lang="en-US" sz="2000" dirty="0"/>
          </a:p>
          <a:p>
            <a:pPr marL="342900" indent="-342900">
              <a:spcAft>
                <a:spcPts val="400"/>
              </a:spcAft>
              <a:buSzPct val="100000"/>
              <a:buChar char="•"/>
            </a:pPr>
            <a:r>
              <a:rPr lang="en-US" sz="1800" dirty="0">
                <a:solidFill>
                  <a:schemeClr val="tx1"/>
                </a:solidFill>
              </a:rPr>
              <a:t>Group averages; bed rest is not spaceflight</a:t>
            </a:r>
            <a:endParaRPr lang="en-US" sz="2000" dirty="0"/>
          </a:p>
        </p:txBody>
      </p:sp>
      <p:sp>
        <p:nvSpPr>
          <p:cNvPr id="15" name="Divider"/>
          <p:cNvSpPr/>
          <p:nvPr/>
        </p:nvSpPr>
        <p:spPr>
          <a:xfrm>
            <a:off x="548640" y="3840480"/>
            <a:ext cx="11064240" cy="0"/>
          </a:xfrm>
          <a:prstGeom prst="line">
            <a:avLst/>
          </a:prstGeom>
          <a:noFill/>
          <a:ln w="9525">
            <a:solidFill>
              <a:srgbClr val="98A6B5"/>
            </a:solidFill>
            <a:prstDash val="solid"/>
          </a:ln>
        </p:spPr>
      </p:sp>
      <p:sp>
        <p:nvSpPr>
          <p:cNvPr id="16" name="Text 12"/>
          <p:cNvSpPr txBox="1"/>
          <p:nvPr/>
        </p:nvSpPr>
        <p:spPr>
          <a:xfrm>
            <a:off x="548640" y="4023360"/>
            <a:ext cx="11064240" cy="20116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Link the muscles: predict one muscle's loss from another's, and weight them into an estimate of strength loss</a:t>
            </a:r>
            <a:endParaRPr lang="en-US" sz="2000" dirty="0"/>
          </a:p>
          <a:p>
            <a:pPr marL="342900" indent="-342900">
              <a:spcAft>
                <a:spcPts val="400"/>
              </a:spcAft>
              <a:buSzPct val="100000"/>
              <a:buChar char="•"/>
            </a:pPr>
            <a:r>
              <a:rPr lang="en-US" sz="1800" dirty="0">
                <a:solidFill>
                  <a:schemeClr val="tx1"/>
                </a:solidFill>
              </a:rPr>
              <a:t>A risk-assessment system based on a person's characteristics, such as age, sex and fitness</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coverage and limitations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literature search sources and query</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Table 3. Sources (searched 4 September 2026)</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Figure 12. 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8A6B5"/>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8A6B5"/>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8A6B5"/>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significance and relevance of the LLM gain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ML results and fairness of the comparison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(347 of 425 rows men-only), so they act as a campaign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applicability to Mars mission planning</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B2533"/>
      </a:dk1>
      <a:lt1>
        <a:srgbClr val="FFFFFF"/>
      </a:lt1>
      <a:dk2>
        <a:srgbClr val="0B2545"/>
      </a:dk2>
      <a:lt2>
        <a:srgbClr val="F0F3F7"/>
      </a:lt2>
      <a:accent1>
        <a:srgbClr val="C1440E"/>
      </a:accent1>
      <a:accent2>
        <a:srgbClr val="2F6690"/>
      </a:accent2>
      <a:accent3>
        <a:srgbClr val="5D6B7B"/>
      </a:accent3>
      <a:accent4>
        <a:srgbClr val="B8C4D1"/>
      </a:accent4>
      <a:accent5>
        <a:srgbClr val="98A6B5"/>
      </a:accent5>
      <a:accent6>
        <a:srgbClr val="E2E7ED"/>
      </a:accent6>
      <a:hlink>
        <a:srgbClr val="2F6690"/>
      </a:hlink>
      <a:folHlink>
        <a:srgbClr val="5D6B7B"/>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2026-10-06T13:06:47Z</dcterms:created>
  <dcterms:modified xsi:type="dcterms:W3CDTF">2026-10-06T13:06:47Z</dcterms:modified>
</cp:coreProperties>
</file>