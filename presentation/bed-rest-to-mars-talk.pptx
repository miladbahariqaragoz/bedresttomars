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65f01b2-a0fa-7480-ffb5-25a1d343896c}">
          <p14:sldIdLst>
            <p14:sldId id="256"/>
            <p14:sldId id="257"/>
            <p14:sldId id="269"/>
          </p14:sldIdLst>
        </p14:section>
        <p14:section name="Part 1" id="{dd671e12-9e5e-fa9e-845e-eb6bd417d025}">
          <p14:sldIdLst>
            <p14:sldId id="258"/>
            <p14:sldId id="259"/>
            <p14:sldId id="260"/>
            <p14:sldId id="261"/>
            <p14:sldId id="262"/>
            <p14:sldId id="263"/>
          </p14:sldIdLst>
        </p14:section>
        <p14:section name="Part 2" id="{bce21c75-539a-41f8-fbd2-505fc054d305}">
          <p14:sldIdLst>
            <p14:sldId id="264"/>
            <p14:sldId id="265"/>
            <p14:sldId id="266"/>
            <p14:sldId id="267"/>
            <p14:sldId id="268"/>
          </p14:sldIdLst>
        </p14:section>
        <p14:section name="Opening" id="{a963ba27-4b57-0221-a8a3-4c272d75beaf}">
          <p14:sldIdLst/>
        </p14:section>
        <p14:section name="Backup" id="{6148af0b-5294-7df5-eba6-753162907679}">
          <p14:sldIdLst>
            <p14:sldId id="270"/>
            <p14:sldId id="271"/>
            <p14:sldId id="272"/>
            <p14:sldId id="273"/>
            <p14:sldId id="274"/>
            <p14:sldId id="275"/>
            <p14:sldId id="276"/>
          </p14:sldIdLst>
        </p14:section>
        <p14:section name="Backup" id="{ed5dc3e5-a8d0-4340-b1ec-070b090c9b0a}">
          <p14:sldIdLst/>
        </p14:section>
        <p14:section name="Backup" id="{2e91f7a9-7299-32fd-7426-93b45de28e81}">
          <p14:sldIdLst/>
        </p14:section>
        <p14:section name="Backup" id="{8a0a4ea2-77f4-4d29-9460-63508770e1e8}">
          <p14:sldIdLst/>
        </p14:section>
        <p14:section name="Backup" id="{b8338c61-24ca-2d56-d190-46bdda22b5d9}">
          <p14:sldIdLst/>
        </p14:section>
        <p14:section name="Backup" id="{0b69dadf-c25a-29fa-7806-fbe496af9f8f}">
          <p14:sldIdLst/>
        </p14:section>
        <p14:section name="Backup" id="{8edfd0a3-002c-cdac-4da3-f597138e54c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6382978723404256"/>
          <c:y val="0.04"/>
          <c:w val="0.8936170212765957"/>
          <c:h val="0.82"/>
        </c:manualLayout>
      </c:layout>
      <c:barChart>
        <c:barDir val="col"/>
        <c:grouping val="stacked"/>
        <c:varyColors val="0"/>
        <c:ser>
          <c:idx val="0"/>
          <c:order val="0"/>
          <c:tx>
            <c:strRef>
              <c:f>Sheet1!$B$1</c:f>
              <c:strCache>
                <c:ptCount val="1"/>
                <c:pt idx="0">
                  <c:v>5 to 14 days</c:v>
                </c:pt>
              </c:strCache>
            </c:strRef>
          </c:tx>
          <c:spPr>
            <a:solidFill>
              <a:srgbClr val="D3DCE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1992</c:v>
                  </c:pt>
                  <c:pt idx="1">
                    <c:v>1994</c:v>
                  </c:pt>
                  <c:pt idx="2">
                    <c:v>2004</c:v>
                  </c:pt>
                  <c:pt idx="3">
                    <c:v>2007</c:v>
                  </c:pt>
                  <c:pt idx="4">
                    <c:v>2009</c:v>
                  </c:pt>
                  <c:pt idx="5">
                    <c:v>2012</c:v>
                  </c:pt>
                  <c:pt idx="6">
                    <c:v>2013</c:v>
                  </c:pt>
                  <c:pt idx="7">
                    <c:v>2014</c:v>
                  </c:pt>
                  <c:pt idx="8">
                    <c:v>2015</c:v>
                  </c:pt>
                  <c:pt idx="9">
                    <c:v>2016</c:v>
                  </c:pt>
                  <c:pt idx="10">
                    <c:v>2017</c:v>
                  </c:pt>
                  <c:pt idx="11">
                    <c:v>2018</c:v>
                  </c:pt>
                  <c:pt idx="12">
                    <c:v>2019</c:v>
                  </c:pt>
                  <c:pt idx="13">
                    <c:v>2020</c:v>
                  </c:pt>
                  <c:pt idx="14">
                    <c:v>2021</c:v>
                  </c:pt>
                  <c:pt idx="15">
                    <c:v>2022</c:v>
                  </c:pt>
                  <c:pt idx="16">
                    <c:v>2023</c:v>
                  </c:pt>
                  <c:pt idx="17">
                    <c:v>2024</c:v>
                  </c:pt>
                  <c:pt idx="18">
                    <c:v>2025</c:v>
                  </c:pt>
                  <c:pt idx="19">
                    <c:v>2026</c:v>
                  </c:pt>
                </c:lvl>
              </c:multiLvlStrCache>
            </c:multiLvlStrRef>
          </c:cat>
          <c:val>
            <c:numRef>
              <c:f>Sheet1!$B$2:$B$21</c:f>
              <c:numCache>
                <c:formatCode>General</c:formatCode>
                <c:ptCount val="20"/>
                <c:pt idx="0">
                  <c:v>0</c:v>
                </c:pt>
                <c:pt idx="1">
                  <c:v>0</c:v>
                </c:pt>
                <c:pt idx="2">
                  <c:v>0</c:v>
                </c:pt>
                <c:pt idx="3">
                  <c:v>0</c:v>
                </c:pt>
                <c:pt idx="4">
                  <c:v>1</c:v>
                </c:pt>
                <c:pt idx="5">
                  <c:v>0</c:v>
                </c:pt>
                <c:pt idx="6">
                  <c:v>1</c:v>
                </c:pt>
                <c:pt idx="7">
                  <c:v>0</c:v>
                </c:pt>
                <c:pt idx="8">
                  <c:v>2</c:v>
                </c:pt>
                <c:pt idx="9">
                  <c:v>2</c:v>
                </c:pt>
                <c:pt idx="10">
                  <c:v>0</c:v>
                </c:pt>
                <c:pt idx="11">
                  <c:v>1</c:v>
                </c:pt>
                <c:pt idx="12">
                  <c:v>2</c:v>
                </c:pt>
                <c:pt idx="13">
                  <c:v>0</c:v>
                </c:pt>
                <c:pt idx="14">
                  <c:v>2</c:v>
                </c:pt>
                <c:pt idx="15">
                  <c:v>2</c:v>
                </c:pt>
                <c:pt idx="16">
                  <c:v>1</c:v>
                </c:pt>
                <c:pt idx="17">
                  <c:v>2</c:v>
                </c:pt>
                <c:pt idx="18">
                  <c:v>3</c:v>
                </c:pt>
                <c:pt idx="19">
                  <c:v>3</c:v>
                </c:pt>
              </c:numCache>
            </c:numRef>
          </c:val>
        </c:ser>
        <c:ser>
          <c:idx val="1"/>
          <c:order val="1"/>
          <c:tx>
            <c:strRef>
              <c:f>Sheet1!$C$1</c:f>
              <c:strCache>
                <c:ptCount val="1"/>
                <c:pt idx="0">
                  <c:v>15 to 30 days</c:v>
                </c:pt>
              </c:strCache>
            </c:strRef>
          </c:tx>
          <c:spPr>
            <a:solidFill>
              <a:srgbClr val="9AB0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1992</c:v>
                  </c:pt>
                  <c:pt idx="1">
                    <c:v>1994</c:v>
                  </c:pt>
                  <c:pt idx="2">
                    <c:v>2004</c:v>
                  </c:pt>
                  <c:pt idx="3">
                    <c:v>2007</c:v>
                  </c:pt>
                  <c:pt idx="4">
                    <c:v>2009</c:v>
                  </c:pt>
                  <c:pt idx="5">
                    <c:v>2012</c:v>
                  </c:pt>
                  <c:pt idx="6">
                    <c:v>2013</c:v>
                  </c:pt>
                  <c:pt idx="7">
                    <c:v>2014</c:v>
                  </c:pt>
                  <c:pt idx="8">
                    <c:v>2015</c:v>
                  </c:pt>
                  <c:pt idx="9">
                    <c:v>2016</c:v>
                  </c:pt>
                  <c:pt idx="10">
                    <c:v>2017</c:v>
                  </c:pt>
                  <c:pt idx="11">
                    <c:v>2018</c:v>
                  </c:pt>
                  <c:pt idx="12">
                    <c:v>2019</c:v>
                  </c:pt>
                  <c:pt idx="13">
                    <c:v>2020</c:v>
                  </c:pt>
                  <c:pt idx="14">
                    <c:v>2021</c:v>
                  </c:pt>
                  <c:pt idx="15">
                    <c:v>2022</c:v>
                  </c:pt>
                  <c:pt idx="16">
                    <c:v>2023</c:v>
                  </c:pt>
                  <c:pt idx="17">
                    <c:v>2024</c:v>
                  </c:pt>
                  <c:pt idx="18">
                    <c:v>2025</c:v>
                  </c:pt>
                  <c:pt idx="19">
                    <c:v>2026</c:v>
                  </c:pt>
                </c:lvl>
              </c:multiLvlStrCache>
            </c:multiLvlStrRef>
          </c:cat>
          <c:val>
            <c:numRef>
              <c:f>Sheet1!$C$2:$C$21</c:f>
              <c:numCache>
                <c:formatCode>General</c:formatCode>
                <c:ptCount val="20"/>
                <c:pt idx="0">
                  <c:v>0</c:v>
                </c:pt>
                <c:pt idx="1">
                  <c:v>1</c:v>
                </c:pt>
                <c:pt idx="2">
                  <c:v>0</c:v>
                </c:pt>
                <c:pt idx="3">
                  <c:v>0</c:v>
                </c:pt>
                <c:pt idx="4">
                  <c:v>0</c:v>
                </c:pt>
                <c:pt idx="5">
                  <c:v>0</c:v>
                </c:pt>
                <c:pt idx="6">
                  <c:v>0</c:v>
                </c:pt>
                <c:pt idx="7">
                  <c:v>1</c:v>
                </c:pt>
                <c:pt idx="8">
                  <c:v>0</c:v>
                </c:pt>
                <c:pt idx="9">
                  <c:v>0</c:v>
                </c:pt>
                <c:pt idx="10">
                  <c:v>0</c:v>
                </c:pt>
                <c:pt idx="11">
                  <c:v>1</c:v>
                </c:pt>
                <c:pt idx="12">
                  <c:v>0</c:v>
                </c:pt>
                <c:pt idx="13">
                  <c:v>1</c:v>
                </c:pt>
                <c:pt idx="14">
                  <c:v>0</c:v>
                </c:pt>
                <c:pt idx="15">
                  <c:v>0</c:v>
                </c:pt>
                <c:pt idx="16">
                  <c:v>0</c:v>
                </c:pt>
                <c:pt idx="17">
                  <c:v>0</c:v>
                </c:pt>
                <c:pt idx="18">
                  <c:v>0</c:v>
                </c:pt>
                <c:pt idx="19">
                  <c:v>1</c:v>
                </c:pt>
              </c:numCache>
            </c:numRef>
          </c:val>
        </c:ser>
        <c:ser>
          <c:idx val="2"/>
          <c:order val="2"/>
          <c:tx>
            <c:strRef>
              <c:f>Sheet1!$D$1</c:f>
              <c:strCache>
                <c:ptCount val="1"/>
                <c:pt idx="0">
                  <c:v>31 to 60 days</c:v>
                </c:pt>
              </c:strCache>
            </c:strRef>
          </c:tx>
          <c:spPr>
            <a:solidFill>
              <a:srgbClr val="5B80A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1992</c:v>
                  </c:pt>
                  <c:pt idx="1">
                    <c:v>1994</c:v>
                  </c:pt>
                  <c:pt idx="2">
                    <c:v>2004</c:v>
                  </c:pt>
                  <c:pt idx="3">
                    <c:v>2007</c:v>
                  </c:pt>
                  <c:pt idx="4">
                    <c:v>2009</c:v>
                  </c:pt>
                  <c:pt idx="5">
                    <c:v>2012</c:v>
                  </c:pt>
                  <c:pt idx="6">
                    <c:v>2013</c:v>
                  </c:pt>
                  <c:pt idx="7">
                    <c:v>2014</c:v>
                  </c:pt>
                  <c:pt idx="8">
                    <c:v>2015</c:v>
                  </c:pt>
                  <c:pt idx="9">
                    <c:v>2016</c:v>
                  </c:pt>
                  <c:pt idx="10">
                    <c:v>2017</c:v>
                  </c:pt>
                  <c:pt idx="11">
                    <c:v>2018</c:v>
                  </c:pt>
                  <c:pt idx="12">
                    <c:v>2019</c:v>
                  </c:pt>
                  <c:pt idx="13">
                    <c:v>2020</c:v>
                  </c:pt>
                  <c:pt idx="14">
                    <c:v>2021</c:v>
                  </c:pt>
                  <c:pt idx="15">
                    <c:v>2022</c:v>
                  </c:pt>
                  <c:pt idx="16">
                    <c:v>2023</c:v>
                  </c:pt>
                  <c:pt idx="17">
                    <c:v>2024</c:v>
                  </c:pt>
                  <c:pt idx="18">
                    <c:v>2025</c:v>
                  </c:pt>
                  <c:pt idx="19">
                    <c:v>2026</c:v>
                  </c:pt>
                </c:lvl>
              </c:multiLvlStrCache>
            </c:multiLvlStrRef>
          </c:cat>
          <c:val>
            <c:numRef>
              <c:f>Sheet1!$D$2:$D$21</c:f>
              <c:numCache>
                <c:formatCode>General</c:formatCode>
                <c:ptCount val="20"/>
                <c:pt idx="0">
                  <c:v>0</c:v>
                </c:pt>
                <c:pt idx="1">
                  <c:v>0</c:v>
                </c:pt>
                <c:pt idx="2">
                  <c:v>0</c:v>
                </c:pt>
                <c:pt idx="3">
                  <c:v>2</c:v>
                </c:pt>
                <c:pt idx="4">
                  <c:v>1</c:v>
                </c:pt>
                <c:pt idx="5">
                  <c:v>1</c:v>
                </c:pt>
                <c:pt idx="6">
                  <c:v>0</c:v>
                </c:pt>
                <c:pt idx="7">
                  <c:v>1</c:v>
                </c:pt>
                <c:pt idx="8">
                  <c:v>1</c:v>
                </c:pt>
                <c:pt idx="9">
                  <c:v>1</c:v>
                </c:pt>
                <c:pt idx="10">
                  <c:v>1</c:v>
                </c:pt>
                <c:pt idx="11">
                  <c:v>0</c:v>
                </c:pt>
                <c:pt idx="12">
                  <c:v>0</c:v>
                </c:pt>
                <c:pt idx="13">
                  <c:v>0</c:v>
                </c:pt>
                <c:pt idx="14">
                  <c:v>2</c:v>
                </c:pt>
                <c:pt idx="15">
                  <c:v>1</c:v>
                </c:pt>
                <c:pt idx="16">
                  <c:v>0</c:v>
                </c:pt>
                <c:pt idx="17">
                  <c:v>1</c:v>
                </c:pt>
                <c:pt idx="18">
                  <c:v>1</c:v>
                </c:pt>
                <c:pt idx="19">
                  <c:v>1</c:v>
                </c:pt>
              </c:numCache>
            </c:numRef>
          </c:val>
        </c:ser>
        <c:ser>
          <c:idx val="3"/>
          <c:order val="3"/>
          <c:tx>
            <c:strRef>
              <c:f>Sheet1!$E$1</c:f>
              <c:strCache>
                <c:ptCount val="1"/>
                <c:pt idx="0">
                  <c:v>61 to 119 days</c:v>
                </c:pt>
              </c:strCache>
            </c:strRef>
          </c:tx>
          <c:spPr>
            <a:solidFill>
              <a:srgbClr val="0B254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1992</c:v>
                  </c:pt>
                  <c:pt idx="1">
                    <c:v>1994</c:v>
                  </c:pt>
                  <c:pt idx="2">
                    <c:v>2004</c:v>
                  </c:pt>
                  <c:pt idx="3">
                    <c:v>2007</c:v>
                  </c:pt>
                  <c:pt idx="4">
                    <c:v>2009</c:v>
                  </c:pt>
                  <c:pt idx="5">
                    <c:v>2012</c:v>
                  </c:pt>
                  <c:pt idx="6">
                    <c:v>2013</c:v>
                  </c:pt>
                  <c:pt idx="7">
                    <c:v>2014</c:v>
                  </c:pt>
                  <c:pt idx="8">
                    <c:v>2015</c:v>
                  </c:pt>
                  <c:pt idx="9">
                    <c:v>2016</c:v>
                  </c:pt>
                  <c:pt idx="10">
                    <c:v>2017</c:v>
                  </c:pt>
                  <c:pt idx="11">
                    <c:v>2018</c:v>
                  </c:pt>
                  <c:pt idx="12">
                    <c:v>2019</c:v>
                  </c:pt>
                  <c:pt idx="13">
                    <c:v>2020</c:v>
                  </c:pt>
                  <c:pt idx="14">
                    <c:v>2021</c:v>
                  </c:pt>
                  <c:pt idx="15">
                    <c:v>2022</c:v>
                  </c:pt>
                  <c:pt idx="16">
                    <c:v>2023</c:v>
                  </c:pt>
                  <c:pt idx="17">
                    <c:v>2024</c:v>
                  </c:pt>
                  <c:pt idx="18">
                    <c:v>2025</c:v>
                  </c:pt>
                  <c:pt idx="19">
                    <c:v>2026</c:v>
                  </c:pt>
                </c:lvl>
              </c:multiLvlStrCache>
            </c:multiLvlStrRef>
          </c:cat>
          <c:val>
            <c:numRef>
              <c:f>Sheet1!$E$2:$E$21</c:f>
              <c:numCache>
                <c:formatCode>General</c:formatCode>
                <c:ptCount val="20"/>
                <c:pt idx="0">
                  <c:v>1</c:v>
                </c:pt>
                <c:pt idx="1">
                  <c:v>0</c:v>
                </c:pt>
                <c:pt idx="2">
                  <c:v>1</c:v>
                </c:pt>
                <c:pt idx="3">
                  <c:v>0</c:v>
                </c:pt>
                <c:pt idx="4">
                  <c:v>0</c:v>
                </c:pt>
                <c:pt idx="5">
                  <c:v>0</c:v>
                </c:pt>
                <c:pt idx="6">
                  <c:v>1</c:v>
                </c:pt>
                <c:pt idx="7">
                  <c:v>0</c:v>
                </c:pt>
                <c:pt idx="8">
                  <c:v>0</c:v>
                </c:pt>
                <c:pt idx="9">
                  <c:v>1</c:v>
                </c:pt>
                <c:pt idx="10">
                  <c:v>1</c:v>
                </c:pt>
                <c:pt idx="11">
                  <c:v>0</c:v>
                </c:pt>
                <c:pt idx="12">
                  <c:v>0</c:v>
                </c:pt>
                <c:pt idx="13">
                  <c:v>0</c:v>
                </c:pt>
                <c:pt idx="14">
                  <c:v>0</c:v>
                </c:pt>
                <c:pt idx="15">
                  <c:v>0</c:v>
                </c:pt>
                <c:pt idx="16">
                  <c:v>1</c:v>
                </c:pt>
                <c:pt idx="17">
                  <c:v>1</c:v>
                </c:pt>
                <c:pt idx="18">
                  <c:v>0</c:v>
                </c:pt>
                <c:pt idx="19">
                  <c:v>1</c:v>
                </c:pt>
              </c:numCache>
            </c:numRef>
          </c:val>
        </c:ser>
        <c:ser>
          <c:idx val="4"/>
          <c:order val="4"/>
          <c:tx>
            <c:strRef>
              <c:f>Sheet1!$F$1</c:f>
              <c:strCache>
                <c:ptCount val="1"/>
                <c:pt idx="0">
                  <c:v>180 days (spaceflight)</c:v>
                </c:pt>
              </c:strCache>
            </c:strRef>
          </c:tx>
          <c:spPr>
            <a:solidFill>
              <a:srgbClr val="C1440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1992</c:v>
                  </c:pt>
                  <c:pt idx="1">
                    <c:v>1994</c:v>
                  </c:pt>
                  <c:pt idx="2">
                    <c:v>2004</c:v>
                  </c:pt>
                  <c:pt idx="3">
                    <c:v>2007</c:v>
                  </c:pt>
                  <c:pt idx="4">
                    <c:v>2009</c:v>
                  </c:pt>
                  <c:pt idx="5">
                    <c:v>2012</c:v>
                  </c:pt>
                  <c:pt idx="6">
                    <c:v>2013</c:v>
                  </c:pt>
                  <c:pt idx="7">
                    <c:v>2014</c:v>
                  </c:pt>
                  <c:pt idx="8">
                    <c:v>2015</c:v>
                  </c:pt>
                  <c:pt idx="9">
                    <c:v>2016</c:v>
                  </c:pt>
                  <c:pt idx="10">
                    <c:v>2017</c:v>
                  </c:pt>
                  <c:pt idx="11">
                    <c:v>2018</c:v>
                  </c:pt>
                  <c:pt idx="12">
                    <c:v>2019</c:v>
                  </c:pt>
                  <c:pt idx="13">
                    <c:v>2020</c:v>
                  </c:pt>
                  <c:pt idx="14">
                    <c:v>2021</c:v>
                  </c:pt>
                  <c:pt idx="15">
                    <c:v>2022</c:v>
                  </c:pt>
                  <c:pt idx="16">
                    <c:v>2023</c:v>
                  </c:pt>
                  <c:pt idx="17">
                    <c:v>2024</c:v>
                  </c:pt>
                  <c:pt idx="18">
                    <c:v>2025</c:v>
                  </c:pt>
                  <c:pt idx="19">
                    <c:v>2026</c:v>
                  </c:pt>
                </c:lvl>
              </c:multiLvlStrCache>
            </c:multiLvlStrRef>
          </c:cat>
          <c:val>
            <c:numRef>
              <c:f>Sheet1!$F$2:$F$21</c:f>
              <c:numCache>
                <c:formatCode>General</c:formatCode>
                <c:ptCount val="20"/>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0</c:v>
                </c:pt>
                <c:pt idx="19">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8A6B5"/>
            </a:solidFill>
            <a:prstDash val="solid"/>
            <a:round/>
          </a:ln>
        </c:spPr>
        <c:txPr>
          <a:bodyPr/>
          <a:lstStyle/>
          <a:p>
            <a:pPr>
              <a:defRPr sz="1000" b="0" i="0" u="none" strike="noStrike">
                <a:solidFill>
                  <a:srgbClr val="5D6B7B"/>
                </a:solidFill>
                <a:latin typeface="Arial"/>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9525" cap="flat">
              <a:solidFill>
                <a:srgbClr val="E2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D6B7B"/>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B2533"/>
                </a:solidFill>
                <a:latin typeface="+mn-lt"/>
              </a:defRPr>
            </a:pPr>
            <a:r>
              <a:rPr sz="1300" b="1" i="0" u="none" strike="noStrike">
                <a:solidFill>
                  <a:srgbClr val="1B2533"/>
                </a:solidFill>
                <a:latin typeface="+mn-lt"/>
              </a:rPr>
              <a:t>Figure 9. Probability per range</a:t>
            </a:r>
          </a:p>
        </c:rich>
      </c:tx>
      <c:layout/>
      <c:overlay val="0"/>
    </c:title>
    <c:autoTitleDeleted val="0"/>
    <c:plotArea>
      <c:layout/>
      <c:barChart>
        <c:barDir val="col"/>
        <c:grouping val="clustered"/>
        <c:varyColors val="0"/>
        <c:ser>
          <c:idx val="0"/>
          <c:order val="0"/>
          <c:tx>
            <c:strRef>
              <c:f>Sheet1!$B$1</c:f>
              <c:strCache>
                <c:ptCount val="1"/>
                <c:pt idx="0">
                  <c:v>LLM</c:v>
                </c:pt>
              </c:strCache>
            </c:strRef>
          </c:tx>
          <c:spPr>
            <a:solidFill>
              <a:srgbClr val="C1440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−19</c:v>
                  </c:pt>
                  <c:pt idx="1">
                    <c:v>−17</c:v>
                  </c:pt>
                  <c:pt idx="2">
                    <c:v>−15</c:v>
                  </c:pt>
                  <c:pt idx="3">
                    <c:v>−13</c:v>
                  </c:pt>
                  <c:pt idx="4">
                    <c:v>−11</c:v>
                  </c:pt>
                  <c:pt idx="5">
                    <c:v>−9</c:v>
                  </c:pt>
                  <c:pt idx="6">
                    <c:v>−7</c:v>
                  </c:pt>
                  <c:pt idx="7">
                    <c:v>−5</c:v>
                  </c:pt>
                  <c:pt idx="8">
                    <c:v>−3</c:v>
                  </c:pt>
                  <c:pt idx="9">
                    <c:v>−1</c:v>
                  </c:pt>
                  <c:pt idx="10">
                    <c:v>1</c:v>
                  </c:pt>
                  <c:pt idx="11">
                    <c:v>3</c:v>
                  </c:pt>
                </c:lvl>
              </c:multiLvlStrCache>
            </c:multiLvlStrRef>
          </c:cat>
          <c:val>
            <c:numRef>
              <c:f>Sheet1!$B$2:$B$13</c:f>
              <c:numCache>
                <c:formatCode>General</c:formatCode>
                <c:ptCount val="12"/>
                <c:pt idx="0">
                  <c:v>0</c:v>
                </c:pt>
                <c:pt idx="1">
                  <c:v>0</c:v>
                </c:pt>
                <c:pt idx="2">
                  <c:v>0</c:v>
                </c:pt>
                <c:pt idx="3">
                  <c:v>0</c:v>
                </c:pt>
                <c:pt idx="4">
                  <c:v>0.02</c:v>
                </c:pt>
                <c:pt idx="5">
                  <c:v>0.06</c:v>
                </c:pt>
                <c:pt idx="6">
                  <c:v>0.64</c:v>
                </c:pt>
                <c:pt idx="7">
                  <c:v>0.26</c:v>
                </c:pt>
                <c:pt idx="8">
                  <c:v>0.02</c:v>
                </c:pt>
                <c:pt idx="9">
                  <c:v>0</c:v>
                </c:pt>
                <c:pt idx="10">
                  <c:v>0</c:v>
                </c:pt>
                <c:pt idx="11">
                  <c:v>0</c:v>
                </c:pt>
              </c:numCache>
            </c:numRef>
          </c:val>
        </c:ser>
        <c:ser>
          <c:idx val="1"/>
          <c:order val="1"/>
          <c:tx>
            <c:strRef>
              <c:f>Sheet1!$C$1</c:f>
              <c:strCache>
                <c:ptCount val="1"/>
                <c:pt idx="0">
                  <c:v>Duration curve</c:v>
                </c:pt>
              </c:strCache>
            </c:strRef>
          </c:tx>
          <c:spPr>
            <a:solidFill>
              <a:srgbClr val="B8C4D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−19</c:v>
                  </c:pt>
                  <c:pt idx="1">
                    <c:v>−17</c:v>
                  </c:pt>
                  <c:pt idx="2">
                    <c:v>−15</c:v>
                  </c:pt>
                  <c:pt idx="3">
                    <c:v>−13</c:v>
                  </c:pt>
                  <c:pt idx="4">
                    <c:v>−11</c:v>
                  </c:pt>
                  <c:pt idx="5">
                    <c:v>−9</c:v>
                  </c:pt>
                  <c:pt idx="6">
                    <c:v>−7</c:v>
                  </c:pt>
                  <c:pt idx="7">
                    <c:v>−5</c:v>
                  </c:pt>
                  <c:pt idx="8">
                    <c:v>−3</c:v>
                  </c:pt>
                  <c:pt idx="9">
                    <c:v>−1</c:v>
                  </c:pt>
                  <c:pt idx="10">
                    <c:v>1</c:v>
                  </c:pt>
                  <c:pt idx="11">
                    <c:v>3</c:v>
                  </c:pt>
                </c:lvl>
              </c:multiLvlStrCache>
            </c:multiLvlStrRef>
          </c:cat>
          <c:val>
            <c:numRef>
              <c:f>Sheet1!$C$2:$C$13</c:f>
              <c:numCache>
                <c:formatCode>General</c:formatCode>
                <c:ptCount val="12"/>
                <c:pt idx="0">
                  <c:v>0.015</c:v>
                </c:pt>
                <c:pt idx="1">
                  <c:v>0.028</c:v>
                </c:pt>
                <c:pt idx="2">
                  <c:v>0.049</c:v>
                </c:pt>
                <c:pt idx="3">
                  <c:v>0.04</c:v>
                </c:pt>
                <c:pt idx="4">
                  <c:v>0.046</c:v>
                </c:pt>
                <c:pt idx="5">
                  <c:v>0.126</c:v>
                </c:pt>
                <c:pt idx="6">
                  <c:v>0.178</c:v>
                </c:pt>
                <c:pt idx="7">
                  <c:v>0.141</c:v>
                </c:pt>
                <c:pt idx="8">
                  <c:v>0.101</c:v>
                </c:pt>
                <c:pt idx="9">
                  <c:v>0.117</c:v>
                </c:pt>
                <c:pt idx="10">
                  <c:v>0.061</c:v>
                </c:pt>
                <c:pt idx="11">
                  <c:v>0.021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D6B7B"/>
                    </a:solidFill>
                    <a:latin typeface="Arial"/>
                  </a:defRPr>
                </a:pPr>
                <a:r>
                  <a:rPr sz="1000" b="0" i="0" u="none" strike="noStrike">
                    <a:solidFill>
                      <a:srgbClr val="5D6B7B"/>
                    </a:solidFill>
                    <a:latin typeface="Arial"/>
                  </a:rPr>
                  <a:t>Change in muscle size (%, centre of each 2-point range)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533"/>
                </a:solidFill>
                <a:latin typeface="+mn-lt"/>
              </a:defRPr>
            </a:pPr>
            <a:endParaRPr lang="en-US"/>
          </a:p>
        </c:txPr>
        <c:crossAx val="2094734552"/>
        <c:crosses val="autoZero"/>
        <c:auto val="1"/>
        <c:lblAlgn val="ctr"/>
        <c:noMultiLvlLbl val="1"/>
        <c:tickLblSkip val="2"/>
      </c:catAx>
      <c:valAx>
        <c:axId val="2094734552"/>
        <c:scaling>
          <c:orientation val="minMax"/>
          <c:max val="0.7"/>
          <c:min val="0"/>
        </c:scaling>
        <c:delete val="0"/>
        <c:axPos val="l"/>
        <c:majorGridlines>
          <c:spPr>
            <a:ln w="9525" cap="flat">
              <a:solidFill>
                <a:srgbClr val="E2E7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6B7B"/>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B2533"/>
                </a:solidFill>
                <a:latin typeface="+mn-lt"/>
              </a:defRPr>
            </a:pPr>
            <a:r>
              <a:rPr sz="1300" b="1" i="0" u="none" strike="noStrike">
                <a:solidFill>
                  <a:srgbClr val="1B2533"/>
                </a:solidFill>
                <a:latin typeface="+mn-lt"/>
              </a:rPr>
              <a:t>Figure 10. Error, pp (lower = better)</a:t>
            </a:r>
          </a:p>
        </c:rich>
      </c:tx>
      <c:layout/>
      <c:overlay val="0"/>
    </c:title>
    <c:autoTitleDeleted val="0"/>
    <c:plotArea>
      <c:layout/>
      <c:barChart>
        <c:barDir val="bar"/>
        <c:grouping val="clustered"/>
        <c:varyColors val="0"/>
        <c:ser>
          <c:idx val="0"/>
          <c:order val="0"/>
          <c:tx>
            <c:strRef>
              <c:f>Sheet1!$B$1</c:f>
              <c:strCache>
                <c:ptCount val="1"/>
                <c:pt idx="0">
                  <c:v>MAE</c:v>
                </c:pt>
              </c:strCache>
            </c:strRef>
          </c:tx>
          <c:spPr>
            <a:solidFill>
              <a:srgbClr val="B8C4D1"/>
            </a:solidFill>
            <a:effectLst/>
          </c:spPr>
          <c:invertIfNegative val="0"/>
          <c:dLbls>
            <c:numFmt formatCode="0.00" sourceLinked="0"/>
            <c:txPr>
              <a:bodyPr/>
              <a:lstStyle/>
              <a:p>
                <a:pPr>
                  <a:defRPr b="0" i="0" strike="noStrike" sz="1300" u="none">
                    <a:solidFill>
                      <a:srgbClr val="1B2533"/>
                    </a:solidFill>
                    <a:latin typeface="+mn-lt"/>
                  </a:defRPr>
                </a:pPr>
              </a:p>
            </c:txPr>
            <c:showLegendKey val="0"/>
            <c:showVal val="1"/>
            <c:showCatName val="0"/>
            <c:showSerName val="0"/>
            <c:showPercent val="0"/>
            <c:showBubbleSize val="0"/>
            <c:showLeaderLines val="0"/>
          </c:dLbls>
          <c:dPt>
            <c:idx val="0"/>
            <c:invertIfNegative val="0"/>
            <c:bubble3D val="0"/>
            <c:spPr>
              <a:solidFill>
                <a:srgbClr val="B8C4D1"/>
              </a:solidFill>
              <a:effectLst/>
            </c:spPr>
          </c:dPt>
          <c:dPt>
            <c:idx val="1"/>
            <c:invertIfNegative val="0"/>
            <c:bubble3D val="0"/>
            <c:spPr>
              <a:solidFill>
                <a:srgbClr val="B8C4D1"/>
              </a:solidFill>
              <a:effectLst/>
            </c:spPr>
          </c:dPt>
          <c:dPt>
            <c:idx val="2"/>
            <c:invertIfNegative val="0"/>
            <c:bubble3D val="0"/>
            <c:spPr>
              <a:solidFill>
                <a:srgbClr val="B8C4D1"/>
              </a:solidFill>
              <a:effectLst/>
            </c:spPr>
          </c:dPt>
          <c:dPt>
            <c:idx val="3"/>
            <c:invertIfNegative val="0"/>
            <c:bubble3D val="0"/>
            <c:spPr>
              <a:solidFill>
                <a:srgbClr val="B8C4D1"/>
              </a:solidFill>
              <a:effectLst/>
            </c:spPr>
          </c:dPt>
          <c:dPt>
            <c:idx val="4"/>
            <c:invertIfNegative val="0"/>
            <c:bubble3D val="0"/>
            <c:spPr>
              <a:solidFill>
                <a:srgbClr val="B8C4D1"/>
              </a:solidFill>
              <a:effectLst/>
            </c:spPr>
          </c:dPt>
          <c:dPt>
            <c:idx val="5"/>
            <c:invertIfNegative val="0"/>
            <c:bubble3D val="0"/>
            <c:spPr>
              <a:solidFill>
                <a:srgbClr val="0B2545"/>
              </a:solidFill>
              <a:effectLst/>
            </c:spPr>
          </c:dPt>
          <c:dPt>
            <c:idx val="6"/>
            <c:invertIfNegative val="0"/>
            <c:bubble3D val="0"/>
            <c:spPr>
              <a:solidFill>
                <a:srgbClr val="C1440E"/>
              </a:solidFill>
              <a:effectLst/>
            </c:spPr>
          </c:dPt>
          <c:cat>
            <c:multiLvlStrRef>
              <c:f>Sheet1!$A$2:$A$8</c:f>
              <c:multiLvlStrCache>
                <c:ptCount val="7"/>
                <c:lvl>
                  <c:pt idx="0">
                    <c:v>Gradient boosting</c:v>
                  </c:pt>
                  <c:pt idx="1">
                    <c:v>Ridge</c:v>
                  </c:pt>
                  <c:pt idx="2">
                    <c:v>SVR</c:v>
                  </c:pt>
                  <c:pt idx="3">
                    <c:v>TabPFN</c:v>
                  </c:pt>
                  <c:pt idx="4">
                    <c:v>Random forest</c:v>
                  </c:pt>
                  <c:pt idx="5">
                    <c:v>Duration curve</c:v>
                  </c:pt>
                  <c:pt idx="6">
                    <c:v>LLM prediction</c:v>
                  </c:pt>
                </c:lvl>
              </c:multiLvlStrCache>
            </c:multiLvlStrRef>
          </c:cat>
          <c:val>
            <c:numRef>
              <c:f>Sheet1!$B$2:$B$8</c:f>
              <c:numCache>
                <c:formatCode>General</c:formatCode>
                <c:ptCount val="7"/>
                <c:pt idx="0">
                  <c:v>3.34</c:v>
                </c:pt>
                <c:pt idx="1">
                  <c:v>3.28</c:v>
                </c:pt>
                <c:pt idx="2">
                  <c:v>3.28</c:v>
                </c:pt>
                <c:pt idx="3">
                  <c:v>3.22</c:v>
                </c:pt>
                <c:pt idx="4">
                  <c:v>3.18</c:v>
                </c:pt>
                <c:pt idx="5">
                  <c:v>3.16</c:v>
                </c:pt>
                <c:pt idx="6">
                  <c:v>2.71</c:v>
                </c:pt>
              </c:numCache>
            </c:numRef>
          </c:val>
        </c:ser>
        <c:dLbls>
          <c:numFmt formatCode="0.00" sourceLinked="0"/>
          <c:txPr>
            <a:bodyPr/>
            <a:lstStyle/>
            <a:p>
              <a:pPr>
                <a:defRPr b="0" i="0" strike="noStrike" sz="1300" u="none">
                  <a:solidFill>
                    <a:srgbClr val="1B25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98A6B5"/>
            </a:solidFill>
            <a:prstDash val="solid"/>
            <a:round/>
          </a:ln>
        </c:spPr>
        <c:txPr>
          <a:bodyPr/>
          <a:lstStyle/>
          <a:p>
            <a:pPr>
              <a:defRPr sz="1400" b="0" i="0" u="none" strike="noStrike">
                <a:solidFill>
                  <a:srgbClr val="1B2533"/>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b"/>
        <c:majorGridlines>
          <c:spPr>
            <a:ln w="9525" cap="flat">
              <a:solidFill>
                <a:srgbClr val="E2E7E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5D6B7B"/>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B2533"/>
                </a:solidFill>
                <a:latin typeface="+mn-lt"/>
              </a:defRPr>
            </a:pPr>
            <a:r>
              <a:rPr sz="1300" b="1" i="0" u="none" strike="noStrike">
                <a:solidFill>
                  <a:srgbClr val="1B2533"/>
                </a:solidFill>
                <a:latin typeface="+mn-lt"/>
              </a:rPr>
              <a:t>Figure 11. R² (higher = better)</a:t>
            </a:r>
          </a:p>
        </c:rich>
      </c:tx>
      <c:layout/>
      <c:overlay val="0"/>
    </c:title>
    <c:autoTitleDeleted val="0"/>
    <c:plotArea>
      <c:layout/>
      <c:barChart>
        <c:barDir val="bar"/>
        <c:grouping val="clustered"/>
        <c:varyColors val="0"/>
        <c:ser>
          <c:idx val="0"/>
          <c:order val="0"/>
          <c:tx>
            <c:strRef>
              <c:f>Sheet1!$B$1</c:f>
              <c:strCache>
                <c:ptCount val="1"/>
                <c:pt idx="0">
                  <c:v>R2</c:v>
                </c:pt>
              </c:strCache>
            </c:strRef>
          </c:tx>
          <c:spPr>
            <a:solidFill>
              <a:srgbClr val="B8C4D1"/>
            </a:solidFill>
            <a:effectLst/>
          </c:spPr>
          <c:invertIfNegative val="0"/>
          <c:dLbls>
            <c:numFmt formatCode="0.00" sourceLinked="0"/>
            <c:txPr>
              <a:bodyPr/>
              <a:lstStyle/>
              <a:p>
                <a:pPr>
                  <a:defRPr b="0" i="0" strike="noStrike" sz="1300" u="none">
                    <a:solidFill>
                      <a:srgbClr val="1B2533"/>
                    </a:solidFill>
                    <a:latin typeface="+mn-lt"/>
                  </a:defRPr>
                </a:pPr>
              </a:p>
            </c:txPr>
            <c:showLegendKey val="0"/>
            <c:showVal val="1"/>
            <c:showCatName val="0"/>
            <c:showSerName val="0"/>
            <c:showPercent val="0"/>
            <c:showBubbleSize val="0"/>
            <c:showLeaderLines val="0"/>
          </c:dLbls>
          <c:dPt>
            <c:idx val="0"/>
            <c:invertIfNegative val="0"/>
            <c:bubble3D val="0"/>
            <c:spPr>
              <a:solidFill>
                <a:srgbClr val="B8C4D1"/>
              </a:solidFill>
              <a:effectLst/>
            </c:spPr>
          </c:dPt>
          <c:dPt>
            <c:idx val="1"/>
            <c:invertIfNegative val="0"/>
            <c:bubble3D val="0"/>
            <c:spPr>
              <a:solidFill>
                <a:srgbClr val="B8C4D1"/>
              </a:solidFill>
              <a:effectLst/>
            </c:spPr>
          </c:dPt>
          <c:dPt>
            <c:idx val="2"/>
            <c:invertIfNegative val="0"/>
            <c:bubble3D val="0"/>
            <c:spPr>
              <a:solidFill>
                <a:srgbClr val="B8C4D1"/>
              </a:solidFill>
              <a:effectLst/>
            </c:spPr>
          </c:dPt>
          <c:dPt>
            <c:idx val="3"/>
            <c:invertIfNegative val="0"/>
            <c:bubble3D val="0"/>
            <c:spPr>
              <a:solidFill>
                <a:srgbClr val="B8C4D1"/>
              </a:solidFill>
              <a:effectLst/>
            </c:spPr>
          </c:dPt>
          <c:dPt>
            <c:idx val="4"/>
            <c:invertIfNegative val="0"/>
            <c:bubble3D val="0"/>
            <c:spPr>
              <a:solidFill>
                <a:srgbClr val="B8C4D1"/>
              </a:solidFill>
              <a:effectLst/>
            </c:spPr>
          </c:dPt>
          <c:dPt>
            <c:idx val="5"/>
            <c:invertIfNegative val="0"/>
            <c:bubble3D val="0"/>
            <c:spPr>
              <a:solidFill>
                <a:srgbClr val="0B2545"/>
              </a:solidFill>
              <a:effectLst/>
            </c:spPr>
          </c:dPt>
          <c:dPt>
            <c:idx val="6"/>
            <c:invertIfNegative val="0"/>
            <c:bubble3D val="0"/>
            <c:spPr>
              <a:solidFill>
                <a:srgbClr val="C1440E"/>
              </a:solidFill>
              <a:effectLst/>
            </c:spPr>
          </c:dPt>
          <c:cat>
            <c:multiLvlStrRef>
              <c:f>Sheet1!$A$2:$A$8</c:f>
              <c:multiLvlStrCache>
                <c:ptCount val="7"/>
                <c:lvl>
                  <c:pt idx="0">
                    <c:v>Gradient boosting</c:v>
                  </c:pt>
                  <c:pt idx="1">
                    <c:v>Ridge</c:v>
                  </c:pt>
                  <c:pt idx="2">
                    <c:v>SVR</c:v>
                  </c:pt>
                  <c:pt idx="3">
                    <c:v>TabPFN</c:v>
                  </c:pt>
                  <c:pt idx="4">
                    <c:v>Random forest</c:v>
                  </c:pt>
                  <c:pt idx="5">
                    <c:v>Duration curve</c:v>
                  </c:pt>
                  <c:pt idx="6">
                    <c:v>LLM prediction</c:v>
                  </c:pt>
                </c:lvl>
              </c:multiLvlStrCache>
            </c:multiLvlStrRef>
          </c:cat>
          <c:val>
            <c:numRef>
              <c:f>Sheet1!$B$2:$B$8</c:f>
              <c:numCache>
                <c:formatCode>General</c:formatCode>
                <c:ptCount val="7"/>
                <c:pt idx="0">
                  <c:v>0.3</c:v>
                </c:pt>
                <c:pt idx="1">
                  <c:v>0.27</c:v>
                </c:pt>
                <c:pt idx="2">
                  <c:v>0.36</c:v>
                </c:pt>
                <c:pt idx="3">
                  <c:v>0.39</c:v>
                </c:pt>
                <c:pt idx="4">
                  <c:v>0.34</c:v>
                </c:pt>
                <c:pt idx="5">
                  <c:v>0.14</c:v>
                </c:pt>
                <c:pt idx="6">
                  <c:v>0.43</c:v>
                </c:pt>
              </c:numCache>
            </c:numRef>
          </c:val>
        </c:ser>
        <c:dLbls>
          <c:numFmt formatCode="0.00" sourceLinked="0"/>
          <c:txPr>
            <a:bodyPr/>
            <a:lstStyle/>
            <a:p>
              <a:pPr>
                <a:defRPr b="0" i="0" strike="noStrike" sz="1300" u="none">
                  <a:solidFill>
                    <a:srgbClr val="1B25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98A6B5"/>
            </a:solidFill>
            <a:prstDash val="solid"/>
            <a:round/>
          </a:ln>
        </c:spPr>
        <c:txPr>
          <a:bodyPr/>
          <a:lstStyle/>
          <a:p>
            <a:pPr>
              <a:defRPr sz="1400" b="0" i="0" u="none" strike="noStrike">
                <a:solidFill>
                  <a:srgbClr val="1B2533"/>
                </a:solidFill>
                <a:latin typeface="+mn-lt"/>
              </a:defRPr>
            </a:pPr>
            <a:endParaRPr lang="en-US"/>
          </a:p>
        </c:txPr>
        <c:crossAx val="2094734552"/>
        <c:crosses val="autoZero"/>
        <c:auto val="1"/>
        <c:lblAlgn val="ctr"/>
        <c:noMultiLvlLbl val="1"/>
      </c:catAx>
      <c:valAx>
        <c:axId val="2094734552"/>
        <c:scaling>
          <c:orientation val="minMax"/>
          <c:max val="0.5"/>
          <c:min val="0"/>
        </c:scaling>
        <c:delete val="0"/>
        <c:axPos val="b"/>
        <c:majorGridlines>
          <c:spPr>
            <a:ln w="9525" cap="flat">
              <a:solidFill>
                <a:srgbClr val="E2E7ED"/>
              </a:solidFill>
              <a:prstDash val="solid"/>
              <a:round/>
            </a:ln>
          </c:spPr>
        </c:majorGridlines>
        <c:numFmt formatCode="0.0" sourceLinked="0"/>
        <c:majorTickMark val="out"/>
        <c:minorTickMark val="none"/>
        <c:tickLblPos val="low"/>
        <c:spPr>
          <a:ln w="12700" cap="flat">
            <a:noFill/>
            <a:prstDash val="solid"/>
            <a:round/>
          </a:ln>
        </c:spPr>
        <c:txPr>
          <a:bodyPr/>
          <a:lstStyle/>
          <a:p>
            <a:pPr>
              <a:defRPr sz="1200" b="0" i="0" u="none" strike="noStrike">
                <a:solidFill>
                  <a:srgbClr val="5D6B7B"/>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(Niloufar). Placeholder: add the opening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Part 1 (Niloufar): why this matters and why bed rest, how we searched the literature, and what the dataset contains, including which muscles lose most. Part 2 (Milad): how we tested the models, the models and their results with the validity checks of the LLM, and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of part 1 (Niloufar), about forty-five seconds.
Muscle atrophy, especially in the legs, is one of the main problems of long-duration spaceflight. Our question, in the title, is whether the amount of atrophy can be predicted.
Why it matters: a prediction lets crews and planners act early, match exercise and nutrition to the expected loss, focus monitoring on the muscles that lose most, protect strength and function, and plan long missions where exercise equipment is limited.
On the right is the ground model we rely on: volunteers lie in bed tilted six degrees head-down for weeks to months. The circles show a calf cross-section before and after unloading; how much each muscle loses comes later, in the muscle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(Niloufar), about forty-five seconds.
Direct spaceflight data on muscle are scarce, so we use head-down bed rest, the standard ground analogue: volunteers lie tilted six degrees head-down and their legs carry no weight, under controlled conditions. Bed rest is not the same as spaceflight, but it is a sound starting point to build and test prediction models.
Mars in our title stands for the long-term application. The panel compares the two missions on one time scale. A Moon mission lasted about twelve days, and the crew could be home in three. A Mars mission takes about two and a half years: six months to get there, about five hundred days on the surface, six months back. There is no early return in an emergency, and after six months in weightlessness the crew must leave the spacecraft and work on the surface. Mission figures: Apollo 17, and NASA's Mars Design Reference Architecture 5.0.
In the bottom row, atrophy prediction, together with strength and power testing, could one day help keep the crew ready for work on arrival. The dashed steps are future use, and applying the model on a real mission needs validation with spaceflight data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(Niloufar), about forty-five seconds.
When we submitted the abstract, our dataset held 15 bed-rest studies, covering 14 to 119 days of unloading. After submission we extended it. The final dataset has 52 studies, published from 1992 to 2026, and covers 5 to 180 days. The orange part of the lower bar is not bed rest: the stretch beyond 119 days comes from spaceflight, where three studies measured crews after about 180 days.
The chart below shows how many of these studies were published each year, and the colours show how long the unloading lasted. Most of the literature is recent: 37 of the 52 studies are from 2016 or later. Short studies of up to two weeks are the most common; long campaigns of two to four months are rarer.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(Niloufar), about one minute.
We searched four databases, PubMed, Scopus, Web of Science and NASA's technical reports, and added older work we had collected before the search, nine studies from before 2013 and one campaign from NASA's open bed-rest data. In total, 5,741 records. After removing duplicates, 3,600 records remained, and 3,516 were excluded at this stage. If asked: 2,493 were excluded on title and abstract, mostly for no unloading model or no muscle outcome; the other 1,023 were not screened in the time available and did not go further.
We sought 84 full texts. Most were lost because 19 studies show their muscle results only as charts, without a baseline value, so we could not extract them; 4 full texts were not available and 11 were excluded. These full-text counts are as recorded in our screening log and are still being reconciled with the dataset, so do not claim they add up exactly. 52 studies were included.
Several papers often report the same bed-rest campaign, so we merged papers on the same cohort. The final dataset has 36 independent campaigns and 742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(Niloufar), about one minute.
The final dataset has 742 rows. Each row is one muscle outcome: one muscle, in one group, at one scan day. One campaign can therefore give many rows, for several muscles, time points or groups.
For each outcome we extracted the length of unloading, the day of the scan, the muscle, the participants (group size, share of women, age), whether the group had a countermeasure, the imaging method, and how muscle size was measured. Our prediction target is the percentage change in muscle size from baseline.
Left table: 742 rows from 52 studies and 36 independent campaigns, covering 51 muscles or muscle groups; 470 rows are control groups and 272 countermeasure groups; 478 were measured during bed rest and 264 in recovery. 742 rows does not mean 742 people: one campaign gives rows for several muscles, groups and scan days.
Right table: most rows are MRI volumes. CT gives cross-sectional area, DXA gives lean mass of the leg, and ultrasound gives thickness or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(Niloufar), about one minute.
Muscles do not lose size equally. Each line shows how much a muscle group shrinks over the days of bed rest, for groups without a countermeasure. The dashed line reads the values at day 60.
The calf, the plantar flexors, loses most: about 16 percent at day 60, almost 6 percentage points more than the front thigh. The shin, the front thigh and the back thigh lose about 10 percent. Hip muscles lose least.
How the lines are drawn: the day-60 values are the estimates of our meta-regression for each muscle group. The shape over time is the one curve the model fits to all muscles, rising fast in the first weeks and levelling off; time constant 60 days. Hip rotators and outer hip rest on a single campaign each, so treat those two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one minute.
Each row in our data is one measurement. It tells us how much one muscle shrank, on average, in one group of volunteers, on one day of bed rest. For every row, the models get five facts: the day of the scan, which muscle it is, whether the group did exercise or not, how the muscle was scanned, and whether it is one muscle or several together. The models must predict how many percent the muscle shrank compared with before bed rest.
We have 346 rows, but they come from only 32 separate studies, which we call campaigns. Rows from the same campaign come from the same people, so they are not truly separate. If a model trains on some rows of a campaign and is tested on others, it can cheat. So we hide one whole campaign, train on the other 31, and predict the hidden one. We repeat this 32 times, once for every campaign. The code checks that no campaign is ever on both sides.
We score each model by its average error in percentage points. Each campaign counts the same. As the simplest reference, we use a duration curve: it only knows how many days the bed rest lasted.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and a half.
The normal models only see numbers in a table. For the LLM, we wrote each measurement out in words. We used a special kind of LLM. It does not chat or write text. It gets a description and a fixed list of answers, and it gives back a probability for each answer.
On the left is a real request. It describes the volunteers, the bed-rest study, the muscle, how it was scanned, and the day. It also includes the duration curve and the most similar rows from the other 31 campaigns. Then it asks: in which of these 19 ranges will the change fall?
On the right is the answer: a probability for each range. We never ask the model for a number. We turn the probabilities into one number by taking a weighted average of the middle of each range. Here that gives −6.6 percent. The real value was −9.4 percent. This example has a typical error for this model.
The request never includes any data from the hidden campaign, and never the name of a paper, author or campaign. The code checks this for every request. We saved all 430 answers, so anyone can check our results without running the model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and a half.
We tested four standard machine learning models: ridge regression, random forest, support vector regression and gradient boosting. We also tested TabPFN, a network that was trained in advance on many small tables.
The left chart shows the error on the hidden campaigns. Lower is better. The simple duration curve is off by 3.16 percentage points. The best machine learning model, the random forest, is off by 3.18. So none of them beats the simple curve. The right chart shows R², which is how much of the differences between rows a model explains. Here the machine learning models do better, because they learn that some muscles shrink more than others. But most of the error comes from differences between whole campaigns, such as the scanner, the people or the study design. None of our inputs captures that. We had decided in advance to report this result either way.
The LLM is at the top. Its error is 2.71 percentage points, the lowest of all, and it also explains the most, with an R² of 0.43. When we compare it with the curve on exactly the same rows, the error drops from 3.13 to 2.71. That is 0.42 points better. The 95 percent confidence interval goes from 0.13 to 0.73. Even the low end is above zero, so the improvement is real. The LLM beats the curve in 20 of the 32 campaigns. No other model has a clear improvement like this.
If asked about the target: we had set a goal of 15 percent improvement in advance. The error improved by 13.3 percent and the probability score by 17.7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and a quarter.
We wrote down every check and its pass rule before running it. First, does the model just remember the studies? It may have read these papers during training. When we remove every detail that could identify a campaign, the LLM is still clearly better, by 0.30 points. We also asked it to pick the campaign name from a list. It was right 19 percent of the time, while random guessing gives 8 percent.
If asked about recognition: of the three campaigns behind most of the improvement, it recognised only one.
Second, does it really use the data from the other campaigns? When we mix up those values, it becomes 1.25 points worse than the curve. With no data at all, the error jumps to 5.85. So the improvement comes from reading that data.
Third, does the format matter? Changing the order of the rows or moving the ranges changes the error by only 1 to 3 percent. Fourth, is it stable? Sending the same 20 requests again changes the predictions by 0.17 points on average, smaller than the 0.42 improvement.
There are three limits. We added the LLM after we had seen the machine learning results. Its 80 percent ranges contain the real value only 62 percent of the time, so it is too confident and we only use its single number. And when we give it earlier scans from the same campaign, it ignores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forty-five seconds.
To sum up: with only 32 campaigns, standard machine learning models do not beat a simple curve that only knows the number of days. The LLM classifier, which reads the description of each campaign and the data of the others, lowers the error from 3.13 to 2.71 percentage points.
The main limits: we have only 32 campaigns, mostly young men, and no bed-rest data after day 119. Every row is a group average. So we predict how much a group loses on average, not the risk for one astronaut.
Next steps. First, find out how strongly each muscle reacts, and use that with normal muscle sizes to estimate the total loss in the legs. Second, use data from individual people over time, and link muscle loss to strength and function. Third, test everything on new campaigns and on real spaceflight data before building any personal risk tool.
If asked about the first step: the dataset has 30 group time points where three or more muscles were measured together, across 14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Thank you for listening. We are happy to answer your questions.
Backup slides: 15 and 16 on the data and the search, 17 and 18 on part 1, 19 to 21 on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extra checks: three planned checks have not been run yet. These are the composite-first analysis, the analysis without the MEDES campaign, and the analysis with MRI only. Only the weighting check has been run, and it changed the results very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search strings are in the appendix of the report and in docs/literature-review/search_log.md. PubMed uses the same two blocks, with MeSH terms and a filter for human studies. Scopus and Web of Science remove animal studies in the search itself.
The main weakness is that we only searched papers from 2013 onwards. Only two of ten known modelling papers fall in that period, and we did not test the search without this limit. We could not search Embase because we had no access. Embase includes conference abstracts that the other databases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(Niloufar).
We set the rules for which studies to include, in Table 2 of the report, before we started screening. Version 1.0 of the dataset was frozen on 14 September and version 1.1 on 19 September. All results use version 1.1.
We use the saturating curve unless another shape fits better by at least 4 AIC points.
The spaceflight rows are still in the dataset, marked as spaceflight. They were measured after landing, so the filter for measurements during unloading leaves them out.
Weighting rows by their uncertainty would need the spread of each change, and most papers do not report it. When we compared both ways of weighting, the effect of duration changed by less than 1 percentage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(Niloufar).
The dots at day 60 on slide 8 are the estimates for each muscle group, with the ranges shown here. All lines use the same curve shape, scaled to these dots. So they show the shape we assume, not a separate fit for each muscle.
The ranges are 95 percent intervals that take into account that several rows come from the same campaign. We show the calf versus shin comparison on its own because it does not depend on which muscle we use as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numbers with an asterisk are our own calculation from results/forecast_predictions.csv. They are not in the report.
If we remove the three campaigns that give most of the improvement, the interval touches zero. Say this openly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question is the nearest-neighbour test. We do not yet know whether a simple method that just picks similar rows would do as well as the LLM.
The 271 men-only rows and 100 countermeasure rows are counted on the 346 modelling rows. The report makes the same point with the 425 leg rows before duplicates were removed: 347 men-only and 126 countermeasure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5 to 119 days, and for groups, the data support three points for mission planning. Most of the loss happens in the first weeks. The calf muscles need protection first. Groups with a countermeasure, such as exercise, lose less muscle.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Gradient stripe, Earth blue to Mars red">    </p:cNvPr>
          <p:cNvPicPr>
            <a:picLocks noChangeAspect="1"/>
          </p:cNvPicPr>
          <p:nvPr/>
        </p:nvPicPr>
        <p:blipFill>
          <a:blip r:embed="rId1"/>
          <a:stretch>
            <a:fillRect/>
          </a:stretch>
        </p:blipFill>
        <p:spPr>
          <a:xfrm>
            <a:off x="0" y="0"/>
            <a:ext cx="12191695" cy="82296"/>
          </a:xfrm>
          <a:prstGeom prst="rect">
            <a:avLst/>
          </a:prstGeom>
        </p:spPr>
      </p:pic>
      <p:sp>
        <p:nvSpPr>
          <p:cNvPr id="3" name="Text 0"/>
          <p:cNvSpPr/>
          <p:nvPr>
            <p:ph idx="101" type="title" hasCustomPrompt="1"/>
          </p:nvPr>
        </p:nvSpPr>
        <p:spPr>
          <a:xfrm>
            <a:off x="548640" y="320040"/>
            <a:ext cx="11064240" cy="73152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pic>
        <p:nvPicPr>
          <p:cNvPr id="4" name="Image 1" descr="DGLRM logo">    </p:cNvPr>
          <p:cNvPicPr>
            <a:picLocks noChangeAspect="1"/>
          </p:cNvPicPr>
          <p:nvPr/>
        </p:nvPicPr>
        <p:blipFill>
          <a:blip r:embed="rId2"/>
          <a:stretch>
            <a:fillRect/>
          </a:stretch>
        </p:blipFill>
        <p:spPr>
          <a:xfrm>
            <a:off x="548640" y="6336792"/>
            <a:ext cx="1143000" cy="307258"/>
          </a:xfrm>
          <a:prstGeom prst="rect">
            <a:avLst/>
          </a:prstGeom>
        </p:spPr>
      </p:pic>
      <p:sp>
        <p:nvSpPr>
          <p:cNvPr id="5" name="Text 0"/>
          <p:cNvSpPr/>
          <p:nvPr/>
        </p:nvSpPr>
        <p:spPr>
          <a:xfrm>
            <a:off x="1828800" y="6355080"/>
            <a:ext cx="4572000" cy="274320"/>
          </a:xfrm>
          <a:prstGeom prst="rect">
            <a:avLst/>
          </a:prstGeom>
          <a:noFill/>
          <a:ln/>
        </p:spPr>
        <p:txBody>
          <a:bodyPr wrap="square" lIns="0" tIns="0" rIns="0" bIns="0" rtlCol="0" anchor="ctr"/>
          <a:lstStyle/>
          <a:p>
            <a:pPr indent="0" marL="0">
              <a:buNone/>
            </a:pPr>
            <a:r>
              <a:rPr lang="en-US" sz="1000" dirty="0">
                <a:solidFill>
                  <a:schemeClr val="accent3"/>
                </a:solidFill>
              </a:rPr>
              <a:t>From Bed Rest to Mars  |  64. Jahrestagung der DGLRM</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2.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chart" Target="/ppt/charts/chart3.xml"/><Relationship Id="rId4" Type="http://schemas.openxmlformats.org/officeDocument/2006/relationships/chart" Target="/ppt/charts/chart4.xml"/><Relationship Id="rId1" Type="http://schemas.openxmlformats.org/officeDocument/2006/relationships/image" Target="../media/image-11-1.png"/><Relationship Id="rId2" Type="http://schemas.openxmlformats.org/officeDocument/2006/relationships/image" Target="../media/image-11-2.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GLRM logo">    </p:cNvPr>
          <p:cNvPicPr>
            <a:picLocks noChangeAspect="1"/>
          </p:cNvPicPr>
          <p:nvPr/>
        </p:nvPicPr>
        <p:blipFill>
          <a:blip r:embed="rId1"/>
          <a:stretch>
            <a:fillRect/>
          </a:stretch>
        </p:blipFill>
        <p:spPr>
          <a:xfrm>
            <a:off x="822960" y="548640"/>
            <a:ext cx="2926080" cy="786581"/>
          </a:xfrm>
          <a:prstGeom prst="rect">
            <a:avLst/>
          </a:prstGeom>
        </p:spPr>
      </p:pic>
      <p:sp>
        <p:nvSpPr>
          <p:cNvPr id="3" name="Text 0"/>
          <p:cNvSpPr txBox="1"/>
          <p:nvPr/>
        </p:nvSpPr>
        <p:spPr>
          <a:xfrm>
            <a:off x="822960" y="1371600"/>
            <a:ext cx="7863840" cy="2651760"/>
          </a:xfrm>
          <a:prstGeom prst="rect">
            <a:avLst/>
          </a:prstGeom>
          <a:noFill/>
          <a:ln/>
        </p:spPr>
        <p:txBody>
          <a:bodyPr wrap="square" lIns="0" tIns="0" rIns="0" bIns="0" rtlCol="0" anchor="b"/>
          <a:lstStyle/>
          <a:p>
            <a:pPr indent="0" marL="0">
              <a:spcAft>
                <a:spcPts val="800"/>
              </a:spcAft>
              <a:buNone/>
            </a:pPr>
            <a:r>
              <a:rPr lang="en-US" sz="4400" b="1" dirty="0">
                <a:solidFill>
                  <a:srgbClr val="FFFFFF"/>
                </a:solidFill>
                <a:latin typeface="Cambria" pitchFamily="34" charset="0"/>
                <a:ea typeface="Cambria" pitchFamily="34" charset="-122"/>
                <a:cs typeface="Cambria" pitchFamily="34" charset="-120"/>
              </a:rPr>
              <a:t>From Bed Rest to Mars:</a:t>
            </a:r>
            <a:endParaRPr lang="en-US" sz="4400" dirty="0"/>
          </a:p>
          <a:p>
            <a:pPr indent="0" marL="0">
              <a:spcAft>
                <a:spcPts val="800"/>
              </a:spcAft>
              <a:buNone/>
            </a:pPr>
            <a:r>
              <a:rPr lang="en-US" sz="2200" b="1" dirty="0">
                <a:solidFill>
                  <a:srgbClr val="F2D0A9"/>
                </a:solidFill>
                <a:latin typeface="Cambria" pitchFamily="34" charset="0"/>
                <a:ea typeface="Cambria" pitchFamily="34" charset="-122"/>
                <a:cs typeface="Cambria" pitchFamily="34" charset="-120"/>
              </a:rPr>
              <a:t>Development of a Literature-Derived Machine Learning Framework for Predicting Lower-Limb Muscle Atrophy in Spaceflight Analogues</a:t>
            </a:r>
            <a:endParaRPr lang="en-US" sz="4400" dirty="0"/>
          </a:p>
        </p:txBody>
      </p:sp>
      <p:sp>
        <p:nvSpPr>
          <p:cNvPr id="4" name="Text 1"/>
          <p:cNvSpPr txBox="1"/>
          <p:nvPr/>
        </p:nvSpPr>
        <p:spPr>
          <a:xfrm>
            <a:off x="822960" y="4297680"/>
            <a:ext cx="7863840" cy="365760"/>
          </a:xfrm>
          <a:prstGeom prst="rect">
            <a:avLst/>
          </a:prstGeom>
          <a:noFill/>
          <a:ln/>
        </p:spPr>
        <p:txBody>
          <a:bodyPr wrap="square" lIns="0" tIns="0" rIns="0" bIns="0" rtlCol="0" anchor="t"/>
          <a:lstStyle/>
          <a:p>
            <a:pPr indent="0" marL="0">
              <a:buNone/>
            </a:pPr>
            <a:r>
              <a:rPr lang="en-US" sz="1800" dirty="0">
                <a:solidFill>
                  <a:srgbClr val="FFFFFF"/>
                </a:solidFill>
              </a:rPr>
              <a:t>Niloufar Ahmadymarzdashty</a:t>
            </a:r>
            <a:pPr indent="0" marL="0">
              <a:buNone/>
            </a:pPr>
            <a:r>
              <a:rPr lang="en-US" sz="1800" baseline="30000" dirty="0">
                <a:solidFill>
                  <a:srgbClr val="FFFFFF"/>
                </a:solidFill>
              </a:rPr>
              <a:t>1</a:t>
            </a:r>
            <a:pPr indent="0" marL="0">
              <a:buNone/>
            </a:pPr>
            <a:r>
              <a:rPr lang="en-US" sz="1800" dirty="0">
                <a:solidFill>
                  <a:srgbClr val="FFFFFF"/>
                </a:solidFill>
              </a:rPr>
              <a:t>,  Milad Bahari Qaragoz</a:t>
            </a:r>
            <a:pPr indent="0" marL="0">
              <a:buNone/>
            </a:pPr>
            <a:r>
              <a:rPr lang="en-US" sz="1800" baseline="30000" dirty="0">
                <a:solidFill>
                  <a:srgbClr val="FFFFFF"/>
                </a:solidFill>
              </a:rPr>
              <a:t>2</a:t>
            </a:r>
            <a:endParaRPr lang="en-US" sz="1800" dirty="0"/>
          </a:p>
        </p:txBody>
      </p:sp>
      <p:sp>
        <p:nvSpPr>
          <p:cNvPr id="5" name="Text 2"/>
          <p:cNvSpPr txBox="1"/>
          <p:nvPr/>
        </p:nvSpPr>
        <p:spPr>
          <a:xfrm>
            <a:off x="822960" y="4709160"/>
            <a:ext cx="7863840" cy="548640"/>
          </a:xfrm>
          <a:prstGeom prst="rect">
            <a:avLst/>
          </a:prstGeom>
          <a:noFill/>
          <a:ln/>
        </p:spPr>
        <p:txBody>
          <a:bodyPr wrap="square" lIns="0" tIns="0" rIns="0" bIns="0" rtlCol="0" anchor="t"/>
          <a:lstStyle/>
          <a:p>
            <a:pPr indent="0" marL="0">
              <a:buNone/>
            </a:pPr>
            <a:r>
              <a:rPr lang="en-US" sz="1400" baseline="30000" dirty="0">
                <a:solidFill>
                  <a:srgbClr val="B7C3D3"/>
                </a:solidFill>
              </a:rPr>
              <a:t>1</a:t>
            </a:r>
            <a:pPr indent="0" marL="0">
              <a:buNone/>
            </a:pPr>
            <a:r>
              <a:rPr lang="en-US" sz="1400" dirty="0">
                <a:solidFill>
                  <a:srgbClr val="B7C3D3"/>
                </a:solidFill>
              </a:rPr>
              <a:t> Independent researcher</a:t>
            </a:r>
            <a:endParaRPr lang="en-US" sz="1400" dirty="0"/>
          </a:p>
          <a:p>
            <a:pPr indent="0" marL="0">
              <a:buNone/>
            </a:pPr>
            <a:r>
              <a:rPr lang="en-US" sz="1400" baseline="30000" dirty="0">
                <a:solidFill>
                  <a:srgbClr val="B7C3D3"/>
                </a:solidFill>
              </a:rPr>
              <a:t>2</a:t>
            </a:r>
            <a:pPr indent="0" marL="0">
              <a:buNone/>
            </a:pPr>
            <a:r>
              <a:rPr lang="en-US" sz="1400" dirty="0">
                <a:solidFill>
                  <a:srgbClr val="B7C3D3"/>
                </a:solidFill>
              </a:rPr>
              <a:t> Master's candidate, Friedrich-Alexander-Universität Erlangen-Nürnberg (FAU)</a:t>
            </a:r>
            <a:endParaRPr lang="en-US" sz="1400" dirty="0"/>
          </a:p>
        </p:txBody>
      </p:sp>
      <p:sp>
        <p:nvSpPr>
          <p:cNvPr id="6" name="Text 3"/>
          <p:cNvSpPr txBox="1"/>
          <p:nvPr/>
        </p:nvSpPr>
        <p:spPr>
          <a:xfrm>
            <a:off x="822960" y="5394960"/>
            <a:ext cx="7863840" cy="365760"/>
          </a:xfrm>
          <a:prstGeom prst="rect">
            <a:avLst/>
          </a:prstGeom>
          <a:noFill/>
          <a:ln/>
        </p:spPr>
        <p:txBody>
          <a:bodyPr wrap="square" lIns="0" tIns="0" rIns="0" bIns="0" rtlCol="0" anchor="t"/>
          <a:lstStyle/>
          <a:p>
            <a:pPr indent="0" marL="0">
              <a:buNone/>
            </a:pPr>
            <a:r>
              <a:rPr lang="en-US" sz="1600" b="1" dirty="0">
                <a:solidFill>
                  <a:srgbClr val="F2D0A9"/>
                </a:solidFill>
              </a:rPr>
              <a:t>64. Jahrestagung der DGLRM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Agenda</a:t>
            </a:r>
            <a:endParaRPr lang="en-US" sz="2800" dirty="0"/>
          </a:p>
        </p:txBody>
      </p:sp>
      <p:sp>
        <p:nvSpPr>
          <p:cNvPr id="3" name="Agenda line"/>
          <p:cNvSpPr/>
          <p:nvPr/>
        </p:nvSpPr>
        <p:spPr>
          <a:xfrm>
            <a:off x="685800" y="3429000"/>
            <a:ext cx="10789920" cy="0"/>
          </a:xfrm>
          <a:prstGeom prst="line">
            <a:avLst/>
          </a:prstGeom>
          <a:noFill/>
          <a:ln w="19050">
            <a:solidFill>
              <a:srgbClr val="98A6B5"/>
            </a:solidFill>
            <a:prstDash val="dash"/>
          </a:ln>
        </p:spPr>
      </p:sp>
      <p:pic>
        <p:nvPicPr>
          <p:cNvPr id="4" name="Image 0" descr="Earth">    </p:cNvPr>
          <p:cNvPicPr>
            <a:picLocks noChangeAspect="1"/>
          </p:cNvPicPr>
          <p:nvPr/>
        </p:nvPicPr>
        <p:blipFill>
          <a:blip r:embed="rId1"/>
          <a:stretch>
            <a:fillRect/>
          </a:stretch>
        </p:blipFill>
        <p:spPr>
          <a:xfrm>
            <a:off x="457200" y="3218688"/>
            <a:ext cx="420624" cy="420624"/>
          </a:xfrm>
          <a:prstGeom prst="rect">
            <a:avLst/>
          </a:prstGeom>
        </p:spPr>
      </p:pic>
      <p:pic>
        <p:nvPicPr>
          <p:cNvPr id="5" name="Image 1" descr="Mars">    </p:cNvPr>
          <p:cNvPicPr>
            <a:picLocks noChangeAspect="1"/>
          </p:cNvPicPr>
          <p:nvPr/>
        </p:nvPicPr>
        <p:blipFill>
          <a:blip r:embed="rId2"/>
          <a:stretch>
            <a:fillRect/>
          </a:stretch>
        </p:blipFill>
        <p:spPr>
          <a:xfrm>
            <a:off x="11274552" y="3191256"/>
            <a:ext cx="475488" cy="475488"/>
          </a:xfrm>
          <a:prstGeom prst="rect">
            <a:avLst/>
          </a:prstGeom>
        </p:spPr>
      </p:pic>
      <p:sp>
        <p:nvSpPr>
          <p:cNvPr id="6" name="Part 1 bracket"/>
          <p:cNvSpPr/>
          <p:nvPr/>
        </p:nvSpPr>
        <p:spPr>
          <a:xfrm>
            <a:off x="1005840" y="2834640"/>
            <a:ext cx="4443984" cy="0"/>
          </a:xfrm>
          <a:prstGeom prst="line">
            <a:avLst/>
          </a:prstGeom>
          <a:noFill/>
          <a:ln w="12700">
            <a:solidFill>
              <a:srgbClr val="0B2545"/>
            </a:solidFill>
            <a:prstDash val="solid"/>
          </a:ln>
        </p:spPr>
      </p:sp>
      <p:sp>
        <p:nvSpPr>
          <p:cNvPr id="7" name="Part 1 bracket left"/>
          <p:cNvSpPr/>
          <p:nvPr/>
        </p:nvSpPr>
        <p:spPr>
          <a:xfrm>
            <a:off x="1005840" y="2834640"/>
            <a:ext cx="0" cy="137160"/>
          </a:xfrm>
          <a:prstGeom prst="line">
            <a:avLst/>
          </a:prstGeom>
          <a:noFill/>
          <a:ln w="12700">
            <a:solidFill>
              <a:srgbClr val="0B2545"/>
            </a:solidFill>
            <a:prstDash val="solid"/>
          </a:ln>
        </p:spPr>
      </p:sp>
      <p:sp>
        <p:nvSpPr>
          <p:cNvPr id="8" name="Part 1 bracket right"/>
          <p:cNvSpPr/>
          <p:nvPr/>
        </p:nvSpPr>
        <p:spPr>
          <a:xfrm>
            <a:off x="5449824" y="2834640"/>
            <a:ext cx="0" cy="137160"/>
          </a:xfrm>
          <a:prstGeom prst="line">
            <a:avLst/>
          </a:prstGeom>
          <a:noFill/>
          <a:ln w="12700">
            <a:solidFill>
              <a:srgbClr val="0B2545"/>
            </a:solidFill>
            <a:prstDash val="solid"/>
          </a:ln>
        </p:spPr>
      </p:sp>
      <p:sp>
        <p:nvSpPr>
          <p:cNvPr id="9" name="Text 5"/>
          <p:cNvSpPr txBox="1"/>
          <p:nvPr/>
        </p:nvSpPr>
        <p:spPr>
          <a:xfrm>
            <a:off x="1005840" y="2103120"/>
            <a:ext cx="4443984" cy="640080"/>
          </a:xfrm>
          <a:prstGeom prst="rect">
            <a:avLst/>
          </a:prstGeom>
          <a:noFill/>
          <a:ln/>
        </p:spPr>
        <p:txBody>
          <a:bodyPr wrap="square" lIns="0" tIns="0" rIns="0" bIns="0" rtlCol="0" anchor="b"/>
          <a:lstStyle/>
          <a:p>
            <a:pPr algn="ctr" indent="0" marL="0">
              <a:buNone/>
            </a:pPr>
            <a:r>
              <a:rPr lang="en-US" sz="1600" b="1" dirty="0">
                <a:solidFill>
                  <a:schemeClr val="tx2"/>
                </a:solidFill>
              </a:rPr>
              <a:t>Part 1: background and data</a:t>
            </a:r>
            <a:endParaRPr lang="en-US" sz="1600" dirty="0"/>
          </a:p>
          <a:p>
            <a:pPr algn="ctr" indent="0" marL="0">
              <a:buNone/>
            </a:pPr>
            <a:r>
              <a:rPr lang="en-US" sz="1400" dirty="0">
                <a:solidFill>
                  <a:schemeClr val="accent3"/>
                </a:solidFill>
              </a:rPr>
              <a:t>Niloufar Ahmadymarzdashty</a:t>
            </a:r>
            <a:endParaRPr lang="en-US" sz="1600" dirty="0"/>
          </a:p>
        </p:txBody>
      </p:sp>
      <p:sp>
        <p:nvSpPr>
          <p:cNvPr id="10" name="Part 2 bracket"/>
          <p:cNvSpPr/>
          <p:nvPr/>
        </p:nvSpPr>
        <p:spPr>
          <a:xfrm>
            <a:off x="6711696" y="2834640"/>
            <a:ext cx="4443984" cy="0"/>
          </a:xfrm>
          <a:prstGeom prst="line">
            <a:avLst/>
          </a:prstGeom>
          <a:noFill/>
          <a:ln w="12700">
            <a:solidFill>
              <a:srgbClr val="0B2545"/>
            </a:solidFill>
            <a:prstDash val="solid"/>
          </a:ln>
        </p:spPr>
      </p:sp>
      <p:sp>
        <p:nvSpPr>
          <p:cNvPr id="11" name="Part 2 bracket left"/>
          <p:cNvSpPr/>
          <p:nvPr/>
        </p:nvSpPr>
        <p:spPr>
          <a:xfrm>
            <a:off x="6711696" y="2834640"/>
            <a:ext cx="0" cy="137160"/>
          </a:xfrm>
          <a:prstGeom prst="line">
            <a:avLst/>
          </a:prstGeom>
          <a:noFill/>
          <a:ln w="12700">
            <a:solidFill>
              <a:srgbClr val="0B2545"/>
            </a:solidFill>
            <a:prstDash val="solid"/>
          </a:ln>
        </p:spPr>
      </p:sp>
      <p:sp>
        <p:nvSpPr>
          <p:cNvPr id="12" name="Part 2 bracket right"/>
          <p:cNvSpPr/>
          <p:nvPr/>
        </p:nvSpPr>
        <p:spPr>
          <a:xfrm>
            <a:off x="11155680" y="2834640"/>
            <a:ext cx="0" cy="137160"/>
          </a:xfrm>
          <a:prstGeom prst="line">
            <a:avLst/>
          </a:prstGeom>
          <a:noFill/>
          <a:ln w="12700">
            <a:solidFill>
              <a:srgbClr val="0B2545"/>
            </a:solidFill>
            <a:prstDash val="solid"/>
          </a:ln>
        </p:spPr>
      </p:sp>
      <p:sp>
        <p:nvSpPr>
          <p:cNvPr id="13" name="Text 9"/>
          <p:cNvSpPr txBox="1"/>
          <p:nvPr/>
        </p:nvSpPr>
        <p:spPr>
          <a:xfrm>
            <a:off x="6711696" y="2103120"/>
            <a:ext cx="4443984" cy="640080"/>
          </a:xfrm>
          <a:prstGeom prst="rect">
            <a:avLst/>
          </a:prstGeom>
          <a:noFill/>
          <a:ln/>
        </p:spPr>
        <p:txBody>
          <a:bodyPr wrap="square" lIns="0" tIns="0" rIns="0" bIns="0" rtlCol="0" anchor="b"/>
          <a:lstStyle/>
          <a:p>
            <a:pPr algn="ctr" indent="0" marL="0">
              <a:buNone/>
            </a:pPr>
            <a:r>
              <a:rPr lang="en-US" sz="1600" b="1" dirty="0">
                <a:solidFill>
                  <a:schemeClr val="tx2"/>
                </a:solidFill>
              </a:rPr>
              <a:t>Part 2: modelling and prediction</a:t>
            </a:r>
            <a:endParaRPr lang="en-US" sz="1600" dirty="0"/>
          </a:p>
          <a:p>
            <a:pPr algn="ctr" indent="0" marL="0">
              <a:buNone/>
            </a:pPr>
            <a:r>
              <a:rPr lang="en-US" sz="1400" dirty="0">
                <a:solidFill>
                  <a:schemeClr val="accent3"/>
                </a:solidFill>
              </a:rPr>
              <a:t>Milad Bahari Qaragoz</a:t>
            </a:r>
            <a:endParaRPr lang="en-US" sz="1600" dirty="0"/>
          </a:p>
        </p:txBody>
      </p:sp>
      <p:sp>
        <p:nvSpPr>
          <p:cNvPr id="14" name="Agenda 1"/>
          <p:cNvSpPr/>
          <p:nvPr/>
        </p:nvSpPr>
        <p:spPr>
          <a:xfrm>
            <a:off x="1005840" y="3108960"/>
            <a:ext cx="640080" cy="640080"/>
          </a:xfrm>
          <a:prstGeom prst="ellipse">
            <a:avLst/>
          </a:prstGeom>
          <a:solidFill>
            <a:schemeClr val="tx2"/>
          </a:solidFill>
          <a:ln/>
        </p:spPr>
      </p:sp>
      <p:sp>
        <p:nvSpPr>
          <p:cNvPr id="15" name="Text 11"/>
          <p:cNvSpPr txBox="1"/>
          <p:nvPr/>
        </p:nvSpPr>
        <p:spPr>
          <a:xfrm>
            <a:off x="1005840" y="31089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6" name="Text 12"/>
          <p:cNvSpPr txBox="1"/>
          <p:nvPr/>
        </p:nvSpPr>
        <p:spPr>
          <a:xfrm>
            <a:off x="429768" y="3977640"/>
            <a:ext cx="1792224" cy="1463040"/>
          </a:xfrm>
          <a:prstGeom prst="rect">
            <a:avLst/>
          </a:prstGeom>
          <a:noFill/>
          <a:ln/>
        </p:spPr>
        <p:txBody>
          <a:bodyPr wrap="square" lIns="0" tIns="0" rIns="0" bIns="0" rtlCol="0" anchor="t"/>
          <a:lstStyle/>
          <a:p>
            <a:pPr algn="ctr" indent="0" marL="0">
              <a:buNone/>
            </a:pPr>
            <a:r>
              <a:rPr lang="en-US" sz="1600" b="1" dirty="0">
                <a:solidFill>
                  <a:schemeClr val="tx2"/>
                </a:solidFill>
              </a:rPr>
              <a:t>Intro and motivation</a:t>
            </a:r>
            <a:endParaRPr lang="en-US" sz="1600" dirty="0"/>
          </a:p>
          <a:p>
            <a:pPr algn="ctr" indent="0" marL="0">
              <a:buNone/>
            </a:pPr>
            <a:r>
              <a:rPr lang="en-US" sz="1400" dirty="0">
                <a:solidFill>
                  <a:schemeClr val="tx1"/>
                </a:solidFill>
              </a:rPr>
              <a:t>Why predict muscle loss; from bed rest to Mars</a:t>
            </a:r>
            <a:endParaRPr lang="en-US" sz="1600" dirty="0"/>
          </a:p>
        </p:txBody>
      </p:sp>
      <p:sp>
        <p:nvSpPr>
          <p:cNvPr id="17" name="Agenda 2"/>
          <p:cNvSpPr/>
          <p:nvPr/>
        </p:nvSpPr>
        <p:spPr>
          <a:xfrm>
            <a:off x="2907792" y="3108960"/>
            <a:ext cx="640080" cy="640080"/>
          </a:xfrm>
          <a:prstGeom prst="ellipse">
            <a:avLst/>
          </a:prstGeom>
          <a:solidFill>
            <a:schemeClr val="tx2"/>
          </a:solidFill>
          <a:ln/>
        </p:spPr>
      </p:sp>
      <p:sp>
        <p:nvSpPr>
          <p:cNvPr id="18" name="Text 14"/>
          <p:cNvSpPr txBox="1"/>
          <p:nvPr/>
        </p:nvSpPr>
        <p:spPr>
          <a:xfrm>
            <a:off x="2907792" y="31089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9" name="Text 15"/>
          <p:cNvSpPr txBox="1"/>
          <p:nvPr/>
        </p:nvSpPr>
        <p:spPr>
          <a:xfrm>
            <a:off x="2331720" y="3977640"/>
            <a:ext cx="1792224" cy="1463040"/>
          </a:xfrm>
          <a:prstGeom prst="rect">
            <a:avLst/>
          </a:prstGeom>
          <a:noFill/>
          <a:ln/>
        </p:spPr>
        <p:txBody>
          <a:bodyPr wrap="square" lIns="0" tIns="0" rIns="0" bIns="0" rtlCol="0" anchor="t"/>
          <a:lstStyle/>
          <a:p>
            <a:pPr algn="ctr" indent="0" marL="0">
              <a:buNone/>
            </a:pPr>
            <a:r>
              <a:rPr lang="en-US" sz="1600" b="1" dirty="0">
                <a:solidFill>
                  <a:schemeClr val="tx2"/>
                </a:solidFill>
              </a:rPr>
              <a:t>Literature research</a:t>
            </a:r>
            <a:endParaRPr lang="en-US" sz="1600" dirty="0"/>
          </a:p>
          <a:p>
            <a:pPr algn="ctr" indent="0" marL="0">
              <a:buNone/>
            </a:pPr>
            <a:r>
              <a:rPr lang="en-US" sz="1400" dirty="0">
                <a:solidFill>
                  <a:schemeClr val="tx1"/>
                </a:solidFill>
              </a:rPr>
              <a:t>Range of studies; search and screening</a:t>
            </a:r>
            <a:endParaRPr lang="en-US" sz="1600" dirty="0"/>
          </a:p>
        </p:txBody>
      </p:sp>
      <p:sp>
        <p:nvSpPr>
          <p:cNvPr id="20" name="Agenda 3"/>
          <p:cNvSpPr/>
          <p:nvPr/>
        </p:nvSpPr>
        <p:spPr>
          <a:xfrm>
            <a:off x="4809744" y="3108960"/>
            <a:ext cx="640080" cy="640080"/>
          </a:xfrm>
          <a:prstGeom prst="ellipse">
            <a:avLst/>
          </a:prstGeom>
          <a:solidFill>
            <a:schemeClr val="tx2"/>
          </a:solidFill>
          <a:ln/>
        </p:spPr>
      </p:sp>
      <p:sp>
        <p:nvSpPr>
          <p:cNvPr id="21" name="Text 17"/>
          <p:cNvSpPr txBox="1"/>
          <p:nvPr/>
        </p:nvSpPr>
        <p:spPr>
          <a:xfrm>
            <a:off x="4809744" y="31089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8"/>
          <p:cNvSpPr txBox="1"/>
          <p:nvPr/>
        </p:nvSpPr>
        <p:spPr>
          <a:xfrm>
            <a:off x="4233672" y="3977640"/>
            <a:ext cx="1792224" cy="1463040"/>
          </a:xfrm>
          <a:prstGeom prst="rect">
            <a:avLst/>
          </a:prstGeom>
          <a:noFill/>
          <a:ln/>
        </p:spPr>
        <p:txBody>
          <a:bodyPr wrap="square" lIns="0" tIns="0" rIns="0" bIns="0" rtlCol="0" anchor="t"/>
          <a:lstStyle/>
          <a:p>
            <a:pPr algn="ctr" indent="0" marL="0">
              <a:buNone/>
            </a:pPr>
            <a:r>
              <a:rPr lang="en-US" sz="1600" b="1" dirty="0">
                <a:solidFill>
                  <a:schemeClr val="tx2"/>
                </a:solidFill>
              </a:rPr>
              <a:t>Data extraction and database</a:t>
            </a:r>
            <a:endParaRPr lang="en-US" sz="1600" dirty="0"/>
          </a:p>
          <a:p>
            <a:pPr algn="ctr" indent="0" marL="0">
              <a:buNone/>
            </a:pPr>
            <a:r>
              <a:rPr lang="en-US" sz="1400" dirty="0">
                <a:solidFill>
                  <a:schemeClr val="tx1"/>
                </a:solidFill>
              </a:rPr>
              <a:t>Dataset contents; loss per muscle group</a:t>
            </a:r>
            <a:endParaRPr lang="en-US" sz="1600" dirty="0"/>
          </a:p>
        </p:txBody>
      </p:sp>
      <p:sp>
        <p:nvSpPr>
          <p:cNvPr id="23" name="Agenda 4"/>
          <p:cNvSpPr/>
          <p:nvPr/>
        </p:nvSpPr>
        <p:spPr>
          <a:xfrm>
            <a:off x="6711696" y="3108960"/>
            <a:ext cx="640080" cy="640080"/>
          </a:xfrm>
          <a:prstGeom prst="ellipse">
            <a:avLst/>
          </a:prstGeom>
          <a:solidFill>
            <a:schemeClr val="accent1"/>
          </a:solidFill>
          <a:ln/>
        </p:spPr>
      </p:sp>
      <p:sp>
        <p:nvSpPr>
          <p:cNvPr id="24" name="Text 20"/>
          <p:cNvSpPr txBox="1"/>
          <p:nvPr/>
        </p:nvSpPr>
        <p:spPr>
          <a:xfrm>
            <a:off x="6711696" y="31089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5" name="Text 21"/>
          <p:cNvSpPr txBox="1"/>
          <p:nvPr/>
        </p:nvSpPr>
        <p:spPr>
          <a:xfrm>
            <a:off x="6135624" y="3977640"/>
            <a:ext cx="1792224" cy="1463040"/>
          </a:xfrm>
          <a:prstGeom prst="rect">
            <a:avLst/>
          </a:prstGeom>
          <a:noFill/>
          <a:ln/>
        </p:spPr>
        <p:txBody>
          <a:bodyPr wrap="square" lIns="0" tIns="0" rIns="0" bIns="0" rtlCol="0" anchor="t"/>
          <a:lstStyle/>
          <a:p>
            <a:pPr algn="ctr" indent="0" marL="0">
              <a:buNone/>
            </a:pPr>
            <a:r>
              <a:rPr lang="en-US" sz="1600" b="1" dirty="0">
                <a:solidFill>
                  <a:schemeClr val="tx2"/>
                </a:solidFill>
              </a:rPr>
              <a:t>ML framework</a:t>
            </a:r>
            <a:endParaRPr lang="en-US" sz="1600" dirty="0"/>
          </a:p>
          <a:p>
            <a:pPr algn="ctr" indent="0" marL="0">
              <a:buNone/>
            </a:pPr>
            <a:r>
              <a:rPr lang="en-US" sz="1400" dirty="0">
                <a:solidFill>
                  <a:schemeClr val="tx1"/>
                </a:solidFill>
              </a:rPr>
              <a:t>Testing on unseen campaigns</a:t>
            </a:r>
            <a:endParaRPr lang="en-US" sz="1600" dirty="0"/>
          </a:p>
        </p:txBody>
      </p:sp>
      <p:sp>
        <p:nvSpPr>
          <p:cNvPr id="26" name="Agenda 5"/>
          <p:cNvSpPr/>
          <p:nvPr/>
        </p:nvSpPr>
        <p:spPr>
          <a:xfrm>
            <a:off x="8613648" y="3108960"/>
            <a:ext cx="640080" cy="640080"/>
          </a:xfrm>
          <a:prstGeom prst="ellipse">
            <a:avLst/>
          </a:prstGeom>
          <a:solidFill>
            <a:schemeClr val="accent1"/>
          </a:solidFill>
          <a:ln/>
        </p:spPr>
      </p:sp>
      <p:sp>
        <p:nvSpPr>
          <p:cNvPr id="27" name="Text 23"/>
          <p:cNvSpPr txBox="1"/>
          <p:nvPr/>
        </p:nvSpPr>
        <p:spPr>
          <a:xfrm>
            <a:off x="8613648" y="31089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8" name="Text 24"/>
          <p:cNvSpPr txBox="1"/>
          <p:nvPr/>
        </p:nvSpPr>
        <p:spPr>
          <a:xfrm>
            <a:off x="8037576" y="3977640"/>
            <a:ext cx="1792224" cy="1463040"/>
          </a:xfrm>
          <a:prstGeom prst="rect">
            <a:avLst/>
          </a:prstGeom>
          <a:noFill/>
          <a:ln/>
        </p:spPr>
        <p:txBody>
          <a:bodyPr wrap="square" lIns="0" tIns="0" rIns="0" bIns="0" rtlCol="0" anchor="t"/>
          <a:lstStyle/>
          <a:p>
            <a:pPr algn="ctr" indent="0" marL="0">
              <a:buNone/>
            </a:pPr>
            <a:r>
              <a:rPr lang="en-US" sz="1600" b="1" dirty="0">
                <a:solidFill>
                  <a:schemeClr val="tx2"/>
                </a:solidFill>
              </a:rPr>
              <a:t>Models and results</a:t>
            </a:r>
            <a:endParaRPr lang="en-US" sz="1600" dirty="0"/>
          </a:p>
          <a:p>
            <a:pPr algn="ctr" indent="0" marL="0">
              <a:buNone/>
            </a:pPr>
            <a:r>
              <a:rPr lang="en-US" sz="1400" dirty="0">
                <a:solidFill>
                  <a:schemeClr val="tx1"/>
                </a:solidFill>
              </a:rPr>
              <a:t>Model comparison; LLM validity checks</a:t>
            </a:r>
            <a:endParaRPr lang="en-US" sz="1600" dirty="0"/>
          </a:p>
        </p:txBody>
      </p:sp>
      <p:sp>
        <p:nvSpPr>
          <p:cNvPr id="29" name="Agenda 6"/>
          <p:cNvSpPr/>
          <p:nvPr/>
        </p:nvSpPr>
        <p:spPr>
          <a:xfrm>
            <a:off x="10515600" y="3108960"/>
            <a:ext cx="640080" cy="640080"/>
          </a:xfrm>
          <a:prstGeom prst="ellipse">
            <a:avLst/>
          </a:prstGeom>
          <a:solidFill>
            <a:schemeClr val="accent1"/>
          </a:solidFill>
          <a:ln/>
        </p:spPr>
      </p:sp>
      <p:sp>
        <p:nvSpPr>
          <p:cNvPr id="30" name="Text 26"/>
          <p:cNvSpPr txBox="1"/>
          <p:nvPr/>
        </p:nvSpPr>
        <p:spPr>
          <a:xfrm>
            <a:off x="10515600" y="31089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1" name="Text 27"/>
          <p:cNvSpPr txBox="1"/>
          <p:nvPr/>
        </p:nvSpPr>
        <p:spPr>
          <a:xfrm>
            <a:off x="9939528" y="3977640"/>
            <a:ext cx="1792224" cy="1463040"/>
          </a:xfrm>
          <a:prstGeom prst="rect">
            <a:avLst/>
          </a:prstGeom>
          <a:noFill/>
          <a:ln/>
        </p:spPr>
        <p:txBody>
          <a:bodyPr wrap="square" lIns="0" tIns="0" rIns="0" bIns="0" rtlCol="0" anchor="t"/>
          <a:lstStyle/>
          <a:p>
            <a:pPr algn="ctr" indent="0" marL="0">
              <a:buNone/>
            </a:pPr>
            <a:r>
              <a:rPr lang="en-US" sz="1600" b="1" dirty="0">
                <a:solidFill>
                  <a:schemeClr val="tx2"/>
                </a:solidFill>
              </a:rPr>
              <a:t>Conclusion</a:t>
            </a:r>
            <a:endParaRPr lang="en-US" sz="1600" dirty="0"/>
          </a:p>
          <a:p>
            <a:pPr algn="ctr" indent="0" marL="0">
              <a:buNone/>
            </a:pPr>
            <a:r>
              <a:rPr lang="en-US" sz="1400" dirty="0">
                <a:solidFill>
                  <a:schemeClr val="tx1"/>
                </a:solidFill>
              </a:rPr>
              <a:t>Findings, limitations, further work</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8988552" y="6382512"/>
            <a:ext cx="219456" cy="219456"/>
          </a:xfrm>
          <a:prstGeom prst="ellipse">
            <a:avLst/>
          </a:prstGeom>
          <a:solidFill>
            <a:schemeClr val="accent1"/>
          </a:solidFill>
          <a:ln w="9525">
            <a:solidFill>
              <a:srgbClr val="C1440E"/>
            </a:solidFill>
            <a:prstDash val="solid"/>
          </a:ln>
        </p:spPr>
      </p:sp>
      <p:sp>
        <p:nvSpPr>
          <p:cNvPr id="6" name="Tracker 2 Literature research"/>
          <p:cNvSpPr/>
          <p:nvPr/>
        </p:nvSpPr>
        <p:spPr>
          <a:xfrm>
            <a:off x="9386316" y="6432804"/>
            <a:ext cx="118872" cy="118872"/>
          </a:xfrm>
          <a:prstGeom prst="ellipse">
            <a:avLst/>
          </a:prstGeom>
          <a:solidFill>
            <a:schemeClr val="bg1"/>
          </a:solidFill>
          <a:ln w="9525">
            <a:solidFill>
              <a:srgbClr val="98A6B5"/>
            </a:solidFill>
            <a:prstDash val="solid"/>
          </a:ln>
        </p:spPr>
      </p:sp>
      <p:sp>
        <p:nvSpPr>
          <p:cNvPr id="7" name="Tracker 3 Data extraction and database"/>
          <p:cNvSpPr/>
          <p:nvPr/>
        </p:nvSpPr>
        <p:spPr>
          <a:xfrm>
            <a:off x="9733788" y="6432804"/>
            <a:ext cx="118872" cy="118872"/>
          </a:xfrm>
          <a:prstGeom prst="ellipse">
            <a:avLst/>
          </a:prstGeom>
          <a:solidFill>
            <a:schemeClr val="bg1"/>
          </a:solidFill>
          <a:ln w="9525">
            <a:solidFill>
              <a:srgbClr val="98A6B5"/>
            </a:solidFill>
            <a:prstDash val="solid"/>
          </a:ln>
        </p:spPr>
      </p:sp>
      <p:sp>
        <p:nvSpPr>
          <p:cNvPr id="8" name="Tracker 4 ML framework"/>
          <p:cNvSpPr/>
          <p:nvPr/>
        </p:nvSpPr>
        <p:spPr>
          <a:xfrm>
            <a:off x="10081260" y="6432804"/>
            <a:ext cx="118872" cy="118872"/>
          </a:xfrm>
          <a:prstGeom prst="ellipse">
            <a:avLst/>
          </a:prstGeom>
          <a:solidFill>
            <a:schemeClr val="bg1"/>
          </a:solidFill>
          <a:ln w="9525">
            <a:solidFill>
              <a:srgbClr val="98A6B5"/>
            </a:solidFill>
            <a:prstDash val="solid"/>
          </a:ln>
        </p:spPr>
      </p:sp>
      <p:sp>
        <p:nvSpPr>
          <p:cNvPr id="9" name="Tracker 5 Models and results"/>
          <p:cNvSpPr/>
          <p:nvPr/>
        </p:nvSpPr>
        <p:spPr>
          <a:xfrm>
            <a:off x="10428732" y="6432804"/>
            <a:ext cx="118872" cy="118872"/>
          </a:xfrm>
          <a:prstGeom prst="ellipse">
            <a:avLst/>
          </a:prstGeom>
          <a:solidFill>
            <a:schemeClr val="bg1"/>
          </a:solidFill>
          <a:ln w="9525">
            <a:solidFill>
              <a:srgbClr val="98A6B5"/>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1  Intro and motivation</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Motivation: predicting lower-limb muscle atrophy</a:t>
            </a:r>
            <a:endParaRPr lang="en-US" sz="2800" dirty="0"/>
          </a:p>
        </p:txBody>
      </p:sp>
      <p:sp>
        <p:nvSpPr>
          <p:cNvPr id="13" name="Text 9"/>
          <p:cNvSpPr txBox="1"/>
          <p:nvPr/>
        </p:nvSpPr>
        <p:spPr>
          <a:xfrm>
            <a:off x="548640" y="1234440"/>
            <a:ext cx="6035040" cy="4206240"/>
          </a:xfrm>
          <a:prstGeom prst="rect">
            <a:avLst/>
          </a:prstGeom>
          <a:noFill/>
          <a:ln/>
        </p:spPr>
        <p:txBody>
          <a:bodyPr wrap="square" lIns="0" tIns="0" rIns="0" bIns="0" rtlCol="0" anchor="t"/>
          <a:lstStyle/>
          <a:p>
            <a:pPr indent="0" marL="0">
              <a:spcAft>
                <a:spcPts val="800"/>
              </a:spcAft>
              <a:buNone/>
            </a:pPr>
            <a:r>
              <a:rPr lang="en-US" sz="2000" b="1" dirty="0">
                <a:solidFill>
                  <a:schemeClr val="tx2"/>
                </a:solidFill>
              </a:rPr>
              <a:t>Why prediction matters</a:t>
            </a:r>
            <a:endParaRPr lang="en-US" sz="2000" dirty="0"/>
          </a:p>
          <a:p>
            <a:pPr marL="342900" indent="-342900">
              <a:spcAft>
                <a:spcPts val="1000"/>
              </a:spcAft>
              <a:buSzPct val="100000"/>
              <a:buChar char="•"/>
            </a:pPr>
            <a:r>
              <a:rPr lang="en-US" sz="1700" dirty="0">
                <a:solidFill>
                  <a:schemeClr val="tx1"/>
                </a:solidFill>
              </a:rPr>
              <a:t>Prevention: identify risk early and leave time to intervene</a:t>
            </a:r>
            <a:endParaRPr lang="en-US" sz="2000" dirty="0"/>
          </a:p>
          <a:p>
            <a:pPr marL="342900" indent="-342900">
              <a:spcAft>
                <a:spcPts val="1000"/>
              </a:spcAft>
              <a:buSzPct val="100000"/>
              <a:buChar char="•"/>
            </a:pPr>
            <a:r>
              <a:rPr lang="en-US" sz="1700" dirty="0">
                <a:solidFill>
                  <a:schemeClr val="tx1"/>
                </a:solidFill>
              </a:rPr>
              <a:t>Countermeasures: match exercise and nutrition to the predicted risk</a:t>
            </a:r>
            <a:endParaRPr lang="en-US" sz="2000" dirty="0"/>
          </a:p>
          <a:p>
            <a:pPr marL="342900" indent="-342900">
              <a:spcAft>
                <a:spcPts val="1000"/>
              </a:spcAft>
              <a:buSzPct val="100000"/>
              <a:buChar char="•"/>
            </a:pPr>
            <a:r>
              <a:rPr lang="en-US" sz="1700" dirty="0">
                <a:solidFill>
                  <a:schemeClr val="tx1"/>
                </a:solidFill>
              </a:rPr>
              <a:t>Vulnerable muscles: show which muscles need closer monitoring</a:t>
            </a:r>
            <a:endParaRPr lang="en-US" sz="2000" dirty="0"/>
          </a:p>
          <a:p>
            <a:pPr marL="342900" indent="-342900">
              <a:spcAft>
                <a:spcPts val="1000"/>
              </a:spcAft>
              <a:buSzPct val="100000"/>
              <a:buChar char="•"/>
            </a:pPr>
            <a:r>
              <a:rPr lang="en-US" sz="1700" dirty="0">
                <a:solidFill>
                  <a:schemeClr val="tx1"/>
                </a:solidFill>
              </a:rPr>
              <a:t>Function: less muscle loss helps preserve strength and power</a:t>
            </a:r>
            <a:endParaRPr lang="en-US" sz="2000" dirty="0"/>
          </a:p>
          <a:p>
            <a:pPr marL="342900" indent="-342900">
              <a:spcAft>
                <a:spcPts val="1000"/>
              </a:spcAft>
              <a:buSzPct val="100000"/>
              <a:buChar char="•"/>
            </a:pPr>
            <a:r>
              <a:rPr lang="en-US" sz="1700" dirty="0">
                <a:solidFill>
                  <a:schemeClr val="tx1"/>
                </a:solidFill>
              </a:rPr>
              <a:t>Mission planning: estimate muscle loss on long missions with limited exercise equipment</a:t>
            </a:r>
            <a:endParaRPr lang="en-US" sz="2000" dirty="0"/>
          </a:p>
        </p:txBody>
      </p:sp>
      <p:sp>
        <p:nvSpPr>
          <p:cNvPr id="14" name="Illustration panel"/>
          <p:cNvSpPr/>
          <p:nvPr/>
        </p:nvSpPr>
        <p:spPr>
          <a:xfrm>
            <a:off x="6903720" y="1234440"/>
            <a:ext cx="4736592" cy="4892040"/>
          </a:xfrm>
          <a:prstGeom prst="rect">
            <a:avLst/>
          </a:prstGeom>
          <a:solidFill>
            <a:schemeClr val="bg2"/>
          </a:solidFill>
          <a:ln/>
        </p:spPr>
      </p:sp>
      <p:sp>
        <p:nvSpPr>
          <p:cNvPr id="15" name="Text 11"/>
          <p:cNvSpPr txBox="1"/>
          <p:nvPr/>
        </p:nvSpPr>
        <p:spPr>
          <a:xfrm>
            <a:off x="7132320" y="1371600"/>
            <a:ext cx="4279392" cy="320040"/>
          </a:xfrm>
          <a:prstGeom prst="rect">
            <a:avLst/>
          </a:prstGeom>
          <a:noFill/>
          <a:ln/>
        </p:spPr>
        <p:txBody>
          <a:bodyPr wrap="square" lIns="0" tIns="0" rIns="0" bIns="0" rtlCol="0" anchor="t"/>
          <a:lstStyle/>
          <a:p>
            <a:pPr indent="0" marL="0">
              <a:buNone/>
            </a:pPr>
            <a:r>
              <a:rPr lang="en-US" sz="1400" b="1" dirty="0">
                <a:solidFill>
                  <a:schemeClr val="tx2"/>
                </a:solidFill>
              </a:rPr>
              <a:t>Figure 1. Unloading shrinks leg muscles</a:t>
            </a:r>
            <a:endParaRPr lang="en-US" sz="1400" dirty="0"/>
          </a:p>
        </p:txBody>
      </p:sp>
      <p:sp>
        <p:nvSpPr>
          <p:cNvPr id="16" name="Bed"/>
          <p:cNvSpPr/>
          <p:nvPr/>
        </p:nvSpPr>
        <p:spPr>
          <a:xfrm rot="360000">
            <a:off x="7315200" y="2377440"/>
            <a:ext cx="3931920" cy="128016"/>
          </a:xfrm>
          <a:prstGeom prst="rect">
            <a:avLst/>
          </a:prstGeom>
          <a:solidFill>
            <a:schemeClr val="accent3"/>
          </a:solidFill>
          <a:ln/>
        </p:spPr>
      </p:sp>
      <p:sp>
        <p:nvSpPr>
          <p:cNvPr id="17" name="Body"/>
          <p:cNvSpPr/>
          <p:nvPr/>
        </p:nvSpPr>
        <p:spPr>
          <a:xfrm rot="360000">
            <a:off x="7863840" y="2093976"/>
            <a:ext cx="2606040" cy="329184"/>
          </a:xfrm>
          <a:prstGeom prst="roundRect">
            <a:avLst>
              <a:gd name="adj" fmla="val 41667"/>
            </a:avLst>
          </a:prstGeom>
          <a:solidFill>
            <a:schemeClr val="tx2"/>
          </a:solidFill>
          <a:ln/>
        </p:spPr>
      </p:sp>
      <p:sp>
        <p:nvSpPr>
          <p:cNvPr id="18" name="Head"/>
          <p:cNvSpPr/>
          <p:nvPr/>
        </p:nvSpPr>
        <p:spPr>
          <a:xfrm>
            <a:off x="10469880" y="2167128"/>
            <a:ext cx="384048" cy="384048"/>
          </a:xfrm>
          <a:prstGeom prst="ellipse">
            <a:avLst/>
          </a:prstGeom>
          <a:solidFill>
            <a:schemeClr val="tx2"/>
          </a:solidFill>
          <a:ln/>
        </p:spPr>
      </p:sp>
      <p:sp>
        <p:nvSpPr>
          <p:cNvPr id="19" name="Text 15"/>
          <p:cNvSpPr txBox="1"/>
          <p:nvPr/>
        </p:nvSpPr>
        <p:spPr>
          <a:xfrm>
            <a:off x="7132320" y="2788920"/>
            <a:ext cx="4279392" cy="274320"/>
          </a:xfrm>
          <a:prstGeom prst="rect">
            <a:avLst/>
          </a:prstGeom>
          <a:noFill/>
          <a:ln/>
        </p:spPr>
        <p:txBody>
          <a:bodyPr wrap="square" lIns="0" tIns="0" rIns="0" bIns="0" rtlCol="0" anchor="t"/>
          <a:lstStyle/>
          <a:p>
            <a:pPr indent="0" marL="0">
              <a:buNone/>
            </a:pPr>
            <a:r>
              <a:rPr lang="en-US" sz="1200" i="1" dirty="0">
                <a:solidFill>
                  <a:schemeClr val="accent3"/>
                </a:solidFill>
              </a:rPr>
              <a:t>Weeks to months in bed; legs carry no body weight</a:t>
            </a:r>
            <a:endParaRPr lang="en-US" sz="1200" dirty="0"/>
          </a:p>
        </p:txBody>
      </p:sp>
      <p:sp>
        <p:nvSpPr>
          <p:cNvPr id="20" name="Muscle before"/>
          <p:cNvSpPr/>
          <p:nvPr/>
        </p:nvSpPr>
        <p:spPr>
          <a:xfrm>
            <a:off x="7223760" y="3337560"/>
            <a:ext cx="1737360" cy="1737360"/>
          </a:xfrm>
          <a:prstGeom prst="ellipse">
            <a:avLst/>
          </a:prstGeom>
          <a:solidFill>
            <a:schemeClr val="accent1">
              <a:alpha val="75000"/>
            </a:schemeClr>
          </a:solidFill>
          <a:ln w="12700">
            <a:solidFill>
              <a:srgbClr val="C1440E"/>
            </a:solidFill>
            <a:prstDash val="solid"/>
          </a:ln>
        </p:spPr>
      </p:sp>
      <p:sp>
        <p:nvSpPr>
          <p:cNvPr id="21" name="Muscle before bone"/>
          <p:cNvSpPr/>
          <p:nvPr/>
        </p:nvSpPr>
        <p:spPr>
          <a:xfrm>
            <a:off x="7717536" y="4151376"/>
            <a:ext cx="384048" cy="384048"/>
          </a:xfrm>
          <a:prstGeom prst="ellipse">
            <a:avLst/>
          </a:prstGeom>
          <a:solidFill>
            <a:schemeClr val="bg1"/>
          </a:solidFill>
          <a:ln w="12700">
            <a:solidFill>
              <a:srgbClr val="98A6B5"/>
            </a:solidFill>
            <a:prstDash val="solid"/>
          </a:ln>
        </p:spPr>
      </p:sp>
      <p:sp>
        <p:nvSpPr>
          <p:cNvPr id="22" name="Arrow"/>
          <p:cNvSpPr/>
          <p:nvPr/>
        </p:nvSpPr>
        <p:spPr>
          <a:xfrm>
            <a:off x="9098280" y="4206240"/>
            <a:ext cx="548640" cy="0"/>
          </a:xfrm>
          <a:prstGeom prst="line">
            <a:avLst/>
          </a:prstGeom>
          <a:noFill/>
          <a:ln w="15875">
            <a:solidFill>
              <a:srgbClr val="1B2533"/>
            </a:solidFill>
            <a:prstDash val="solid"/>
            <a:tailEnd type="triangle"/>
          </a:ln>
        </p:spPr>
      </p:sp>
      <p:sp>
        <p:nvSpPr>
          <p:cNvPr id="23" name="Muscle after"/>
          <p:cNvSpPr/>
          <p:nvPr/>
        </p:nvSpPr>
        <p:spPr>
          <a:xfrm>
            <a:off x="9764214" y="3409134"/>
            <a:ext cx="1594211" cy="1594211"/>
          </a:xfrm>
          <a:prstGeom prst="ellipse">
            <a:avLst/>
          </a:prstGeom>
          <a:solidFill>
            <a:schemeClr val="accent1">
              <a:alpha val="75000"/>
            </a:schemeClr>
          </a:solidFill>
          <a:ln w="12700">
            <a:solidFill>
              <a:srgbClr val="C1440E"/>
            </a:solidFill>
            <a:prstDash val="solid"/>
          </a:ln>
        </p:spPr>
      </p:sp>
      <p:sp>
        <p:nvSpPr>
          <p:cNvPr id="24" name="Muscle after bone"/>
          <p:cNvSpPr/>
          <p:nvPr/>
        </p:nvSpPr>
        <p:spPr>
          <a:xfrm>
            <a:off x="10186416" y="4151376"/>
            <a:ext cx="384048" cy="384048"/>
          </a:xfrm>
          <a:prstGeom prst="ellipse">
            <a:avLst/>
          </a:prstGeom>
          <a:solidFill>
            <a:schemeClr val="bg1"/>
          </a:solidFill>
          <a:ln w="12700">
            <a:solidFill>
              <a:srgbClr val="98A6B5"/>
            </a:solidFill>
            <a:prstDash val="solid"/>
          </a:ln>
        </p:spPr>
      </p:sp>
      <p:sp>
        <p:nvSpPr>
          <p:cNvPr id="25" name="Original outline"/>
          <p:cNvSpPr/>
          <p:nvPr/>
        </p:nvSpPr>
        <p:spPr>
          <a:xfrm>
            <a:off x="9692640" y="3337560"/>
            <a:ext cx="1737360" cy="1737360"/>
          </a:xfrm>
          <a:prstGeom prst="ellipse">
            <a:avLst/>
          </a:prstGeom>
          <a:ln w="12700">
            <a:solidFill>
              <a:srgbClr val="1B2533"/>
            </a:solidFill>
            <a:prstDash val="dash"/>
          </a:ln>
        </p:spPr>
      </p:sp>
      <p:sp>
        <p:nvSpPr>
          <p:cNvPr id="26" name="Text 22"/>
          <p:cNvSpPr txBox="1"/>
          <p:nvPr/>
        </p:nvSpPr>
        <p:spPr>
          <a:xfrm>
            <a:off x="7178040" y="5166360"/>
            <a:ext cx="1828800" cy="274320"/>
          </a:xfrm>
          <a:prstGeom prst="rect">
            <a:avLst/>
          </a:prstGeom>
          <a:noFill/>
          <a:ln/>
        </p:spPr>
        <p:txBody>
          <a:bodyPr wrap="square" lIns="0" tIns="0" rIns="0" bIns="0" rtlCol="0" anchor="t"/>
          <a:lstStyle/>
          <a:p>
            <a:pPr algn="ctr" indent="0" marL="0">
              <a:buNone/>
            </a:pPr>
            <a:r>
              <a:rPr lang="en-US" sz="1300" b="1" dirty="0">
                <a:solidFill>
                  <a:schemeClr val="tx1"/>
                </a:solidFill>
              </a:rPr>
              <a:t>Before bed rest</a:t>
            </a:r>
            <a:endParaRPr lang="en-US" sz="1300" dirty="0"/>
          </a:p>
        </p:txBody>
      </p:sp>
      <p:sp>
        <p:nvSpPr>
          <p:cNvPr id="27" name="Text 23"/>
          <p:cNvSpPr txBox="1"/>
          <p:nvPr/>
        </p:nvSpPr>
        <p:spPr>
          <a:xfrm>
            <a:off x="9646920" y="5166360"/>
            <a:ext cx="1828800" cy="274320"/>
          </a:xfrm>
          <a:prstGeom prst="rect">
            <a:avLst/>
          </a:prstGeom>
          <a:noFill/>
          <a:ln/>
        </p:spPr>
        <p:txBody>
          <a:bodyPr wrap="square" lIns="0" tIns="0" rIns="0" bIns="0" rtlCol="0" anchor="t"/>
          <a:lstStyle/>
          <a:p>
            <a:pPr algn="ctr" indent="0" marL="0">
              <a:buNone/>
            </a:pPr>
            <a:r>
              <a:rPr lang="en-US" sz="1300" b="1" dirty="0">
                <a:solidFill>
                  <a:schemeClr val="accent1"/>
                </a:solidFill>
              </a:rPr>
              <a:t>After unloading</a:t>
            </a:r>
            <a:endParaRPr lang="en-US" sz="1300" dirty="0"/>
          </a:p>
        </p:txBody>
      </p:sp>
      <p:sp>
        <p:nvSpPr>
          <p:cNvPr id="28" name="Text 24"/>
          <p:cNvSpPr txBox="1"/>
          <p:nvPr/>
        </p:nvSpPr>
        <p:spPr>
          <a:xfrm>
            <a:off x="7132320" y="5532120"/>
            <a:ext cx="4279392" cy="457200"/>
          </a:xfrm>
          <a:prstGeom prst="rect">
            <a:avLst/>
          </a:prstGeom>
          <a:noFill/>
          <a:ln/>
        </p:spPr>
        <p:txBody>
          <a:bodyPr wrap="square" lIns="0" tIns="0" rIns="0" bIns="0" rtlCol="0" anchor="t"/>
          <a:lstStyle/>
          <a:p>
            <a:pPr indent="0" marL="0">
              <a:buNone/>
            </a:pPr>
            <a:r>
              <a:rPr lang="en-US" sz="1100" i="1" dirty="0">
                <a:solidFill>
                  <a:schemeClr val="accent3"/>
                </a:solidFill>
              </a:rPr>
              <a:t>Schematic calf cross-section; dashed line = size before unloading.</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8988552" y="6382512"/>
            <a:ext cx="219456" cy="219456"/>
          </a:xfrm>
          <a:prstGeom prst="ellipse">
            <a:avLst/>
          </a:prstGeom>
          <a:solidFill>
            <a:schemeClr val="accent1"/>
          </a:solidFill>
          <a:ln w="9525">
            <a:solidFill>
              <a:srgbClr val="C1440E"/>
            </a:solidFill>
            <a:prstDash val="solid"/>
          </a:ln>
        </p:spPr>
      </p:sp>
      <p:sp>
        <p:nvSpPr>
          <p:cNvPr id="6" name="Tracker 2 Literature research"/>
          <p:cNvSpPr/>
          <p:nvPr/>
        </p:nvSpPr>
        <p:spPr>
          <a:xfrm>
            <a:off x="9386316" y="6432804"/>
            <a:ext cx="118872" cy="118872"/>
          </a:xfrm>
          <a:prstGeom prst="ellipse">
            <a:avLst/>
          </a:prstGeom>
          <a:solidFill>
            <a:schemeClr val="bg1"/>
          </a:solidFill>
          <a:ln w="9525">
            <a:solidFill>
              <a:srgbClr val="98A6B5"/>
            </a:solidFill>
            <a:prstDash val="solid"/>
          </a:ln>
        </p:spPr>
      </p:sp>
      <p:sp>
        <p:nvSpPr>
          <p:cNvPr id="7" name="Tracker 3 Data extraction and database"/>
          <p:cNvSpPr/>
          <p:nvPr/>
        </p:nvSpPr>
        <p:spPr>
          <a:xfrm>
            <a:off x="9733788" y="6432804"/>
            <a:ext cx="118872" cy="118872"/>
          </a:xfrm>
          <a:prstGeom prst="ellipse">
            <a:avLst/>
          </a:prstGeom>
          <a:solidFill>
            <a:schemeClr val="bg1"/>
          </a:solidFill>
          <a:ln w="9525">
            <a:solidFill>
              <a:srgbClr val="98A6B5"/>
            </a:solidFill>
            <a:prstDash val="solid"/>
          </a:ln>
        </p:spPr>
      </p:sp>
      <p:sp>
        <p:nvSpPr>
          <p:cNvPr id="8" name="Tracker 4 ML framework"/>
          <p:cNvSpPr/>
          <p:nvPr/>
        </p:nvSpPr>
        <p:spPr>
          <a:xfrm>
            <a:off x="10081260" y="6432804"/>
            <a:ext cx="118872" cy="118872"/>
          </a:xfrm>
          <a:prstGeom prst="ellipse">
            <a:avLst/>
          </a:prstGeom>
          <a:solidFill>
            <a:schemeClr val="bg1"/>
          </a:solidFill>
          <a:ln w="9525">
            <a:solidFill>
              <a:srgbClr val="98A6B5"/>
            </a:solidFill>
            <a:prstDash val="solid"/>
          </a:ln>
        </p:spPr>
      </p:sp>
      <p:sp>
        <p:nvSpPr>
          <p:cNvPr id="9" name="Tracker 5 Models and results"/>
          <p:cNvSpPr/>
          <p:nvPr/>
        </p:nvSpPr>
        <p:spPr>
          <a:xfrm>
            <a:off x="10428732" y="6432804"/>
            <a:ext cx="118872" cy="118872"/>
          </a:xfrm>
          <a:prstGeom prst="ellipse">
            <a:avLst/>
          </a:prstGeom>
          <a:solidFill>
            <a:schemeClr val="bg1"/>
          </a:solidFill>
          <a:ln w="9525">
            <a:solidFill>
              <a:srgbClr val="98A6B5"/>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1  Intro and motivation</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From bed rest to Mars: analogue and application</a:t>
            </a:r>
            <a:endParaRPr lang="en-US" sz="2800" dirty="0"/>
          </a:p>
        </p:txBody>
      </p:sp>
      <p:sp>
        <p:nvSpPr>
          <p:cNvPr id="13" name="Text 9"/>
          <p:cNvSpPr txBox="1"/>
          <p:nvPr/>
        </p:nvSpPr>
        <p:spPr>
          <a:xfrm>
            <a:off x="548640" y="1188720"/>
            <a:ext cx="5577840" cy="3520440"/>
          </a:xfrm>
          <a:prstGeom prst="rect">
            <a:avLst/>
          </a:prstGeom>
          <a:noFill/>
          <a:ln/>
        </p:spPr>
        <p:txBody>
          <a:bodyPr wrap="square" lIns="0" tIns="0" rIns="0" bIns="0" rtlCol="0" anchor="t"/>
          <a:lstStyle/>
          <a:p>
            <a:pPr indent="0" marL="0">
              <a:spcAft>
                <a:spcPts val="300"/>
              </a:spcAft>
              <a:buNone/>
            </a:pPr>
            <a:r>
              <a:rPr lang="en-US" sz="1900" b="1" dirty="0">
                <a:solidFill>
                  <a:schemeClr val="tx2"/>
                </a:solidFill>
              </a:rPr>
              <a:t>Bed rest: the ground analogue</a:t>
            </a:r>
            <a:endParaRPr lang="en-US" sz="1900" dirty="0"/>
          </a:p>
          <a:p>
            <a:pPr marL="342900" indent="-342900">
              <a:spcAft>
                <a:spcPts val="400"/>
              </a:spcAft>
              <a:buSzPct val="100000"/>
              <a:buChar char="•"/>
            </a:pPr>
            <a:r>
              <a:rPr lang="en-US" sz="1600" dirty="0">
                <a:solidFill>
                  <a:schemeClr val="tx1"/>
                </a:solidFill>
              </a:rPr>
              <a:t>Spaceflight data on muscle are scarce</a:t>
            </a:r>
            <a:endParaRPr lang="en-US" sz="1900" dirty="0"/>
          </a:p>
          <a:p>
            <a:pPr marL="342900" indent="-342900">
              <a:spcAft>
                <a:spcPts val="400"/>
              </a:spcAft>
              <a:buSzPct val="100000"/>
              <a:buChar char="•"/>
            </a:pPr>
            <a:r>
              <a:rPr lang="en-US" sz="1600" dirty="0">
                <a:solidFill>
                  <a:schemeClr val="tx1"/>
                </a:solidFill>
              </a:rPr>
              <a:t>Head-down bed rest unloads the legs under controlled conditions</a:t>
            </a:r>
            <a:endParaRPr lang="en-US" sz="1900" dirty="0"/>
          </a:p>
          <a:p>
            <a:pPr indent="0" marL="0">
              <a:spcBef>
                <a:spcPts val="1800"/>
              </a:spcBef>
              <a:spcAft>
                <a:spcPts val="300"/>
              </a:spcAft>
              <a:buNone/>
            </a:pPr>
            <a:r>
              <a:rPr lang="en-US" sz="1900" b="1" dirty="0">
                <a:solidFill>
                  <a:schemeClr val="tx2"/>
                </a:solidFill>
              </a:rPr>
              <a:t>Mars: the long-term application</a:t>
            </a:r>
            <a:endParaRPr lang="en-US" sz="1900" dirty="0"/>
          </a:p>
          <a:p>
            <a:pPr marL="342900" indent="-342900">
              <a:spcAft>
                <a:spcPts val="400"/>
              </a:spcAft>
              <a:buSzPct val="100000"/>
              <a:buChar char="•"/>
            </a:pPr>
            <a:r>
              <a:rPr lang="en-US" sz="1600" dirty="0">
                <a:solidFill>
                  <a:schemeClr val="tx1"/>
                </a:solidFill>
              </a:rPr>
              <a:t>No early return in an emergency</a:t>
            </a:r>
            <a:endParaRPr lang="en-US" sz="1900" dirty="0"/>
          </a:p>
        </p:txBody>
      </p:sp>
      <p:sp>
        <p:nvSpPr>
          <p:cNvPr id="14" name="Mission panel"/>
          <p:cNvSpPr/>
          <p:nvPr/>
        </p:nvSpPr>
        <p:spPr>
          <a:xfrm>
            <a:off x="6492240" y="1188720"/>
            <a:ext cx="5148072" cy="3520440"/>
          </a:xfrm>
          <a:prstGeom prst="rect">
            <a:avLst/>
          </a:prstGeom>
          <a:solidFill>
            <a:schemeClr val="bg2"/>
          </a:solidFill>
          <a:ln/>
        </p:spPr>
      </p:sp>
      <p:sp>
        <p:nvSpPr>
          <p:cNvPr id="15" name="Text 11"/>
          <p:cNvSpPr txBox="1"/>
          <p:nvPr/>
        </p:nvSpPr>
        <p:spPr>
          <a:xfrm>
            <a:off x="6675120" y="1280160"/>
            <a:ext cx="4782312" cy="274320"/>
          </a:xfrm>
          <a:prstGeom prst="rect">
            <a:avLst/>
          </a:prstGeom>
          <a:noFill/>
          <a:ln/>
        </p:spPr>
        <p:txBody>
          <a:bodyPr wrap="square" lIns="0" tIns="0" rIns="0" bIns="0" rtlCol="0" anchor="t"/>
          <a:lstStyle/>
          <a:p>
            <a:pPr indent="0" marL="0">
              <a:buNone/>
            </a:pPr>
            <a:r>
              <a:rPr lang="en-US" sz="1400" b="1" dirty="0">
                <a:solidFill>
                  <a:schemeClr val="tx2"/>
                </a:solidFill>
              </a:rPr>
              <a:t>Figure 2. Moon mission vs Mars mission</a:t>
            </a:r>
            <a:endParaRPr lang="en-US" sz="1400" dirty="0"/>
          </a:p>
        </p:txBody>
      </p:sp>
      <p:sp>
        <p:nvSpPr>
          <p:cNvPr id="16" name="Earth"/>
          <p:cNvSpPr/>
          <p:nvPr/>
        </p:nvSpPr>
        <p:spPr>
          <a:xfrm>
            <a:off x="6675120" y="1828800"/>
            <a:ext cx="548640" cy="548640"/>
          </a:xfrm>
          <a:prstGeom prst="ellipse">
            <a:avLst/>
          </a:prstGeom>
          <a:solidFill>
            <a:srgbClr val="0B2545"/>
          </a:solidFill>
          <a:ln/>
        </p:spPr>
      </p:sp>
      <p:pic>
        <p:nvPicPr>
          <p:cNvPr id="17" name="Image 2" descr="Earth (photo map, semi-transparent)">    </p:cNvPr>
          <p:cNvPicPr>
            <a:picLocks noChangeAspect="1"/>
          </p:cNvPicPr>
          <p:nvPr/>
        </p:nvPicPr>
        <p:blipFill>
          <a:blip r:embed="rId3"/>
          <a:stretch>
            <a:fillRect/>
          </a:stretch>
        </p:blipFill>
        <p:spPr>
          <a:xfrm>
            <a:off x="6675120" y="1828800"/>
            <a:ext cx="548640" cy="548640"/>
          </a:xfrm>
          <a:prstGeom prst="rect">
            <a:avLst/>
          </a:prstGeom>
        </p:spPr>
      </p:pic>
      <p:sp>
        <p:nvSpPr>
          <p:cNvPr id="18" name="Text 13"/>
          <p:cNvSpPr txBox="1"/>
          <p:nvPr/>
        </p:nvSpPr>
        <p:spPr>
          <a:xfrm>
            <a:off x="6400800" y="2432304"/>
            <a:ext cx="1097280" cy="228600"/>
          </a:xfrm>
          <a:prstGeom prst="rect">
            <a:avLst/>
          </a:prstGeom>
          <a:noFill/>
          <a:ln/>
        </p:spPr>
        <p:txBody>
          <a:bodyPr wrap="square" lIns="0" tIns="0" rIns="0" bIns="0" rtlCol="0" anchor="t"/>
          <a:lstStyle/>
          <a:p>
            <a:pPr algn="ctr" indent="0" marL="0">
              <a:buNone/>
            </a:pPr>
            <a:r>
              <a:rPr lang="en-US" sz="1100" b="1" dirty="0">
                <a:solidFill>
                  <a:schemeClr val="tx1"/>
                </a:solidFill>
              </a:rPr>
              <a:t>Earth</a:t>
            </a:r>
            <a:endParaRPr lang="en-US" sz="1100" dirty="0"/>
          </a:p>
        </p:txBody>
      </p:sp>
      <p:sp>
        <p:nvSpPr>
          <p:cNvPr id="19" name="Moon"/>
          <p:cNvSpPr/>
          <p:nvPr/>
        </p:nvSpPr>
        <p:spPr>
          <a:xfrm>
            <a:off x="7863840" y="1965960"/>
            <a:ext cx="274320" cy="274320"/>
          </a:xfrm>
          <a:prstGeom prst="ellipse">
            <a:avLst/>
          </a:prstGeom>
          <a:solidFill>
            <a:srgbClr val="B8C4D1"/>
          </a:solidFill>
          <a:ln/>
        </p:spPr>
      </p:sp>
      <p:pic>
        <p:nvPicPr>
          <p:cNvPr id="20" name="Image 3" descr="Moon (photo map, semi-transparent)">    </p:cNvPr>
          <p:cNvPicPr>
            <a:picLocks noChangeAspect="1"/>
          </p:cNvPicPr>
          <p:nvPr/>
        </p:nvPicPr>
        <p:blipFill>
          <a:blip r:embed="rId4"/>
          <a:stretch>
            <a:fillRect/>
          </a:stretch>
        </p:blipFill>
        <p:spPr>
          <a:xfrm>
            <a:off x="7863840" y="1965960"/>
            <a:ext cx="274320" cy="274320"/>
          </a:xfrm>
          <a:prstGeom prst="rect">
            <a:avLst/>
          </a:prstGeom>
        </p:spPr>
      </p:pic>
      <p:sp>
        <p:nvSpPr>
          <p:cNvPr id="21" name="Text 15"/>
          <p:cNvSpPr txBox="1"/>
          <p:nvPr/>
        </p:nvSpPr>
        <p:spPr>
          <a:xfrm>
            <a:off x="7452360" y="2432304"/>
            <a:ext cx="1097280" cy="228600"/>
          </a:xfrm>
          <a:prstGeom prst="rect">
            <a:avLst/>
          </a:prstGeom>
          <a:noFill/>
          <a:ln/>
        </p:spPr>
        <p:txBody>
          <a:bodyPr wrap="square" lIns="0" tIns="0" rIns="0" bIns="0" rtlCol="0" anchor="t"/>
          <a:lstStyle/>
          <a:p>
            <a:pPr algn="ctr" indent="0" marL="0">
              <a:buNone/>
            </a:pPr>
            <a:r>
              <a:rPr lang="en-US" sz="1100" b="1" dirty="0">
                <a:solidFill>
                  <a:schemeClr val="tx1"/>
                </a:solidFill>
              </a:rPr>
              <a:t>Moon</a:t>
            </a:r>
            <a:endParaRPr lang="en-US" sz="1100" dirty="0"/>
          </a:p>
        </p:txBody>
      </p:sp>
      <p:sp>
        <p:nvSpPr>
          <p:cNvPr id="22" name="Mars"/>
          <p:cNvSpPr/>
          <p:nvPr/>
        </p:nvSpPr>
        <p:spPr>
          <a:xfrm>
            <a:off x="10927080" y="1874520"/>
            <a:ext cx="457200" cy="457200"/>
          </a:xfrm>
          <a:prstGeom prst="ellipse">
            <a:avLst/>
          </a:prstGeom>
          <a:solidFill>
            <a:srgbClr val="C1440E"/>
          </a:solidFill>
          <a:ln/>
        </p:spPr>
      </p:sp>
      <p:pic>
        <p:nvPicPr>
          <p:cNvPr id="23" name="Image 4" descr="Mars (photo map, semi-transparent)">    </p:cNvPr>
          <p:cNvPicPr>
            <a:picLocks noChangeAspect="1"/>
          </p:cNvPicPr>
          <p:nvPr/>
        </p:nvPicPr>
        <p:blipFill>
          <a:blip r:embed="rId5"/>
          <a:stretch>
            <a:fillRect/>
          </a:stretch>
        </p:blipFill>
        <p:spPr>
          <a:xfrm>
            <a:off x="10927080" y="1874520"/>
            <a:ext cx="457200" cy="457200"/>
          </a:xfrm>
          <a:prstGeom prst="rect">
            <a:avLst/>
          </a:prstGeom>
        </p:spPr>
      </p:pic>
      <p:sp>
        <p:nvSpPr>
          <p:cNvPr id="24" name="Text 17"/>
          <p:cNvSpPr txBox="1"/>
          <p:nvPr/>
        </p:nvSpPr>
        <p:spPr>
          <a:xfrm>
            <a:off x="10607040" y="2432304"/>
            <a:ext cx="1097280" cy="228600"/>
          </a:xfrm>
          <a:prstGeom prst="rect">
            <a:avLst/>
          </a:prstGeom>
          <a:noFill/>
          <a:ln/>
        </p:spPr>
        <p:txBody>
          <a:bodyPr wrap="square" lIns="0" tIns="0" rIns="0" bIns="0" rtlCol="0" anchor="t"/>
          <a:lstStyle/>
          <a:p>
            <a:pPr algn="ctr" indent="0" marL="0">
              <a:buNone/>
            </a:pPr>
            <a:r>
              <a:rPr lang="en-US" sz="1100" b="1" dirty="0">
                <a:solidFill>
                  <a:schemeClr val="tx1"/>
                </a:solidFill>
              </a:rPr>
              <a:t>Mars</a:t>
            </a:r>
            <a:endParaRPr lang="en-US" sz="1100" dirty="0"/>
          </a:p>
        </p:txBody>
      </p:sp>
      <p:sp>
        <p:nvSpPr>
          <p:cNvPr id="25" name="Route to Moon"/>
          <p:cNvSpPr/>
          <p:nvPr/>
        </p:nvSpPr>
        <p:spPr>
          <a:xfrm>
            <a:off x="7251192" y="2103120"/>
            <a:ext cx="594360" cy="0"/>
          </a:xfrm>
          <a:prstGeom prst="line">
            <a:avLst/>
          </a:prstGeom>
          <a:noFill/>
          <a:ln w="12700">
            <a:solidFill>
              <a:srgbClr val="5D6B7B"/>
            </a:solidFill>
            <a:prstDash val="dash"/>
            <a:tailEnd type="triangle"/>
          </a:ln>
        </p:spPr>
      </p:sp>
      <p:sp>
        <p:nvSpPr>
          <p:cNvPr id="26" name="Text 19"/>
          <p:cNvSpPr txBox="1"/>
          <p:nvPr/>
        </p:nvSpPr>
        <p:spPr>
          <a:xfrm>
            <a:off x="7251192" y="1810512"/>
            <a:ext cx="594360" cy="228600"/>
          </a:xfrm>
          <a:prstGeom prst="rect">
            <a:avLst/>
          </a:prstGeom>
          <a:noFill/>
          <a:ln/>
        </p:spPr>
        <p:txBody>
          <a:bodyPr wrap="square" lIns="0" tIns="0" rIns="0" bIns="0" rtlCol="0" anchor="t"/>
          <a:lstStyle/>
          <a:p>
            <a:pPr algn="ctr" indent="0" marL="0">
              <a:buNone/>
            </a:pPr>
            <a:r>
              <a:rPr lang="en-US" sz="1100" i="1" dirty="0">
                <a:solidFill>
                  <a:schemeClr val="tx2"/>
                </a:solidFill>
              </a:rPr>
              <a:t>3 days</a:t>
            </a:r>
            <a:endParaRPr lang="en-US" sz="1100" dirty="0"/>
          </a:p>
        </p:txBody>
      </p:sp>
      <p:sp>
        <p:nvSpPr>
          <p:cNvPr id="27" name="Route to Mars"/>
          <p:cNvSpPr/>
          <p:nvPr/>
        </p:nvSpPr>
        <p:spPr>
          <a:xfrm>
            <a:off x="8183880" y="2103120"/>
            <a:ext cx="2724912" cy="0"/>
          </a:xfrm>
          <a:prstGeom prst="line">
            <a:avLst/>
          </a:prstGeom>
          <a:noFill/>
          <a:ln w="12700">
            <a:solidFill>
              <a:srgbClr val="5D6B7B"/>
            </a:solidFill>
            <a:prstDash val="dash"/>
            <a:tailEnd type="triangle"/>
          </a:ln>
        </p:spPr>
      </p:sp>
      <p:sp>
        <p:nvSpPr>
          <p:cNvPr id="28" name="Text 21"/>
          <p:cNvSpPr txBox="1"/>
          <p:nvPr/>
        </p:nvSpPr>
        <p:spPr>
          <a:xfrm>
            <a:off x="8183880" y="1810512"/>
            <a:ext cx="2724912" cy="228600"/>
          </a:xfrm>
          <a:prstGeom prst="rect">
            <a:avLst/>
          </a:prstGeom>
          <a:noFill/>
          <a:ln/>
        </p:spPr>
        <p:txBody>
          <a:bodyPr wrap="square" lIns="0" tIns="0" rIns="0" bIns="0" rtlCol="0" anchor="t"/>
          <a:lstStyle/>
          <a:p>
            <a:pPr algn="ctr" indent="0" marL="0">
              <a:buNone/>
            </a:pPr>
            <a:r>
              <a:rPr lang="en-US" sz="1100" i="1" dirty="0">
                <a:solidFill>
                  <a:schemeClr val="tx2"/>
                </a:solidFill>
              </a:rPr>
              <a:t>about 6 months, one way</a:t>
            </a:r>
            <a:endParaRPr lang="en-US" sz="1100" dirty="0"/>
          </a:p>
        </p:txBody>
      </p:sp>
      <p:sp>
        <p:nvSpPr>
          <p:cNvPr id="29" name="Text 22"/>
          <p:cNvSpPr txBox="1"/>
          <p:nvPr/>
        </p:nvSpPr>
        <p:spPr>
          <a:xfrm>
            <a:off x="6675120" y="2788920"/>
            <a:ext cx="1691640" cy="502920"/>
          </a:xfrm>
          <a:prstGeom prst="rect">
            <a:avLst/>
          </a:prstGeom>
          <a:noFill/>
          <a:ln/>
        </p:spPr>
        <p:txBody>
          <a:bodyPr wrap="square" lIns="0" tIns="0" rIns="0" bIns="0" rtlCol="0" anchor="t"/>
          <a:lstStyle/>
          <a:p>
            <a:pPr indent="0" marL="0">
              <a:buNone/>
            </a:pPr>
            <a:r>
              <a:rPr lang="en-US" sz="1300" b="1" dirty="0">
                <a:solidFill>
                  <a:schemeClr val="tx1"/>
                </a:solidFill>
              </a:rPr>
              <a:t>Moon mission</a:t>
            </a:r>
            <a:endParaRPr lang="en-US" sz="1300" dirty="0"/>
          </a:p>
          <a:p>
            <a:pPr indent="0" marL="0">
              <a:buNone/>
            </a:pPr>
            <a:r>
              <a:rPr lang="en-US" sz="1050" i="1" dirty="0">
                <a:solidFill>
                  <a:schemeClr val="accent3"/>
                </a:solidFill>
              </a:rPr>
              <a:t>about 12 days</a:t>
            </a:r>
            <a:endParaRPr lang="en-US" sz="1300" dirty="0"/>
          </a:p>
        </p:txBody>
      </p:sp>
      <p:sp>
        <p:nvSpPr>
          <p:cNvPr id="30" name="Moon mission bar"/>
          <p:cNvSpPr/>
          <p:nvPr/>
        </p:nvSpPr>
        <p:spPr>
          <a:xfrm>
            <a:off x="8229600" y="2880360"/>
            <a:ext cx="42672" cy="292608"/>
          </a:xfrm>
          <a:prstGeom prst="rect">
            <a:avLst/>
          </a:prstGeom>
          <a:solidFill>
            <a:srgbClr val="5D6B7B"/>
          </a:solidFill>
          <a:ln/>
        </p:spPr>
      </p:sp>
      <p:sp>
        <p:nvSpPr>
          <p:cNvPr id="31" name="Text 24"/>
          <p:cNvSpPr txBox="1"/>
          <p:nvPr/>
        </p:nvSpPr>
        <p:spPr>
          <a:xfrm>
            <a:off x="8327136" y="2880360"/>
            <a:ext cx="2377440" cy="292608"/>
          </a:xfrm>
          <a:prstGeom prst="rect">
            <a:avLst/>
          </a:prstGeom>
          <a:noFill/>
          <a:ln/>
        </p:spPr>
        <p:txBody>
          <a:bodyPr wrap="square" lIns="0" tIns="0" rIns="0" bIns="0" rtlCol="0" anchor="ctr"/>
          <a:lstStyle/>
          <a:p>
            <a:pPr indent="0" marL="0">
              <a:buNone/>
            </a:pPr>
            <a:r>
              <a:rPr lang="en-US" sz="1050" i="1" dirty="0">
                <a:solidFill>
                  <a:schemeClr val="accent3"/>
                </a:solidFill>
              </a:rPr>
              <a:t>◄ the whole mission (Apollo 17)</a:t>
            </a:r>
            <a:endParaRPr lang="en-US" sz="1050" dirty="0"/>
          </a:p>
        </p:txBody>
      </p:sp>
      <p:sp>
        <p:nvSpPr>
          <p:cNvPr id="32" name="Text 25"/>
          <p:cNvSpPr txBox="1"/>
          <p:nvPr/>
        </p:nvSpPr>
        <p:spPr>
          <a:xfrm>
            <a:off x="6675120" y="3474720"/>
            <a:ext cx="1691640" cy="502920"/>
          </a:xfrm>
          <a:prstGeom prst="rect">
            <a:avLst/>
          </a:prstGeom>
          <a:noFill/>
          <a:ln/>
        </p:spPr>
        <p:txBody>
          <a:bodyPr wrap="square" lIns="0" tIns="0" rIns="0" bIns="0" rtlCol="0" anchor="t"/>
          <a:lstStyle/>
          <a:p>
            <a:pPr indent="0" marL="0">
              <a:buNone/>
            </a:pPr>
            <a:r>
              <a:rPr lang="en-US" sz="1300" b="1" dirty="0">
                <a:solidFill>
                  <a:schemeClr val="tx1"/>
                </a:solidFill>
              </a:rPr>
              <a:t>Mars mission</a:t>
            </a:r>
            <a:endParaRPr lang="en-US" sz="1300" dirty="0"/>
          </a:p>
          <a:p>
            <a:pPr indent="0" marL="0">
              <a:buNone/>
            </a:pPr>
            <a:r>
              <a:rPr lang="en-US" sz="1050" i="1" dirty="0">
                <a:solidFill>
                  <a:schemeClr val="accent3"/>
                </a:solidFill>
              </a:rPr>
              <a:t>about 2.5 years</a:t>
            </a:r>
            <a:endParaRPr lang="en-US" sz="1300" dirty="0"/>
          </a:p>
        </p:txBody>
      </p:sp>
      <p:sp>
        <p:nvSpPr>
          <p:cNvPr id="33" name="Mars to Mars"/>
          <p:cNvSpPr/>
          <p:nvPr/>
        </p:nvSpPr>
        <p:spPr>
          <a:xfrm>
            <a:off x="8229600" y="3566160"/>
            <a:ext cx="640080" cy="292608"/>
          </a:xfrm>
          <a:prstGeom prst="rect">
            <a:avLst/>
          </a:prstGeom>
          <a:solidFill>
            <a:srgbClr val="C1440E"/>
          </a:solidFill>
          <a:ln w="12700">
            <a:solidFill>
              <a:srgbClr val="FFFFFF"/>
            </a:solidFill>
            <a:prstDash val="solid"/>
          </a:ln>
        </p:spPr>
      </p:sp>
      <p:sp>
        <p:nvSpPr>
          <p:cNvPr id="34" name="Text 27"/>
          <p:cNvSpPr txBox="1"/>
          <p:nvPr/>
        </p:nvSpPr>
        <p:spPr>
          <a:xfrm>
            <a:off x="8229600" y="3566160"/>
            <a:ext cx="640080" cy="292608"/>
          </a:xfrm>
          <a:prstGeom prst="rect">
            <a:avLst/>
          </a:prstGeom>
          <a:noFill/>
          <a:ln/>
        </p:spPr>
        <p:txBody>
          <a:bodyPr wrap="square" lIns="0" tIns="0" rIns="0" bIns="0" rtlCol="0" anchor="ctr"/>
          <a:lstStyle/>
          <a:p>
            <a:pPr algn="ctr" indent="0" marL="0">
              <a:buNone/>
            </a:pPr>
            <a:r>
              <a:rPr lang="en-US" sz="1000" b="1" dirty="0">
                <a:solidFill>
                  <a:schemeClr val="bg1"/>
                </a:solidFill>
              </a:rPr>
              <a:t>to Mars</a:t>
            </a:r>
            <a:endParaRPr lang="en-US" sz="1000" dirty="0"/>
          </a:p>
        </p:txBody>
      </p:sp>
      <p:sp>
        <p:nvSpPr>
          <p:cNvPr id="35" name="Mars on Mars, about 500 days"/>
          <p:cNvSpPr/>
          <p:nvPr/>
        </p:nvSpPr>
        <p:spPr>
          <a:xfrm>
            <a:off x="8869680" y="3566160"/>
            <a:ext cx="1778000" cy="292608"/>
          </a:xfrm>
          <a:prstGeom prst="rect">
            <a:avLst/>
          </a:prstGeom>
          <a:solidFill>
            <a:srgbClr val="C1440E">
              <a:alpha val="55000"/>
            </a:srgbClr>
          </a:solidFill>
          <a:ln w="12700">
            <a:solidFill>
              <a:srgbClr val="FFFFFF"/>
            </a:solidFill>
            <a:prstDash val="solid"/>
          </a:ln>
        </p:spPr>
      </p:sp>
      <p:sp>
        <p:nvSpPr>
          <p:cNvPr id="36" name="Text 29"/>
          <p:cNvSpPr txBox="1"/>
          <p:nvPr/>
        </p:nvSpPr>
        <p:spPr>
          <a:xfrm>
            <a:off x="8869680" y="3566160"/>
            <a:ext cx="1778000" cy="292608"/>
          </a:xfrm>
          <a:prstGeom prst="rect">
            <a:avLst/>
          </a:prstGeom>
          <a:noFill/>
          <a:ln/>
        </p:spPr>
        <p:txBody>
          <a:bodyPr wrap="square" lIns="0" tIns="0" rIns="0" bIns="0" rtlCol="0" anchor="ctr"/>
          <a:lstStyle/>
          <a:p>
            <a:pPr algn="ctr" indent="0" marL="0">
              <a:buNone/>
            </a:pPr>
            <a:r>
              <a:rPr lang="en-US" sz="1000" b="1" dirty="0">
                <a:solidFill>
                  <a:schemeClr val="tx1"/>
                </a:solidFill>
              </a:rPr>
              <a:t>on Mars, about 500 days</a:t>
            </a:r>
            <a:endParaRPr lang="en-US" sz="1000" dirty="0"/>
          </a:p>
        </p:txBody>
      </p:sp>
      <p:sp>
        <p:nvSpPr>
          <p:cNvPr id="37" name="Mars home"/>
          <p:cNvSpPr/>
          <p:nvPr/>
        </p:nvSpPr>
        <p:spPr>
          <a:xfrm>
            <a:off x="10647680" y="3566160"/>
            <a:ext cx="640080" cy="292608"/>
          </a:xfrm>
          <a:prstGeom prst="rect">
            <a:avLst/>
          </a:prstGeom>
          <a:solidFill>
            <a:srgbClr val="C1440E"/>
          </a:solidFill>
          <a:ln w="12700">
            <a:solidFill>
              <a:srgbClr val="FFFFFF"/>
            </a:solidFill>
            <a:prstDash val="solid"/>
          </a:ln>
        </p:spPr>
      </p:sp>
      <p:sp>
        <p:nvSpPr>
          <p:cNvPr id="38" name="Text 31"/>
          <p:cNvSpPr txBox="1"/>
          <p:nvPr/>
        </p:nvSpPr>
        <p:spPr>
          <a:xfrm>
            <a:off x="10647680" y="3566160"/>
            <a:ext cx="640080" cy="292608"/>
          </a:xfrm>
          <a:prstGeom prst="rect">
            <a:avLst/>
          </a:prstGeom>
          <a:noFill/>
          <a:ln/>
        </p:spPr>
        <p:txBody>
          <a:bodyPr wrap="square" lIns="0" tIns="0" rIns="0" bIns="0" rtlCol="0" anchor="ctr"/>
          <a:lstStyle/>
          <a:p>
            <a:pPr algn="ctr" indent="0" marL="0">
              <a:buNone/>
            </a:pPr>
            <a:r>
              <a:rPr lang="en-US" sz="1000" b="1" dirty="0">
                <a:solidFill>
                  <a:schemeClr val="bg1"/>
                </a:solidFill>
              </a:rPr>
              <a:t>home</a:t>
            </a:r>
            <a:endParaRPr lang="en-US" sz="1000" dirty="0"/>
          </a:p>
        </p:txBody>
      </p:sp>
      <p:sp>
        <p:nvSpPr>
          <p:cNvPr id="39" name="Arrival marker"/>
          <p:cNvSpPr/>
          <p:nvPr/>
        </p:nvSpPr>
        <p:spPr>
          <a:xfrm>
            <a:off x="8869680" y="3886200"/>
            <a:ext cx="0" cy="182880"/>
          </a:xfrm>
          <a:prstGeom prst="line">
            <a:avLst/>
          </a:prstGeom>
          <a:noFill/>
          <a:ln w="12700">
            <a:solidFill>
              <a:srgbClr val="1B2533"/>
            </a:solidFill>
            <a:prstDash val="solid"/>
            <a:headEnd type="triangle"/>
          </a:ln>
        </p:spPr>
      </p:sp>
      <p:sp>
        <p:nvSpPr>
          <p:cNvPr id="40" name="Text 33"/>
          <p:cNvSpPr txBox="1"/>
          <p:nvPr/>
        </p:nvSpPr>
        <p:spPr>
          <a:xfrm>
            <a:off x="8321040" y="4087368"/>
            <a:ext cx="3749040" cy="228600"/>
          </a:xfrm>
          <a:prstGeom prst="rect">
            <a:avLst/>
          </a:prstGeom>
          <a:noFill/>
          <a:ln/>
        </p:spPr>
        <p:txBody>
          <a:bodyPr wrap="square" lIns="0" tIns="0" rIns="0" bIns="0" rtlCol="0" anchor="t"/>
          <a:lstStyle/>
          <a:p>
            <a:pPr algn="l" indent="0" marL="0">
              <a:buNone/>
            </a:pPr>
            <a:r>
              <a:rPr lang="en-US" sz="1050" i="1" dirty="0">
                <a:solidFill>
                  <a:schemeClr val="tx2"/>
                </a:solidFill>
              </a:rPr>
              <a:t>arrival: 6 months weightless, then surface work</a:t>
            </a:r>
            <a:endParaRPr lang="en-US" sz="1050" dirty="0"/>
          </a:p>
        </p:txBody>
      </p:sp>
      <p:sp>
        <p:nvSpPr>
          <p:cNvPr id="41" name="Time axis"/>
          <p:cNvSpPr/>
          <p:nvPr/>
        </p:nvSpPr>
        <p:spPr>
          <a:xfrm>
            <a:off x="8229600" y="4434840"/>
            <a:ext cx="3200400" cy="0"/>
          </a:xfrm>
          <a:prstGeom prst="line">
            <a:avLst/>
          </a:prstGeom>
          <a:noFill/>
          <a:ln w="9525">
            <a:solidFill>
              <a:srgbClr val="5D6B7B"/>
            </a:solidFill>
            <a:prstDash val="solid"/>
          </a:ln>
        </p:spPr>
      </p:sp>
      <p:sp>
        <p:nvSpPr>
          <p:cNvPr id="42" name="Tick 0"/>
          <p:cNvSpPr/>
          <p:nvPr/>
        </p:nvSpPr>
        <p:spPr>
          <a:xfrm>
            <a:off x="8229600" y="4434840"/>
            <a:ext cx="0" cy="54864"/>
          </a:xfrm>
          <a:prstGeom prst="line">
            <a:avLst/>
          </a:prstGeom>
          <a:noFill/>
          <a:ln w="9525">
            <a:solidFill>
              <a:srgbClr val="5D6B7B"/>
            </a:solidFill>
            <a:prstDash val="solid"/>
          </a:ln>
        </p:spPr>
      </p:sp>
      <p:sp>
        <p:nvSpPr>
          <p:cNvPr id="43" name="Text 36"/>
          <p:cNvSpPr txBox="1"/>
          <p:nvPr/>
        </p:nvSpPr>
        <p:spPr>
          <a:xfrm>
            <a:off x="7863840" y="4489704"/>
            <a:ext cx="731520" cy="182880"/>
          </a:xfrm>
          <a:prstGeom prst="rect">
            <a:avLst/>
          </a:prstGeom>
          <a:noFill/>
          <a:ln/>
        </p:spPr>
        <p:txBody>
          <a:bodyPr wrap="square" lIns="0" tIns="0" rIns="0" bIns="0" rtlCol="0" anchor="t"/>
          <a:lstStyle/>
          <a:p>
            <a:pPr algn="ctr" indent="0" marL="0">
              <a:buNone/>
            </a:pPr>
            <a:r>
              <a:rPr lang="en-US" sz="1000" dirty="0">
                <a:solidFill>
                  <a:schemeClr val="accent3"/>
                </a:solidFill>
              </a:rPr>
              <a:t>0</a:t>
            </a:r>
            <a:endParaRPr lang="en-US" sz="1000" dirty="0"/>
          </a:p>
        </p:txBody>
      </p:sp>
      <p:sp>
        <p:nvSpPr>
          <p:cNvPr id="44" name="Tick 1 year"/>
          <p:cNvSpPr/>
          <p:nvPr/>
        </p:nvSpPr>
        <p:spPr>
          <a:xfrm>
            <a:off x="9527540" y="4434840"/>
            <a:ext cx="0" cy="54864"/>
          </a:xfrm>
          <a:prstGeom prst="line">
            <a:avLst/>
          </a:prstGeom>
          <a:noFill/>
          <a:ln w="9525">
            <a:solidFill>
              <a:srgbClr val="5D6B7B"/>
            </a:solidFill>
            <a:prstDash val="solid"/>
          </a:ln>
        </p:spPr>
      </p:sp>
      <p:sp>
        <p:nvSpPr>
          <p:cNvPr id="45" name="Text 38"/>
          <p:cNvSpPr txBox="1"/>
          <p:nvPr/>
        </p:nvSpPr>
        <p:spPr>
          <a:xfrm>
            <a:off x="9161780" y="4489704"/>
            <a:ext cx="731520" cy="182880"/>
          </a:xfrm>
          <a:prstGeom prst="rect">
            <a:avLst/>
          </a:prstGeom>
          <a:noFill/>
          <a:ln/>
        </p:spPr>
        <p:txBody>
          <a:bodyPr wrap="square" lIns="0" tIns="0" rIns="0" bIns="0" rtlCol="0" anchor="t"/>
          <a:lstStyle/>
          <a:p>
            <a:pPr algn="ctr" indent="0" marL="0">
              <a:buNone/>
            </a:pPr>
            <a:r>
              <a:rPr lang="en-US" sz="1000" dirty="0">
                <a:solidFill>
                  <a:schemeClr val="accent3"/>
                </a:solidFill>
              </a:rPr>
              <a:t>1 year</a:t>
            </a:r>
            <a:endParaRPr lang="en-US" sz="1000" dirty="0"/>
          </a:p>
        </p:txBody>
      </p:sp>
      <p:sp>
        <p:nvSpPr>
          <p:cNvPr id="46" name="Tick 2 years"/>
          <p:cNvSpPr/>
          <p:nvPr/>
        </p:nvSpPr>
        <p:spPr>
          <a:xfrm>
            <a:off x="10825480" y="4434840"/>
            <a:ext cx="0" cy="54864"/>
          </a:xfrm>
          <a:prstGeom prst="line">
            <a:avLst/>
          </a:prstGeom>
          <a:noFill/>
          <a:ln w="9525">
            <a:solidFill>
              <a:srgbClr val="5D6B7B"/>
            </a:solidFill>
            <a:prstDash val="solid"/>
          </a:ln>
        </p:spPr>
      </p:sp>
      <p:sp>
        <p:nvSpPr>
          <p:cNvPr id="47" name="Text 40"/>
          <p:cNvSpPr txBox="1"/>
          <p:nvPr/>
        </p:nvSpPr>
        <p:spPr>
          <a:xfrm>
            <a:off x="10459720" y="4489704"/>
            <a:ext cx="731520" cy="182880"/>
          </a:xfrm>
          <a:prstGeom prst="rect">
            <a:avLst/>
          </a:prstGeom>
          <a:noFill/>
          <a:ln/>
        </p:spPr>
        <p:txBody>
          <a:bodyPr wrap="square" lIns="0" tIns="0" rIns="0" bIns="0" rtlCol="0" anchor="t"/>
          <a:lstStyle/>
          <a:p>
            <a:pPr algn="ctr" indent="0" marL="0">
              <a:buNone/>
            </a:pPr>
            <a:r>
              <a:rPr lang="en-US" sz="1000" dirty="0">
                <a:solidFill>
                  <a:schemeClr val="accent3"/>
                </a:solidFill>
              </a:rPr>
              <a:t>2 years</a:t>
            </a:r>
            <a:endParaRPr lang="en-US" sz="1000" dirty="0"/>
          </a:p>
        </p:txBody>
      </p:sp>
      <p:sp>
        <p:nvSpPr>
          <p:cNvPr id="48" name="Step 1"/>
          <p:cNvSpPr/>
          <p:nvPr/>
        </p:nvSpPr>
        <p:spPr>
          <a:xfrm>
            <a:off x="548640" y="4983480"/>
            <a:ext cx="2423160" cy="685800"/>
          </a:xfrm>
          <a:prstGeom prst="rect">
            <a:avLst/>
          </a:prstGeom>
          <a:solidFill>
            <a:srgbClr val="FFFFFF"/>
          </a:solidFill>
          <a:ln w="12700">
            <a:solidFill>
              <a:srgbClr val="98A6B5"/>
            </a:solidFill>
            <a:prstDash val="solid"/>
          </a:ln>
        </p:spPr>
      </p:sp>
      <p:sp>
        <p:nvSpPr>
          <p:cNvPr id="49" name="Text 42"/>
          <p:cNvSpPr txBox="1"/>
          <p:nvPr/>
        </p:nvSpPr>
        <p:spPr>
          <a:xfrm>
            <a:off x="640080" y="4983480"/>
            <a:ext cx="2240280" cy="685800"/>
          </a:xfrm>
          <a:prstGeom prst="rect">
            <a:avLst/>
          </a:prstGeom>
          <a:noFill/>
          <a:ln/>
        </p:spPr>
        <p:txBody>
          <a:bodyPr wrap="square" lIns="0" tIns="0" rIns="0" bIns="0" rtlCol="0" anchor="ctr"/>
          <a:lstStyle/>
          <a:p>
            <a:pPr algn="ctr" indent="0" marL="0">
              <a:buNone/>
            </a:pPr>
            <a:r>
              <a:rPr lang="en-US" sz="1400" b="1" dirty="0">
                <a:solidFill>
                  <a:schemeClr val="tx1"/>
                </a:solidFill>
              </a:rPr>
              <a:t>Bed-rest studies</a:t>
            </a:r>
            <a:endParaRPr lang="en-US" sz="1400" dirty="0"/>
          </a:p>
          <a:p>
            <a:pPr algn="ctr" indent="0" marL="0">
              <a:buNone/>
            </a:pPr>
            <a:r>
              <a:rPr lang="en-US" sz="1100" i="1" dirty="0">
                <a:solidFill>
                  <a:schemeClr val="tx1"/>
                </a:solidFill>
              </a:rPr>
              <a:t>ground analogue</a:t>
            </a:r>
            <a:endParaRPr lang="en-US" sz="1400" dirty="0"/>
          </a:p>
        </p:txBody>
      </p:sp>
      <p:sp>
        <p:nvSpPr>
          <p:cNvPr id="50" name="Step 2"/>
          <p:cNvSpPr/>
          <p:nvPr/>
        </p:nvSpPr>
        <p:spPr>
          <a:xfrm>
            <a:off x="3429000" y="4983480"/>
            <a:ext cx="2423160" cy="685800"/>
          </a:xfrm>
          <a:prstGeom prst="rect">
            <a:avLst/>
          </a:prstGeom>
          <a:solidFill>
            <a:srgbClr val="0B2545"/>
          </a:solidFill>
          <a:ln w="12700">
            <a:solidFill>
              <a:srgbClr val="0B2545"/>
            </a:solidFill>
            <a:prstDash val="solid"/>
          </a:ln>
        </p:spPr>
      </p:sp>
      <p:sp>
        <p:nvSpPr>
          <p:cNvPr id="51" name="Text 44"/>
          <p:cNvSpPr txBox="1"/>
          <p:nvPr/>
        </p:nvSpPr>
        <p:spPr>
          <a:xfrm>
            <a:off x="3520440" y="4983480"/>
            <a:ext cx="2240280" cy="685800"/>
          </a:xfrm>
          <a:prstGeom prst="rect">
            <a:avLst/>
          </a:prstGeom>
          <a:noFill/>
          <a:ln/>
        </p:spPr>
        <p:txBody>
          <a:bodyPr wrap="square" lIns="0" tIns="0" rIns="0" bIns="0" rtlCol="0" anchor="ctr"/>
          <a:lstStyle/>
          <a:p>
            <a:pPr algn="ctr" indent="0" marL="0">
              <a:buNone/>
            </a:pPr>
            <a:r>
              <a:rPr lang="en-US" sz="1400" b="1" dirty="0">
                <a:solidFill>
                  <a:schemeClr val="bg1"/>
                </a:solidFill>
              </a:rPr>
              <a:t>Atrophy prediction</a:t>
            </a:r>
            <a:endParaRPr lang="en-US" sz="1400" dirty="0"/>
          </a:p>
          <a:p>
            <a:pPr algn="ctr" indent="0" marL="0">
              <a:buNone/>
            </a:pPr>
            <a:r>
              <a:rPr lang="en-US" sz="1100" i="1" dirty="0">
                <a:solidFill>
                  <a:schemeClr val="bg1"/>
                </a:solidFill>
              </a:rPr>
              <a:t>this work</a:t>
            </a:r>
            <a:endParaRPr lang="en-US" sz="1400" dirty="0"/>
          </a:p>
        </p:txBody>
      </p:sp>
      <p:sp>
        <p:nvSpPr>
          <p:cNvPr id="52" name="Step 3"/>
          <p:cNvSpPr/>
          <p:nvPr/>
        </p:nvSpPr>
        <p:spPr>
          <a:xfrm>
            <a:off x="6309360" y="4983480"/>
            <a:ext cx="2423160" cy="685800"/>
          </a:xfrm>
          <a:prstGeom prst="rect">
            <a:avLst/>
          </a:prstGeom>
          <a:solidFill>
            <a:srgbClr val="FFFFFF"/>
          </a:solidFill>
          <a:ln w="12700">
            <a:solidFill>
              <a:srgbClr val="98A6B5"/>
            </a:solidFill>
            <a:prstDash val="dash"/>
          </a:ln>
        </p:spPr>
      </p:sp>
      <p:sp>
        <p:nvSpPr>
          <p:cNvPr id="53" name="Text 46"/>
          <p:cNvSpPr txBox="1"/>
          <p:nvPr/>
        </p:nvSpPr>
        <p:spPr>
          <a:xfrm>
            <a:off x="6400800" y="4983480"/>
            <a:ext cx="2240280" cy="685800"/>
          </a:xfrm>
          <a:prstGeom prst="rect">
            <a:avLst/>
          </a:prstGeom>
          <a:noFill/>
          <a:ln/>
        </p:spPr>
        <p:txBody>
          <a:bodyPr wrap="square" lIns="0" tIns="0" rIns="0" bIns="0" rtlCol="0" anchor="ctr"/>
          <a:lstStyle/>
          <a:p>
            <a:pPr algn="ctr" indent="0" marL="0">
              <a:buNone/>
            </a:pPr>
            <a:r>
              <a:rPr lang="en-US" sz="1400" b="1" dirty="0">
                <a:solidFill>
                  <a:schemeClr val="tx1"/>
                </a:solidFill>
              </a:rPr>
              <a:t>Strength and power assessment</a:t>
            </a:r>
            <a:endParaRPr lang="en-US" sz="1400" dirty="0"/>
          </a:p>
        </p:txBody>
      </p:sp>
      <p:sp>
        <p:nvSpPr>
          <p:cNvPr id="54" name="Step 4"/>
          <p:cNvSpPr/>
          <p:nvPr/>
        </p:nvSpPr>
        <p:spPr>
          <a:xfrm>
            <a:off x="9189720" y="4983480"/>
            <a:ext cx="2423160" cy="685800"/>
          </a:xfrm>
          <a:prstGeom prst="rect">
            <a:avLst/>
          </a:prstGeom>
          <a:solidFill>
            <a:srgbClr val="FFFFFF"/>
          </a:solidFill>
          <a:ln w="12700">
            <a:solidFill>
              <a:srgbClr val="98A6B5"/>
            </a:solidFill>
            <a:prstDash val="dash"/>
          </a:ln>
        </p:spPr>
      </p:sp>
      <p:sp>
        <p:nvSpPr>
          <p:cNvPr id="55" name="Text 48"/>
          <p:cNvSpPr txBox="1"/>
          <p:nvPr/>
        </p:nvSpPr>
        <p:spPr>
          <a:xfrm>
            <a:off x="9281160" y="4983480"/>
            <a:ext cx="2240280" cy="685800"/>
          </a:xfrm>
          <a:prstGeom prst="rect">
            <a:avLst/>
          </a:prstGeom>
          <a:noFill/>
          <a:ln/>
        </p:spPr>
        <p:txBody>
          <a:bodyPr wrap="square" lIns="0" tIns="0" rIns="0" bIns="0" rtlCol="0" anchor="ctr"/>
          <a:lstStyle/>
          <a:p>
            <a:pPr algn="ctr" indent="0" marL="0">
              <a:buNone/>
            </a:pPr>
            <a:r>
              <a:rPr lang="en-US" sz="1400" b="1" dirty="0">
                <a:solidFill>
                  <a:schemeClr val="tx1"/>
                </a:solidFill>
              </a:rPr>
              <a:t>Operational readiness on arrival</a:t>
            </a:r>
            <a:endParaRPr lang="en-US" sz="1400" dirty="0"/>
          </a:p>
        </p:txBody>
      </p:sp>
      <p:sp>
        <p:nvSpPr>
          <p:cNvPr id="56" name="Arrow 1"/>
          <p:cNvSpPr/>
          <p:nvPr/>
        </p:nvSpPr>
        <p:spPr>
          <a:xfrm>
            <a:off x="3017520" y="5326380"/>
            <a:ext cx="365760" cy="0"/>
          </a:xfrm>
          <a:prstGeom prst="line">
            <a:avLst/>
          </a:prstGeom>
          <a:noFill/>
          <a:ln w="15875">
            <a:solidFill>
              <a:srgbClr val="1B2533"/>
            </a:solidFill>
            <a:prstDash val="solid"/>
            <a:tailEnd type="triangle"/>
          </a:ln>
        </p:spPr>
      </p:sp>
      <p:sp>
        <p:nvSpPr>
          <p:cNvPr id="57" name="Text 50"/>
          <p:cNvSpPr txBox="1"/>
          <p:nvPr/>
        </p:nvSpPr>
        <p:spPr>
          <a:xfrm>
            <a:off x="5852160" y="4983480"/>
            <a:ext cx="457200" cy="68580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58" name="Arrow 3"/>
          <p:cNvSpPr/>
          <p:nvPr/>
        </p:nvSpPr>
        <p:spPr>
          <a:xfrm>
            <a:off x="8778240" y="5326380"/>
            <a:ext cx="365760" cy="0"/>
          </a:xfrm>
          <a:prstGeom prst="line">
            <a:avLst/>
          </a:prstGeom>
          <a:noFill/>
          <a:ln w="15875">
            <a:solidFill>
              <a:srgbClr val="1B2533"/>
            </a:solidFill>
            <a:prstDash val="solid"/>
            <a:tailEnd type="triangle"/>
          </a:ln>
        </p:spPr>
      </p:sp>
      <p:sp>
        <p:nvSpPr>
          <p:cNvPr id="59" name="Text 52"/>
          <p:cNvSpPr txBox="1"/>
          <p:nvPr/>
        </p:nvSpPr>
        <p:spPr>
          <a:xfrm>
            <a:off x="548640" y="5733288"/>
            <a:ext cx="5486400" cy="228600"/>
          </a:xfrm>
          <a:prstGeom prst="rect">
            <a:avLst/>
          </a:prstGeom>
          <a:noFill/>
          <a:ln/>
        </p:spPr>
        <p:txBody>
          <a:bodyPr wrap="square" lIns="0" tIns="0" rIns="0" bIns="0" rtlCol="0" anchor="t"/>
          <a:lstStyle/>
          <a:p>
            <a:pPr indent="0" marL="0">
              <a:buNone/>
            </a:pPr>
            <a:r>
              <a:rPr lang="en-US" sz="1100" b="1" dirty="0">
                <a:solidFill>
                  <a:schemeClr val="tx2"/>
                </a:solidFill>
              </a:rPr>
              <a:t>Figure 3. From bed-rest data to crew readiness</a:t>
            </a:r>
            <a:endParaRPr lang="en-US" sz="1100" dirty="0"/>
          </a:p>
        </p:txBody>
      </p:sp>
      <p:sp>
        <p:nvSpPr>
          <p:cNvPr id="60" name="Text 53"/>
          <p:cNvSpPr txBox="1"/>
          <p:nvPr/>
        </p:nvSpPr>
        <p:spPr>
          <a:xfrm>
            <a:off x="6309360" y="5733288"/>
            <a:ext cx="5303520" cy="228600"/>
          </a:xfrm>
          <a:prstGeom prst="rect">
            <a:avLst/>
          </a:prstGeom>
          <a:noFill/>
          <a:ln/>
        </p:spPr>
        <p:txBody>
          <a:bodyPr wrap="square" lIns="0" tIns="0" rIns="0" bIns="0" rtlCol="0" anchor="t"/>
          <a:lstStyle/>
          <a:p>
            <a:pPr indent="0" marL="0">
              <a:buNone/>
            </a:pPr>
            <a:r>
              <a:rPr lang="en-US" sz="1100" i="1" dirty="0">
                <a:solidFill>
                  <a:schemeClr val="accent3"/>
                </a:solidFill>
              </a:rPr>
              <a:t>Dashed: future use, which needs validation with spaceflight data</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9038844" y="6432804"/>
            <a:ext cx="118872" cy="118872"/>
          </a:xfrm>
          <a:prstGeom prst="ellipse">
            <a:avLst/>
          </a:prstGeom>
          <a:solidFill>
            <a:schemeClr val="tx2"/>
          </a:solidFill>
          <a:ln w="9525">
            <a:solidFill>
              <a:srgbClr val="0B2545"/>
            </a:solidFill>
            <a:prstDash val="solid"/>
          </a:ln>
        </p:spPr>
      </p:sp>
      <p:sp>
        <p:nvSpPr>
          <p:cNvPr id="6" name="Tracker 2 Literature research"/>
          <p:cNvSpPr/>
          <p:nvPr/>
        </p:nvSpPr>
        <p:spPr>
          <a:xfrm>
            <a:off x="9336024" y="6382512"/>
            <a:ext cx="219456" cy="219456"/>
          </a:xfrm>
          <a:prstGeom prst="ellipse">
            <a:avLst/>
          </a:prstGeom>
          <a:solidFill>
            <a:schemeClr val="accent1"/>
          </a:solidFill>
          <a:ln w="9525">
            <a:solidFill>
              <a:srgbClr val="C1440E"/>
            </a:solidFill>
            <a:prstDash val="solid"/>
          </a:ln>
        </p:spPr>
      </p:sp>
      <p:sp>
        <p:nvSpPr>
          <p:cNvPr id="7" name="Tracker 3 Data extraction and database"/>
          <p:cNvSpPr/>
          <p:nvPr/>
        </p:nvSpPr>
        <p:spPr>
          <a:xfrm>
            <a:off x="9733788" y="6432804"/>
            <a:ext cx="118872" cy="118872"/>
          </a:xfrm>
          <a:prstGeom prst="ellipse">
            <a:avLst/>
          </a:prstGeom>
          <a:solidFill>
            <a:schemeClr val="bg1"/>
          </a:solidFill>
          <a:ln w="9525">
            <a:solidFill>
              <a:srgbClr val="98A6B5"/>
            </a:solidFill>
            <a:prstDash val="solid"/>
          </a:ln>
        </p:spPr>
      </p:sp>
      <p:sp>
        <p:nvSpPr>
          <p:cNvPr id="8" name="Tracker 4 ML framework"/>
          <p:cNvSpPr/>
          <p:nvPr/>
        </p:nvSpPr>
        <p:spPr>
          <a:xfrm>
            <a:off x="10081260" y="6432804"/>
            <a:ext cx="118872" cy="118872"/>
          </a:xfrm>
          <a:prstGeom prst="ellipse">
            <a:avLst/>
          </a:prstGeom>
          <a:solidFill>
            <a:schemeClr val="bg1"/>
          </a:solidFill>
          <a:ln w="9525">
            <a:solidFill>
              <a:srgbClr val="98A6B5"/>
            </a:solidFill>
            <a:prstDash val="solid"/>
          </a:ln>
        </p:spPr>
      </p:sp>
      <p:sp>
        <p:nvSpPr>
          <p:cNvPr id="9" name="Tracker 5 Models and results"/>
          <p:cNvSpPr/>
          <p:nvPr/>
        </p:nvSpPr>
        <p:spPr>
          <a:xfrm>
            <a:off x="10428732" y="6432804"/>
            <a:ext cx="118872" cy="118872"/>
          </a:xfrm>
          <a:prstGeom prst="ellipse">
            <a:avLst/>
          </a:prstGeom>
          <a:solidFill>
            <a:schemeClr val="bg1"/>
          </a:solidFill>
          <a:ln w="9525">
            <a:solidFill>
              <a:srgbClr val="98A6B5"/>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2  Literature research</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Range of unloading durations and studies</a:t>
            </a:r>
            <a:endParaRPr lang="en-US" sz="2800" dirty="0"/>
          </a:p>
        </p:txBody>
      </p:sp>
      <p:sp>
        <p:nvSpPr>
          <p:cNvPr id="13" name="Text 9"/>
          <p:cNvSpPr txBox="1"/>
          <p:nvPr/>
        </p:nvSpPr>
        <p:spPr>
          <a:xfrm>
            <a:off x="548640" y="1115568"/>
            <a:ext cx="11064240" cy="292608"/>
          </a:xfrm>
          <a:prstGeom prst="rect">
            <a:avLst/>
          </a:prstGeom>
          <a:noFill/>
          <a:ln/>
        </p:spPr>
        <p:txBody>
          <a:bodyPr wrap="square" lIns="0" tIns="0" rIns="0" bIns="0" rtlCol="0" anchor="t"/>
          <a:lstStyle/>
          <a:p>
            <a:pPr indent="0" marL="0">
              <a:buNone/>
            </a:pPr>
            <a:r>
              <a:rPr lang="en-US" sz="1400" b="1" dirty="0">
                <a:solidFill>
                  <a:schemeClr val="tx2"/>
                </a:solidFill>
              </a:rPr>
              <a:t>Figure 4. Unloading range in the abstract and in the final dataset</a:t>
            </a:r>
            <a:endParaRPr lang="en-US" sz="1400" dirty="0"/>
          </a:p>
        </p:txBody>
      </p:sp>
      <p:sp>
        <p:nvSpPr>
          <p:cNvPr id="14" name="Text 10"/>
          <p:cNvSpPr txBox="1"/>
          <p:nvPr/>
        </p:nvSpPr>
        <p:spPr>
          <a:xfrm>
            <a:off x="548640" y="1481328"/>
            <a:ext cx="2651760" cy="548640"/>
          </a:xfrm>
          <a:prstGeom prst="rect">
            <a:avLst/>
          </a:prstGeom>
          <a:noFill/>
          <a:ln/>
        </p:spPr>
        <p:txBody>
          <a:bodyPr wrap="square" lIns="0" tIns="0" rIns="0" bIns="0" rtlCol="0" anchor="ctr"/>
          <a:lstStyle/>
          <a:p>
            <a:pPr indent="0" marL="0">
              <a:buNone/>
            </a:pPr>
            <a:r>
              <a:rPr lang="en-US" sz="1500" b="1" dirty="0">
                <a:solidFill>
                  <a:schemeClr val="tx2"/>
                </a:solidFill>
              </a:rPr>
              <a:t>Abstract</a:t>
            </a:r>
            <a:endParaRPr lang="en-US" sz="1500" dirty="0"/>
          </a:p>
          <a:p>
            <a:pPr indent="0" marL="0">
              <a:buNone/>
            </a:pPr>
            <a:r>
              <a:rPr lang="en-US" sz="1200" dirty="0">
                <a:solidFill>
                  <a:schemeClr val="accent3"/>
                </a:solidFill>
              </a:rPr>
              <a:t>15 bed-rest studies</a:t>
            </a:r>
            <a:endParaRPr lang="en-US" sz="1500" dirty="0"/>
          </a:p>
        </p:txBody>
      </p:sp>
      <p:sp>
        <p:nvSpPr>
          <p:cNvPr id="15" name="Abstract 14-119"/>
          <p:cNvSpPr/>
          <p:nvPr/>
        </p:nvSpPr>
        <p:spPr>
          <a:xfrm>
            <a:off x="3889248" y="1591056"/>
            <a:ext cx="4480560" cy="329184"/>
          </a:xfrm>
          <a:prstGeom prst="rect">
            <a:avLst/>
          </a:prstGeom>
          <a:solidFill>
            <a:srgbClr val="B8C4D1"/>
          </a:solidFill>
          <a:ln/>
        </p:spPr>
      </p:sp>
      <p:sp>
        <p:nvSpPr>
          <p:cNvPr id="16" name="Text 12"/>
          <p:cNvSpPr txBox="1"/>
          <p:nvPr/>
        </p:nvSpPr>
        <p:spPr>
          <a:xfrm>
            <a:off x="3477768" y="1591056"/>
            <a:ext cx="365760" cy="329184"/>
          </a:xfrm>
          <a:prstGeom prst="rect">
            <a:avLst/>
          </a:prstGeom>
          <a:noFill/>
          <a:ln/>
        </p:spPr>
        <p:txBody>
          <a:bodyPr wrap="square" lIns="0" tIns="0" rIns="0" bIns="0" rtlCol="0" anchor="ctr"/>
          <a:lstStyle/>
          <a:p>
            <a:pPr algn="r" indent="0" marL="0">
              <a:buNone/>
            </a:pPr>
            <a:r>
              <a:rPr lang="en-US" sz="1200" b="1" dirty="0">
                <a:solidFill>
                  <a:schemeClr val="tx1"/>
                </a:solidFill>
              </a:rPr>
              <a:t>14</a:t>
            </a:r>
            <a:endParaRPr lang="en-US" sz="1200" dirty="0"/>
          </a:p>
        </p:txBody>
      </p:sp>
      <p:sp>
        <p:nvSpPr>
          <p:cNvPr id="17" name="Text 13"/>
          <p:cNvSpPr txBox="1"/>
          <p:nvPr/>
        </p:nvSpPr>
        <p:spPr>
          <a:xfrm>
            <a:off x="8433816" y="1591056"/>
            <a:ext cx="457200" cy="329184"/>
          </a:xfrm>
          <a:prstGeom prst="rect">
            <a:avLst/>
          </a:prstGeom>
          <a:noFill/>
          <a:ln/>
        </p:spPr>
        <p:txBody>
          <a:bodyPr wrap="square" lIns="0" tIns="0" rIns="0" bIns="0" rtlCol="0" anchor="ctr"/>
          <a:lstStyle/>
          <a:p>
            <a:pPr indent="0" marL="0">
              <a:buNone/>
            </a:pPr>
            <a:r>
              <a:rPr lang="en-US" sz="1200" b="1" dirty="0">
                <a:solidFill>
                  <a:schemeClr val="tx1"/>
                </a:solidFill>
              </a:rPr>
              <a:t>119</a:t>
            </a:r>
            <a:endParaRPr lang="en-US" sz="1200" dirty="0"/>
          </a:p>
        </p:txBody>
      </p:sp>
      <p:sp>
        <p:nvSpPr>
          <p:cNvPr id="18" name="Text 14"/>
          <p:cNvSpPr txBox="1"/>
          <p:nvPr/>
        </p:nvSpPr>
        <p:spPr>
          <a:xfrm>
            <a:off x="548640" y="2048256"/>
            <a:ext cx="2651760" cy="548640"/>
          </a:xfrm>
          <a:prstGeom prst="rect">
            <a:avLst/>
          </a:prstGeom>
          <a:noFill/>
          <a:ln/>
        </p:spPr>
        <p:txBody>
          <a:bodyPr wrap="square" lIns="0" tIns="0" rIns="0" bIns="0" rtlCol="0" anchor="ctr"/>
          <a:lstStyle/>
          <a:p>
            <a:pPr indent="0" marL="0">
              <a:buNone/>
            </a:pPr>
            <a:r>
              <a:rPr lang="en-US" sz="1500" b="1" dirty="0">
                <a:solidFill>
                  <a:schemeClr val="tx2"/>
                </a:solidFill>
              </a:rPr>
              <a:t>Final dataset</a:t>
            </a:r>
            <a:endParaRPr lang="en-US" sz="1500" dirty="0"/>
          </a:p>
          <a:p>
            <a:pPr indent="0" marL="0">
              <a:buNone/>
            </a:pPr>
            <a:r>
              <a:rPr lang="en-US" sz="1200" dirty="0">
                <a:solidFill>
                  <a:schemeClr val="accent3"/>
                </a:solidFill>
              </a:rPr>
              <a:t>52 studies</a:t>
            </a:r>
            <a:endParaRPr lang="en-US" sz="1500" dirty="0"/>
          </a:p>
        </p:txBody>
      </p:sp>
      <p:sp>
        <p:nvSpPr>
          <p:cNvPr id="19" name="Final dataset 5-119"/>
          <p:cNvSpPr/>
          <p:nvPr/>
        </p:nvSpPr>
        <p:spPr>
          <a:xfrm>
            <a:off x="3505200" y="2157984"/>
            <a:ext cx="4864608" cy="329184"/>
          </a:xfrm>
          <a:prstGeom prst="rect">
            <a:avLst/>
          </a:prstGeom>
          <a:solidFill>
            <a:srgbClr val="0B2545"/>
          </a:solidFill>
          <a:ln/>
        </p:spPr>
      </p:sp>
      <p:sp>
        <p:nvSpPr>
          <p:cNvPr id="20" name="Final dataset 119-180"/>
          <p:cNvSpPr/>
          <p:nvPr/>
        </p:nvSpPr>
        <p:spPr>
          <a:xfrm>
            <a:off x="8369808" y="2157984"/>
            <a:ext cx="2602992" cy="329184"/>
          </a:xfrm>
          <a:prstGeom prst="rect">
            <a:avLst/>
          </a:prstGeom>
          <a:solidFill>
            <a:srgbClr val="C1440E"/>
          </a:solidFill>
          <a:ln/>
        </p:spPr>
      </p:sp>
      <p:sp>
        <p:nvSpPr>
          <p:cNvPr id="21" name="Text 17"/>
          <p:cNvSpPr txBox="1"/>
          <p:nvPr/>
        </p:nvSpPr>
        <p:spPr>
          <a:xfrm>
            <a:off x="3093720" y="2157984"/>
            <a:ext cx="365760" cy="329184"/>
          </a:xfrm>
          <a:prstGeom prst="rect">
            <a:avLst/>
          </a:prstGeom>
          <a:noFill/>
          <a:ln/>
        </p:spPr>
        <p:txBody>
          <a:bodyPr wrap="square" lIns="0" tIns="0" rIns="0" bIns="0" rtlCol="0" anchor="ctr"/>
          <a:lstStyle/>
          <a:p>
            <a:pPr algn="r" indent="0" marL="0">
              <a:buNone/>
            </a:pPr>
            <a:r>
              <a:rPr lang="en-US" sz="1200" b="1" dirty="0">
                <a:solidFill>
                  <a:schemeClr val="tx1"/>
                </a:solidFill>
              </a:rPr>
              <a:t>5</a:t>
            </a:r>
            <a:endParaRPr lang="en-US" sz="1200" dirty="0"/>
          </a:p>
        </p:txBody>
      </p:sp>
      <p:sp>
        <p:nvSpPr>
          <p:cNvPr id="22" name="Text 18"/>
          <p:cNvSpPr txBox="1"/>
          <p:nvPr/>
        </p:nvSpPr>
        <p:spPr>
          <a:xfrm>
            <a:off x="11036808" y="2157984"/>
            <a:ext cx="457200" cy="329184"/>
          </a:xfrm>
          <a:prstGeom prst="rect">
            <a:avLst/>
          </a:prstGeom>
          <a:noFill/>
          <a:ln/>
        </p:spPr>
        <p:txBody>
          <a:bodyPr wrap="square" lIns="0" tIns="0" rIns="0" bIns="0" rtlCol="0" anchor="ctr"/>
          <a:lstStyle/>
          <a:p>
            <a:pPr indent="0" marL="0">
              <a:buNone/>
            </a:pPr>
            <a:r>
              <a:rPr lang="en-US" sz="1200" b="1" dirty="0">
                <a:solidFill>
                  <a:schemeClr val="tx1"/>
                </a:solidFill>
              </a:rPr>
              <a:t>180</a:t>
            </a:r>
            <a:endParaRPr lang="en-US" sz="1200" dirty="0"/>
          </a:p>
        </p:txBody>
      </p:sp>
      <p:sp>
        <p:nvSpPr>
          <p:cNvPr id="23" name="Text 19"/>
          <p:cNvSpPr txBox="1"/>
          <p:nvPr/>
        </p:nvSpPr>
        <p:spPr>
          <a:xfrm>
            <a:off x="3505200" y="2157984"/>
            <a:ext cx="4864608" cy="329184"/>
          </a:xfrm>
          <a:prstGeom prst="rect">
            <a:avLst/>
          </a:prstGeom>
          <a:noFill/>
          <a:ln/>
        </p:spPr>
        <p:txBody>
          <a:bodyPr wrap="square" lIns="0" tIns="0" rIns="0" bIns="0" rtlCol="0" anchor="ctr"/>
          <a:lstStyle/>
          <a:p>
            <a:pPr algn="ctr" indent="0" marL="0">
              <a:buNone/>
            </a:pPr>
            <a:r>
              <a:rPr lang="en-US" sz="1200" b="1" dirty="0">
                <a:solidFill>
                  <a:schemeClr val="bg1"/>
                </a:solidFill>
              </a:rPr>
              <a:t>bed rest</a:t>
            </a:r>
            <a:endParaRPr lang="en-US" sz="1200" dirty="0"/>
          </a:p>
        </p:txBody>
      </p:sp>
      <p:sp>
        <p:nvSpPr>
          <p:cNvPr id="24" name="Text 20"/>
          <p:cNvSpPr txBox="1"/>
          <p:nvPr/>
        </p:nvSpPr>
        <p:spPr>
          <a:xfrm>
            <a:off x="8369808" y="2157984"/>
            <a:ext cx="2602992" cy="329184"/>
          </a:xfrm>
          <a:prstGeom prst="rect">
            <a:avLst/>
          </a:prstGeom>
          <a:noFill/>
          <a:ln/>
        </p:spPr>
        <p:txBody>
          <a:bodyPr wrap="square" lIns="0" tIns="0" rIns="0" bIns="0" rtlCol="0" anchor="ctr"/>
          <a:lstStyle/>
          <a:p>
            <a:pPr algn="ctr" indent="0" marL="0">
              <a:buNone/>
            </a:pPr>
            <a:r>
              <a:rPr lang="en-US" sz="1200" b="1" dirty="0">
                <a:solidFill>
                  <a:schemeClr val="bg1"/>
                </a:solidFill>
              </a:rPr>
              <a:t>spaceflight</a:t>
            </a:r>
            <a:endParaRPr lang="en-US" sz="1200" dirty="0"/>
          </a:p>
        </p:txBody>
      </p:sp>
      <p:sp>
        <p:nvSpPr>
          <p:cNvPr id="25" name="Day axis"/>
          <p:cNvSpPr/>
          <p:nvPr/>
        </p:nvSpPr>
        <p:spPr>
          <a:xfrm>
            <a:off x="3291840" y="2670048"/>
            <a:ext cx="7680960" cy="0"/>
          </a:xfrm>
          <a:prstGeom prst="line">
            <a:avLst/>
          </a:prstGeom>
          <a:noFill/>
          <a:ln w="9525">
            <a:solidFill>
              <a:srgbClr val="5D6B7B"/>
            </a:solidFill>
            <a:prstDash val="solid"/>
          </a:ln>
        </p:spPr>
      </p:sp>
      <p:sp>
        <p:nvSpPr>
          <p:cNvPr id="26" name="Tick 0"/>
          <p:cNvSpPr/>
          <p:nvPr/>
        </p:nvSpPr>
        <p:spPr>
          <a:xfrm>
            <a:off x="3291840" y="2670048"/>
            <a:ext cx="0" cy="54864"/>
          </a:xfrm>
          <a:prstGeom prst="line">
            <a:avLst/>
          </a:prstGeom>
          <a:noFill/>
          <a:ln w="9525">
            <a:solidFill>
              <a:srgbClr val="5D6B7B"/>
            </a:solidFill>
            <a:prstDash val="solid"/>
          </a:ln>
        </p:spPr>
      </p:sp>
      <p:sp>
        <p:nvSpPr>
          <p:cNvPr id="27" name="Text 23"/>
          <p:cNvSpPr txBox="1"/>
          <p:nvPr/>
        </p:nvSpPr>
        <p:spPr>
          <a:xfrm>
            <a:off x="3017520" y="2734056"/>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0</a:t>
            </a:r>
            <a:endParaRPr lang="en-US" sz="1000" dirty="0"/>
          </a:p>
        </p:txBody>
      </p:sp>
      <p:sp>
        <p:nvSpPr>
          <p:cNvPr id="28" name="Tick 30"/>
          <p:cNvSpPr/>
          <p:nvPr/>
        </p:nvSpPr>
        <p:spPr>
          <a:xfrm>
            <a:off x="4572000" y="2670048"/>
            <a:ext cx="0" cy="54864"/>
          </a:xfrm>
          <a:prstGeom prst="line">
            <a:avLst/>
          </a:prstGeom>
          <a:noFill/>
          <a:ln w="9525">
            <a:solidFill>
              <a:srgbClr val="5D6B7B"/>
            </a:solidFill>
            <a:prstDash val="solid"/>
          </a:ln>
        </p:spPr>
      </p:sp>
      <p:sp>
        <p:nvSpPr>
          <p:cNvPr id="29" name="Text 25"/>
          <p:cNvSpPr txBox="1"/>
          <p:nvPr/>
        </p:nvSpPr>
        <p:spPr>
          <a:xfrm>
            <a:off x="4297680" y="2734056"/>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30</a:t>
            </a:r>
            <a:endParaRPr lang="en-US" sz="1000" dirty="0"/>
          </a:p>
        </p:txBody>
      </p:sp>
      <p:sp>
        <p:nvSpPr>
          <p:cNvPr id="30" name="Tick 60"/>
          <p:cNvSpPr/>
          <p:nvPr/>
        </p:nvSpPr>
        <p:spPr>
          <a:xfrm>
            <a:off x="5852160" y="2670048"/>
            <a:ext cx="0" cy="54864"/>
          </a:xfrm>
          <a:prstGeom prst="line">
            <a:avLst/>
          </a:prstGeom>
          <a:noFill/>
          <a:ln w="9525">
            <a:solidFill>
              <a:srgbClr val="5D6B7B"/>
            </a:solidFill>
            <a:prstDash val="solid"/>
          </a:ln>
        </p:spPr>
      </p:sp>
      <p:sp>
        <p:nvSpPr>
          <p:cNvPr id="31" name="Text 27"/>
          <p:cNvSpPr txBox="1"/>
          <p:nvPr/>
        </p:nvSpPr>
        <p:spPr>
          <a:xfrm>
            <a:off x="5577840" y="2734056"/>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60</a:t>
            </a:r>
            <a:endParaRPr lang="en-US" sz="1000" dirty="0"/>
          </a:p>
        </p:txBody>
      </p:sp>
      <p:sp>
        <p:nvSpPr>
          <p:cNvPr id="32" name="Tick 90"/>
          <p:cNvSpPr/>
          <p:nvPr/>
        </p:nvSpPr>
        <p:spPr>
          <a:xfrm>
            <a:off x="7132320" y="2670048"/>
            <a:ext cx="0" cy="54864"/>
          </a:xfrm>
          <a:prstGeom prst="line">
            <a:avLst/>
          </a:prstGeom>
          <a:noFill/>
          <a:ln w="9525">
            <a:solidFill>
              <a:srgbClr val="5D6B7B"/>
            </a:solidFill>
            <a:prstDash val="solid"/>
          </a:ln>
        </p:spPr>
      </p:sp>
      <p:sp>
        <p:nvSpPr>
          <p:cNvPr id="33" name="Text 29"/>
          <p:cNvSpPr txBox="1"/>
          <p:nvPr/>
        </p:nvSpPr>
        <p:spPr>
          <a:xfrm>
            <a:off x="6858000" y="2734056"/>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90</a:t>
            </a:r>
            <a:endParaRPr lang="en-US" sz="1000" dirty="0"/>
          </a:p>
        </p:txBody>
      </p:sp>
      <p:sp>
        <p:nvSpPr>
          <p:cNvPr id="34" name="Tick 119"/>
          <p:cNvSpPr/>
          <p:nvPr/>
        </p:nvSpPr>
        <p:spPr>
          <a:xfrm>
            <a:off x="8369808" y="2670048"/>
            <a:ext cx="0" cy="54864"/>
          </a:xfrm>
          <a:prstGeom prst="line">
            <a:avLst/>
          </a:prstGeom>
          <a:noFill/>
          <a:ln w="9525">
            <a:solidFill>
              <a:srgbClr val="5D6B7B"/>
            </a:solidFill>
            <a:prstDash val="solid"/>
          </a:ln>
        </p:spPr>
      </p:sp>
      <p:sp>
        <p:nvSpPr>
          <p:cNvPr id="35" name="Text 31"/>
          <p:cNvSpPr txBox="1"/>
          <p:nvPr/>
        </p:nvSpPr>
        <p:spPr>
          <a:xfrm>
            <a:off x="8095488" y="2734056"/>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119</a:t>
            </a:r>
            <a:endParaRPr lang="en-US" sz="1000" dirty="0"/>
          </a:p>
        </p:txBody>
      </p:sp>
      <p:sp>
        <p:nvSpPr>
          <p:cNvPr id="36" name="Tick 150"/>
          <p:cNvSpPr/>
          <p:nvPr/>
        </p:nvSpPr>
        <p:spPr>
          <a:xfrm>
            <a:off x="9692640" y="2670048"/>
            <a:ext cx="0" cy="54864"/>
          </a:xfrm>
          <a:prstGeom prst="line">
            <a:avLst/>
          </a:prstGeom>
          <a:noFill/>
          <a:ln w="9525">
            <a:solidFill>
              <a:srgbClr val="5D6B7B"/>
            </a:solidFill>
            <a:prstDash val="solid"/>
          </a:ln>
        </p:spPr>
      </p:sp>
      <p:sp>
        <p:nvSpPr>
          <p:cNvPr id="37" name="Text 33"/>
          <p:cNvSpPr txBox="1"/>
          <p:nvPr/>
        </p:nvSpPr>
        <p:spPr>
          <a:xfrm>
            <a:off x="9418320" y="2734056"/>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150</a:t>
            </a:r>
            <a:endParaRPr lang="en-US" sz="1000" dirty="0"/>
          </a:p>
        </p:txBody>
      </p:sp>
      <p:sp>
        <p:nvSpPr>
          <p:cNvPr id="38" name="Tick 180"/>
          <p:cNvSpPr/>
          <p:nvPr/>
        </p:nvSpPr>
        <p:spPr>
          <a:xfrm>
            <a:off x="10972800" y="2670048"/>
            <a:ext cx="0" cy="54864"/>
          </a:xfrm>
          <a:prstGeom prst="line">
            <a:avLst/>
          </a:prstGeom>
          <a:noFill/>
          <a:ln w="9525">
            <a:solidFill>
              <a:srgbClr val="5D6B7B"/>
            </a:solidFill>
            <a:prstDash val="solid"/>
          </a:ln>
        </p:spPr>
      </p:sp>
      <p:sp>
        <p:nvSpPr>
          <p:cNvPr id="39" name="Text 35"/>
          <p:cNvSpPr txBox="1"/>
          <p:nvPr/>
        </p:nvSpPr>
        <p:spPr>
          <a:xfrm>
            <a:off x="10698480" y="2734056"/>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180</a:t>
            </a:r>
            <a:endParaRPr lang="en-US" sz="1000" dirty="0"/>
          </a:p>
        </p:txBody>
      </p:sp>
      <p:sp>
        <p:nvSpPr>
          <p:cNvPr id="40" name="Text 36"/>
          <p:cNvSpPr txBox="1"/>
          <p:nvPr/>
        </p:nvSpPr>
        <p:spPr>
          <a:xfrm>
            <a:off x="548640" y="2651760"/>
            <a:ext cx="2560320" cy="274320"/>
          </a:xfrm>
          <a:prstGeom prst="rect">
            <a:avLst/>
          </a:prstGeom>
          <a:noFill/>
          <a:ln/>
        </p:spPr>
        <p:txBody>
          <a:bodyPr wrap="square" lIns="0" tIns="0" rIns="0" bIns="0" rtlCol="0" anchor="t"/>
          <a:lstStyle/>
          <a:p>
            <a:pPr algn="r" indent="0" marL="0">
              <a:buNone/>
            </a:pPr>
            <a:r>
              <a:rPr lang="en-US" sz="1100" dirty="0">
                <a:solidFill>
                  <a:schemeClr val="accent3"/>
                </a:solidFill>
              </a:rPr>
              <a:t>Days of unloading</a:t>
            </a:r>
            <a:endParaRPr lang="en-US" sz="1100" dirty="0"/>
          </a:p>
        </p:txBody>
      </p:sp>
      <p:sp>
        <p:nvSpPr>
          <p:cNvPr id="41" name="Text 37"/>
          <p:cNvSpPr txBox="1"/>
          <p:nvPr/>
        </p:nvSpPr>
        <p:spPr>
          <a:xfrm>
            <a:off x="3291840" y="3017520"/>
            <a:ext cx="7680960" cy="320040"/>
          </a:xfrm>
          <a:prstGeom prst="rect">
            <a:avLst/>
          </a:prstGeom>
          <a:noFill/>
          <a:ln/>
        </p:spPr>
        <p:txBody>
          <a:bodyPr wrap="square" lIns="0" tIns="0" rIns="0" bIns="0" rtlCol="0" anchor="t"/>
          <a:lstStyle/>
          <a:p>
            <a:pPr indent="0" marL="0">
              <a:buNone/>
            </a:pPr>
            <a:r>
              <a:rPr lang="en-US" sz="1400" b="1" dirty="0">
                <a:solidFill>
                  <a:schemeClr val="tx2"/>
                </a:solidFill>
              </a:rPr>
              <a:t>Figure 5. Studies published per year, by length of unloading</a:t>
            </a:r>
            <a:endParaRPr lang="en-US" sz="1400" dirty="0"/>
          </a:p>
        </p:txBody>
      </p:sp>
      <p:sp>
        <p:nvSpPr>
          <p:cNvPr id="42" name="Text 38"/>
          <p:cNvSpPr txBox="1"/>
          <p:nvPr/>
        </p:nvSpPr>
        <p:spPr>
          <a:xfrm>
            <a:off x="3291840" y="3310128"/>
            <a:ext cx="7680960" cy="228600"/>
          </a:xfrm>
          <a:prstGeom prst="rect">
            <a:avLst/>
          </a:prstGeom>
          <a:noFill/>
          <a:ln/>
        </p:spPr>
        <p:txBody>
          <a:bodyPr wrap="square" lIns="0" tIns="0" rIns="0" bIns="0" rtlCol="0" anchor="t"/>
          <a:lstStyle/>
          <a:p>
            <a:pPr indent="0" marL="0">
              <a:buNone/>
            </a:pPr>
            <a:r>
              <a:rPr lang="en-US" sz="1100" i="1" dirty="0">
                <a:solidFill>
                  <a:schemeClr val="accent3"/>
                </a:solidFill>
              </a:rPr>
              <a:t>Years without studies omitted</a:t>
            </a:r>
            <a:endParaRPr lang="en-US" sz="1100" dirty="0"/>
          </a:p>
        </p:txBody>
      </p:sp>
      <p:sp>
        <p:nvSpPr>
          <p:cNvPr id="43" name="Text 39"/>
          <p:cNvSpPr txBox="1"/>
          <p:nvPr/>
        </p:nvSpPr>
        <p:spPr>
          <a:xfrm>
            <a:off x="548640" y="3840480"/>
            <a:ext cx="2194560" cy="274320"/>
          </a:xfrm>
          <a:prstGeom prst="rect">
            <a:avLst/>
          </a:prstGeom>
          <a:noFill/>
          <a:ln/>
        </p:spPr>
        <p:txBody>
          <a:bodyPr wrap="square" lIns="0" tIns="0" rIns="0" bIns="0" rtlCol="0" anchor="t"/>
          <a:lstStyle/>
          <a:p>
            <a:pPr indent="0" marL="0">
              <a:buNone/>
            </a:pPr>
            <a:r>
              <a:rPr lang="en-US" sz="1300" b="1" dirty="0">
                <a:solidFill>
                  <a:schemeClr val="tx2"/>
                </a:solidFill>
              </a:rPr>
              <a:t>Length of unloading</a:t>
            </a:r>
            <a:endParaRPr lang="en-US" sz="1300" dirty="0"/>
          </a:p>
        </p:txBody>
      </p:sp>
      <p:sp>
        <p:nvSpPr>
          <p:cNvPr id="44" name="Legend 180 days (spaceflight)"/>
          <p:cNvSpPr/>
          <p:nvPr/>
        </p:nvSpPr>
        <p:spPr>
          <a:xfrm>
            <a:off x="548640" y="4261104"/>
            <a:ext cx="201168" cy="164592"/>
          </a:xfrm>
          <a:prstGeom prst="rect">
            <a:avLst/>
          </a:prstGeom>
          <a:solidFill>
            <a:srgbClr val="C1440E"/>
          </a:solidFill>
          <a:ln/>
        </p:spPr>
      </p:sp>
      <p:sp>
        <p:nvSpPr>
          <p:cNvPr id="45" name="Text 41"/>
          <p:cNvSpPr txBox="1"/>
          <p:nvPr/>
        </p:nvSpPr>
        <p:spPr>
          <a:xfrm>
            <a:off x="822960" y="4206240"/>
            <a:ext cx="1920240" cy="274320"/>
          </a:xfrm>
          <a:prstGeom prst="rect">
            <a:avLst/>
          </a:prstGeom>
          <a:noFill/>
          <a:ln/>
        </p:spPr>
        <p:txBody>
          <a:bodyPr wrap="square" lIns="0" tIns="0" rIns="0" bIns="0" rtlCol="0" anchor="ctr"/>
          <a:lstStyle/>
          <a:p>
            <a:pPr indent="0" marL="0">
              <a:buNone/>
            </a:pPr>
            <a:r>
              <a:rPr lang="en-US" sz="1200" dirty="0">
                <a:solidFill>
                  <a:schemeClr val="tx1"/>
                </a:solidFill>
              </a:rPr>
              <a:t>180 days (spaceflight)</a:t>
            </a:r>
            <a:endParaRPr lang="en-US" sz="1200" dirty="0"/>
          </a:p>
        </p:txBody>
      </p:sp>
      <p:sp>
        <p:nvSpPr>
          <p:cNvPr id="46" name="Legend 61 to 119 days"/>
          <p:cNvSpPr/>
          <p:nvPr/>
        </p:nvSpPr>
        <p:spPr>
          <a:xfrm>
            <a:off x="548640" y="4590288"/>
            <a:ext cx="201168" cy="164592"/>
          </a:xfrm>
          <a:prstGeom prst="rect">
            <a:avLst/>
          </a:prstGeom>
          <a:solidFill>
            <a:srgbClr val="0B2545"/>
          </a:solidFill>
          <a:ln/>
        </p:spPr>
      </p:sp>
      <p:sp>
        <p:nvSpPr>
          <p:cNvPr id="47" name="Text 43"/>
          <p:cNvSpPr txBox="1"/>
          <p:nvPr/>
        </p:nvSpPr>
        <p:spPr>
          <a:xfrm>
            <a:off x="822960" y="4535424"/>
            <a:ext cx="1920240" cy="274320"/>
          </a:xfrm>
          <a:prstGeom prst="rect">
            <a:avLst/>
          </a:prstGeom>
          <a:noFill/>
          <a:ln/>
        </p:spPr>
        <p:txBody>
          <a:bodyPr wrap="square" lIns="0" tIns="0" rIns="0" bIns="0" rtlCol="0" anchor="ctr"/>
          <a:lstStyle/>
          <a:p>
            <a:pPr indent="0" marL="0">
              <a:buNone/>
            </a:pPr>
            <a:r>
              <a:rPr lang="en-US" sz="1200" dirty="0">
                <a:solidFill>
                  <a:schemeClr val="tx1"/>
                </a:solidFill>
              </a:rPr>
              <a:t>61 to 119 days</a:t>
            </a:r>
            <a:endParaRPr lang="en-US" sz="1200" dirty="0"/>
          </a:p>
        </p:txBody>
      </p:sp>
      <p:sp>
        <p:nvSpPr>
          <p:cNvPr id="48" name="Legend 31 to 60 days"/>
          <p:cNvSpPr/>
          <p:nvPr/>
        </p:nvSpPr>
        <p:spPr>
          <a:xfrm>
            <a:off x="548640" y="4919472"/>
            <a:ext cx="201168" cy="164592"/>
          </a:xfrm>
          <a:prstGeom prst="rect">
            <a:avLst/>
          </a:prstGeom>
          <a:solidFill>
            <a:srgbClr val="5B80A5"/>
          </a:solidFill>
          <a:ln/>
        </p:spPr>
      </p:sp>
      <p:sp>
        <p:nvSpPr>
          <p:cNvPr id="49" name="Text 45"/>
          <p:cNvSpPr txBox="1"/>
          <p:nvPr/>
        </p:nvSpPr>
        <p:spPr>
          <a:xfrm>
            <a:off x="822960" y="4864608"/>
            <a:ext cx="1920240" cy="274320"/>
          </a:xfrm>
          <a:prstGeom prst="rect">
            <a:avLst/>
          </a:prstGeom>
          <a:noFill/>
          <a:ln/>
        </p:spPr>
        <p:txBody>
          <a:bodyPr wrap="square" lIns="0" tIns="0" rIns="0" bIns="0" rtlCol="0" anchor="ctr"/>
          <a:lstStyle/>
          <a:p>
            <a:pPr indent="0" marL="0">
              <a:buNone/>
            </a:pPr>
            <a:r>
              <a:rPr lang="en-US" sz="1200" dirty="0">
                <a:solidFill>
                  <a:schemeClr val="tx1"/>
                </a:solidFill>
              </a:rPr>
              <a:t>31 to 60 days</a:t>
            </a:r>
            <a:endParaRPr lang="en-US" sz="1200" dirty="0"/>
          </a:p>
        </p:txBody>
      </p:sp>
      <p:sp>
        <p:nvSpPr>
          <p:cNvPr id="50" name="Legend 15 to 30 days"/>
          <p:cNvSpPr/>
          <p:nvPr/>
        </p:nvSpPr>
        <p:spPr>
          <a:xfrm>
            <a:off x="548640" y="5248656"/>
            <a:ext cx="201168" cy="164592"/>
          </a:xfrm>
          <a:prstGeom prst="rect">
            <a:avLst/>
          </a:prstGeom>
          <a:solidFill>
            <a:srgbClr val="9AB0C7"/>
          </a:solidFill>
          <a:ln/>
        </p:spPr>
      </p:sp>
      <p:sp>
        <p:nvSpPr>
          <p:cNvPr id="51" name="Text 47"/>
          <p:cNvSpPr txBox="1"/>
          <p:nvPr/>
        </p:nvSpPr>
        <p:spPr>
          <a:xfrm>
            <a:off x="822960" y="5193792"/>
            <a:ext cx="1920240" cy="274320"/>
          </a:xfrm>
          <a:prstGeom prst="rect">
            <a:avLst/>
          </a:prstGeom>
          <a:noFill/>
          <a:ln/>
        </p:spPr>
        <p:txBody>
          <a:bodyPr wrap="square" lIns="0" tIns="0" rIns="0" bIns="0" rtlCol="0" anchor="ctr"/>
          <a:lstStyle/>
          <a:p>
            <a:pPr indent="0" marL="0">
              <a:buNone/>
            </a:pPr>
            <a:r>
              <a:rPr lang="en-US" sz="1200" dirty="0">
                <a:solidFill>
                  <a:schemeClr val="tx1"/>
                </a:solidFill>
              </a:rPr>
              <a:t>15 to 30 days</a:t>
            </a:r>
            <a:endParaRPr lang="en-US" sz="1200" dirty="0"/>
          </a:p>
        </p:txBody>
      </p:sp>
      <p:sp>
        <p:nvSpPr>
          <p:cNvPr id="52" name="Legend 5 to 14 days"/>
          <p:cNvSpPr/>
          <p:nvPr/>
        </p:nvSpPr>
        <p:spPr>
          <a:xfrm>
            <a:off x="548640" y="5577840"/>
            <a:ext cx="201168" cy="164592"/>
          </a:xfrm>
          <a:prstGeom prst="rect">
            <a:avLst/>
          </a:prstGeom>
          <a:solidFill>
            <a:srgbClr val="D3DCE6"/>
          </a:solidFill>
          <a:ln/>
        </p:spPr>
      </p:sp>
      <p:sp>
        <p:nvSpPr>
          <p:cNvPr id="53" name="Text 49"/>
          <p:cNvSpPr txBox="1"/>
          <p:nvPr/>
        </p:nvSpPr>
        <p:spPr>
          <a:xfrm>
            <a:off x="822960" y="5522976"/>
            <a:ext cx="1920240" cy="274320"/>
          </a:xfrm>
          <a:prstGeom prst="rect">
            <a:avLst/>
          </a:prstGeom>
          <a:noFill/>
          <a:ln/>
        </p:spPr>
        <p:txBody>
          <a:bodyPr wrap="square" lIns="0" tIns="0" rIns="0" bIns="0" rtlCol="0" anchor="ctr"/>
          <a:lstStyle/>
          <a:p>
            <a:pPr indent="0" marL="0">
              <a:buNone/>
            </a:pPr>
            <a:r>
              <a:rPr lang="en-US" sz="1200" dirty="0">
                <a:solidFill>
                  <a:schemeClr val="tx1"/>
                </a:solidFill>
              </a:rPr>
              <a:t>5 to 14 days</a:t>
            </a:r>
            <a:endParaRPr lang="en-US" sz="1200" dirty="0"/>
          </a:p>
        </p:txBody>
      </p:sp>
      <p:graphicFrame>
        <p:nvGraphicFramePr>
          <p:cNvPr id="54" name="Chart 0" descr=""/>
          <p:cNvGraphicFramePr/>
          <p:nvPr/>
        </p:nvGraphicFramePr>
        <p:xfrm>
          <a:off x="2743200" y="3566160"/>
          <a:ext cx="8595360" cy="269748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9038844" y="6432804"/>
            <a:ext cx="118872" cy="118872"/>
          </a:xfrm>
          <a:prstGeom prst="ellipse">
            <a:avLst/>
          </a:prstGeom>
          <a:solidFill>
            <a:schemeClr val="tx2"/>
          </a:solidFill>
          <a:ln w="9525">
            <a:solidFill>
              <a:srgbClr val="0B2545"/>
            </a:solidFill>
            <a:prstDash val="solid"/>
          </a:ln>
        </p:spPr>
      </p:sp>
      <p:sp>
        <p:nvSpPr>
          <p:cNvPr id="6" name="Tracker 2 Literature research"/>
          <p:cNvSpPr/>
          <p:nvPr/>
        </p:nvSpPr>
        <p:spPr>
          <a:xfrm>
            <a:off x="9336024" y="6382512"/>
            <a:ext cx="219456" cy="219456"/>
          </a:xfrm>
          <a:prstGeom prst="ellipse">
            <a:avLst/>
          </a:prstGeom>
          <a:solidFill>
            <a:schemeClr val="accent1"/>
          </a:solidFill>
          <a:ln w="9525">
            <a:solidFill>
              <a:srgbClr val="C1440E"/>
            </a:solidFill>
            <a:prstDash val="solid"/>
          </a:ln>
        </p:spPr>
      </p:sp>
      <p:sp>
        <p:nvSpPr>
          <p:cNvPr id="7" name="Tracker 3 Data extraction and database"/>
          <p:cNvSpPr/>
          <p:nvPr/>
        </p:nvSpPr>
        <p:spPr>
          <a:xfrm>
            <a:off x="9733788" y="6432804"/>
            <a:ext cx="118872" cy="118872"/>
          </a:xfrm>
          <a:prstGeom prst="ellipse">
            <a:avLst/>
          </a:prstGeom>
          <a:solidFill>
            <a:schemeClr val="bg1"/>
          </a:solidFill>
          <a:ln w="9525">
            <a:solidFill>
              <a:srgbClr val="98A6B5"/>
            </a:solidFill>
            <a:prstDash val="solid"/>
          </a:ln>
        </p:spPr>
      </p:sp>
      <p:sp>
        <p:nvSpPr>
          <p:cNvPr id="8" name="Tracker 4 ML framework"/>
          <p:cNvSpPr/>
          <p:nvPr/>
        </p:nvSpPr>
        <p:spPr>
          <a:xfrm>
            <a:off x="10081260" y="6432804"/>
            <a:ext cx="118872" cy="118872"/>
          </a:xfrm>
          <a:prstGeom prst="ellipse">
            <a:avLst/>
          </a:prstGeom>
          <a:solidFill>
            <a:schemeClr val="bg1"/>
          </a:solidFill>
          <a:ln w="9525">
            <a:solidFill>
              <a:srgbClr val="98A6B5"/>
            </a:solidFill>
            <a:prstDash val="solid"/>
          </a:ln>
        </p:spPr>
      </p:sp>
      <p:sp>
        <p:nvSpPr>
          <p:cNvPr id="9" name="Tracker 5 Models and results"/>
          <p:cNvSpPr/>
          <p:nvPr/>
        </p:nvSpPr>
        <p:spPr>
          <a:xfrm>
            <a:off x="10428732" y="6432804"/>
            <a:ext cx="118872" cy="118872"/>
          </a:xfrm>
          <a:prstGeom prst="ellipse">
            <a:avLst/>
          </a:prstGeom>
          <a:solidFill>
            <a:schemeClr val="bg1"/>
          </a:solidFill>
          <a:ln w="9525">
            <a:solidFill>
              <a:srgbClr val="98A6B5"/>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2  Literature research</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Literature search and study selection</a:t>
            </a:r>
            <a:endParaRPr lang="en-US" sz="2800" dirty="0"/>
          </a:p>
        </p:txBody>
      </p:sp>
      <p:sp>
        <p:nvSpPr>
          <p:cNvPr id="13" name="Text 9"/>
          <p:cNvSpPr txBox="1"/>
          <p:nvPr/>
        </p:nvSpPr>
        <p:spPr>
          <a:xfrm>
            <a:off x="548640" y="1965960"/>
            <a:ext cx="1920240" cy="228600"/>
          </a:xfrm>
          <a:prstGeom prst="rect">
            <a:avLst/>
          </a:prstGeom>
          <a:noFill/>
          <a:ln/>
        </p:spPr>
        <p:txBody>
          <a:bodyPr wrap="square" lIns="0" tIns="0" rIns="0" bIns="0" rtlCol="0" anchor="t"/>
          <a:lstStyle/>
          <a:p>
            <a:pPr algn="ctr" indent="0" marL="0">
              <a:buNone/>
            </a:pPr>
            <a:r>
              <a:rPr lang="en-US" sz="1050" b="1" spc="100" kern="0" dirty="0">
                <a:solidFill>
                  <a:schemeClr val="accent3"/>
                </a:solidFill>
              </a:rPr>
              <a:t>IDENTIFICATION</a:t>
            </a:r>
            <a:endParaRPr lang="en-US" sz="1050" dirty="0"/>
          </a:p>
        </p:txBody>
      </p:sp>
      <p:sp>
        <p:nvSpPr>
          <p:cNvPr id="14" name="Step Identification"/>
          <p:cNvSpPr/>
          <p:nvPr/>
        </p:nvSpPr>
        <p:spPr>
          <a:xfrm>
            <a:off x="548640" y="2286000"/>
            <a:ext cx="1920240" cy="1325880"/>
          </a:xfrm>
          <a:prstGeom prst="rect">
            <a:avLst/>
          </a:prstGeom>
          <a:solidFill>
            <a:srgbClr val="FFFFFF"/>
          </a:solidFill>
          <a:ln w="12700">
            <a:solidFill>
              <a:srgbClr val="98A6B5"/>
            </a:solidFill>
            <a:prstDash val="solid"/>
          </a:ln>
        </p:spPr>
      </p:sp>
      <p:sp>
        <p:nvSpPr>
          <p:cNvPr id="15" name="Text 11"/>
          <p:cNvSpPr txBox="1"/>
          <p:nvPr/>
        </p:nvSpPr>
        <p:spPr>
          <a:xfrm>
            <a:off x="640080" y="2359152"/>
            <a:ext cx="1737360" cy="1179576"/>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5,741</a:t>
            </a:r>
            <a:endParaRPr lang="en-US" sz="2600" dirty="0"/>
          </a:p>
          <a:p>
            <a:pPr algn="ctr" indent="0" marL="0">
              <a:buNone/>
            </a:pPr>
            <a:r>
              <a:rPr lang="en-US" sz="1300" dirty="0">
                <a:solidFill>
                  <a:schemeClr val="tx1"/>
                </a:solidFill>
              </a:rPr>
              <a:t>records found</a:t>
            </a:r>
            <a:endParaRPr lang="en-US" sz="2600" dirty="0"/>
          </a:p>
          <a:p>
            <a:pPr algn="ctr" indent="0" marL="0">
              <a:buNone/>
            </a:pPr>
            <a:r>
              <a:rPr lang="en-US" sz="1050" i="1" dirty="0">
                <a:solidFill>
                  <a:schemeClr val="accent3"/>
                </a:solidFill>
              </a:rPr>
              <a:t>PubMed, Scopus, Web of Science, NASA reports; 10 from other sources</a:t>
            </a:r>
            <a:endParaRPr lang="en-US" sz="2600" dirty="0"/>
          </a:p>
        </p:txBody>
      </p:sp>
      <p:sp>
        <p:nvSpPr>
          <p:cNvPr id="16" name="Flow arrow 1"/>
          <p:cNvSpPr/>
          <p:nvPr/>
        </p:nvSpPr>
        <p:spPr>
          <a:xfrm>
            <a:off x="2505456" y="2948940"/>
            <a:ext cx="246888" cy="0"/>
          </a:xfrm>
          <a:prstGeom prst="line">
            <a:avLst/>
          </a:prstGeom>
          <a:noFill/>
          <a:ln w="15875">
            <a:solidFill>
              <a:srgbClr val="1B2533"/>
            </a:solidFill>
            <a:prstDash val="solid"/>
            <a:tailEnd type="triangle"/>
          </a:ln>
        </p:spPr>
      </p:sp>
      <p:sp>
        <p:nvSpPr>
          <p:cNvPr id="17" name="Text 13"/>
          <p:cNvSpPr txBox="1"/>
          <p:nvPr/>
        </p:nvSpPr>
        <p:spPr>
          <a:xfrm>
            <a:off x="2788920" y="1965960"/>
            <a:ext cx="1920240" cy="228600"/>
          </a:xfrm>
          <a:prstGeom prst="rect">
            <a:avLst/>
          </a:prstGeom>
          <a:noFill/>
          <a:ln/>
        </p:spPr>
        <p:txBody>
          <a:bodyPr wrap="square" lIns="0" tIns="0" rIns="0" bIns="0" rtlCol="0" anchor="t"/>
          <a:lstStyle/>
          <a:p>
            <a:pPr algn="ctr" indent="0" marL="0">
              <a:buNone/>
            </a:pPr>
            <a:r>
              <a:rPr lang="en-US" sz="1050" b="1" spc="100" kern="0" dirty="0">
                <a:solidFill>
                  <a:schemeClr val="accent3"/>
                </a:solidFill>
              </a:rPr>
              <a:t>SCREENING</a:t>
            </a:r>
            <a:endParaRPr lang="en-US" sz="1050" dirty="0"/>
          </a:p>
        </p:txBody>
      </p:sp>
      <p:sp>
        <p:nvSpPr>
          <p:cNvPr id="18" name="Step Screening"/>
          <p:cNvSpPr/>
          <p:nvPr/>
        </p:nvSpPr>
        <p:spPr>
          <a:xfrm>
            <a:off x="2788920" y="2286000"/>
            <a:ext cx="1920240" cy="1325880"/>
          </a:xfrm>
          <a:prstGeom prst="rect">
            <a:avLst/>
          </a:prstGeom>
          <a:solidFill>
            <a:srgbClr val="FFFFFF"/>
          </a:solidFill>
          <a:ln w="12700">
            <a:solidFill>
              <a:srgbClr val="98A6B5"/>
            </a:solidFill>
            <a:prstDash val="solid"/>
          </a:ln>
        </p:spPr>
      </p:sp>
      <p:sp>
        <p:nvSpPr>
          <p:cNvPr id="19" name="Text 15"/>
          <p:cNvSpPr txBox="1"/>
          <p:nvPr/>
        </p:nvSpPr>
        <p:spPr>
          <a:xfrm>
            <a:off x="2880360" y="2359152"/>
            <a:ext cx="1737360" cy="1179576"/>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3,600</a:t>
            </a:r>
            <a:endParaRPr lang="en-US" sz="2600" dirty="0"/>
          </a:p>
          <a:p>
            <a:pPr algn="ctr" indent="0" marL="0">
              <a:buNone/>
            </a:pPr>
            <a:r>
              <a:rPr lang="en-US" sz="1300" dirty="0">
                <a:solidFill>
                  <a:schemeClr val="tx1"/>
                </a:solidFill>
              </a:rPr>
              <a:t>records after removing duplicates</a:t>
            </a:r>
            <a:endParaRPr lang="en-US" sz="2600" dirty="0"/>
          </a:p>
        </p:txBody>
      </p:sp>
      <p:sp>
        <p:nvSpPr>
          <p:cNvPr id="20" name="Flow arrow 2"/>
          <p:cNvSpPr/>
          <p:nvPr/>
        </p:nvSpPr>
        <p:spPr>
          <a:xfrm>
            <a:off x="4745736" y="2948940"/>
            <a:ext cx="246888" cy="0"/>
          </a:xfrm>
          <a:prstGeom prst="line">
            <a:avLst/>
          </a:prstGeom>
          <a:noFill/>
          <a:ln w="15875">
            <a:solidFill>
              <a:srgbClr val="1B2533"/>
            </a:solidFill>
            <a:prstDash val="solid"/>
            <a:tailEnd type="triangle"/>
          </a:ln>
        </p:spPr>
      </p:sp>
      <p:sp>
        <p:nvSpPr>
          <p:cNvPr id="21" name="Text 17"/>
          <p:cNvSpPr txBox="1"/>
          <p:nvPr/>
        </p:nvSpPr>
        <p:spPr>
          <a:xfrm>
            <a:off x="5029200" y="1965960"/>
            <a:ext cx="1920240" cy="228600"/>
          </a:xfrm>
          <a:prstGeom prst="rect">
            <a:avLst/>
          </a:prstGeom>
          <a:noFill/>
          <a:ln/>
        </p:spPr>
        <p:txBody>
          <a:bodyPr wrap="square" lIns="0" tIns="0" rIns="0" bIns="0" rtlCol="0" anchor="t"/>
          <a:lstStyle/>
          <a:p>
            <a:pPr algn="ctr" indent="0" marL="0">
              <a:buNone/>
            </a:pPr>
            <a:r>
              <a:rPr lang="en-US" sz="1050" b="1" spc="100" kern="0" dirty="0">
                <a:solidFill>
                  <a:schemeClr val="accent3"/>
                </a:solidFill>
              </a:rPr>
              <a:t>FULL TEXT</a:t>
            </a:r>
            <a:endParaRPr lang="en-US" sz="1050" dirty="0"/>
          </a:p>
        </p:txBody>
      </p:sp>
      <p:sp>
        <p:nvSpPr>
          <p:cNvPr id="22" name="Step Full text"/>
          <p:cNvSpPr/>
          <p:nvPr/>
        </p:nvSpPr>
        <p:spPr>
          <a:xfrm>
            <a:off x="5029200" y="2286000"/>
            <a:ext cx="1920240" cy="1325880"/>
          </a:xfrm>
          <a:prstGeom prst="rect">
            <a:avLst/>
          </a:prstGeom>
          <a:solidFill>
            <a:srgbClr val="FFFFFF"/>
          </a:solidFill>
          <a:ln w="12700">
            <a:solidFill>
              <a:srgbClr val="98A6B5"/>
            </a:solidFill>
            <a:prstDash val="solid"/>
          </a:ln>
        </p:spPr>
      </p:sp>
      <p:sp>
        <p:nvSpPr>
          <p:cNvPr id="23" name="Text 19"/>
          <p:cNvSpPr txBox="1"/>
          <p:nvPr/>
        </p:nvSpPr>
        <p:spPr>
          <a:xfrm>
            <a:off x="5120640" y="2359152"/>
            <a:ext cx="1737360" cy="1179576"/>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84</a:t>
            </a:r>
            <a:endParaRPr lang="en-US" sz="2600" dirty="0"/>
          </a:p>
          <a:p>
            <a:pPr algn="ctr" indent="0" marL="0">
              <a:buNone/>
            </a:pPr>
            <a:r>
              <a:rPr lang="en-US" sz="1300" dirty="0">
                <a:solidFill>
                  <a:schemeClr val="tx1"/>
                </a:solidFill>
              </a:rPr>
              <a:t>full texts sought</a:t>
            </a:r>
            <a:endParaRPr lang="en-US" sz="2600" dirty="0"/>
          </a:p>
        </p:txBody>
      </p:sp>
      <p:sp>
        <p:nvSpPr>
          <p:cNvPr id="24" name="Flow arrow 3"/>
          <p:cNvSpPr/>
          <p:nvPr/>
        </p:nvSpPr>
        <p:spPr>
          <a:xfrm>
            <a:off x="6986016" y="2948940"/>
            <a:ext cx="246888" cy="0"/>
          </a:xfrm>
          <a:prstGeom prst="line">
            <a:avLst/>
          </a:prstGeom>
          <a:noFill/>
          <a:ln w="15875">
            <a:solidFill>
              <a:srgbClr val="1B2533"/>
            </a:solidFill>
            <a:prstDash val="solid"/>
            <a:tailEnd type="triangle"/>
          </a:ln>
        </p:spPr>
      </p:sp>
      <p:sp>
        <p:nvSpPr>
          <p:cNvPr id="25" name="Text 21"/>
          <p:cNvSpPr txBox="1"/>
          <p:nvPr/>
        </p:nvSpPr>
        <p:spPr>
          <a:xfrm>
            <a:off x="7269480" y="1965960"/>
            <a:ext cx="1920240" cy="228600"/>
          </a:xfrm>
          <a:prstGeom prst="rect">
            <a:avLst/>
          </a:prstGeom>
          <a:noFill/>
          <a:ln/>
        </p:spPr>
        <p:txBody>
          <a:bodyPr wrap="square" lIns="0" tIns="0" rIns="0" bIns="0" rtlCol="0" anchor="t"/>
          <a:lstStyle/>
          <a:p>
            <a:pPr algn="ctr" indent="0" marL="0">
              <a:buNone/>
            </a:pPr>
            <a:r>
              <a:rPr lang="en-US" sz="1050" b="1" spc="100" kern="0" dirty="0">
                <a:solidFill>
                  <a:schemeClr val="accent3"/>
                </a:solidFill>
              </a:rPr>
              <a:t>INCLUDED</a:t>
            </a:r>
            <a:endParaRPr lang="en-US" sz="1050" dirty="0"/>
          </a:p>
        </p:txBody>
      </p:sp>
      <p:sp>
        <p:nvSpPr>
          <p:cNvPr id="26" name="Step Included"/>
          <p:cNvSpPr/>
          <p:nvPr/>
        </p:nvSpPr>
        <p:spPr>
          <a:xfrm>
            <a:off x="7269480" y="2286000"/>
            <a:ext cx="1920240" cy="1325880"/>
          </a:xfrm>
          <a:prstGeom prst="rect">
            <a:avLst/>
          </a:prstGeom>
          <a:solidFill>
            <a:srgbClr val="FFFFFF"/>
          </a:solidFill>
          <a:ln w="12700">
            <a:solidFill>
              <a:srgbClr val="98A6B5"/>
            </a:solidFill>
            <a:prstDash val="solid"/>
          </a:ln>
        </p:spPr>
      </p:sp>
      <p:sp>
        <p:nvSpPr>
          <p:cNvPr id="27" name="Text 23"/>
          <p:cNvSpPr txBox="1"/>
          <p:nvPr/>
        </p:nvSpPr>
        <p:spPr>
          <a:xfrm>
            <a:off x="7360920" y="2359152"/>
            <a:ext cx="1737360" cy="1179576"/>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52</a:t>
            </a:r>
            <a:endParaRPr lang="en-US" sz="2600" dirty="0"/>
          </a:p>
          <a:p>
            <a:pPr algn="ctr" indent="0" marL="0">
              <a:buNone/>
            </a:pPr>
            <a:r>
              <a:rPr lang="en-US" sz="1300" dirty="0">
                <a:solidFill>
                  <a:schemeClr val="tx1"/>
                </a:solidFill>
              </a:rPr>
              <a:t>studies</a:t>
            </a:r>
            <a:endParaRPr lang="en-US" sz="2600" dirty="0"/>
          </a:p>
        </p:txBody>
      </p:sp>
      <p:sp>
        <p:nvSpPr>
          <p:cNvPr id="28" name="Flow arrow 4"/>
          <p:cNvSpPr/>
          <p:nvPr/>
        </p:nvSpPr>
        <p:spPr>
          <a:xfrm>
            <a:off x="9226296" y="2948940"/>
            <a:ext cx="246888" cy="0"/>
          </a:xfrm>
          <a:prstGeom prst="line">
            <a:avLst/>
          </a:prstGeom>
          <a:noFill/>
          <a:ln w="15875">
            <a:solidFill>
              <a:srgbClr val="1B2533"/>
            </a:solidFill>
            <a:prstDash val="solid"/>
            <a:tailEnd type="triangle"/>
          </a:ln>
        </p:spPr>
      </p:sp>
      <p:sp>
        <p:nvSpPr>
          <p:cNvPr id="29" name="Text 25"/>
          <p:cNvSpPr txBox="1"/>
          <p:nvPr/>
        </p:nvSpPr>
        <p:spPr>
          <a:xfrm>
            <a:off x="9509760" y="1965960"/>
            <a:ext cx="1920240" cy="228600"/>
          </a:xfrm>
          <a:prstGeom prst="rect">
            <a:avLst/>
          </a:prstGeom>
          <a:noFill/>
          <a:ln/>
        </p:spPr>
        <p:txBody>
          <a:bodyPr wrap="square" lIns="0" tIns="0" rIns="0" bIns="0" rtlCol="0" anchor="t"/>
          <a:lstStyle/>
          <a:p>
            <a:pPr algn="ctr" indent="0" marL="0">
              <a:buNone/>
            </a:pPr>
            <a:r>
              <a:rPr lang="en-US" sz="1050" b="1" spc="100" kern="0" dirty="0">
                <a:solidFill>
                  <a:schemeClr val="accent1"/>
                </a:solidFill>
              </a:rPr>
              <a:t>FINAL DATASET</a:t>
            </a:r>
            <a:endParaRPr lang="en-US" sz="1050" dirty="0"/>
          </a:p>
        </p:txBody>
      </p:sp>
      <p:sp>
        <p:nvSpPr>
          <p:cNvPr id="30" name="Step Final dataset"/>
          <p:cNvSpPr/>
          <p:nvPr/>
        </p:nvSpPr>
        <p:spPr>
          <a:xfrm>
            <a:off x="9509760" y="2286000"/>
            <a:ext cx="1920240" cy="1325880"/>
          </a:xfrm>
          <a:prstGeom prst="rect">
            <a:avLst/>
          </a:prstGeom>
          <a:solidFill>
            <a:srgbClr val="0B2545"/>
          </a:solidFill>
          <a:ln w="12700">
            <a:solidFill>
              <a:srgbClr val="0B2545"/>
            </a:solidFill>
            <a:prstDash val="solid"/>
          </a:ln>
        </p:spPr>
      </p:sp>
      <p:sp>
        <p:nvSpPr>
          <p:cNvPr id="31" name="Text 27"/>
          <p:cNvSpPr txBox="1"/>
          <p:nvPr/>
        </p:nvSpPr>
        <p:spPr>
          <a:xfrm>
            <a:off x="9601200" y="2359152"/>
            <a:ext cx="1737360" cy="1179576"/>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36</a:t>
            </a:r>
            <a:endParaRPr lang="en-US" sz="2600" dirty="0"/>
          </a:p>
          <a:p>
            <a:pPr algn="ctr" indent="0" marL="0">
              <a:buNone/>
            </a:pPr>
            <a:r>
              <a:rPr lang="en-US" sz="1300" dirty="0">
                <a:solidFill>
                  <a:schemeClr val="bg1"/>
                </a:solidFill>
              </a:rPr>
              <a:t>campaigns</a:t>
            </a:r>
            <a:endParaRPr lang="en-US" sz="2600" dirty="0"/>
          </a:p>
          <a:p>
            <a:pPr algn="ctr" indent="0" marL="0">
              <a:buNone/>
            </a:pPr>
            <a:r>
              <a:rPr lang="en-US" sz="1050" i="1" dirty="0">
                <a:solidFill>
                  <a:schemeClr val="bg1"/>
                </a:solidFill>
              </a:rPr>
              <a:t>742 rows; papers on the same cohort merged</a:t>
            </a:r>
            <a:endParaRPr lang="en-US" sz="2600" dirty="0"/>
          </a:p>
        </p:txBody>
      </p:sp>
      <p:sp>
        <p:nvSpPr>
          <p:cNvPr id="32" name="Removed 1"/>
          <p:cNvSpPr/>
          <p:nvPr/>
        </p:nvSpPr>
        <p:spPr>
          <a:xfrm>
            <a:off x="2628900" y="2994660"/>
            <a:ext cx="0" cy="960120"/>
          </a:xfrm>
          <a:prstGeom prst="line">
            <a:avLst/>
          </a:prstGeom>
          <a:noFill/>
          <a:ln w="9525">
            <a:solidFill>
              <a:srgbClr val="98A6B5"/>
            </a:solidFill>
            <a:prstDash val="dash"/>
            <a:tailEnd type="triangle"/>
          </a:ln>
        </p:spPr>
      </p:sp>
      <p:sp>
        <p:nvSpPr>
          <p:cNvPr id="33" name="Text 29"/>
          <p:cNvSpPr txBox="1"/>
          <p:nvPr/>
        </p:nvSpPr>
        <p:spPr>
          <a:xfrm>
            <a:off x="1623060" y="4000500"/>
            <a:ext cx="2011680" cy="1371600"/>
          </a:xfrm>
          <a:prstGeom prst="rect">
            <a:avLst/>
          </a:prstGeom>
          <a:noFill/>
          <a:ln/>
        </p:spPr>
        <p:txBody>
          <a:bodyPr wrap="square" lIns="0" tIns="0" rIns="0" bIns="0" rtlCol="0" anchor="t"/>
          <a:lstStyle/>
          <a:p>
            <a:pPr algn="ctr" indent="0" marL="0">
              <a:buNone/>
            </a:pPr>
            <a:r>
              <a:rPr lang="en-US" sz="1100" dirty="0">
                <a:solidFill>
                  <a:schemeClr val="accent3"/>
                </a:solidFill>
              </a:rPr>
              <a:t>2,141 duplicates removed</a:t>
            </a:r>
            <a:endParaRPr lang="en-US" sz="1100" dirty="0"/>
          </a:p>
        </p:txBody>
      </p:sp>
      <p:sp>
        <p:nvSpPr>
          <p:cNvPr id="34" name="Removed 2"/>
          <p:cNvSpPr/>
          <p:nvPr/>
        </p:nvSpPr>
        <p:spPr>
          <a:xfrm>
            <a:off x="4869180" y="2994660"/>
            <a:ext cx="0" cy="960120"/>
          </a:xfrm>
          <a:prstGeom prst="line">
            <a:avLst/>
          </a:prstGeom>
          <a:noFill/>
          <a:ln w="9525">
            <a:solidFill>
              <a:srgbClr val="98A6B5"/>
            </a:solidFill>
            <a:prstDash val="dash"/>
            <a:tailEnd type="triangle"/>
          </a:ln>
        </p:spPr>
      </p:sp>
      <p:sp>
        <p:nvSpPr>
          <p:cNvPr id="35" name="Text 31"/>
          <p:cNvSpPr txBox="1"/>
          <p:nvPr/>
        </p:nvSpPr>
        <p:spPr>
          <a:xfrm>
            <a:off x="3863340" y="4000500"/>
            <a:ext cx="2011680" cy="1371600"/>
          </a:xfrm>
          <a:prstGeom prst="rect">
            <a:avLst/>
          </a:prstGeom>
          <a:noFill/>
          <a:ln/>
        </p:spPr>
        <p:txBody>
          <a:bodyPr wrap="square" lIns="0" tIns="0" rIns="0" bIns="0" rtlCol="0" anchor="t"/>
          <a:lstStyle/>
          <a:p>
            <a:pPr algn="ctr" indent="0" marL="0">
              <a:buNone/>
            </a:pPr>
            <a:r>
              <a:rPr lang="en-US" sz="1100" dirty="0">
                <a:solidFill>
                  <a:schemeClr val="accent3"/>
                </a:solidFill>
              </a:rPr>
              <a:t>3,516 excluded</a:t>
            </a:r>
            <a:endParaRPr lang="en-US" sz="1100" dirty="0"/>
          </a:p>
        </p:txBody>
      </p:sp>
      <p:sp>
        <p:nvSpPr>
          <p:cNvPr id="36" name="Removed 3"/>
          <p:cNvSpPr/>
          <p:nvPr/>
        </p:nvSpPr>
        <p:spPr>
          <a:xfrm>
            <a:off x="7109460" y="2994660"/>
            <a:ext cx="0" cy="960120"/>
          </a:xfrm>
          <a:prstGeom prst="line">
            <a:avLst/>
          </a:prstGeom>
          <a:noFill/>
          <a:ln w="9525">
            <a:solidFill>
              <a:srgbClr val="98A6B5"/>
            </a:solidFill>
            <a:prstDash val="dash"/>
            <a:tailEnd type="triangle"/>
          </a:ln>
        </p:spPr>
      </p:sp>
      <p:sp>
        <p:nvSpPr>
          <p:cNvPr id="37" name="Text 33"/>
          <p:cNvSpPr txBox="1"/>
          <p:nvPr/>
        </p:nvSpPr>
        <p:spPr>
          <a:xfrm>
            <a:off x="6103620" y="4000500"/>
            <a:ext cx="2011680" cy="1371600"/>
          </a:xfrm>
          <a:prstGeom prst="rect">
            <a:avLst/>
          </a:prstGeom>
          <a:noFill/>
          <a:ln/>
        </p:spPr>
        <p:txBody>
          <a:bodyPr wrap="square" lIns="0" tIns="0" rIns="0" bIns="0" rtlCol="0" anchor="t"/>
          <a:lstStyle/>
          <a:p>
            <a:pPr algn="ctr" indent="0" marL="0">
              <a:buNone/>
            </a:pPr>
            <a:r>
              <a:rPr lang="en-US" sz="1100" dirty="0">
                <a:solidFill>
                  <a:schemeClr val="accent3"/>
                </a:solidFill>
              </a:rPr>
              <a:t>19 report muscle results only as charts, without a baseline value</a:t>
            </a:r>
            <a:endParaRPr lang="en-US" sz="1100" dirty="0"/>
          </a:p>
          <a:p>
            <a:pPr algn="ctr" indent="0" marL="0">
              <a:buNone/>
            </a:pPr>
            <a:r>
              <a:rPr lang="en-US" sz="1100" dirty="0">
                <a:solidFill>
                  <a:schemeClr val="accent3"/>
                </a:solidFill>
              </a:rPr>
              <a:t>4 full texts not available</a:t>
            </a:r>
            <a:endParaRPr lang="en-US" sz="1100" dirty="0"/>
          </a:p>
          <a:p>
            <a:pPr algn="ctr" indent="0" marL="0">
              <a:buNone/>
            </a:pPr>
            <a:r>
              <a:rPr lang="en-US" sz="1100" dirty="0">
                <a:solidFill>
                  <a:schemeClr val="accent3"/>
                </a:solidFill>
              </a:rPr>
              <a:t>11 excluded at full text</a:t>
            </a:r>
            <a:endParaRPr lang="en-US" sz="1100" dirty="0"/>
          </a:p>
        </p:txBody>
      </p:sp>
      <p:sp>
        <p:nvSpPr>
          <p:cNvPr id="38" name="Text 34"/>
          <p:cNvSpPr txBox="1"/>
          <p:nvPr/>
        </p:nvSpPr>
        <p:spPr>
          <a:xfrm>
            <a:off x="548640" y="5806440"/>
            <a:ext cx="11064240" cy="274320"/>
          </a:xfrm>
          <a:prstGeom prst="rect">
            <a:avLst/>
          </a:prstGeom>
          <a:noFill/>
          <a:ln/>
        </p:spPr>
        <p:txBody>
          <a:bodyPr wrap="square" lIns="0" tIns="0" rIns="0" bIns="0" rtlCol="0" anchor="t"/>
          <a:lstStyle/>
          <a:p>
            <a:pPr indent="0" marL="0">
              <a:buNone/>
            </a:pPr>
            <a:r>
              <a:rPr lang="en-US" sz="1100" i="1" dirty="0">
                <a:solidFill>
                  <a:schemeClr val="accent3"/>
                </a:solidFill>
              </a:rPr>
              <a:t>Figure 6. Flow of records, in the style of PRISMA 2020. Full-text counts are not yet reconciled with the dataset.</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9038844" y="6432804"/>
            <a:ext cx="118872" cy="118872"/>
          </a:xfrm>
          <a:prstGeom prst="ellipse">
            <a:avLst/>
          </a:prstGeom>
          <a:solidFill>
            <a:schemeClr val="tx2"/>
          </a:solidFill>
          <a:ln w="9525">
            <a:solidFill>
              <a:srgbClr val="0B2545"/>
            </a:solidFill>
            <a:prstDash val="solid"/>
          </a:ln>
        </p:spPr>
      </p:sp>
      <p:sp>
        <p:nvSpPr>
          <p:cNvPr id="6" name="Tracker 2 Literature research"/>
          <p:cNvSpPr/>
          <p:nvPr/>
        </p:nvSpPr>
        <p:spPr>
          <a:xfrm>
            <a:off x="9386316" y="6432804"/>
            <a:ext cx="118872" cy="118872"/>
          </a:xfrm>
          <a:prstGeom prst="ellipse">
            <a:avLst/>
          </a:prstGeom>
          <a:solidFill>
            <a:schemeClr val="tx2"/>
          </a:solidFill>
          <a:ln w="9525">
            <a:solidFill>
              <a:srgbClr val="0B2545"/>
            </a:solidFill>
            <a:prstDash val="solid"/>
          </a:ln>
        </p:spPr>
      </p:sp>
      <p:sp>
        <p:nvSpPr>
          <p:cNvPr id="7" name="Tracker 3 Data extraction and database"/>
          <p:cNvSpPr/>
          <p:nvPr/>
        </p:nvSpPr>
        <p:spPr>
          <a:xfrm>
            <a:off x="9683496" y="6382512"/>
            <a:ext cx="219456" cy="219456"/>
          </a:xfrm>
          <a:prstGeom prst="ellipse">
            <a:avLst/>
          </a:prstGeom>
          <a:solidFill>
            <a:schemeClr val="accent1"/>
          </a:solidFill>
          <a:ln w="9525">
            <a:solidFill>
              <a:srgbClr val="C1440E"/>
            </a:solidFill>
            <a:prstDash val="solid"/>
          </a:ln>
        </p:spPr>
      </p:sp>
      <p:sp>
        <p:nvSpPr>
          <p:cNvPr id="8" name="Tracker 4 ML framework"/>
          <p:cNvSpPr/>
          <p:nvPr/>
        </p:nvSpPr>
        <p:spPr>
          <a:xfrm>
            <a:off x="10081260" y="6432804"/>
            <a:ext cx="118872" cy="118872"/>
          </a:xfrm>
          <a:prstGeom prst="ellipse">
            <a:avLst/>
          </a:prstGeom>
          <a:solidFill>
            <a:schemeClr val="bg1"/>
          </a:solidFill>
          <a:ln w="9525">
            <a:solidFill>
              <a:srgbClr val="98A6B5"/>
            </a:solidFill>
            <a:prstDash val="solid"/>
          </a:ln>
        </p:spPr>
      </p:sp>
      <p:sp>
        <p:nvSpPr>
          <p:cNvPr id="9" name="Tracker 5 Models and results"/>
          <p:cNvSpPr/>
          <p:nvPr/>
        </p:nvSpPr>
        <p:spPr>
          <a:xfrm>
            <a:off x="10428732" y="6432804"/>
            <a:ext cx="118872" cy="118872"/>
          </a:xfrm>
          <a:prstGeom prst="ellipse">
            <a:avLst/>
          </a:prstGeom>
          <a:solidFill>
            <a:schemeClr val="bg1"/>
          </a:solidFill>
          <a:ln w="9525">
            <a:solidFill>
              <a:srgbClr val="98A6B5"/>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3  Data extraction and database</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Dataset composition</a:t>
            </a:r>
            <a:endParaRPr lang="en-US" sz="2800" dirty="0"/>
          </a:p>
        </p:txBody>
      </p:sp>
      <p:sp>
        <p:nvSpPr>
          <p:cNvPr id="13" name="Text 9"/>
          <p:cNvSpPr txBox="1"/>
          <p:nvPr/>
        </p:nvSpPr>
        <p:spPr>
          <a:xfrm>
            <a:off x="548640" y="1325880"/>
            <a:ext cx="5394960" cy="292608"/>
          </a:xfrm>
          <a:prstGeom prst="rect">
            <a:avLst/>
          </a:prstGeom>
          <a:noFill/>
          <a:ln/>
        </p:spPr>
        <p:txBody>
          <a:bodyPr wrap="square" lIns="0" tIns="0" rIns="0" bIns="0" rtlCol="0" anchor="t"/>
          <a:lstStyle/>
          <a:p>
            <a:pPr indent="0" marL="0">
              <a:buNone/>
            </a:pPr>
            <a:r>
              <a:rPr lang="en-US" sz="1500" b="1" dirty="0">
                <a:solidFill>
                  <a:schemeClr val="tx2"/>
                </a:solidFill>
              </a:rPr>
              <a:t>Table 1. Final dataset at a glance</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394960" cy="914400"/>
        </p:xfrm>
        <a:graphic>
          <a:graphicData uri="http://schemas.openxmlformats.org/drawingml/2006/table">
            <a:tbl>
              <a:tblPr/>
              <a:tblGrid>
                <a:gridCol w="3749040"/>
                <a:gridCol w="164592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solidFill>
                      <a:srgbClr val="0B254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solidFill>
                      <a:srgbClr val="0B2545"/>
                    </a:solidFill>
                  </a:tcPr>
                </a:tc>
              </a:tr>
              <a:tr h="457200">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Muscles or muscle groups</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457200">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Rows: control / countermeasure</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470 / 272</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457200">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Rows: during bed rest / recovery</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478 / 264</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bl>
          </a:graphicData>
        </a:graphic>
      </p:graphicFrame>
      <p:sp>
        <p:nvSpPr>
          <p:cNvPr id="15" name="Text 10"/>
          <p:cNvSpPr txBox="1"/>
          <p:nvPr/>
        </p:nvSpPr>
        <p:spPr>
          <a:xfrm>
            <a:off x="548640" y="4846320"/>
            <a:ext cx="11064240" cy="640080"/>
          </a:xfrm>
          <a:prstGeom prst="rect">
            <a:avLst/>
          </a:prstGeom>
          <a:noFill/>
          <a:ln/>
        </p:spPr>
        <p:txBody>
          <a:bodyPr wrap="square" lIns="0" tIns="0" rIns="0" bIns="0" rtlCol="0" anchor="t"/>
          <a:lstStyle/>
          <a:p>
            <a:pPr indent="0" marL="0">
              <a:buNone/>
            </a:pPr>
            <a:r>
              <a:rPr lang="en-US" sz="1400" b="1" dirty="0">
                <a:solidFill>
                  <a:schemeClr val="tx1"/>
                </a:solidFill>
              </a:rPr>
              <a:t>742 rows come from 36 campaigns: </a:t>
            </a:r>
            <a:pPr indent="0" marL="0">
              <a:buNone/>
            </a:pPr>
            <a:r>
              <a:rPr lang="en-US" sz="1400" dirty="0">
                <a:solidFill>
                  <a:schemeClr val="tx1"/>
                </a:solidFill>
              </a:rPr>
              <a:t>one campaign gives rows for several muscles, groups and scan days.</a:t>
            </a:r>
            <a:endParaRPr lang="en-US" sz="1400" dirty="0"/>
          </a:p>
        </p:txBody>
      </p:sp>
      <p:sp>
        <p:nvSpPr>
          <p:cNvPr id="16" name="Text 11"/>
          <p:cNvSpPr txBox="1"/>
          <p:nvPr/>
        </p:nvSpPr>
        <p:spPr>
          <a:xfrm>
            <a:off x="6400800" y="1325880"/>
            <a:ext cx="5239512" cy="292608"/>
          </a:xfrm>
          <a:prstGeom prst="rect">
            <a:avLst/>
          </a:prstGeom>
          <a:noFill/>
          <a:ln/>
        </p:spPr>
        <p:txBody>
          <a:bodyPr wrap="square" lIns="0" tIns="0" rIns="0" bIns="0" rtlCol="0" anchor="t"/>
          <a:lstStyle/>
          <a:p>
            <a:pPr indent="0" marL="0">
              <a:buNone/>
            </a:pPr>
            <a:r>
              <a:rPr lang="en-US" sz="1500" b="1" dirty="0">
                <a:solidFill>
                  <a:schemeClr val="tx2"/>
                </a:solidFill>
              </a:rPr>
              <a:t>Table 2. Imaging method and size measure</a:t>
            </a:r>
            <a:endParaRPr lang="en-US" sz="15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00800" y="1737360"/>
          <a:ext cx="5239512" cy="914400"/>
        </p:xfrm>
        <a:graphic>
          <a:graphicData uri="http://schemas.openxmlformats.org/drawingml/2006/table">
            <a:tbl>
              <a:tblPr/>
              <a:tblGrid>
                <a:gridCol w="1325880"/>
                <a:gridCol w="777240"/>
                <a:gridCol w="2267712"/>
                <a:gridCol w="86868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solidFill>
                      <a:srgbClr val="0B254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Size measure</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solidFill>
                      <a:srgbClr val="0B254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solidFill>
                      <a:srgbClr val="0B2545"/>
                    </a:solidFill>
                  </a:tcPr>
                </a:tc>
              </a:tr>
              <a:tr h="457200">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MRI</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655</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Volume</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594</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457200">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DXA</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37</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Cross-sectional area</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457200">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CT</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Lean mass</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37</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457200">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Ultrasound</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Thickness</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457200">
                <a:tc>
                  <a:txBody>
                    <a:bodyPr/>
                    <a:lstStyle/>
                    <a:p>
                      <a:pPr algn="l" indent="0" marL="0">
                        <a:buNone/>
                      </a:pPr>
                      <a:r>
                        <a:rPr lang="en-US" sz="1300" b="1" dirty="0">
                          <a:solidFill>
                            <a:srgbClr val="1B2533"/>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742</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l" indent="0" marL="0">
                        <a:buNone/>
                      </a:pPr>
                      <a:r>
                        <a:rPr lang="en-US" sz="1300" b="1" dirty="0">
                          <a:solidFill>
                            <a:srgbClr val="1B2533"/>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742</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9038844" y="6432804"/>
            <a:ext cx="118872" cy="118872"/>
          </a:xfrm>
          <a:prstGeom prst="ellipse">
            <a:avLst/>
          </a:prstGeom>
          <a:solidFill>
            <a:schemeClr val="tx2"/>
          </a:solidFill>
          <a:ln w="9525">
            <a:solidFill>
              <a:srgbClr val="0B2545"/>
            </a:solidFill>
            <a:prstDash val="solid"/>
          </a:ln>
        </p:spPr>
      </p:sp>
      <p:sp>
        <p:nvSpPr>
          <p:cNvPr id="6" name="Tracker 2 Literature research"/>
          <p:cNvSpPr/>
          <p:nvPr/>
        </p:nvSpPr>
        <p:spPr>
          <a:xfrm>
            <a:off x="9386316" y="6432804"/>
            <a:ext cx="118872" cy="118872"/>
          </a:xfrm>
          <a:prstGeom prst="ellipse">
            <a:avLst/>
          </a:prstGeom>
          <a:solidFill>
            <a:schemeClr val="tx2"/>
          </a:solidFill>
          <a:ln w="9525">
            <a:solidFill>
              <a:srgbClr val="0B2545"/>
            </a:solidFill>
            <a:prstDash val="solid"/>
          </a:ln>
        </p:spPr>
      </p:sp>
      <p:sp>
        <p:nvSpPr>
          <p:cNvPr id="7" name="Tracker 3 Data extraction and database"/>
          <p:cNvSpPr/>
          <p:nvPr/>
        </p:nvSpPr>
        <p:spPr>
          <a:xfrm>
            <a:off x="9683496" y="6382512"/>
            <a:ext cx="219456" cy="219456"/>
          </a:xfrm>
          <a:prstGeom prst="ellipse">
            <a:avLst/>
          </a:prstGeom>
          <a:solidFill>
            <a:schemeClr val="accent1"/>
          </a:solidFill>
          <a:ln w="9525">
            <a:solidFill>
              <a:srgbClr val="C1440E"/>
            </a:solidFill>
            <a:prstDash val="solid"/>
          </a:ln>
        </p:spPr>
      </p:sp>
      <p:sp>
        <p:nvSpPr>
          <p:cNvPr id="8" name="Tracker 4 ML framework"/>
          <p:cNvSpPr/>
          <p:nvPr/>
        </p:nvSpPr>
        <p:spPr>
          <a:xfrm>
            <a:off x="10081260" y="6432804"/>
            <a:ext cx="118872" cy="118872"/>
          </a:xfrm>
          <a:prstGeom prst="ellipse">
            <a:avLst/>
          </a:prstGeom>
          <a:solidFill>
            <a:schemeClr val="bg1"/>
          </a:solidFill>
          <a:ln w="9525">
            <a:solidFill>
              <a:srgbClr val="98A6B5"/>
            </a:solidFill>
            <a:prstDash val="solid"/>
          </a:ln>
        </p:spPr>
      </p:sp>
      <p:sp>
        <p:nvSpPr>
          <p:cNvPr id="9" name="Tracker 5 Models and results"/>
          <p:cNvSpPr/>
          <p:nvPr/>
        </p:nvSpPr>
        <p:spPr>
          <a:xfrm>
            <a:off x="10428732" y="6432804"/>
            <a:ext cx="118872" cy="118872"/>
          </a:xfrm>
          <a:prstGeom prst="ellipse">
            <a:avLst/>
          </a:prstGeom>
          <a:solidFill>
            <a:schemeClr val="bg1"/>
          </a:solidFill>
          <a:ln w="9525">
            <a:solidFill>
              <a:srgbClr val="98A6B5"/>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3  Data extraction and database</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Muscle atrophy by muscle group</a:t>
            </a:r>
            <a:endParaRPr lang="en-US" sz="2800" dirty="0"/>
          </a:p>
        </p:txBody>
      </p:sp>
      <p:sp>
        <p:nvSpPr>
          <p:cNvPr id="13" name="Grid 0"/>
          <p:cNvSpPr/>
          <p:nvPr/>
        </p:nvSpPr>
        <p:spPr>
          <a:xfrm>
            <a:off x="1234440" y="1371600"/>
            <a:ext cx="6309360" cy="0"/>
          </a:xfrm>
          <a:prstGeom prst="line">
            <a:avLst/>
          </a:prstGeom>
          <a:noFill/>
          <a:ln w="9525">
            <a:solidFill>
              <a:srgbClr val="5D6B7B"/>
            </a:solidFill>
            <a:prstDash val="solid"/>
          </a:ln>
        </p:spPr>
      </p:sp>
      <p:sp>
        <p:nvSpPr>
          <p:cNvPr id="14" name="Text 10"/>
          <p:cNvSpPr txBox="1"/>
          <p:nvPr/>
        </p:nvSpPr>
        <p:spPr>
          <a:xfrm>
            <a:off x="667512" y="1271016"/>
            <a:ext cx="475488" cy="201168"/>
          </a:xfrm>
          <a:prstGeom prst="rect">
            <a:avLst/>
          </a:prstGeom>
          <a:noFill/>
          <a:ln/>
        </p:spPr>
        <p:txBody>
          <a:bodyPr wrap="square" lIns="0" tIns="0" rIns="0" bIns="0" rtlCol="0" anchor="t"/>
          <a:lstStyle/>
          <a:p>
            <a:pPr algn="r" indent="0" marL="0">
              <a:buNone/>
            </a:pPr>
            <a:r>
              <a:rPr lang="en-US" sz="1000" dirty="0">
                <a:solidFill>
                  <a:schemeClr val="accent3"/>
                </a:solidFill>
              </a:rPr>
              <a:t>0%</a:t>
            </a:r>
            <a:endParaRPr lang="en-US" sz="1000" dirty="0"/>
          </a:p>
        </p:txBody>
      </p:sp>
      <p:sp>
        <p:nvSpPr>
          <p:cNvPr id="15" name="Grid -4"/>
          <p:cNvSpPr/>
          <p:nvPr/>
        </p:nvSpPr>
        <p:spPr>
          <a:xfrm>
            <a:off x="1234440" y="2019300"/>
            <a:ext cx="6309360" cy="0"/>
          </a:xfrm>
          <a:prstGeom prst="line">
            <a:avLst/>
          </a:prstGeom>
          <a:noFill/>
          <a:ln w="9525">
            <a:solidFill>
              <a:srgbClr val="E2E7ED"/>
            </a:solidFill>
            <a:prstDash val="solid"/>
          </a:ln>
        </p:spPr>
      </p:sp>
      <p:sp>
        <p:nvSpPr>
          <p:cNvPr id="16" name="Text 12"/>
          <p:cNvSpPr txBox="1"/>
          <p:nvPr/>
        </p:nvSpPr>
        <p:spPr>
          <a:xfrm>
            <a:off x="667512" y="1918716"/>
            <a:ext cx="475488" cy="201168"/>
          </a:xfrm>
          <a:prstGeom prst="rect">
            <a:avLst/>
          </a:prstGeom>
          <a:noFill/>
          <a:ln/>
        </p:spPr>
        <p:txBody>
          <a:bodyPr wrap="square" lIns="0" tIns="0" rIns="0" bIns="0" rtlCol="0" anchor="t"/>
          <a:lstStyle/>
          <a:p>
            <a:pPr algn="r" indent="0" marL="0">
              <a:buNone/>
            </a:pPr>
            <a:r>
              <a:rPr lang="en-US" sz="1000" dirty="0">
                <a:solidFill>
                  <a:schemeClr val="accent3"/>
                </a:solidFill>
              </a:rPr>
              <a:t>−4%</a:t>
            </a:r>
            <a:endParaRPr lang="en-US" sz="1000" dirty="0"/>
          </a:p>
        </p:txBody>
      </p:sp>
      <p:sp>
        <p:nvSpPr>
          <p:cNvPr id="17" name="Grid -8"/>
          <p:cNvSpPr/>
          <p:nvPr/>
        </p:nvSpPr>
        <p:spPr>
          <a:xfrm>
            <a:off x="1234440" y="2667000"/>
            <a:ext cx="6309360" cy="0"/>
          </a:xfrm>
          <a:prstGeom prst="line">
            <a:avLst/>
          </a:prstGeom>
          <a:noFill/>
          <a:ln w="9525">
            <a:solidFill>
              <a:srgbClr val="E2E7ED"/>
            </a:solidFill>
            <a:prstDash val="solid"/>
          </a:ln>
        </p:spPr>
      </p:sp>
      <p:sp>
        <p:nvSpPr>
          <p:cNvPr id="18" name="Text 14"/>
          <p:cNvSpPr txBox="1"/>
          <p:nvPr/>
        </p:nvSpPr>
        <p:spPr>
          <a:xfrm>
            <a:off x="667512" y="2566416"/>
            <a:ext cx="475488" cy="201168"/>
          </a:xfrm>
          <a:prstGeom prst="rect">
            <a:avLst/>
          </a:prstGeom>
          <a:noFill/>
          <a:ln/>
        </p:spPr>
        <p:txBody>
          <a:bodyPr wrap="square" lIns="0" tIns="0" rIns="0" bIns="0" rtlCol="0" anchor="t"/>
          <a:lstStyle/>
          <a:p>
            <a:pPr algn="r" indent="0" marL="0">
              <a:buNone/>
            </a:pPr>
            <a:r>
              <a:rPr lang="en-US" sz="1000" dirty="0">
                <a:solidFill>
                  <a:schemeClr val="accent3"/>
                </a:solidFill>
              </a:rPr>
              <a:t>−8%</a:t>
            </a:r>
            <a:endParaRPr lang="en-US" sz="1000" dirty="0"/>
          </a:p>
        </p:txBody>
      </p:sp>
      <p:sp>
        <p:nvSpPr>
          <p:cNvPr id="19" name="Grid -12"/>
          <p:cNvSpPr/>
          <p:nvPr/>
        </p:nvSpPr>
        <p:spPr>
          <a:xfrm>
            <a:off x="1234440" y="3314700"/>
            <a:ext cx="6309360" cy="0"/>
          </a:xfrm>
          <a:prstGeom prst="line">
            <a:avLst/>
          </a:prstGeom>
          <a:noFill/>
          <a:ln w="9525">
            <a:solidFill>
              <a:srgbClr val="E2E7ED"/>
            </a:solidFill>
            <a:prstDash val="solid"/>
          </a:ln>
        </p:spPr>
      </p:sp>
      <p:sp>
        <p:nvSpPr>
          <p:cNvPr id="20" name="Text 16"/>
          <p:cNvSpPr txBox="1"/>
          <p:nvPr/>
        </p:nvSpPr>
        <p:spPr>
          <a:xfrm>
            <a:off x="667512" y="3214116"/>
            <a:ext cx="475488" cy="201168"/>
          </a:xfrm>
          <a:prstGeom prst="rect">
            <a:avLst/>
          </a:prstGeom>
          <a:noFill/>
          <a:ln/>
        </p:spPr>
        <p:txBody>
          <a:bodyPr wrap="square" lIns="0" tIns="0" rIns="0" bIns="0" rtlCol="0" anchor="t"/>
          <a:lstStyle/>
          <a:p>
            <a:pPr algn="r" indent="0" marL="0">
              <a:buNone/>
            </a:pPr>
            <a:r>
              <a:rPr lang="en-US" sz="1000" dirty="0">
                <a:solidFill>
                  <a:schemeClr val="accent3"/>
                </a:solidFill>
              </a:rPr>
              <a:t>−12%</a:t>
            </a:r>
            <a:endParaRPr lang="en-US" sz="1000" dirty="0"/>
          </a:p>
        </p:txBody>
      </p:sp>
      <p:sp>
        <p:nvSpPr>
          <p:cNvPr id="21" name="Grid -16"/>
          <p:cNvSpPr/>
          <p:nvPr/>
        </p:nvSpPr>
        <p:spPr>
          <a:xfrm>
            <a:off x="1234440" y="3962400"/>
            <a:ext cx="6309360" cy="0"/>
          </a:xfrm>
          <a:prstGeom prst="line">
            <a:avLst/>
          </a:prstGeom>
          <a:noFill/>
          <a:ln w="9525">
            <a:solidFill>
              <a:srgbClr val="E2E7ED"/>
            </a:solidFill>
            <a:prstDash val="solid"/>
          </a:ln>
        </p:spPr>
      </p:sp>
      <p:sp>
        <p:nvSpPr>
          <p:cNvPr id="22" name="Text 18"/>
          <p:cNvSpPr txBox="1"/>
          <p:nvPr/>
        </p:nvSpPr>
        <p:spPr>
          <a:xfrm>
            <a:off x="667512" y="3861816"/>
            <a:ext cx="475488" cy="201168"/>
          </a:xfrm>
          <a:prstGeom prst="rect">
            <a:avLst/>
          </a:prstGeom>
          <a:noFill/>
          <a:ln/>
        </p:spPr>
        <p:txBody>
          <a:bodyPr wrap="square" lIns="0" tIns="0" rIns="0" bIns="0" rtlCol="0" anchor="t"/>
          <a:lstStyle/>
          <a:p>
            <a:pPr algn="r" indent="0" marL="0">
              <a:buNone/>
            </a:pPr>
            <a:r>
              <a:rPr lang="en-US" sz="1000" dirty="0">
                <a:solidFill>
                  <a:schemeClr val="accent3"/>
                </a:solidFill>
              </a:rPr>
              <a:t>−16%</a:t>
            </a:r>
            <a:endParaRPr lang="en-US" sz="1000" dirty="0"/>
          </a:p>
        </p:txBody>
      </p:sp>
      <p:sp>
        <p:nvSpPr>
          <p:cNvPr id="23" name="Grid -20"/>
          <p:cNvSpPr/>
          <p:nvPr/>
        </p:nvSpPr>
        <p:spPr>
          <a:xfrm>
            <a:off x="1234440" y="4610100"/>
            <a:ext cx="6309360" cy="0"/>
          </a:xfrm>
          <a:prstGeom prst="line">
            <a:avLst/>
          </a:prstGeom>
          <a:noFill/>
          <a:ln w="9525">
            <a:solidFill>
              <a:srgbClr val="E2E7ED"/>
            </a:solidFill>
            <a:prstDash val="solid"/>
          </a:ln>
        </p:spPr>
      </p:sp>
      <p:sp>
        <p:nvSpPr>
          <p:cNvPr id="24" name="Text 20"/>
          <p:cNvSpPr txBox="1"/>
          <p:nvPr/>
        </p:nvSpPr>
        <p:spPr>
          <a:xfrm>
            <a:off x="667512" y="4509516"/>
            <a:ext cx="475488" cy="201168"/>
          </a:xfrm>
          <a:prstGeom prst="rect">
            <a:avLst/>
          </a:prstGeom>
          <a:noFill/>
          <a:ln/>
        </p:spPr>
        <p:txBody>
          <a:bodyPr wrap="square" lIns="0" tIns="0" rIns="0" bIns="0" rtlCol="0" anchor="t"/>
          <a:lstStyle/>
          <a:p>
            <a:pPr algn="r" indent="0" marL="0">
              <a:buNone/>
            </a:pPr>
            <a:r>
              <a:rPr lang="en-US" sz="1000" dirty="0">
                <a:solidFill>
                  <a:schemeClr val="accent3"/>
                </a:solidFill>
              </a:rPr>
              <a:t>−20%</a:t>
            </a:r>
            <a:endParaRPr lang="en-US" sz="1000" dirty="0"/>
          </a:p>
        </p:txBody>
      </p:sp>
      <p:sp>
        <p:nvSpPr>
          <p:cNvPr id="25" name="Grid -24"/>
          <p:cNvSpPr/>
          <p:nvPr/>
        </p:nvSpPr>
        <p:spPr>
          <a:xfrm>
            <a:off x="1234440" y="5257800"/>
            <a:ext cx="6309360" cy="0"/>
          </a:xfrm>
          <a:prstGeom prst="line">
            <a:avLst/>
          </a:prstGeom>
          <a:noFill/>
          <a:ln w="9525">
            <a:solidFill>
              <a:srgbClr val="E2E7ED"/>
            </a:solidFill>
            <a:prstDash val="solid"/>
          </a:ln>
        </p:spPr>
      </p:sp>
      <p:sp>
        <p:nvSpPr>
          <p:cNvPr id="26" name="Text 22"/>
          <p:cNvSpPr txBox="1"/>
          <p:nvPr/>
        </p:nvSpPr>
        <p:spPr>
          <a:xfrm>
            <a:off x="667512" y="5157216"/>
            <a:ext cx="475488" cy="201168"/>
          </a:xfrm>
          <a:prstGeom prst="rect">
            <a:avLst/>
          </a:prstGeom>
          <a:noFill/>
          <a:ln/>
        </p:spPr>
        <p:txBody>
          <a:bodyPr wrap="square" lIns="0" tIns="0" rIns="0" bIns="0" rtlCol="0" anchor="t"/>
          <a:lstStyle/>
          <a:p>
            <a:pPr algn="r" indent="0" marL="0">
              <a:buNone/>
            </a:pPr>
            <a:r>
              <a:rPr lang="en-US" sz="1000" dirty="0">
                <a:solidFill>
                  <a:schemeClr val="accent3"/>
                </a:solidFill>
              </a:rPr>
              <a:t>−24%</a:t>
            </a:r>
            <a:endParaRPr lang="en-US" sz="1000" dirty="0"/>
          </a:p>
        </p:txBody>
      </p:sp>
      <p:sp>
        <p:nvSpPr>
          <p:cNvPr id="27" name="Text 23"/>
          <p:cNvSpPr txBox="1"/>
          <p:nvPr/>
        </p:nvSpPr>
        <p:spPr>
          <a:xfrm>
            <a:off x="960120" y="5312664"/>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0</a:t>
            </a:r>
            <a:endParaRPr lang="en-US" sz="1000" dirty="0"/>
          </a:p>
        </p:txBody>
      </p:sp>
      <p:sp>
        <p:nvSpPr>
          <p:cNvPr id="28" name="Text 24"/>
          <p:cNvSpPr txBox="1"/>
          <p:nvPr/>
        </p:nvSpPr>
        <p:spPr>
          <a:xfrm>
            <a:off x="2537460" y="5312664"/>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30</a:t>
            </a:r>
            <a:endParaRPr lang="en-US" sz="1000" dirty="0"/>
          </a:p>
        </p:txBody>
      </p:sp>
      <p:sp>
        <p:nvSpPr>
          <p:cNvPr id="29" name="Text 25"/>
          <p:cNvSpPr txBox="1"/>
          <p:nvPr/>
        </p:nvSpPr>
        <p:spPr>
          <a:xfrm>
            <a:off x="4114800" y="5312664"/>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60</a:t>
            </a:r>
            <a:endParaRPr lang="en-US" sz="1000" dirty="0"/>
          </a:p>
        </p:txBody>
      </p:sp>
      <p:sp>
        <p:nvSpPr>
          <p:cNvPr id="30" name="Text 26"/>
          <p:cNvSpPr txBox="1"/>
          <p:nvPr/>
        </p:nvSpPr>
        <p:spPr>
          <a:xfrm>
            <a:off x="5692140" y="5312664"/>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90</a:t>
            </a:r>
            <a:endParaRPr lang="en-US" sz="1000" dirty="0"/>
          </a:p>
        </p:txBody>
      </p:sp>
      <p:sp>
        <p:nvSpPr>
          <p:cNvPr id="31" name="Text 27"/>
          <p:cNvSpPr txBox="1"/>
          <p:nvPr/>
        </p:nvSpPr>
        <p:spPr>
          <a:xfrm>
            <a:off x="7269480" y="5312664"/>
            <a:ext cx="548640" cy="201168"/>
          </a:xfrm>
          <a:prstGeom prst="rect">
            <a:avLst/>
          </a:prstGeom>
          <a:noFill/>
          <a:ln/>
        </p:spPr>
        <p:txBody>
          <a:bodyPr wrap="square" lIns="0" tIns="0" rIns="0" bIns="0" rtlCol="0" anchor="t"/>
          <a:lstStyle/>
          <a:p>
            <a:pPr algn="ctr" indent="0" marL="0">
              <a:buNone/>
            </a:pPr>
            <a:r>
              <a:rPr lang="en-US" sz="1000" dirty="0">
                <a:solidFill>
                  <a:schemeClr val="accent3"/>
                </a:solidFill>
              </a:rPr>
              <a:t>120</a:t>
            </a:r>
            <a:endParaRPr lang="en-US" sz="1000" dirty="0"/>
          </a:p>
        </p:txBody>
      </p:sp>
      <p:sp>
        <p:nvSpPr>
          <p:cNvPr id="32" name="Text 28"/>
          <p:cNvSpPr txBox="1"/>
          <p:nvPr/>
        </p:nvSpPr>
        <p:spPr>
          <a:xfrm>
            <a:off x="1234440" y="5532120"/>
            <a:ext cx="6309360" cy="228600"/>
          </a:xfrm>
          <a:prstGeom prst="rect">
            <a:avLst/>
          </a:prstGeom>
          <a:noFill/>
          <a:ln/>
        </p:spPr>
        <p:txBody>
          <a:bodyPr wrap="square" lIns="0" tIns="0" rIns="0" bIns="0" rtlCol="0" anchor="t"/>
          <a:lstStyle/>
          <a:p>
            <a:pPr algn="ctr" indent="0" marL="0">
              <a:buNone/>
            </a:pPr>
            <a:r>
              <a:rPr lang="en-US" sz="1100" dirty="0">
                <a:solidFill>
                  <a:schemeClr val="accent3"/>
                </a:solidFill>
              </a:rPr>
              <a:t>Day of unloading</a:t>
            </a:r>
            <a:endParaRPr lang="en-US" sz="1100" dirty="0"/>
          </a:p>
        </p:txBody>
      </p:sp>
      <p:sp>
        <p:nvSpPr>
          <p:cNvPr id="33" name="Text 29"/>
          <p:cNvSpPr txBox="1"/>
          <p:nvPr/>
        </p:nvSpPr>
        <p:spPr>
          <a:xfrm>
            <a:off x="548640" y="1024128"/>
            <a:ext cx="2286000" cy="228600"/>
          </a:xfrm>
          <a:prstGeom prst="rect">
            <a:avLst/>
          </a:prstGeom>
          <a:noFill/>
          <a:ln/>
        </p:spPr>
        <p:txBody>
          <a:bodyPr wrap="square" lIns="0" tIns="0" rIns="0" bIns="0" rtlCol="0" anchor="t"/>
          <a:lstStyle/>
          <a:p>
            <a:pPr indent="0" marL="0">
              <a:buNone/>
            </a:pPr>
            <a:r>
              <a:rPr lang="en-US" sz="1100" dirty="0">
                <a:solidFill>
                  <a:schemeClr val="accent3"/>
                </a:solidFill>
              </a:rPr>
              <a:t>Change in muscle size</a:t>
            </a:r>
            <a:endParaRPr lang="en-US" sz="1100" dirty="0"/>
          </a:p>
        </p:txBody>
      </p:sp>
      <p:sp>
        <p:nvSpPr>
          <p:cNvPr id="34" name="Day 60 line"/>
          <p:cNvSpPr/>
          <p:nvPr/>
        </p:nvSpPr>
        <p:spPr>
          <a:xfrm>
            <a:off x="4389120" y="1280160"/>
            <a:ext cx="0" cy="3977640"/>
          </a:xfrm>
          <a:prstGeom prst="line">
            <a:avLst/>
          </a:prstGeom>
          <a:noFill/>
          <a:ln w="12700">
            <a:solidFill>
              <a:srgbClr val="1B2533"/>
            </a:solidFill>
            <a:prstDash val="dash"/>
          </a:ln>
        </p:spPr>
      </p:sp>
      <p:sp>
        <p:nvSpPr>
          <p:cNvPr id="35" name="Text 31"/>
          <p:cNvSpPr txBox="1"/>
          <p:nvPr/>
        </p:nvSpPr>
        <p:spPr>
          <a:xfrm>
            <a:off x="4434840" y="1261872"/>
            <a:ext cx="731520" cy="201168"/>
          </a:xfrm>
          <a:prstGeom prst="rect">
            <a:avLst/>
          </a:prstGeom>
          <a:noFill/>
          <a:ln/>
        </p:spPr>
        <p:txBody>
          <a:bodyPr wrap="square" lIns="0" tIns="0" rIns="0" bIns="0" rtlCol="0" anchor="t"/>
          <a:lstStyle/>
          <a:p>
            <a:pPr indent="0" marL="0">
              <a:buNone/>
            </a:pPr>
            <a:r>
              <a:rPr lang="en-US" sz="1050" b="1" dirty="0">
                <a:solidFill>
                  <a:schemeClr val="tx1"/>
                </a:solidFill>
              </a:rPr>
              <a:t>day 60</a:t>
            </a:r>
            <a:endParaRPr lang="en-US" sz="1050" dirty="0"/>
          </a:p>
        </p:txBody>
      </p:sp>
      <p:sp>
        <p:nvSpPr>
          <p:cNvPr id="36" name="Deep hip rotators curve"/>
          <p:cNvSpPr/>
          <p:nvPr/>
        </p:nvSpPr>
        <p:spPr>
          <a:xfrm>
            <a:off x="1497330" y="1371600"/>
            <a:ext cx="5993892" cy="419731"/>
          </a:xfrm>
          <a:custGeom>
            <a:avLst/>
            <a:gdLst/>
            <a:ahLst/>
            <a:cxnLst/>
            <a:rect l="l" t="t" r="r" b="b"/>
            <a:pathLst>
              <a:path w="5993892" h="419731">
                <a:moveTo>
                  <a:pt x="0" y="38915"/>
                </a:moveTo>
                <a:lnTo>
                  <a:pt x="105156" y="53595"/>
                </a:lnTo>
                <a:lnTo>
                  <a:pt x="210312" y="67794"/>
                </a:lnTo>
                <a:lnTo>
                  <a:pt x="315468" y="81528"/>
                </a:lnTo>
                <a:lnTo>
                  <a:pt x="420624" y="94811"/>
                </a:lnTo>
                <a:lnTo>
                  <a:pt x="525780" y="107659"/>
                </a:lnTo>
                <a:lnTo>
                  <a:pt x="630936" y="120086"/>
                </a:lnTo>
                <a:lnTo>
                  <a:pt x="736092" y="132105"/>
                </a:lnTo>
                <a:lnTo>
                  <a:pt x="841248" y="143730"/>
                </a:lnTo>
                <a:lnTo>
                  <a:pt x="946404" y="154974"/>
                </a:lnTo>
                <a:lnTo>
                  <a:pt x="1051560" y="165850"/>
                </a:lnTo>
                <a:lnTo>
                  <a:pt x="1156716" y="176369"/>
                </a:lnTo>
                <a:lnTo>
                  <a:pt x="1261872" y="186543"/>
                </a:lnTo>
                <a:lnTo>
                  <a:pt x="1367028" y="196384"/>
                </a:lnTo>
                <a:lnTo>
                  <a:pt x="1472184" y="205901"/>
                </a:lnTo>
                <a:lnTo>
                  <a:pt x="1577340" y="215107"/>
                </a:lnTo>
                <a:lnTo>
                  <a:pt x="1682496" y="224011"/>
                </a:lnTo>
                <a:lnTo>
                  <a:pt x="1787652" y="232624"/>
                </a:lnTo>
                <a:lnTo>
                  <a:pt x="1892808" y="240954"/>
                </a:lnTo>
                <a:lnTo>
                  <a:pt x="1997964" y="249010"/>
                </a:lnTo>
                <a:lnTo>
                  <a:pt x="2103120" y="256803"/>
                </a:lnTo>
                <a:lnTo>
                  <a:pt x="2208276" y="264340"/>
                </a:lnTo>
                <a:lnTo>
                  <a:pt x="2313432" y="271630"/>
                </a:lnTo>
                <a:lnTo>
                  <a:pt x="2418588" y="278681"/>
                </a:lnTo>
                <a:lnTo>
                  <a:pt x="2523744" y="285501"/>
                </a:lnTo>
                <a:lnTo>
                  <a:pt x="2628900" y="292097"/>
                </a:lnTo>
                <a:lnTo>
                  <a:pt x="2734056" y="298477"/>
                </a:lnTo>
                <a:lnTo>
                  <a:pt x="2839212" y="304648"/>
                </a:lnTo>
                <a:lnTo>
                  <a:pt x="2944368" y="310617"/>
                </a:lnTo>
                <a:lnTo>
                  <a:pt x="3049524" y="316390"/>
                </a:lnTo>
                <a:lnTo>
                  <a:pt x="3154680" y="321974"/>
                </a:lnTo>
                <a:lnTo>
                  <a:pt x="3259836" y="327374"/>
                </a:lnTo>
                <a:lnTo>
                  <a:pt x="3364992" y="332598"/>
                </a:lnTo>
                <a:lnTo>
                  <a:pt x="3470148" y="337650"/>
                </a:lnTo>
                <a:lnTo>
                  <a:pt x="3575304" y="342537"/>
                </a:lnTo>
                <a:lnTo>
                  <a:pt x="3680460" y="347263"/>
                </a:lnTo>
                <a:lnTo>
                  <a:pt x="3785616" y="351835"/>
                </a:lnTo>
                <a:lnTo>
                  <a:pt x="3890772" y="356256"/>
                </a:lnTo>
                <a:lnTo>
                  <a:pt x="3995928" y="360533"/>
                </a:lnTo>
                <a:lnTo>
                  <a:pt x="4101084" y="364669"/>
                </a:lnTo>
                <a:lnTo>
                  <a:pt x="4206240" y="368670"/>
                </a:lnTo>
                <a:lnTo>
                  <a:pt x="4311396" y="372540"/>
                </a:lnTo>
                <a:lnTo>
                  <a:pt x="4416552" y="376283"/>
                </a:lnTo>
                <a:lnTo>
                  <a:pt x="4521708" y="379903"/>
                </a:lnTo>
                <a:lnTo>
                  <a:pt x="4626864" y="383404"/>
                </a:lnTo>
                <a:lnTo>
                  <a:pt x="4732020" y="386791"/>
                </a:lnTo>
                <a:lnTo>
                  <a:pt x="4837176" y="390067"/>
                </a:lnTo>
                <a:lnTo>
                  <a:pt x="4942332" y="393235"/>
                </a:lnTo>
                <a:lnTo>
                  <a:pt x="5047488" y="396299"/>
                </a:lnTo>
                <a:lnTo>
                  <a:pt x="5152644" y="399263"/>
                </a:lnTo>
                <a:lnTo>
                  <a:pt x="5257800" y="402130"/>
                </a:lnTo>
                <a:lnTo>
                  <a:pt x="5362956" y="404903"/>
                </a:lnTo>
                <a:lnTo>
                  <a:pt x="5468112" y="407585"/>
                </a:lnTo>
                <a:lnTo>
                  <a:pt x="5573268" y="410179"/>
                </a:lnTo>
                <a:lnTo>
                  <a:pt x="5678424" y="412687"/>
                </a:lnTo>
                <a:lnTo>
                  <a:pt x="5783580" y="415114"/>
                </a:lnTo>
                <a:lnTo>
                  <a:pt x="5888736" y="417461"/>
                </a:lnTo>
                <a:lnTo>
                  <a:pt x="5993892" y="419731"/>
                </a:lnTo>
                <a:lnTo>
                  <a:pt x="5993892" y="419731"/>
                </a:lnTo>
              </a:path>
            </a:pathLst>
          </a:custGeom>
          <a:ln w="25400">
            <a:solidFill>
              <a:srgbClr val="9AA5B1"/>
            </a:solidFill>
            <a:prstDash val="solid"/>
          </a:ln>
        </p:spPr>
      </p:sp>
      <p:sp>
        <p:nvSpPr>
          <p:cNvPr id="37" name="Deep hip rotators at day 60"/>
          <p:cNvSpPr/>
          <p:nvPr/>
        </p:nvSpPr>
        <p:spPr>
          <a:xfrm>
            <a:off x="4338828" y="1628966"/>
            <a:ext cx="100584" cy="100584"/>
          </a:xfrm>
          <a:prstGeom prst="ellipse">
            <a:avLst/>
          </a:prstGeom>
          <a:solidFill>
            <a:srgbClr val="9AA5B1"/>
          </a:solidFill>
          <a:ln w="6350">
            <a:solidFill>
              <a:srgbClr val="FFFFFF"/>
            </a:solidFill>
            <a:prstDash val="solid"/>
          </a:ln>
        </p:spPr>
      </p:sp>
      <p:sp>
        <p:nvSpPr>
          <p:cNvPr id="38" name="Inner thigh (hip adductors) curve"/>
          <p:cNvSpPr/>
          <p:nvPr/>
        </p:nvSpPr>
        <p:spPr>
          <a:xfrm>
            <a:off x="1497330" y="1371600"/>
            <a:ext cx="5993892" cy="1192921"/>
          </a:xfrm>
          <a:custGeom>
            <a:avLst/>
            <a:gdLst/>
            <a:ahLst/>
            <a:cxnLst/>
            <a:rect l="l" t="t" r="r" b="b"/>
            <a:pathLst>
              <a:path w="5993892" h="1192921">
                <a:moveTo>
                  <a:pt x="0" y="110600"/>
                </a:moveTo>
                <a:lnTo>
                  <a:pt x="105156" y="152324"/>
                </a:lnTo>
                <a:lnTo>
                  <a:pt x="210312" y="192679"/>
                </a:lnTo>
                <a:lnTo>
                  <a:pt x="315468" y="231711"/>
                </a:lnTo>
                <a:lnTo>
                  <a:pt x="420624" y="269464"/>
                </a:lnTo>
                <a:lnTo>
                  <a:pt x="525780" y="305979"/>
                </a:lnTo>
                <a:lnTo>
                  <a:pt x="630936" y="341297"/>
                </a:lnTo>
                <a:lnTo>
                  <a:pt x="736092" y="375457"/>
                </a:lnTo>
                <a:lnTo>
                  <a:pt x="841248" y="408497"/>
                </a:lnTo>
                <a:lnTo>
                  <a:pt x="946404" y="440454"/>
                </a:lnTo>
                <a:lnTo>
                  <a:pt x="1051560" y="471363"/>
                </a:lnTo>
                <a:lnTo>
                  <a:pt x="1156716" y="501259"/>
                </a:lnTo>
                <a:lnTo>
                  <a:pt x="1261872" y="530175"/>
                </a:lnTo>
                <a:lnTo>
                  <a:pt x="1367028" y="558143"/>
                </a:lnTo>
                <a:lnTo>
                  <a:pt x="1472184" y="585194"/>
                </a:lnTo>
                <a:lnTo>
                  <a:pt x="1577340" y="611358"/>
                </a:lnTo>
                <a:lnTo>
                  <a:pt x="1682496" y="636664"/>
                </a:lnTo>
                <a:lnTo>
                  <a:pt x="1787652" y="661141"/>
                </a:lnTo>
                <a:lnTo>
                  <a:pt x="1892808" y="684815"/>
                </a:lnTo>
                <a:lnTo>
                  <a:pt x="1997964" y="707713"/>
                </a:lnTo>
                <a:lnTo>
                  <a:pt x="2103120" y="729861"/>
                </a:lnTo>
                <a:lnTo>
                  <a:pt x="2208276" y="751282"/>
                </a:lnTo>
                <a:lnTo>
                  <a:pt x="2313432" y="772001"/>
                </a:lnTo>
                <a:lnTo>
                  <a:pt x="2418588" y="792041"/>
                </a:lnTo>
                <a:lnTo>
                  <a:pt x="2523744" y="811424"/>
                </a:lnTo>
                <a:lnTo>
                  <a:pt x="2628900" y="830171"/>
                </a:lnTo>
                <a:lnTo>
                  <a:pt x="2734056" y="848304"/>
                </a:lnTo>
                <a:lnTo>
                  <a:pt x="2839212" y="865843"/>
                </a:lnTo>
                <a:lnTo>
                  <a:pt x="2944368" y="882806"/>
                </a:lnTo>
                <a:lnTo>
                  <a:pt x="3049524" y="899213"/>
                </a:lnTo>
                <a:lnTo>
                  <a:pt x="3154680" y="915083"/>
                </a:lnTo>
                <a:lnTo>
                  <a:pt x="3259836" y="930432"/>
                </a:lnTo>
                <a:lnTo>
                  <a:pt x="3364992" y="945278"/>
                </a:lnTo>
                <a:lnTo>
                  <a:pt x="3470148" y="959637"/>
                </a:lnTo>
                <a:lnTo>
                  <a:pt x="3575304" y="973525"/>
                </a:lnTo>
                <a:lnTo>
                  <a:pt x="3680460" y="986958"/>
                </a:lnTo>
                <a:lnTo>
                  <a:pt x="3785616" y="999951"/>
                </a:lnTo>
                <a:lnTo>
                  <a:pt x="3890772" y="1012518"/>
                </a:lnTo>
                <a:lnTo>
                  <a:pt x="3995928" y="1024673"/>
                </a:lnTo>
                <a:lnTo>
                  <a:pt x="4101084" y="1036429"/>
                </a:lnTo>
                <a:lnTo>
                  <a:pt x="4206240" y="1047800"/>
                </a:lnTo>
                <a:lnTo>
                  <a:pt x="4311396" y="1058798"/>
                </a:lnTo>
                <a:lnTo>
                  <a:pt x="4416552" y="1069435"/>
                </a:lnTo>
                <a:lnTo>
                  <a:pt x="4521708" y="1079724"/>
                </a:lnTo>
                <a:lnTo>
                  <a:pt x="4626864" y="1089676"/>
                </a:lnTo>
                <a:lnTo>
                  <a:pt x="4732020" y="1099301"/>
                </a:lnTo>
                <a:lnTo>
                  <a:pt x="4837176" y="1108611"/>
                </a:lnTo>
                <a:lnTo>
                  <a:pt x="4942332" y="1117615"/>
                </a:lnTo>
                <a:lnTo>
                  <a:pt x="5047488" y="1126324"/>
                </a:lnTo>
                <a:lnTo>
                  <a:pt x="5152644" y="1134748"/>
                </a:lnTo>
                <a:lnTo>
                  <a:pt x="5257800" y="1142896"/>
                </a:lnTo>
                <a:lnTo>
                  <a:pt x="5362956" y="1150776"/>
                </a:lnTo>
                <a:lnTo>
                  <a:pt x="5468112" y="1158398"/>
                </a:lnTo>
                <a:lnTo>
                  <a:pt x="5573268" y="1165771"/>
                </a:lnTo>
                <a:lnTo>
                  <a:pt x="5678424" y="1172901"/>
                </a:lnTo>
                <a:lnTo>
                  <a:pt x="5783580" y="1179798"/>
                </a:lnTo>
                <a:lnTo>
                  <a:pt x="5888736" y="1186469"/>
                </a:lnTo>
                <a:lnTo>
                  <a:pt x="5993892" y="1192921"/>
                </a:lnTo>
                <a:lnTo>
                  <a:pt x="5993892" y="1192921"/>
                </a:lnTo>
              </a:path>
            </a:pathLst>
          </a:custGeom>
          <a:ln w="25400">
            <a:solidFill>
              <a:srgbClr val="3A9CA6"/>
            </a:solidFill>
            <a:prstDash val="solid"/>
          </a:ln>
        </p:spPr>
      </p:sp>
      <p:sp>
        <p:nvSpPr>
          <p:cNvPr id="39" name="Inner thigh (hip adductors) at day 60"/>
          <p:cNvSpPr/>
          <p:nvPr/>
        </p:nvSpPr>
        <p:spPr>
          <a:xfrm>
            <a:off x="4338828" y="2195703"/>
            <a:ext cx="100584" cy="100584"/>
          </a:xfrm>
          <a:prstGeom prst="ellipse">
            <a:avLst/>
          </a:prstGeom>
          <a:solidFill>
            <a:srgbClr val="3A9CA6"/>
          </a:solidFill>
          <a:ln w="6350">
            <a:solidFill>
              <a:srgbClr val="FFFFFF"/>
            </a:solidFill>
            <a:prstDash val="solid"/>
          </a:ln>
        </p:spPr>
      </p:sp>
      <p:sp>
        <p:nvSpPr>
          <p:cNvPr id="40" name="Glutes (hip extensors) curve"/>
          <p:cNvSpPr/>
          <p:nvPr/>
        </p:nvSpPr>
        <p:spPr>
          <a:xfrm>
            <a:off x="1497330" y="1371600"/>
            <a:ext cx="5993892" cy="1347559"/>
          </a:xfrm>
          <a:custGeom>
            <a:avLst/>
            <a:gdLst/>
            <a:ahLst/>
            <a:cxnLst/>
            <a:rect l="l" t="t" r="r" b="b"/>
            <a:pathLst>
              <a:path w="5993892" h="1347559">
                <a:moveTo>
                  <a:pt x="0" y="124937"/>
                </a:moveTo>
                <a:lnTo>
                  <a:pt x="105156" y="172069"/>
                </a:lnTo>
                <a:lnTo>
                  <a:pt x="210312" y="217656"/>
                </a:lnTo>
                <a:lnTo>
                  <a:pt x="315468" y="261748"/>
                </a:lnTo>
                <a:lnTo>
                  <a:pt x="420624" y="304394"/>
                </a:lnTo>
                <a:lnTo>
                  <a:pt x="525780" y="345643"/>
                </a:lnTo>
                <a:lnTo>
                  <a:pt x="630936" y="385539"/>
                </a:lnTo>
                <a:lnTo>
                  <a:pt x="736092" y="424127"/>
                </a:lnTo>
                <a:lnTo>
                  <a:pt x="841248" y="461450"/>
                </a:lnTo>
                <a:lnTo>
                  <a:pt x="946404" y="497550"/>
                </a:lnTo>
                <a:lnTo>
                  <a:pt x="1051560" y="532466"/>
                </a:lnTo>
                <a:lnTo>
                  <a:pt x="1156716" y="566237"/>
                </a:lnTo>
                <a:lnTo>
                  <a:pt x="1261872" y="598901"/>
                </a:lnTo>
                <a:lnTo>
                  <a:pt x="1367028" y="630495"/>
                </a:lnTo>
                <a:lnTo>
                  <a:pt x="1472184" y="661052"/>
                </a:lnTo>
                <a:lnTo>
                  <a:pt x="1577340" y="690608"/>
                </a:lnTo>
                <a:lnTo>
                  <a:pt x="1682496" y="719195"/>
                </a:lnTo>
                <a:lnTo>
                  <a:pt x="1787652" y="746844"/>
                </a:lnTo>
                <a:lnTo>
                  <a:pt x="1892808" y="773588"/>
                </a:lnTo>
                <a:lnTo>
                  <a:pt x="1997964" y="799454"/>
                </a:lnTo>
                <a:lnTo>
                  <a:pt x="2103120" y="824472"/>
                </a:lnTo>
                <a:lnTo>
                  <a:pt x="2208276" y="848671"/>
                </a:lnTo>
                <a:lnTo>
                  <a:pt x="2313432" y="872076"/>
                </a:lnTo>
                <a:lnTo>
                  <a:pt x="2418588" y="894713"/>
                </a:lnTo>
                <a:lnTo>
                  <a:pt x="2523744" y="916609"/>
                </a:lnTo>
                <a:lnTo>
                  <a:pt x="2628900" y="937786"/>
                </a:lnTo>
                <a:lnTo>
                  <a:pt x="2734056" y="958270"/>
                </a:lnTo>
                <a:lnTo>
                  <a:pt x="2839212" y="978081"/>
                </a:lnTo>
                <a:lnTo>
                  <a:pt x="2944368" y="997244"/>
                </a:lnTo>
                <a:lnTo>
                  <a:pt x="3049524" y="1015778"/>
                </a:lnTo>
                <a:lnTo>
                  <a:pt x="3154680" y="1033704"/>
                </a:lnTo>
                <a:lnTo>
                  <a:pt x="3259836" y="1051043"/>
                </a:lnTo>
                <a:lnTo>
                  <a:pt x="3364992" y="1067814"/>
                </a:lnTo>
                <a:lnTo>
                  <a:pt x="3470148" y="1084034"/>
                </a:lnTo>
                <a:lnTo>
                  <a:pt x="3575304" y="1099723"/>
                </a:lnTo>
                <a:lnTo>
                  <a:pt x="3680460" y="1114897"/>
                </a:lnTo>
                <a:lnTo>
                  <a:pt x="3785616" y="1129574"/>
                </a:lnTo>
                <a:lnTo>
                  <a:pt x="3890772" y="1143770"/>
                </a:lnTo>
                <a:lnTo>
                  <a:pt x="3995928" y="1157501"/>
                </a:lnTo>
                <a:lnTo>
                  <a:pt x="4101084" y="1170781"/>
                </a:lnTo>
                <a:lnTo>
                  <a:pt x="4206240" y="1183626"/>
                </a:lnTo>
                <a:lnTo>
                  <a:pt x="4311396" y="1196049"/>
                </a:lnTo>
                <a:lnTo>
                  <a:pt x="4416552" y="1208066"/>
                </a:lnTo>
                <a:lnTo>
                  <a:pt x="4521708" y="1219688"/>
                </a:lnTo>
                <a:lnTo>
                  <a:pt x="4626864" y="1230930"/>
                </a:lnTo>
                <a:lnTo>
                  <a:pt x="4732020" y="1241803"/>
                </a:lnTo>
                <a:lnTo>
                  <a:pt x="4837176" y="1252319"/>
                </a:lnTo>
                <a:lnTo>
                  <a:pt x="4942332" y="1262491"/>
                </a:lnTo>
                <a:lnTo>
                  <a:pt x="5047488" y="1272329"/>
                </a:lnTo>
                <a:lnTo>
                  <a:pt x="5152644" y="1281845"/>
                </a:lnTo>
                <a:lnTo>
                  <a:pt x="5257800" y="1291049"/>
                </a:lnTo>
                <a:lnTo>
                  <a:pt x="5362956" y="1299951"/>
                </a:lnTo>
                <a:lnTo>
                  <a:pt x="5468112" y="1308561"/>
                </a:lnTo>
                <a:lnTo>
                  <a:pt x="5573268" y="1316889"/>
                </a:lnTo>
                <a:lnTo>
                  <a:pt x="5678424" y="1324944"/>
                </a:lnTo>
                <a:lnTo>
                  <a:pt x="5783580" y="1332735"/>
                </a:lnTo>
                <a:lnTo>
                  <a:pt x="5888736" y="1340270"/>
                </a:lnTo>
                <a:lnTo>
                  <a:pt x="5993892" y="1347559"/>
                </a:lnTo>
                <a:lnTo>
                  <a:pt x="5993892" y="1347559"/>
                </a:lnTo>
              </a:path>
            </a:pathLst>
          </a:custGeom>
          <a:ln w="25400">
            <a:solidFill>
              <a:srgbClr val="9C6B98"/>
            </a:solidFill>
            <a:prstDash val="solid"/>
          </a:ln>
        </p:spPr>
      </p:sp>
      <p:sp>
        <p:nvSpPr>
          <p:cNvPr id="41" name="Glutes (hip extensors) at day 60"/>
          <p:cNvSpPr/>
          <p:nvPr/>
        </p:nvSpPr>
        <p:spPr>
          <a:xfrm>
            <a:off x="4338828" y="2309050"/>
            <a:ext cx="100584" cy="100584"/>
          </a:xfrm>
          <a:prstGeom prst="ellipse">
            <a:avLst/>
          </a:prstGeom>
          <a:solidFill>
            <a:srgbClr val="9C6B98"/>
          </a:solidFill>
          <a:ln w="6350">
            <a:solidFill>
              <a:srgbClr val="FFFFFF"/>
            </a:solidFill>
            <a:prstDash val="solid"/>
          </a:ln>
        </p:spPr>
      </p:sp>
      <p:sp>
        <p:nvSpPr>
          <p:cNvPr id="42" name="Hip flexors curve"/>
          <p:cNvSpPr/>
          <p:nvPr/>
        </p:nvSpPr>
        <p:spPr>
          <a:xfrm>
            <a:off x="1497330" y="1371600"/>
            <a:ext cx="5993892" cy="1502196"/>
          </a:xfrm>
          <a:custGeom>
            <a:avLst/>
            <a:gdLst/>
            <a:ahLst/>
            <a:cxnLst/>
            <a:rect l="l" t="t" r="r" b="b"/>
            <a:pathLst>
              <a:path w="5993892" h="1502196">
                <a:moveTo>
                  <a:pt x="0" y="139275"/>
                </a:moveTo>
                <a:lnTo>
                  <a:pt x="105156" y="191815"/>
                </a:lnTo>
                <a:lnTo>
                  <a:pt x="210312" y="242633"/>
                </a:lnTo>
                <a:lnTo>
                  <a:pt x="315468" y="291784"/>
                </a:lnTo>
                <a:lnTo>
                  <a:pt x="420624" y="339325"/>
                </a:lnTo>
                <a:lnTo>
                  <a:pt x="525780" y="385307"/>
                </a:lnTo>
                <a:lnTo>
                  <a:pt x="630936" y="429781"/>
                </a:lnTo>
                <a:lnTo>
                  <a:pt x="736092" y="472797"/>
                </a:lnTo>
                <a:lnTo>
                  <a:pt x="841248" y="514403"/>
                </a:lnTo>
                <a:lnTo>
                  <a:pt x="946404" y="554646"/>
                </a:lnTo>
                <a:lnTo>
                  <a:pt x="1051560" y="593568"/>
                </a:lnTo>
                <a:lnTo>
                  <a:pt x="1156716" y="631215"/>
                </a:lnTo>
                <a:lnTo>
                  <a:pt x="1261872" y="667628"/>
                </a:lnTo>
                <a:lnTo>
                  <a:pt x="1367028" y="702846"/>
                </a:lnTo>
                <a:lnTo>
                  <a:pt x="1472184" y="736911"/>
                </a:lnTo>
                <a:lnTo>
                  <a:pt x="1577340" y="769858"/>
                </a:lnTo>
                <a:lnTo>
                  <a:pt x="1682496" y="801725"/>
                </a:lnTo>
                <a:lnTo>
                  <a:pt x="1787652" y="832548"/>
                </a:lnTo>
                <a:lnTo>
                  <a:pt x="1892808" y="862360"/>
                </a:lnTo>
                <a:lnTo>
                  <a:pt x="1997964" y="891195"/>
                </a:lnTo>
                <a:lnTo>
                  <a:pt x="2103120" y="919084"/>
                </a:lnTo>
                <a:lnTo>
                  <a:pt x="2208276" y="946059"/>
                </a:lnTo>
                <a:lnTo>
                  <a:pt x="2313432" y="972150"/>
                </a:lnTo>
                <a:lnTo>
                  <a:pt x="2418588" y="997385"/>
                </a:lnTo>
                <a:lnTo>
                  <a:pt x="2523744" y="1021793"/>
                </a:lnTo>
                <a:lnTo>
                  <a:pt x="2628900" y="1045401"/>
                </a:lnTo>
                <a:lnTo>
                  <a:pt x="2734056" y="1068235"/>
                </a:lnTo>
                <a:lnTo>
                  <a:pt x="2839212" y="1090320"/>
                </a:lnTo>
                <a:lnTo>
                  <a:pt x="2944368" y="1111682"/>
                </a:lnTo>
                <a:lnTo>
                  <a:pt x="3049524" y="1132343"/>
                </a:lnTo>
                <a:lnTo>
                  <a:pt x="3154680" y="1152326"/>
                </a:lnTo>
                <a:lnTo>
                  <a:pt x="3259836" y="1171655"/>
                </a:lnTo>
                <a:lnTo>
                  <a:pt x="3364992" y="1190350"/>
                </a:lnTo>
                <a:lnTo>
                  <a:pt x="3470148" y="1208431"/>
                </a:lnTo>
                <a:lnTo>
                  <a:pt x="3575304" y="1225921"/>
                </a:lnTo>
                <a:lnTo>
                  <a:pt x="3680460" y="1242836"/>
                </a:lnTo>
                <a:lnTo>
                  <a:pt x="3785616" y="1259198"/>
                </a:lnTo>
                <a:lnTo>
                  <a:pt x="3890772" y="1275022"/>
                </a:lnTo>
                <a:lnTo>
                  <a:pt x="3995928" y="1290328"/>
                </a:lnTo>
                <a:lnTo>
                  <a:pt x="4101084" y="1305133"/>
                </a:lnTo>
                <a:lnTo>
                  <a:pt x="4206240" y="1319452"/>
                </a:lnTo>
                <a:lnTo>
                  <a:pt x="4311396" y="1333301"/>
                </a:lnTo>
                <a:lnTo>
                  <a:pt x="4416552" y="1346696"/>
                </a:lnTo>
                <a:lnTo>
                  <a:pt x="4521708" y="1359653"/>
                </a:lnTo>
                <a:lnTo>
                  <a:pt x="4626864" y="1372184"/>
                </a:lnTo>
                <a:lnTo>
                  <a:pt x="4732020" y="1384305"/>
                </a:lnTo>
                <a:lnTo>
                  <a:pt x="4837176" y="1396028"/>
                </a:lnTo>
                <a:lnTo>
                  <a:pt x="4942332" y="1407367"/>
                </a:lnTo>
                <a:lnTo>
                  <a:pt x="5047488" y="1418334"/>
                </a:lnTo>
                <a:lnTo>
                  <a:pt x="5152644" y="1428942"/>
                </a:lnTo>
                <a:lnTo>
                  <a:pt x="5257800" y="1439202"/>
                </a:lnTo>
                <a:lnTo>
                  <a:pt x="5362956" y="1449126"/>
                </a:lnTo>
                <a:lnTo>
                  <a:pt x="5468112" y="1458724"/>
                </a:lnTo>
                <a:lnTo>
                  <a:pt x="5573268" y="1468008"/>
                </a:lnTo>
                <a:lnTo>
                  <a:pt x="5678424" y="1476987"/>
                </a:lnTo>
                <a:lnTo>
                  <a:pt x="5783580" y="1485672"/>
                </a:lnTo>
                <a:lnTo>
                  <a:pt x="5888736" y="1494072"/>
                </a:lnTo>
                <a:lnTo>
                  <a:pt x="5993892" y="1502196"/>
                </a:lnTo>
                <a:lnTo>
                  <a:pt x="5993892" y="1502196"/>
                </a:lnTo>
              </a:path>
            </a:pathLst>
          </a:custGeom>
          <a:ln w="25400">
            <a:solidFill>
              <a:srgbClr val="6A994E"/>
            </a:solidFill>
            <a:prstDash val="solid"/>
          </a:ln>
        </p:spPr>
      </p:sp>
      <p:sp>
        <p:nvSpPr>
          <p:cNvPr id="43" name="Hip flexors at day 60"/>
          <p:cNvSpPr/>
          <p:nvPr/>
        </p:nvSpPr>
        <p:spPr>
          <a:xfrm>
            <a:off x="4338828" y="2422398"/>
            <a:ext cx="100584" cy="100584"/>
          </a:xfrm>
          <a:prstGeom prst="ellipse">
            <a:avLst/>
          </a:prstGeom>
          <a:solidFill>
            <a:srgbClr val="6A994E"/>
          </a:solidFill>
          <a:ln w="6350">
            <a:solidFill>
              <a:srgbClr val="FFFFFF"/>
            </a:solidFill>
            <a:prstDash val="solid"/>
          </a:ln>
        </p:spPr>
      </p:sp>
      <p:sp>
        <p:nvSpPr>
          <p:cNvPr id="44" name="Outer hip (hip abductors) curve"/>
          <p:cNvSpPr/>
          <p:nvPr/>
        </p:nvSpPr>
        <p:spPr>
          <a:xfrm>
            <a:off x="1497330" y="1371600"/>
            <a:ext cx="5993892" cy="2010292"/>
          </a:xfrm>
          <a:custGeom>
            <a:avLst/>
            <a:gdLst/>
            <a:ahLst/>
            <a:cxnLst/>
            <a:rect l="l" t="t" r="r" b="b"/>
            <a:pathLst>
              <a:path w="5993892" h="2010292">
                <a:moveTo>
                  <a:pt x="0" y="186382"/>
                </a:moveTo>
                <a:lnTo>
                  <a:pt x="105156" y="256693"/>
                </a:lnTo>
                <a:lnTo>
                  <a:pt x="210312" y="324700"/>
                </a:lnTo>
                <a:lnTo>
                  <a:pt x="315468" y="390476"/>
                </a:lnTo>
                <a:lnTo>
                  <a:pt x="420624" y="454096"/>
                </a:lnTo>
                <a:lnTo>
                  <a:pt x="525780" y="515631"/>
                </a:lnTo>
                <a:lnTo>
                  <a:pt x="630936" y="575148"/>
                </a:lnTo>
                <a:lnTo>
                  <a:pt x="736092" y="632714"/>
                </a:lnTo>
                <a:lnTo>
                  <a:pt x="841248" y="688393"/>
                </a:lnTo>
                <a:lnTo>
                  <a:pt x="946404" y="742246"/>
                </a:lnTo>
                <a:lnTo>
                  <a:pt x="1051560" y="794334"/>
                </a:lnTo>
                <a:lnTo>
                  <a:pt x="1156716" y="844714"/>
                </a:lnTo>
                <a:lnTo>
                  <a:pt x="1261872" y="893443"/>
                </a:lnTo>
                <a:lnTo>
                  <a:pt x="1367028" y="940574"/>
                </a:lnTo>
                <a:lnTo>
                  <a:pt x="1472184" y="986160"/>
                </a:lnTo>
                <a:lnTo>
                  <a:pt x="1577340" y="1030251"/>
                </a:lnTo>
                <a:lnTo>
                  <a:pt x="1682496" y="1072897"/>
                </a:lnTo>
                <a:lnTo>
                  <a:pt x="1787652" y="1114145"/>
                </a:lnTo>
                <a:lnTo>
                  <a:pt x="1892808" y="1154040"/>
                </a:lnTo>
                <a:lnTo>
                  <a:pt x="1997964" y="1192628"/>
                </a:lnTo>
                <a:lnTo>
                  <a:pt x="2103120" y="1229951"/>
                </a:lnTo>
                <a:lnTo>
                  <a:pt x="2208276" y="1266050"/>
                </a:lnTo>
                <a:lnTo>
                  <a:pt x="2313432" y="1300965"/>
                </a:lnTo>
                <a:lnTo>
                  <a:pt x="2418588" y="1334736"/>
                </a:lnTo>
                <a:lnTo>
                  <a:pt x="2523744" y="1367400"/>
                </a:lnTo>
                <a:lnTo>
                  <a:pt x="2628900" y="1398993"/>
                </a:lnTo>
                <a:lnTo>
                  <a:pt x="2734056" y="1429550"/>
                </a:lnTo>
                <a:lnTo>
                  <a:pt x="2839212" y="1459105"/>
                </a:lnTo>
                <a:lnTo>
                  <a:pt x="2944368" y="1487692"/>
                </a:lnTo>
                <a:lnTo>
                  <a:pt x="3049524" y="1515341"/>
                </a:lnTo>
                <a:lnTo>
                  <a:pt x="3154680" y="1542084"/>
                </a:lnTo>
                <a:lnTo>
                  <a:pt x="3259836" y="1567950"/>
                </a:lnTo>
                <a:lnTo>
                  <a:pt x="3364992" y="1592968"/>
                </a:lnTo>
                <a:lnTo>
                  <a:pt x="3470148" y="1617166"/>
                </a:lnTo>
                <a:lnTo>
                  <a:pt x="3575304" y="1640570"/>
                </a:lnTo>
                <a:lnTo>
                  <a:pt x="3680460" y="1663208"/>
                </a:lnTo>
                <a:lnTo>
                  <a:pt x="3785616" y="1685103"/>
                </a:lnTo>
                <a:lnTo>
                  <a:pt x="3890772" y="1706280"/>
                </a:lnTo>
                <a:lnTo>
                  <a:pt x="3995928" y="1726763"/>
                </a:lnTo>
                <a:lnTo>
                  <a:pt x="4101084" y="1746575"/>
                </a:lnTo>
                <a:lnTo>
                  <a:pt x="4206240" y="1765737"/>
                </a:lnTo>
                <a:lnTo>
                  <a:pt x="4311396" y="1784271"/>
                </a:lnTo>
                <a:lnTo>
                  <a:pt x="4416552" y="1802197"/>
                </a:lnTo>
                <a:lnTo>
                  <a:pt x="4521708" y="1819535"/>
                </a:lnTo>
                <a:lnTo>
                  <a:pt x="4626864" y="1836305"/>
                </a:lnTo>
                <a:lnTo>
                  <a:pt x="4732020" y="1852526"/>
                </a:lnTo>
                <a:lnTo>
                  <a:pt x="4837176" y="1868214"/>
                </a:lnTo>
                <a:lnTo>
                  <a:pt x="4942332" y="1883389"/>
                </a:lnTo>
                <a:lnTo>
                  <a:pt x="5047488" y="1898065"/>
                </a:lnTo>
                <a:lnTo>
                  <a:pt x="5152644" y="1912261"/>
                </a:lnTo>
                <a:lnTo>
                  <a:pt x="5257800" y="1925991"/>
                </a:lnTo>
                <a:lnTo>
                  <a:pt x="5362956" y="1939271"/>
                </a:lnTo>
                <a:lnTo>
                  <a:pt x="5468112" y="1952116"/>
                </a:lnTo>
                <a:lnTo>
                  <a:pt x="5573268" y="1964539"/>
                </a:lnTo>
                <a:lnTo>
                  <a:pt x="5678424" y="1976556"/>
                </a:lnTo>
                <a:lnTo>
                  <a:pt x="5783580" y="1988178"/>
                </a:lnTo>
                <a:lnTo>
                  <a:pt x="5888736" y="1999419"/>
                </a:lnTo>
                <a:lnTo>
                  <a:pt x="5993892" y="2010292"/>
                </a:lnTo>
                <a:lnTo>
                  <a:pt x="5993892" y="2010292"/>
                </a:lnTo>
              </a:path>
            </a:pathLst>
          </a:custGeom>
          <a:ln w="25400">
            <a:solidFill>
              <a:srgbClr val="7B6FC4"/>
            </a:solidFill>
            <a:prstDash val="solid"/>
          </a:ln>
        </p:spPr>
      </p:sp>
      <p:sp>
        <p:nvSpPr>
          <p:cNvPr id="45" name="Outer hip (hip abductors) at day 60"/>
          <p:cNvSpPr/>
          <p:nvPr/>
        </p:nvSpPr>
        <p:spPr>
          <a:xfrm>
            <a:off x="4338828" y="2794825"/>
            <a:ext cx="100584" cy="100584"/>
          </a:xfrm>
          <a:prstGeom prst="ellipse">
            <a:avLst/>
          </a:prstGeom>
          <a:solidFill>
            <a:srgbClr val="7B6FC4"/>
          </a:solidFill>
          <a:ln w="6350">
            <a:solidFill>
              <a:srgbClr val="FFFFFF"/>
            </a:solidFill>
            <a:prstDash val="solid"/>
          </a:ln>
        </p:spPr>
      </p:sp>
      <p:sp>
        <p:nvSpPr>
          <p:cNvPr id="46" name="Back thigh (knee flexors) curve"/>
          <p:cNvSpPr/>
          <p:nvPr/>
        </p:nvSpPr>
        <p:spPr>
          <a:xfrm>
            <a:off x="1497330" y="1371600"/>
            <a:ext cx="5993892" cy="2164930"/>
          </a:xfrm>
          <a:custGeom>
            <a:avLst/>
            <a:gdLst/>
            <a:ahLst/>
            <a:cxnLst/>
            <a:rect l="l" t="t" r="r" b="b"/>
            <a:pathLst>
              <a:path w="5993892" h="2164930">
                <a:moveTo>
                  <a:pt x="0" y="200719"/>
                </a:moveTo>
                <a:lnTo>
                  <a:pt x="105156" y="276439"/>
                </a:lnTo>
                <a:lnTo>
                  <a:pt x="210312" y="349676"/>
                </a:lnTo>
                <a:lnTo>
                  <a:pt x="315468" y="420513"/>
                </a:lnTo>
                <a:lnTo>
                  <a:pt x="420624" y="489027"/>
                </a:lnTo>
                <a:lnTo>
                  <a:pt x="525780" y="555295"/>
                </a:lnTo>
                <a:lnTo>
                  <a:pt x="630936" y="619390"/>
                </a:lnTo>
                <a:lnTo>
                  <a:pt x="736092" y="681384"/>
                </a:lnTo>
                <a:lnTo>
                  <a:pt x="841248" y="741346"/>
                </a:lnTo>
                <a:lnTo>
                  <a:pt x="946404" y="799342"/>
                </a:lnTo>
                <a:lnTo>
                  <a:pt x="1051560" y="855437"/>
                </a:lnTo>
                <a:lnTo>
                  <a:pt x="1156716" y="909692"/>
                </a:lnTo>
                <a:lnTo>
                  <a:pt x="1261872" y="962169"/>
                </a:lnTo>
                <a:lnTo>
                  <a:pt x="1367028" y="1012926"/>
                </a:lnTo>
                <a:lnTo>
                  <a:pt x="1472184" y="1062018"/>
                </a:lnTo>
                <a:lnTo>
                  <a:pt x="1577340" y="1109501"/>
                </a:lnTo>
                <a:lnTo>
                  <a:pt x="1682496" y="1155428"/>
                </a:lnTo>
                <a:lnTo>
                  <a:pt x="1787652" y="1199848"/>
                </a:lnTo>
                <a:lnTo>
                  <a:pt x="1892808" y="1242813"/>
                </a:lnTo>
                <a:lnTo>
                  <a:pt x="1997964" y="1284369"/>
                </a:lnTo>
                <a:lnTo>
                  <a:pt x="2103120" y="1324562"/>
                </a:lnTo>
                <a:lnTo>
                  <a:pt x="2208276" y="1363438"/>
                </a:lnTo>
                <a:lnTo>
                  <a:pt x="2313432" y="1401039"/>
                </a:lnTo>
                <a:lnTo>
                  <a:pt x="2418588" y="1437408"/>
                </a:lnTo>
                <a:lnTo>
                  <a:pt x="2523744" y="1472584"/>
                </a:lnTo>
                <a:lnTo>
                  <a:pt x="2628900" y="1506608"/>
                </a:lnTo>
                <a:lnTo>
                  <a:pt x="2734056" y="1539515"/>
                </a:lnTo>
                <a:lnTo>
                  <a:pt x="2839212" y="1571344"/>
                </a:lnTo>
                <a:lnTo>
                  <a:pt x="2944368" y="1602129"/>
                </a:lnTo>
                <a:lnTo>
                  <a:pt x="3049524" y="1631906"/>
                </a:lnTo>
                <a:lnTo>
                  <a:pt x="3154680" y="1660705"/>
                </a:lnTo>
                <a:lnTo>
                  <a:pt x="3259836" y="1688561"/>
                </a:lnTo>
                <a:lnTo>
                  <a:pt x="3364992" y="1715504"/>
                </a:lnTo>
                <a:lnTo>
                  <a:pt x="3470148" y="1741563"/>
                </a:lnTo>
                <a:lnTo>
                  <a:pt x="3575304" y="1766768"/>
                </a:lnTo>
                <a:lnTo>
                  <a:pt x="3680460" y="1791147"/>
                </a:lnTo>
                <a:lnTo>
                  <a:pt x="3785616" y="1814726"/>
                </a:lnTo>
                <a:lnTo>
                  <a:pt x="3890772" y="1837532"/>
                </a:lnTo>
                <a:lnTo>
                  <a:pt x="3995928" y="1859591"/>
                </a:lnTo>
                <a:lnTo>
                  <a:pt x="4101084" y="1880927"/>
                </a:lnTo>
                <a:lnTo>
                  <a:pt x="4206240" y="1901563"/>
                </a:lnTo>
                <a:lnTo>
                  <a:pt x="4311396" y="1921522"/>
                </a:lnTo>
                <a:lnTo>
                  <a:pt x="4416552" y="1940827"/>
                </a:lnTo>
                <a:lnTo>
                  <a:pt x="4521708" y="1959500"/>
                </a:lnTo>
                <a:lnTo>
                  <a:pt x="4626864" y="1977560"/>
                </a:lnTo>
                <a:lnTo>
                  <a:pt x="4732020" y="1995028"/>
                </a:lnTo>
                <a:lnTo>
                  <a:pt x="4837176" y="2011923"/>
                </a:lnTo>
                <a:lnTo>
                  <a:pt x="4942332" y="2028265"/>
                </a:lnTo>
                <a:lnTo>
                  <a:pt x="5047488" y="2044070"/>
                </a:lnTo>
                <a:lnTo>
                  <a:pt x="5152644" y="2059358"/>
                </a:lnTo>
                <a:lnTo>
                  <a:pt x="5257800" y="2074144"/>
                </a:lnTo>
                <a:lnTo>
                  <a:pt x="5362956" y="2088446"/>
                </a:lnTo>
                <a:lnTo>
                  <a:pt x="5468112" y="2102279"/>
                </a:lnTo>
                <a:lnTo>
                  <a:pt x="5573268" y="2115658"/>
                </a:lnTo>
                <a:lnTo>
                  <a:pt x="5678424" y="2128599"/>
                </a:lnTo>
                <a:lnTo>
                  <a:pt x="5783580" y="2141115"/>
                </a:lnTo>
                <a:lnTo>
                  <a:pt x="5888736" y="2153221"/>
                </a:lnTo>
                <a:lnTo>
                  <a:pt x="5993892" y="2164930"/>
                </a:lnTo>
                <a:lnTo>
                  <a:pt x="5993892" y="2164930"/>
                </a:lnTo>
              </a:path>
            </a:pathLst>
          </a:custGeom>
          <a:ln w="25400">
            <a:solidFill>
              <a:srgbClr val="4F86C6"/>
            </a:solidFill>
            <a:prstDash val="solid"/>
          </a:ln>
        </p:spPr>
      </p:sp>
      <p:sp>
        <p:nvSpPr>
          <p:cNvPr id="47" name="Back thigh (knee flexors) at day 60"/>
          <p:cNvSpPr/>
          <p:nvPr/>
        </p:nvSpPr>
        <p:spPr>
          <a:xfrm>
            <a:off x="4338828" y="2908173"/>
            <a:ext cx="100584" cy="100584"/>
          </a:xfrm>
          <a:prstGeom prst="ellipse">
            <a:avLst/>
          </a:prstGeom>
          <a:solidFill>
            <a:srgbClr val="4F86C6"/>
          </a:solidFill>
          <a:ln w="6350">
            <a:solidFill>
              <a:srgbClr val="FFFFFF"/>
            </a:solidFill>
            <a:prstDash val="solid"/>
          </a:ln>
        </p:spPr>
      </p:sp>
      <p:sp>
        <p:nvSpPr>
          <p:cNvPr id="48" name="Front thigh (knee extensors) curve"/>
          <p:cNvSpPr/>
          <p:nvPr/>
        </p:nvSpPr>
        <p:spPr>
          <a:xfrm>
            <a:off x="1497330" y="1371600"/>
            <a:ext cx="5993892" cy="2231204"/>
          </a:xfrm>
          <a:custGeom>
            <a:avLst/>
            <a:gdLst/>
            <a:ahLst/>
            <a:cxnLst/>
            <a:rect l="l" t="t" r="r" b="b"/>
            <a:pathLst>
              <a:path w="5993892" h="2231204">
                <a:moveTo>
                  <a:pt x="0" y="206864"/>
                </a:moveTo>
                <a:lnTo>
                  <a:pt x="105156" y="284901"/>
                </a:lnTo>
                <a:lnTo>
                  <a:pt x="210312" y="360381"/>
                </a:lnTo>
                <a:lnTo>
                  <a:pt x="315468" y="433386"/>
                </a:lnTo>
                <a:lnTo>
                  <a:pt x="420624" y="503997"/>
                </a:lnTo>
                <a:lnTo>
                  <a:pt x="525780" y="572294"/>
                </a:lnTo>
                <a:lnTo>
                  <a:pt x="630936" y="638351"/>
                </a:lnTo>
                <a:lnTo>
                  <a:pt x="736092" y="702243"/>
                </a:lnTo>
                <a:lnTo>
                  <a:pt x="841248" y="764040"/>
                </a:lnTo>
                <a:lnTo>
                  <a:pt x="946404" y="823812"/>
                </a:lnTo>
                <a:lnTo>
                  <a:pt x="1051560" y="881624"/>
                </a:lnTo>
                <a:lnTo>
                  <a:pt x="1156716" y="937540"/>
                </a:lnTo>
                <a:lnTo>
                  <a:pt x="1261872" y="991623"/>
                </a:lnTo>
                <a:lnTo>
                  <a:pt x="1367028" y="1043934"/>
                </a:lnTo>
                <a:lnTo>
                  <a:pt x="1472184" y="1094529"/>
                </a:lnTo>
                <a:lnTo>
                  <a:pt x="1577340" y="1143466"/>
                </a:lnTo>
                <a:lnTo>
                  <a:pt x="1682496" y="1190798"/>
                </a:lnTo>
                <a:lnTo>
                  <a:pt x="1787652" y="1236578"/>
                </a:lnTo>
                <a:lnTo>
                  <a:pt x="1892808" y="1280858"/>
                </a:lnTo>
                <a:lnTo>
                  <a:pt x="1997964" y="1323686"/>
                </a:lnTo>
                <a:lnTo>
                  <a:pt x="2103120" y="1365110"/>
                </a:lnTo>
                <a:lnTo>
                  <a:pt x="2208276" y="1405176"/>
                </a:lnTo>
                <a:lnTo>
                  <a:pt x="2313432" y="1443928"/>
                </a:lnTo>
                <a:lnTo>
                  <a:pt x="2418588" y="1481410"/>
                </a:lnTo>
                <a:lnTo>
                  <a:pt x="2523744" y="1517664"/>
                </a:lnTo>
                <a:lnTo>
                  <a:pt x="2628900" y="1552728"/>
                </a:lnTo>
                <a:lnTo>
                  <a:pt x="2734056" y="1586643"/>
                </a:lnTo>
                <a:lnTo>
                  <a:pt x="2839212" y="1619446"/>
                </a:lnTo>
                <a:lnTo>
                  <a:pt x="2944368" y="1651174"/>
                </a:lnTo>
                <a:lnTo>
                  <a:pt x="3049524" y="1681862"/>
                </a:lnTo>
                <a:lnTo>
                  <a:pt x="3154680" y="1711543"/>
                </a:lnTo>
                <a:lnTo>
                  <a:pt x="3259836" y="1740252"/>
                </a:lnTo>
                <a:lnTo>
                  <a:pt x="3364992" y="1768019"/>
                </a:lnTo>
                <a:lnTo>
                  <a:pt x="3470148" y="1794876"/>
                </a:lnTo>
                <a:lnTo>
                  <a:pt x="3575304" y="1820853"/>
                </a:lnTo>
                <a:lnTo>
                  <a:pt x="3680460" y="1845978"/>
                </a:lnTo>
                <a:lnTo>
                  <a:pt x="3785616" y="1870279"/>
                </a:lnTo>
                <a:lnTo>
                  <a:pt x="3890772" y="1893783"/>
                </a:lnTo>
                <a:lnTo>
                  <a:pt x="3995928" y="1916517"/>
                </a:lnTo>
                <a:lnTo>
                  <a:pt x="4101084" y="1938506"/>
                </a:lnTo>
                <a:lnTo>
                  <a:pt x="4206240" y="1959774"/>
                </a:lnTo>
                <a:lnTo>
                  <a:pt x="4311396" y="1980344"/>
                </a:lnTo>
                <a:lnTo>
                  <a:pt x="4416552" y="2000240"/>
                </a:lnTo>
                <a:lnTo>
                  <a:pt x="4521708" y="2019484"/>
                </a:lnTo>
                <a:lnTo>
                  <a:pt x="4626864" y="2038097"/>
                </a:lnTo>
                <a:lnTo>
                  <a:pt x="4732020" y="2056100"/>
                </a:lnTo>
                <a:lnTo>
                  <a:pt x="4837176" y="2073513"/>
                </a:lnTo>
                <a:lnTo>
                  <a:pt x="4942332" y="2090354"/>
                </a:lnTo>
                <a:lnTo>
                  <a:pt x="5047488" y="2106644"/>
                </a:lnTo>
                <a:lnTo>
                  <a:pt x="5152644" y="2122399"/>
                </a:lnTo>
                <a:lnTo>
                  <a:pt x="5257800" y="2137638"/>
                </a:lnTo>
                <a:lnTo>
                  <a:pt x="5362956" y="2152378"/>
                </a:lnTo>
                <a:lnTo>
                  <a:pt x="5468112" y="2166634"/>
                </a:lnTo>
                <a:lnTo>
                  <a:pt x="5573268" y="2180423"/>
                </a:lnTo>
                <a:lnTo>
                  <a:pt x="5678424" y="2193760"/>
                </a:lnTo>
                <a:lnTo>
                  <a:pt x="5783580" y="2206659"/>
                </a:lnTo>
                <a:lnTo>
                  <a:pt x="5888736" y="2219136"/>
                </a:lnTo>
                <a:lnTo>
                  <a:pt x="5993892" y="2231204"/>
                </a:lnTo>
                <a:lnTo>
                  <a:pt x="5993892" y="2231204"/>
                </a:lnTo>
              </a:path>
            </a:pathLst>
          </a:custGeom>
          <a:ln w="25400">
            <a:solidFill>
              <a:srgbClr val="0B2545"/>
            </a:solidFill>
            <a:prstDash val="solid"/>
          </a:ln>
        </p:spPr>
      </p:sp>
      <p:sp>
        <p:nvSpPr>
          <p:cNvPr id="49" name="Front thigh (knee extensors) at day 60"/>
          <p:cNvSpPr/>
          <p:nvPr/>
        </p:nvSpPr>
        <p:spPr>
          <a:xfrm>
            <a:off x="4338828" y="2956751"/>
            <a:ext cx="100584" cy="100584"/>
          </a:xfrm>
          <a:prstGeom prst="ellipse">
            <a:avLst/>
          </a:prstGeom>
          <a:solidFill>
            <a:srgbClr val="0B2545"/>
          </a:solidFill>
          <a:ln w="6350">
            <a:solidFill>
              <a:srgbClr val="FFFFFF"/>
            </a:solidFill>
            <a:prstDash val="solid"/>
          </a:ln>
        </p:spPr>
      </p:sp>
      <p:sp>
        <p:nvSpPr>
          <p:cNvPr id="50" name="Shin (dorsiflexors) curve"/>
          <p:cNvSpPr/>
          <p:nvPr/>
        </p:nvSpPr>
        <p:spPr>
          <a:xfrm>
            <a:off x="1497330" y="1371600"/>
            <a:ext cx="5993892" cy="2253295"/>
          </a:xfrm>
          <a:custGeom>
            <a:avLst/>
            <a:gdLst/>
            <a:ahLst/>
            <a:cxnLst/>
            <a:rect l="l" t="t" r="r" b="b"/>
            <a:pathLst>
              <a:path w="5993892" h="2253295">
                <a:moveTo>
                  <a:pt x="0" y="208912"/>
                </a:moveTo>
                <a:lnTo>
                  <a:pt x="105156" y="287722"/>
                </a:lnTo>
                <a:lnTo>
                  <a:pt x="210312" y="363949"/>
                </a:lnTo>
                <a:lnTo>
                  <a:pt x="315468" y="437677"/>
                </a:lnTo>
                <a:lnTo>
                  <a:pt x="420624" y="508987"/>
                </a:lnTo>
                <a:lnTo>
                  <a:pt x="525780" y="577960"/>
                </a:lnTo>
                <a:lnTo>
                  <a:pt x="630936" y="644672"/>
                </a:lnTo>
                <a:lnTo>
                  <a:pt x="736092" y="709196"/>
                </a:lnTo>
                <a:lnTo>
                  <a:pt x="841248" y="771605"/>
                </a:lnTo>
                <a:lnTo>
                  <a:pt x="946404" y="831968"/>
                </a:lnTo>
                <a:lnTo>
                  <a:pt x="1051560" y="890352"/>
                </a:lnTo>
                <a:lnTo>
                  <a:pt x="1156716" y="946823"/>
                </a:lnTo>
                <a:lnTo>
                  <a:pt x="1261872" y="1001441"/>
                </a:lnTo>
                <a:lnTo>
                  <a:pt x="1367028" y="1054270"/>
                </a:lnTo>
                <a:lnTo>
                  <a:pt x="1472184" y="1105366"/>
                </a:lnTo>
                <a:lnTo>
                  <a:pt x="1577340" y="1154787"/>
                </a:lnTo>
                <a:lnTo>
                  <a:pt x="1682496" y="1202588"/>
                </a:lnTo>
                <a:lnTo>
                  <a:pt x="1787652" y="1248822"/>
                </a:lnTo>
                <a:lnTo>
                  <a:pt x="1892808" y="1293540"/>
                </a:lnTo>
                <a:lnTo>
                  <a:pt x="1997964" y="1336792"/>
                </a:lnTo>
                <a:lnTo>
                  <a:pt x="2103120" y="1378626"/>
                </a:lnTo>
                <a:lnTo>
                  <a:pt x="2208276" y="1419089"/>
                </a:lnTo>
                <a:lnTo>
                  <a:pt x="2313432" y="1458225"/>
                </a:lnTo>
                <a:lnTo>
                  <a:pt x="2418588" y="1496078"/>
                </a:lnTo>
                <a:lnTo>
                  <a:pt x="2523744" y="1532690"/>
                </a:lnTo>
                <a:lnTo>
                  <a:pt x="2628900" y="1568102"/>
                </a:lnTo>
                <a:lnTo>
                  <a:pt x="2734056" y="1602353"/>
                </a:lnTo>
                <a:lnTo>
                  <a:pt x="2839212" y="1635481"/>
                </a:lnTo>
                <a:lnTo>
                  <a:pt x="2944368" y="1667522"/>
                </a:lnTo>
                <a:lnTo>
                  <a:pt x="3049524" y="1698514"/>
                </a:lnTo>
                <a:lnTo>
                  <a:pt x="3154680" y="1728489"/>
                </a:lnTo>
                <a:lnTo>
                  <a:pt x="3259836" y="1757482"/>
                </a:lnTo>
                <a:lnTo>
                  <a:pt x="3364992" y="1785524"/>
                </a:lnTo>
                <a:lnTo>
                  <a:pt x="3470148" y="1812647"/>
                </a:lnTo>
                <a:lnTo>
                  <a:pt x="3575304" y="1838881"/>
                </a:lnTo>
                <a:lnTo>
                  <a:pt x="3680460" y="1864255"/>
                </a:lnTo>
                <a:lnTo>
                  <a:pt x="3785616" y="1888796"/>
                </a:lnTo>
                <a:lnTo>
                  <a:pt x="3890772" y="1912534"/>
                </a:lnTo>
                <a:lnTo>
                  <a:pt x="3995928" y="1935493"/>
                </a:lnTo>
                <a:lnTo>
                  <a:pt x="4101084" y="1957699"/>
                </a:lnTo>
                <a:lnTo>
                  <a:pt x="4206240" y="1979177"/>
                </a:lnTo>
                <a:lnTo>
                  <a:pt x="4311396" y="1999952"/>
                </a:lnTo>
                <a:lnTo>
                  <a:pt x="4416552" y="2020045"/>
                </a:lnTo>
                <a:lnTo>
                  <a:pt x="4521708" y="2039479"/>
                </a:lnTo>
                <a:lnTo>
                  <a:pt x="4626864" y="2058276"/>
                </a:lnTo>
                <a:lnTo>
                  <a:pt x="4732020" y="2076457"/>
                </a:lnTo>
                <a:lnTo>
                  <a:pt x="4837176" y="2094042"/>
                </a:lnTo>
                <a:lnTo>
                  <a:pt x="4942332" y="2111051"/>
                </a:lnTo>
                <a:lnTo>
                  <a:pt x="5047488" y="2127502"/>
                </a:lnTo>
                <a:lnTo>
                  <a:pt x="5152644" y="2143413"/>
                </a:lnTo>
                <a:lnTo>
                  <a:pt x="5257800" y="2158803"/>
                </a:lnTo>
                <a:lnTo>
                  <a:pt x="5362956" y="2173689"/>
                </a:lnTo>
                <a:lnTo>
                  <a:pt x="5468112" y="2188086"/>
                </a:lnTo>
                <a:lnTo>
                  <a:pt x="5573268" y="2202011"/>
                </a:lnTo>
                <a:lnTo>
                  <a:pt x="5678424" y="2215480"/>
                </a:lnTo>
                <a:lnTo>
                  <a:pt x="5783580" y="2228507"/>
                </a:lnTo>
                <a:lnTo>
                  <a:pt x="5888736" y="2241108"/>
                </a:lnTo>
                <a:lnTo>
                  <a:pt x="5993892" y="2253295"/>
                </a:lnTo>
                <a:lnTo>
                  <a:pt x="5993892" y="2253295"/>
                </a:lnTo>
              </a:path>
            </a:pathLst>
          </a:custGeom>
          <a:ln w="25400">
            <a:solidFill>
              <a:srgbClr val="E0A030"/>
            </a:solidFill>
            <a:prstDash val="solid"/>
          </a:ln>
        </p:spPr>
      </p:sp>
      <p:sp>
        <p:nvSpPr>
          <p:cNvPr id="51" name="Shin (dorsiflexors) at day 60"/>
          <p:cNvSpPr/>
          <p:nvPr/>
        </p:nvSpPr>
        <p:spPr>
          <a:xfrm>
            <a:off x="4338828" y="2972943"/>
            <a:ext cx="100584" cy="100584"/>
          </a:xfrm>
          <a:prstGeom prst="ellipse">
            <a:avLst/>
          </a:prstGeom>
          <a:solidFill>
            <a:srgbClr val="E0A030"/>
          </a:solidFill>
          <a:ln w="6350">
            <a:solidFill>
              <a:srgbClr val="FFFFFF"/>
            </a:solidFill>
            <a:prstDash val="solid"/>
          </a:ln>
        </p:spPr>
      </p:sp>
      <p:sp>
        <p:nvSpPr>
          <p:cNvPr id="52" name="Calf (plantar flexors) curve"/>
          <p:cNvSpPr/>
          <p:nvPr/>
        </p:nvSpPr>
        <p:spPr>
          <a:xfrm>
            <a:off x="1497330" y="1371600"/>
            <a:ext cx="5993892" cy="3490398"/>
          </a:xfrm>
          <a:custGeom>
            <a:avLst/>
            <a:gdLst/>
            <a:ahLst/>
            <a:cxnLst/>
            <a:rect l="l" t="t" r="r" b="b"/>
            <a:pathLst>
              <a:path w="5993892" h="3490398">
                <a:moveTo>
                  <a:pt x="0" y="323608"/>
                </a:moveTo>
                <a:lnTo>
                  <a:pt x="105156" y="445687"/>
                </a:lnTo>
                <a:lnTo>
                  <a:pt x="210312" y="563764"/>
                </a:lnTo>
                <a:lnTo>
                  <a:pt x="315468" y="677970"/>
                </a:lnTo>
                <a:lnTo>
                  <a:pt x="420624" y="788431"/>
                </a:lnTo>
                <a:lnTo>
                  <a:pt x="525780" y="895271"/>
                </a:lnTo>
                <a:lnTo>
                  <a:pt x="630936" y="998609"/>
                </a:lnTo>
                <a:lnTo>
                  <a:pt x="736092" y="1098559"/>
                </a:lnTo>
                <a:lnTo>
                  <a:pt x="841248" y="1195232"/>
                </a:lnTo>
                <a:lnTo>
                  <a:pt x="946404" y="1288735"/>
                </a:lnTo>
                <a:lnTo>
                  <a:pt x="1051560" y="1379173"/>
                </a:lnTo>
                <a:lnTo>
                  <a:pt x="1156716" y="1466647"/>
                </a:lnTo>
                <a:lnTo>
                  <a:pt x="1261872" y="1551252"/>
                </a:lnTo>
                <a:lnTo>
                  <a:pt x="1367028" y="1633084"/>
                </a:lnTo>
                <a:lnTo>
                  <a:pt x="1472184" y="1712233"/>
                </a:lnTo>
                <a:lnTo>
                  <a:pt x="1577340" y="1788788"/>
                </a:lnTo>
                <a:lnTo>
                  <a:pt x="1682496" y="1862832"/>
                </a:lnTo>
                <a:lnTo>
                  <a:pt x="1787652" y="1934449"/>
                </a:lnTo>
                <a:lnTo>
                  <a:pt x="1892808" y="2003719"/>
                </a:lnTo>
                <a:lnTo>
                  <a:pt x="1997964" y="2070717"/>
                </a:lnTo>
                <a:lnTo>
                  <a:pt x="2103120" y="2135519"/>
                </a:lnTo>
                <a:lnTo>
                  <a:pt x="2208276" y="2198196"/>
                </a:lnTo>
                <a:lnTo>
                  <a:pt x="2313432" y="2258819"/>
                </a:lnTo>
                <a:lnTo>
                  <a:pt x="2418588" y="2317454"/>
                </a:lnTo>
                <a:lnTo>
                  <a:pt x="2523744" y="2374167"/>
                </a:lnTo>
                <a:lnTo>
                  <a:pt x="2628900" y="2429020"/>
                </a:lnTo>
                <a:lnTo>
                  <a:pt x="2734056" y="2482076"/>
                </a:lnTo>
                <a:lnTo>
                  <a:pt x="2839212" y="2533391"/>
                </a:lnTo>
                <a:lnTo>
                  <a:pt x="2944368" y="2583025"/>
                </a:lnTo>
                <a:lnTo>
                  <a:pt x="3049524" y="2631031"/>
                </a:lnTo>
                <a:lnTo>
                  <a:pt x="3154680" y="2677464"/>
                </a:lnTo>
                <a:lnTo>
                  <a:pt x="3259836" y="2722374"/>
                </a:lnTo>
                <a:lnTo>
                  <a:pt x="3364992" y="2765812"/>
                </a:lnTo>
                <a:lnTo>
                  <a:pt x="3470148" y="2807826"/>
                </a:lnTo>
                <a:lnTo>
                  <a:pt x="3575304" y="2848463"/>
                </a:lnTo>
                <a:lnTo>
                  <a:pt x="3680460" y="2887767"/>
                </a:lnTo>
                <a:lnTo>
                  <a:pt x="3785616" y="2925783"/>
                </a:lnTo>
                <a:lnTo>
                  <a:pt x="3890772" y="2962552"/>
                </a:lnTo>
                <a:lnTo>
                  <a:pt x="3995928" y="2998116"/>
                </a:lnTo>
                <a:lnTo>
                  <a:pt x="4101084" y="3032514"/>
                </a:lnTo>
                <a:lnTo>
                  <a:pt x="4206240" y="3065785"/>
                </a:lnTo>
                <a:lnTo>
                  <a:pt x="4311396" y="3097964"/>
                </a:lnTo>
                <a:lnTo>
                  <a:pt x="4416552" y="3129089"/>
                </a:lnTo>
                <a:lnTo>
                  <a:pt x="4521708" y="3159193"/>
                </a:lnTo>
                <a:lnTo>
                  <a:pt x="4626864" y="3188310"/>
                </a:lnTo>
                <a:lnTo>
                  <a:pt x="4732020" y="3216473"/>
                </a:lnTo>
                <a:lnTo>
                  <a:pt x="4837176" y="3243713"/>
                </a:lnTo>
                <a:lnTo>
                  <a:pt x="4942332" y="3270059"/>
                </a:lnTo>
                <a:lnTo>
                  <a:pt x="5047488" y="3295542"/>
                </a:lnTo>
                <a:lnTo>
                  <a:pt x="5152644" y="3320189"/>
                </a:lnTo>
                <a:lnTo>
                  <a:pt x="5257800" y="3344028"/>
                </a:lnTo>
                <a:lnTo>
                  <a:pt x="5362956" y="3367086"/>
                </a:lnTo>
                <a:lnTo>
                  <a:pt x="5468112" y="3389388"/>
                </a:lnTo>
                <a:lnTo>
                  <a:pt x="5573268" y="3410959"/>
                </a:lnTo>
                <a:lnTo>
                  <a:pt x="5678424" y="3431822"/>
                </a:lnTo>
                <a:lnTo>
                  <a:pt x="5783580" y="3452002"/>
                </a:lnTo>
                <a:lnTo>
                  <a:pt x="5888736" y="3471520"/>
                </a:lnTo>
                <a:lnTo>
                  <a:pt x="5993892" y="3490398"/>
                </a:lnTo>
                <a:lnTo>
                  <a:pt x="5993892" y="3490398"/>
                </a:lnTo>
              </a:path>
            </a:pathLst>
          </a:custGeom>
          <a:ln w="38100">
            <a:solidFill>
              <a:srgbClr val="C1440E"/>
            </a:solidFill>
            <a:prstDash val="solid"/>
          </a:ln>
        </p:spPr>
      </p:sp>
      <p:sp>
        <p:nvSpPr>
          <p:cNvPr id="53" name="Calf (plantar flexors) at day 60"/>
          <p:cNvSpPr/>
          <p:nvPr/>
        </p:nvSpPr>
        <p:spPr>
          <a:xfrm>
            <a:off x="4338828" y="3879723"/>
            <a:ext cx="100584" cy="100584"/>
          </a:xfrm>
          <a:prstGeom prst="ellipse">
            <a:avLst/>
          </a:prstGeom>
          <a:solidFill>
            <a:srgbClr val="C1440E"/>
          </a:solidFill>
          <a:ln w="6350">
            <a:solidFill>
              <a:srgbClr val="FFFFFF"/>
            </a:solidFill>
            <a:prstDash val="solid"/>
          </a:ln>
        </p:spPr>
      </p:sp>
      <p:sp>
        <p:nvSpPr>
          <p:cNvPr id="54" name="Text 50"/>
          <p:cNvSpPr txBox="1"/>
          <p:nvPr/>
        </p:nvSpPr>
        <p:spPr>
          <a:xfrm>
            <a:off x="10698480" y="987552"/>
            <a:ext cx="932688" cy="228600"/>
          </a:xfrm>
          <a:prstGeom prst="rect">
            <a:avLst/>
          </a:prstGeom>
          <a:noFill/>
          <a:ln/>
        </p:spPr>
        <p:txBody>
          <a:bodyPr wrap="square" lIns="0" tIns="0" rIns="0" bIns="0" rtlCol="0" anchor="t"/>
          <a:lstStyle/>
          <a:p>
            <a:pPr algn="r" indent="0" marL="0">
              <a:buNone/>
            </a:pPr>
            <a:r>
              <a:rPr lang="en-US" sz="1050" b="1" dirty="0">
                <a:solidFill>
                  <a:schemeClr val="accent3"/>
                </a:solidFill>
              </a:rPr>
              <a:t>At day 60</a:t>
            </a:r>
            <a:endParaRPr lang="en-US" sz="1050" dirty="0"/>
          </a:p>
        </p:txBody>
      </p:sp>
      <p:sp>
        <p:nvSpPr>
          <p:cNvPr id="55" name="Deep hip rotators leader"/>
          <p:cNvSpPr/>
          <p:nvPr/>
        </p:nvSpPr>
        <p:spPr>
          <a:xfrm flipV="1">
            <a:off x="7518654" y="1508760"/>
            <a:ext cx="646938" cy="282571"/>
          </a:xfrm>
          <a:prstGeom prst="line">
            <a:avLst/>
          </a:prstGeom>
          <a:noFill/>
          <a:ln w="9525">
            <a:solidFill>
              <a:srgbClr val="9AA5B1"/>
            </a:solidFill>
            <a:prstDash val="solid"/>
          </a:ln>
        </p:spPr>
      </p:sp>
      <p:pic>
        <p:nvPicPr>
          <p:cNvPr id="56" name="Image 2" descr="Deep hip rotators (highlighted on a leg outline)">    </p:cNvPr>
          <p:cNvPicPr>
            <a:picLocks noChangeAspect="1"/>
          </p:cNvPicPr>
          <p:nvPr/>
        </p:nvPicPr>
        <p:blipFill>
          <a:blip r:embed="rId3"/>
          <a:stretch>
            <a:fillRect/>
          </a:stretch>
        </p:blipFill>
        <p:spPr>
          <a:xfrm>
            <a:off x="8229600" y="1280160"/>
            <a:ext cx="304800" cy="457200"/>
          </a:xfrm>
          <a:prstGeom prst="rect">
            <a:avLst/>
          </a:prstGeom>
        </p:spPr>
      </p:pic>
      <p:sp>
        <p:nvSpPr>
          <p:cNvPr id="57" name="Text 52"/>
          <p:cNvSpPr txBox="1"/>
          <p:nvPr/>
        </p:nvSpPr>
        <p:spPr>
          <a:xfrm>
            <a:off x="8613648" y="1261872"/>
            <a:ext cx="2286000" cy="493776"/>
          </a:xfrm>
          <a:prstGeom prst="rect">
            <a:avLst/>
          </a:prstGeom>
          <a:noFill/>
          <a:ln/>
        </p:spPr>
        <p:txBody>
          <a:bodyPr wrap="square" lIns="0" tIns="0" rIns="0" bIns="0" rtlCol="0" anchor="ctr"/>
          <a:lstStyle/>
          <a:p>
            <a:pPr indent="0" marL="0">
              <a:buNone/>
            </a:pPr>
            <a:r>
              <a:rPr lang="en-US" sz="1200" dirty="0">
                <a:solidFill>
                  <a:schemeClr val="tx1"/>
                </a:solidFill>
              </a:rPr>
              <a:t>Deep hip rotators</a:t>
            </a:r>
            <a:endParaRPr lang="en-US" sz="1200" dirty="0"/>
          </a:p>
        </p:txBody>
      </p:sp>
      <p:sp>
        <p:nvSpPr>
          <p:cNvPr id="58" name="Text 53"/>
          <p:cNvSpPr txBox="1"/>
          <p:nvPr/>
        </p:nvSpPr>
        <p:spPr>
          <a:xfrm>
            <a:off x="10881360" y="1261872"/>
            <a:ext cx="749808" cy="493776"/>
          </a:xfrm>
          <a:prstGeom prst="rect">
            <a:avLst/>
          </a:prstGeom>
          <a:noFill/>
          <a:ln/>
        </p:spPr>
        <p:txBody>
          <a:bodyPr wrap="square" lIns="0" tIns="0" rIns="0" bIns="0" rtlCol="0" anchor="ctr"/>
          <a:lstStyle/>
          <a:p>
            <a:pPr algn="r" indent="0" marL="0">
              <a:buNone/>
            </a:pPr>
            <a:r>
              <a:rPr lang="en-US" sz="1300" b="1" dirty="0">
                <a:solidFill>
                  <a:srgbClr val="9AA5B1"/>
                </a:solidFill>
              </a:rPr>
              <a:t>−1.9%</a:t>
            </a:r>
            <a:endParaRPr lang="en-US" sz="1300" dirty="0"/>
          </a:p>
        </p:txBody>
      </p:sp>
      <p:sp>
        <p:nvSpPr>
          <p:cNvPr id="59" name="Inner thigh (hip adductors) leader"/>
          <p:cNvSpPr/>
          <p:nvPr/>
        </p:nvSpPr>
        <p:spPr>
          <a:xfrm flipV="1">
            <a:off x="7518654" y="2002536"/>
            <a:ext cx="646938" cy="561985"/>
          </a:xfrm>
          <a:prstGeom prst="line">
            <a:avLst/>
          </a:prstGeom>
          <a:noFill/>
          <a:ln w="9525">
            <a:solidFill>
              <a:srgbClr val="3A9CA6"/>
            </a:solidFill>
            <a:prstDash val="solid"/>
          </a:ln>
        </p:spPr>
      </p:sp>
      <p:pic>
        <p:nvPicPr>
          <p:cNvPr id="60" name="Image 3" descr="Inner thigh (hip adductors) (highlighted on a leg outline)">    </p:cNvPr>
          <p:cNvPicPr>
            <a:picLocks noChangeAspect="1"/>
          </p:cNvPicPr>
          <p:nvPr/>
        </p:nvPicPr>
        <p:blipFill>
          <a:blip r:embed="rId4"/>
          <a:stretch>
            <a:fillRect/>
          </a:stretch>
        </p:blipFill>
        <p:spPr>
          <a:xfrm>
            <a:off x="8229600" y="1773936"/>
            <a:ext cx="304800" cy="457200"/>
          </a:xfrm>
          <a:prstGeom prst="rect">
            <a:avLst/>
          </a:prstGeom>
        </p:spPr>
      </p:pic>
      <p:sp>
        <p:nvSpPr>
          <p:cNvPr id="61" name="Text 55"/>
          <p:cNvSpPr txBox="1"/>
          <p:nvPr/>
        </p:nvSpPr>
        <p:spPr>
          <a:xfrm>
            <a:off x="8613648" y="1755648"/>
            <a:ext cx="2286000" cy="493776"/>
          </a:xfrm>
          <a:prstGeom prst="rect">
            <a:avLst/>
          </a:prstGeom>
          <a:noFill/>
          <a:ln/>
        </p:spPr>
        <p:txBody>
          <a:bodyPr wrap="square" lIns="0" tIns="0" rIns="0" bIns="0" rtlCol="0" anchor="ctr"/>
          <a:lstStyle/>
          <a:p>
            <a:pPr indent="0" marL="0">
              <a:buNone/>
            </a:pPr>
            <a:r>
              <a:rPr lang="en-US" sz="1200" dirty="0">
                <a:solidFill>
                  <a:schemeClr val="tx1"/>
                </a:solidFill>
              </a:rPr>
              <a:t>Inner thigh (hip adductors)</a:t>
            </a:r>
            <a:endParaRPr lang="en-US" sz="1200" dirty="0"/>
          </a:p>
        </p:txBody>
      </p:sp>
      <p:sp>
        <p:nvSpPr>
          <p:cNvPr id="62" name="Text 56"/>
          <p:cNvSpPr txBox="1"/>
          <p:nvPr/>
        </p:nvSpPr>
        <p:spPr>
          <a:xfrm>
            <a:off x="10881360" y="1755648"/>
            <a:ext cx="749808" cy="493776"/>
          </a:xfrm>
          <a:prstGeom prst="rect">
            <a:avLst/>
          </a:prstGeom>
          <a:noFill/>
          <a:ln/>
        </p:spPr>
        <p:txBody>
          <a:bodyPr wrap="square" lIns="0" tIns="0" rIns="0" bIns="0" rtlCol="0" anchor="ctr"/>
          <a:lstStyle/>
          <a:p>
            <a:pPr algn="r" indent="0" marL="0">
              <a:buNone/>
            </a:pPr>
            <a:r>
              <a:rPr lang="en-US" sz="1300" b="1" dirty="0">
                <a:solidFill>
                  <a:srgbClr val="3A9CA6"/>
                </a:solidFill>
              </a:rPr>
              <a:t>−5.4%</a:t>
            </a:r>
            <a:endParaRPr lang="en-US" sz="1300" dirty="0"/>
          </a:p>
        </p:txBody>
      </p:sp>
      <p:sp>
        <p:nvSpPr>
          <p:cNvPr id="63" name="Glutes (hip extensors) leader"/>
          <p:cNvSpPr/>
          <p:nvPr/>
        </p:nvSpPr>
        <p:spPr>
          <a:xfrm flipV="1">
            <a:off x="7518654" y="2496312"/>
            <a:ext cx="646938" cy="222847"/>
          </a:xfrm>
          <a:prstGeom prst="line">
            <a:avLst/>
          </a:prstGeom>
          <a:noFill/>
          <a:ln w="9525">
            <a:solidFill>
              <a:srgbClr val="9C6B98"/>
            </a:solidFill>
            <a:prstDash val="solid"/>
          </a:ln>
        </p:spPr>
      </p:sp>
      <p:pic>
        <p:nvPicPr>
          <p:cNvPr id="64" name="Image 4" descr="Glutes (hip extensors) (highlighted on a leg outline)">    </p:cNvPr>
          <p:cNvPicPr>
            <a:picLocks noChangeAspect="1"/>
          </p:cNvPicPr>
          <p:nvPr/>
        </p:nvPicPr>
        <p:blipFill>
          <a:blip r:embed="rId5"/>
          <a:stretch>
            <a:fillRect/>
          </a:stretch>
        </p:blipFill>
        <p:spPr>
          <a:xfrm>
            <a:off x="8229600" y="2267712"/>
            <a:ext cx="304800" cy="457200"/>
          </a:xfrm>
          <a:prstGeom prst="rect">
            <a:avLst/>
          </a:prstGeom>
        </p:spPr>
      </p:pic>
      <p:sp>
        <p:nvSpPr>
          <p:cNvPr id="65" name="Text 58"/>
          <p:cNvSpPr txBox="1"/>
          <p:nvPr/>
        </p:nvSpPr>
        <p:spPr>
          <a:xfrm>
            <a:off x="8613648" y="2249424"/>
            <a:ext cx="2286000" cy="493776"/>
          </a:xfrm>
          <a:prstGeom prst="rect">
            <a:avLst/>
          </a:prstGeom>
          <a:noFill/>
          <a:ln/>
        </p:spPr>
        <p:txBody>
          <a:bodyPr wrap="square" lIns="0" tIns="0" rIns="0" bIns="0" rtlCol="0" anchor="ctr"/>
          <a:lstStyle/>
          <a:p>
            <a:pPr indent="0" marL="0">
              <a:buNone/>
            </a:pPr>
            <a:r>
              <a:rPr lang="en-US" sz="1200" dirty="0">
                <a:solidFill>
                  <a:schemeClr val="tx1"/>
                </a:solidFill>
              </a:rPr>
              <a:t>Glutes (hip extensors)</a:t>
            </a:r>
            <a:endParaRPr lang="en-US" sz="1200" dirty="0"/>
          </a:p>
        </p:txBody>
      </p:sp>
      <p:sp>
        <p:nvSpPr>
          <p:cNvPr id="66" name="Text 59"/>
          <p:cNvSpPr txBox="1"/>
          <p:nvPr/>
        </p:nvSpPr>
        <p:spPr>
          <a:xfrm>
            <a:off x="10881360" y="2249424"/>
            <a:ext cx="749808" cy="493776"/>
          </a:xfrm>
          <a:prstGeom prst="rect">
            <a:avLst/>
          </a:prstGeom>
          <a:noFill/>
          <a:ln/>
        </p:spPr>
        <p:txBody>
          <a:bodyPr wrap="square" lIns="0" tIns="0" rIns="0" bIns="0" rtlCol="0" anchor="ctr"/>
          <a:lstStyle/>
          <a:p>
            <a:pPr algn="r" indent="0" marL="0">
              <a:buNone/>
            </a:pPr>
            <a:r>
              <a:rPr lang="en-US" sz="1300" b="1" dirty="0">
                <a:solidFill>
                  <a:srgbClr val="9C6B98"/>
                </a:solidFill>
              </a:rPr>
              <a:t>−6.1%</a:t>
            </a:r>
            <a:endParaRPr lang="en-US" sz="1300" dirty="0"/>
          </a:p>
        </p:txBody>
      </p:sp>
      <p:sp>
        <p:nvSpPr>
          <p:cNvPr id="67" name="Hip flexors leader"/>
          <p:cNvSpPr/>
          <p:nvPr/>
        </p:nvSpPr>
        <p:spPr>
          <a:xfrm>
            <a:off x="7518654" y="2873796"/>
            <a:ext cx="646938" cy="116292"/>
          </a:xfrm>
          <a:prstGeom prst="line">
            <a:avLst/>
          </a:prstGeom>
          <a:noFill/>
          <a:ln w="9525">
            <a:solidFill>
              <a:srgbClr val="6A994E"/>
            </a:solidFill>
            <a:prstDash val="solid"/>
          </a:ln>
        </p:spPr>
      </p:sp>
      <p:pic>
        <p:nvPicPr>
          <p:cNvPr id="68" name="Image 5" descr="Hip flexors (highlighted on a leg outline)">    </p:cNvPr>
          <p:cNvPicPr>
            <a:picLocks noChangeAspect="1"/>
          </p:cNvPicPr>
          <p:nvPr/>
        </p:nvPicPr>
        <p:blipFill>
          <a:blip r:embed="rId6"/>
          <a:stretch>
            <a:fillRect/>
          </a:stretch>
        </p:blipFill>
        <p:spPr>
          <a:xfrm>
            <a:off x="8229600" y="2761488"/>
            <a:ext cx="304800" cy="457200"/>
          </a:xfrm>
          <a:prstGeom prst="rect">
            <a:avLst/>
          </a:prstGeom>
        </p:spPr>
      </p:pic>
      <p:sp>
        <p:nvSpPr>
          <p:cNvPr id="69" name="Text 61"/>
          <p:cNvSpPr txBox="1"/>
          <p:nvPr/>
        </p:nvSpPr>
        <p:spPr>
          <a:xfrm>
            <a:off x="8613648" y="2743200"/>
            <a:ext cx="2286000" cy="493776"/>
          </a:xfrm>
          <a:prstGeom prst="rect">
            <a:avLst/>
          </a:prstGeom>
          <a:noFill/>
          <a:ln/>
        </p:spPr>
        <p:txBody>
          <a:bodyPr wrap="square" lIns="0" tIns="0" rIns="0" bIns="0" rtlCol="0" anchor="ctr"/>
          <a:lstStyle/>
          <a:p>
            <a:pPr indent="0" marL="0">
              <a:buNone/>
            </a:pPr>
            <a:r>
              <a:rPr lang="en-US" sz="1200" dirty="0">
                <a:solidFill>
                  <a:schemeClr val="tx1"/>
                </a:solidFill>
              </a:rPr>
              <a:t>Hip flexors</a:t>
            </a:r>
            <a:endParaRPr lang="en-US" sz="1200" dirty="0"/>
          </a:p>
        </p:txBody>
      </p:sp>
      <p:sp>
        <p:nvSpPr>
          <p:cNvPr id="70" name="Text 62"/>
          <p:cNvSpPr txBox="1"/>
          <p:nvPr/>
        </p:nvSpPr>
        <p:spPr>
          <a:xfrm>
            <a:off x="10881360" y="2743200"/>
            <a:ext cx="749808" cy="493776"/>
          </a:xfrm>
          <a:prstGeom prst="rect">
            <a:avLst/>
          </a:prstGeom>
          <a:noFill/>
          <a:ln/>
        </p:spPr>
        <p:txBody>
          <a:bodyPr wrap="square" lIns="0" tIns="0" rIns="0" bIns="0" rtlCol="0" anchor="ctr"/>
          <a:lstStyle/>
          <a:p>
            <a:pPr algn="r" indent="0" marL="0">
              <a:buNone/>
            </a:pPr>
            <a:r>
              <a:rPr lang="en-US" sz="1300" b="1" dirty="0">
                <a:solidFill>
                  <a:srgbClr val="6A994E"/>
                </a:solidFill>
              </a:rPr>
              <a:t>−6.8%</a:t>
            </a:r>
            <a:endParaRPr lang="en-US" sz="1300" dirty="0"/>
          </a:p>
        </p:txBody>
      </p:sp>
      <p:sp>
        <p:nvSpPr>
          <p:cNvPr id="71" name="Outer hip (hip abductors) leader"/>
          <p:cNvSpPr/>
          <p:nvPr/>
        </p:nvSpPr>
        <p:spPr>
          <a:xfrm>
            <a:off x="7518654" y="3381892"/>
            <a:ext cx="646938" cy="101972"/>
          </a:xfrm>
          <a:prstGeom prst="line">
            <a:avLst/>
          </a:prstGeom>
          <a:noFill/>
          <a:ln w="9525">
            <a:solidFill>
              <a:srgbClr val="7B6FC4"/>
            </a:solidFill>
            <a:prstDash val="solid"/>
          </a:ln>
        </p:spPr>
      </p:sp>
      <p:pic>
        <p:nvPicPr>
          <p:cNvPr id="72" name="Image 6" descr="Outer hip (hip abductors) (highlighted on a leg outline)">    </p:cNvPr>
          <p:cNvPicPr>
            <a:picLocks noChangeAspect="1"/>
          </p:cNvPicPr>
          <p:nvPr/>
        </p:nvPicPr>
        <p:blipFill>
          <a:blip r:embed="rId7"/>
          <a:stretch>
            <a:fillRect/>
          </a:stretch>
        </p:blipFill>
        <p:spPr>
          <a:xfrm>
            <a:off x="8229600" y="3255264"/>
            <a:ext cx="304800" cy="457200"/>
          </a:xfrm>
          <a:prstGeom prst="rect">
            <a:avLst/>
          </a:prstGeom>
        </p:spPr>
      </p:pic>
      <p:sp>
        <p:nvSpPr>
          <p:cNvPr id="73" name="Text 64"/>
          <p:cNvSpPr txBox="1"/>
          <p:nvPr/>
        </p:nvSpPr>
        <p:spPr>
          <a:xfrm>
            <a:off x="8613648" y="3236976"/>
            <a:ext cx="2286000" cy="493776"/>
          </a:xfrm>
          <a:prstGeom prst="rect">
            <a:avLst/>
          </a:prstGeom>
          <a:noFill/>
          <a:ln/>
        </p:spPr>
        <p:txBody>
          <a:bodyPr wrap="square" lIns="0" tIns="0" rIns="0" bIns="0" rtlCol="0" anchor="ctr"/>
          <a:lstStyle/>
          <a:p>
            <a:pPr indent="0" marL="0">
              <a:buNone/>
            </a:pPr>
            <a:r>
              <a:rPr lang="en-US" sz="1200" dirty="0">
                <a:solidFill>
                  <a:schemeClr val="tx1"/>
                </a:solidFill>
              </a:rPr>
              <a:t>Outer hip (hip abductors)</a:t>
            </a:r>
            <a:endParaRPr lang="en-US" sz="1200" dirty="0"/>
          </a:p>
        </p:txBody>
      </p:sp>
      <p:sp>
        <p:nvSpPr>
          <p:cNvPr id="74" name="Text 65"/>
          <p:cNvSpPr txBox="1"/>
          <p:nvPr/>
        </p:nvSpPr>
        <p:spPr>
          <a:xfrm>
            <a:off x="10881360" y="3236976"/>
            <a:ext cx="749808" cy="493776"/>
          </a:xfrm>
          <a:prstGeom prst="rect">
            <a:avLst/>
          </a:prstGeom>
          <a:noFill/>
          <a:ln/>
        </p:spPr>
        <p:txBody>
          <a:bodyPr wrap="square" lIns="0" tIns="0" rIns="0" bIns="0" rtlCol="0" anchor="ctr"/>
          <a:lstStyle/>
          <a:p>
            <a:pPr algn="r" indent="0" marL="0">
              <a:buNone/>
            </a:pPr>
            <a:r>
              <a:rPr lang="en-US" sz="1300" b="1" dirty="0">
                <a:solidFill>
                  <a:srgbClr val="7B6FC4"/>
                </a:solidFill>
              </a:rPr>
              <a:t>−9.1%</a:t>
            </a:r>
            <a:endParaRPr lang="en-US" sz="1300" dirty="0"/>
          </a:p>
        </p:txBody>
      </p:sp>
      <p:sp>
        <p:nvSpPr>
          <p:cNvPr id="75" name="Back thigh (knee flexors) leader"/>
          <p:cNvSpPr/>
          <p:nvPr/>
        </p:nvSpPr>
        <p:spPr>
          <a:xfrm>
            <a:off x="7518654" y="3536530"/>
            <a:ext cx="646938" cy="441110"/>
          </a:xfrm>
          <a:prstGeom prst="line">
            <a:avLst/>
          </a:prstGeom>
          <a:noFill/>
          <a:ln w="9525">
            <a:solidFill>
              <a:srgbClr val="4F86C6"/>
            </a:solidFill>
            <a:prstDash val="solid"/>
          </a:ln>
        </p:spPr>
      </p:sp>
      <p:pic>
        <p:nvPicPr>
          <p:cNvPr id="76" name="Image 7" descr="Back thigh (knee flexors) (highlighted on a leg outline)">    </p:cNvPr>
          <p:cNvPicPr>
            <a:picLocks noChangeAspect="1"/>
          </p:cNvPicPr>
          <p:nvPr/>
        </p:nvPicPr>
        <p:blipFill>
          <a:blip r:embed="rId8"/>
          <a:stretch>
            <a:fillRect/>
          </a:stretch>
        </p:blipFill>
        <p:spPr>
          <a:xfrm>
            <a:off x="8229600" y="3749040"/>
            <a:ext cx="304800" cy="457200"/>
          </a:xfrm>
          <a:prstGeom prst="rect">
            <a:avLst/>
          </a:prstGeom>
        </p:spPr>
      </p:pic>
      <p:sp>
        <p:nvSpPr>
          <p:cNvPr id="77" name="Text 67"/>
          <p:cNvSpPr txBox="1"/>
          <p:nvPr/>
        </p:nvSpPr>
        <p:spPr>
          <a:xfrm>
            <a:off x="8613648" y="3730752"/>
            <a:ext cx="2286000" cy="493776"/>
          </a:xfrm>
          <a:prstGeom prst="rect">
            <a:avLst/>
          </a:prstGeom>
          <a:noFill/>
          <a:ln/>
        </p:spPr>
        <p:txBody>
          <a:bodyPr wrap="square" lIns="0" tIns="0" rIns="0" bIns="0" rtlCol="0" anchor="ctr"/>
          <a:lstStyle/>
          <a:p>
            <a:pPr indent="0" marL="0">
              <a:buNone/>
            </a:pPr>
            <a:r>
              <a:rPr lang="en-US" sz="1200" dirty="0">
                <a:solidFill>
                  <a:schemeClr val="tx1"/>
                </a:solidFill>
              </a:rPr>
              <a:t>Back thigh (knee flexors)</a:t>
            </a:r>
            <a:endParaRPr lang="en-US" sz="1200" dirty="0"/>
          </a:p>
        </p:txBody>
      </p:sp>
      <p:sp>
        <p:nvSpPr>
          <p:cNvPr id="78" name="Text 68"/>
          <p:cNvSpPr txBox="1"/>
          <p:nvPr/>
        </p:nvSpPr>
        <p:spPr>
          <a:xfrm>
            <a:off x="10881360" y="3730752"/>
            <a:ext cx="749808" cy="493776"/>
          </a:xfrm>
          <a:prstGeom prst="rect">
            <a:avLst/>
          </a:prstGeom>
          <a:noFill/>
          <a:ln/>
        </p:spPr>
        <p:txBody>
          <a:bodyPr wrap="square" lIns="0" tIns="0" rIns="0" bIns="0" rtlCol="0" anchor="ctr"/>
          <a:lstStyle/>
          <a:p>
            <a:pPr algn="r" indent="0" marL="0">
              <a:buNone/>
            </a:pPr>
            <a:r>
              <a:rPr lang="en-US" sz="1300" b="1" dirty="0">
                <a:solidFill>
                  <a:srgbClr val="4F86C6"/>
                </a:solidFill>
              </a:rPr>
              <a:t>−9.8%</a:t>
            </a:r>
            <a:endParaRPr lang="en-US" sz="1300" dirty="0"/>
          </a:p>
        </p:txBody>
      </p:sp>
      <p:sp>
        <p:nvSpPr>
          <p:cNvPr id="79" name="Front thigh (knee extensors) leader"/>
          <p:cNvSpPr/>
          <p:nvPr/>
        </p:nvSpPr>
        <p:spPr>
          <a:xfrm>
            <a:off x="7518654" y="3602804"/>
            <a:ext cx="646938" cy="868612"/>
          </a:xfrm>
          <a:prstGeom prst="line">
            <a:avLst/>
          </a:prstGeom>
          <a:noFill/>
          <a:ln w="9525">
            <a:solidFill>
              <a:srgbClr val="0B2545"/>
            </a:solidFill>
            <a:prstDash val="solid"/>
          </a:ln>
        </p:spPr>
      </p:sp>
      <p:pic>
        <p:nvPicPr>
          <p:cNvPr id="80" name="Image 8" descr="Front thigh (knee extensors) (highlighted on a leg outline)">    </p:cNvPr>
          <p:cNvPicPr>
            <a:picLocks noChangeAspect="1"/>
          </p:cNvPicPr>
          <p:nvPr/>
        </p:nvPicPr>
        <p:blipFill>
          <a:blip r:embed="rId9"/>
          <a:stretch>
            <a:fillRect/>
          </a:stretch>
        </p:blipFill>
        <p:spPr>
          <a:xfrm>
            <a:off x="8229600" y="4242816"/>
            <a:ext cx="304800" cy="457200"/>
          </a:xfrm>
          <a:prstGeom prst="rect">
            <a:avLst/>
          </a:prstGeom>
        </p:spPr>
      </p:pic>
      <p:sp>
        <p:nvSpPr>
          <p:cNvPr id="81" name="Text 70"/>
          <p:cNvSpPr txBox="1"/>
          <p:nvPr/>
        </p:nvSpPr>
        <p:spPr>
          <a:xfrm>
            <a:off x="8613648" y="4224528"/>
            <a:ext cx="2286000" cy="493776"/>
          </a:xfrm>
          <a:prstGeom prst="rect">
            <a:avLst/>
          </a:prstGeom>
          <a:noFill/>
          <a:ln/>
        </p:spPr>
        <p:txBody>
          <a:bodyPr wrap="square" lIns="0" tIns="0" rIns="0" bIns="0" rtlCol="0" anchor="ctr"/>
          <a:lstStyle/>
          <a:p>
            <a:pPr indent="0" marL="0">
              <a:buNone/>
            </a:pPr>
            <a:r>
              <a:rPr lang="en-US" sz="1200" dirty="0">
                <a:solidFill>
                  <a:schemeClr val="tx1"/>
                </a:solidFill>
              </a:rPr>
              <a:t>Front thigh (knee extensors)</a:t>
            </a:r>
            <a:endParaRPr lang="en-US" sz="1200" dirty="0"/>
          </a:p>
        </p:txBody>
      </p:sp>
      <p:sp>
        <p:nvSpPr>
          <p:cNvPr id="82" name="Text 71"/>
          <p:cNvSpPr txBox="1"/>
          <p:nvPr/>
        </p:nvSpPr>
        <p:spPr>
          <a:xfrm>
            <a:off x="10881360" y="4224528"/>
            <a:ext cx="749808" cy="493776"/>
          </a:xfrm>
          <a:prstGeom prst="rect">
            <a:avLst/>
          </a:prstGeom>
          <a:noFill/>
          <a:ln/>
        </p:spPr>
        <p:txBody>
          <a:bodyPr wrap="square" lIns="0" tIns="0" rIns="0" bIns="0" rtlCol="0" anchor="ctr"/>
          <a:lstStyle/>
          <a:p>
            <a:pPr algn="r" indent="0" marL="0">
              <a:buNone/>
            </a:pPr>
            <a:r>
              <a:rPr lang="en-US" sz="1300" b="1" dirty="0">
                <a:solidFill>
                  <a:srgbClr val="0B2545"/>
                </a:solidFill>
              </a:rPr>
              <a:t>−10.1%</a:t>
            </a:r>
            <a:endParaRPr lang="en-US" sz="1300" dirty="0"/>
          </a:p>
        </p:txBody>
      </p:sp>
      <p:sp>
        <p:nvSpPr>
          <p:cNvPr id="83" name="Shin (dorsiflexors) leader"/>
          <p:cNvSpPr/>
          <p:nvPr/>
        </p:nvSpPr>
        <p:spPr>
          <a:xfrm>
            <a:off x="7518654" y="3624895"/>
            <a:ext cx="646938" cy="1340297"/>
          </a:xfrm>
          <a:prstGeom prst="line">
            <a:avLst/>
          </a:prstGeom>
          <a:noFill/>
          <a:ln w="9525">
            <a:solidFill>
              <a:srgbClr val="E0A030"/>
            </a:solidFill>
            <a:prstDash val="solid"/>
          </a:ln>
        </p:spPr>
      </p:sp>
      <p:pic>
        <p:nvPicPr>
          <p:cNvPr id="84" name="Image 9" descr="Shin (dorsiflexors) (highlighted on a leg outline)">    </p:cNvPr>
          <p:cNvPicPr>
            <a:picLocks noChangeAspect="1"/>
          </p:cNvPicPr>
          <p:nvPr/>
        </p:nvPicPr>
        <p:blipFill>
          <a:blip r:embed="rId10"/>
          <a:stretch>
            <a:fillRect/>
          </a:stretch>
        </p:blipFill>
        <p:spPr>
          <a:xfrm>
            <a:off x="8229600" y="4736592"/>
            <a:ext cx="304800" cy="457200"/>
          </a:xfrm>
          <a:prstGeom prst="rect">
            <a:avLst/>
          </a:prstGeom>
        </p:spPr>
      </p:pic>
      <p:sp>
        <p:nvSpPr>
          <p:cNvPr id="85" name="Text 73"/>
          <p:cNvSpPr txBox="1"/>
          <p:nvPr/>
        </p:nvSpPr>
        <p:spPr>
          <a:xfrm>
            <a:off x="8613648" y="4718304"/>
            <a:ext cx="2286000" cy="493776"/>
          </a:xfrm>
          <a:prstGeom prst="rect">
            <a:avLst/>
          </a:prstGeom>
          <a:noFill/>
          <a:ln/>
        </p:spPr>
        <p:txBody>
          <a:bodyPr wrap="square" lIns="0" tIns="0" rIns="0" bIns="0" rtlCol="0" anchor="ctr"/>
          <a:lstStyle/>
          <a:p>
            <a:pPr indent="0" marL="0">
              <a:buNone/>
            </a:pPr>
            <a:r>
              <a:rPr lang="en-US" sz="1200" dirty="0">
                <a:solidFill>
                  <a:schemeClr val="tx1"/>
                </a:solidFill>
              </a:rPr>
              <a:t>Shin (dorsiflexors)</a:t>
            </a:r>
            <a:endParaRPr lang="en-US" sz="1200" dirty="0"/>
          </a:p>
        </p:txBody>
      </p:sp>
      <p:sp>
        <p:nvSpPr>
          <p:cNvPr id="86" name="Text 74"/>
          <p:cNvSpPr txBox="1"/>
          <p:nvPr/>
        </p:nvSpPr>
        <p:spPr>
          <a:xfrm>
            <a:off x="10881360" y="4718304"/>
            <a:ext cx="749808" cy="493776"/>
          </a:xfrm>
          <a:prstGeom prst="rect">
            <a:avLst/>
          </a:prstGeom>
          <a:noFill/>
          <a:ln/>
        </p:spPr>
        <p:txBody>
          <a:bodyPr wrap="square" lIns="0" tIns="0" rIns="0" bIns="0" rtlCol="0" anchor="ctr"/>
          <a:lstStyle/>
          <a:p>
            <a:pPr algn="r" indent="0" marL="0">
              <a:buNone/>
            </a:pPr>
            <a:r>
              <a:rPr lang="en-US" sz="1300" b="1" dirty="0">
                <a:solidFill>
                  <a:srgbClr val="E0A030"/>
                </a:solidFill>
              </a:rPr>
              <a:t>−10.2%</a:t>
            </a:r>
            <a:endParaRPr lang="en-US" sz="1300" dirty="0"/>
          </a:p>
        </p:txBody>
      </p:sp>
      <p:sp>
        <p:nvSpPr>
          <p:cNvPr id="87" name="Calf (plantar flexors) leader"/>
          <p:cNvSpPr/>
          <p:nvPr/>
        </p:nvSpPr>
        <p:spPr>
          <a:xfrm>
            <a:off x="7518654" y="4861998"/>
            <a:ext cx="646938" cy="596970"/>
          </a:xfrm>
          <a:prstGeom prst="line">
            <a:avLst/>
          </a:prstGeom>
          <a:noFill/>
          <a:ln w="9525">
            <a:solidFill>
              <a:srgbClr val="C1440E"/>
            </a:solidFill>
            <a:prstDash val="solid"/>
          </a:ln>
        </p:spPr>
      </p:sp>
      <p:pic>
        <p:nvPicPr>
          <p:cNvPr id="88" name="Image 10" descr="Calf (plantar flexors) (highlighted on a leg outline)">    </p:cNvPr>
          <p:cNvPicPr>
            <a:picLocks noChangeAspect="1"/>
          </p:cNvPicPr>
          <p:nvPr/>
        </p:nvPicPr>
        <p:blipFill>
          <a:blip r:embed="rId11"/>
          <a:stretch>
            <a:fillRect/>
          </a:stretch>
        </p:blipFill>
        <p:spPr>
          <a:xfrm>
            <a:off x="8229600" y="5230368"/>
            <a:ext cx="304800" cy="457200"/>
          </a:xfrm>
          <a:prstGeom prst="rect">
            <a:avLst/>
          </a:prstGeom>
        </p:spPr>
      </p:pic>
      <p:sp>
        <p:nvSpPr>
          <p:cNvPr id="89" name="Text 76"/>
          <p:cNvSpPr txBox="1"/>
          <p:nvPr/>
        </p:nvSpPr>
        <p:spPr>
          <a:xfrm>
            <a:off x="8613648" y="5212080"/>
            <a:ext cx="2286000" cy="493776"/>
          </a:xfrm>
          <a:prstGeom prst="rect">
            <a:avLst/>
          </a:prstGeom>
          <a:noFill/>
          <a:ln/>
        </p:spPr>
        <p:txBody>
          <a:bodyPr wrap="square" lIns="0" tIns="0" rIns="0" bIns="0" rtlCol="0" anchor="ctr"/>
          <a:lstStyle/>
          <a:p>
            <a:pPr indent="0" marL="0">
              <a:buNone/>
            </a:pPr>
            <a:r>
              <a:rPr lang="en-US" sz="1200" dirty="0">
                <a:solidFill>
                  <a:schemeClr val="tx1"/>
                </a:solidFill>
              </a:rPr>
              <a:t>Calf (plantar flexors)</a:t>
            </a:r>
            <a:endParaRPr lang="en-US" sz="1200" dirty="0"/>
          </a:p>
        </p:txBody>
      </p:sp>
      <p:sp>
        <p:nvSpPr>
          <p:cNvPr id="90" name="Text 77"/>
          <p:cNvSpPr txBox="1"/>
          <p:nvPr/>
        </p:nvSpPr>
        <p:spPr>
          <a:xfrm>
            <a:off x="10881360" y="5212080"/>
            <a:ext cx="749808" cy="493776"/>
          </a:xfrm>
          <a:prstGeom prst="rect">
            <a:avLst/>
          </a:prstGeom>
          <a:noFill/>
          <a:ln/>
        </p:spPr>
        <p:txBody>
          <a:bodyPr wrap="square" lIns="0" tIns="0" rIns="0" bIns="0" rtlCol="0" anchor="ctr"/>
          <a:lstStyle/>
          <a:p>
            <a:pPr algn="r" indent="0" marL="0">
              <a:buNone/>
            </a:pPr>
            <a:r>
              <a:rPr lang="en-US" sz="1300" b="1" dirty="0">
                <a:solidFill>
                  <a:srgbClr val="C1440E"/>
                </a:solidFill>
              </a:rPr>
              <a:t>−15.8%</a:t>
            </a:r>
            <a:endParaRPr lang="en-US" sz="1300" dirty="0"/>
          </a:p>
        </p:txBody>
      </p:sp>
      <p:sp>
        <p:nvSpPr>
          <p:cNvPr id="91" name="Text 78"/>
          <p:cNvSpPr txBox="1"/>
          <p:nvPr/>
        </p:nvSpPr>
        <p:spPr>
          <a:xfrm>
            <a:off x="548640" y="5897880"/>
            <a:ext cx="11064240" cy="228600"/>
          </a:xfrm>
          <a:prstGeom prst="rect">
            <a:avLst/>
          </a:prstGeom>
          <a:noFill/>
          <a:ln/>
        </p:spPr>
        <p:txBody>
          <a:bodyPr wrap="square" lIns="0" tIns="0" rIns="0" bIns="0" rtlCol="0" anchor="t"/>
          <a:lstStyle/>
          <a:p>
            <a:pPr indent="0" marL="0">
              <a:buNone/>
            </a:pPr>
            <a:r>
              <a:rPr lang="en-US" sz="1050" i="1" dirty="0">
                <a:solidFill>
                  <a:schemeClr val="accent3"/>
                </a:solidFill>
              </a:rPr>
              <a:t>Figure 7. Change in muscle size by muscle group: one shared time course (τ = 60 days) scaled to each group's day-60 estimate; control groups, days 5 to 119.</a:t>
            </a:r>
            <a:endParaRPr lang="en-US" sz="105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9038844" y="6432804"/>
            <a:ext cx="118872" cy="118872"/>
          </a:xfrm>
          <a:prstGeom prst="ellipse">
            <a:avLst/>
          </a:prstGeom>
          <a:solidFill>
            <a:schemeClr val="tx2"/>
          </a:solidFill>
          <a:ln w="9525">
            <a:solidFill>
              <a:srgbClr val="0B2545"/>
            </a:solidFill>
            <a:prstDash val="solid"/>
          </a:ln>
        </p:spPr>
      </p:sp>
      <p:sp>
        <p:nvSpPr>
          <p:cNvPr id="6" name="Tracker 2 Literature research"/>
          <p:cNvSpPr/>
          <p:nvPr/>
        </p:nvSpPr>
        <p:spPr>
          <a:xfrm>
            <a:off x="9386316" y="6432804"/>
            <a:ext cx="118872" cy="118872"/>
          </a:xfrm>
          <a:prstGeom prst="ellipse">
            <a:avLst/>
          </a:prstGeom>
          <a:solidFill>
            <a:schemeClr val="tx2"/>
          </a:solidFill>
          <a:ln w="9525">
            <a:solidFill>
              <a:srgbClr val="0B2545"/>
            </a:solidFill>
            <a:prstDash val="solid"/>
          </a:ln>
        </p:spPr>
      </p:sp>
      <p:sp>
        <p:nvSpPr>
          <p:cNvPr id="7" name="Tracker 3 Data extraction and database"/>
          <p:cNvSpPr/>
          <p:nvPr/>
        </p:nvSpPr>
        <p:spPr>
          <a:xfrm>
            <a:off x="9733788" y="6432804"/>
            <a:ext cx="118872" cy="118872"/>
          </a:xfrm>
          <a:prstGeom prst="ellipse">
            <a:avLst/>
          </a:prstGeom>
          <a:solidFill>
            <a:schemeClr val="tx2"/>
          </a:solidFill>
          <a:ln w="9525">
            <a:solidFill>
              <a:srgbClr val="0B2545"/>
            </a:solidFill>
            <a:prstDash val="solid"/>
          </a:ln>
        </p:spPr>
      </p:sp>
      <p:sp>
        <p:nvSpPr>
          <p:cNvPr id="8" name="Tracker 4 ML framework"/>
          <p:cNvSpPr/>
          <p:nvPr/>
        </p:nvSpPr>
        <p:spPr>
          <a:xfrm>
            <a:off x="10030968" y="6382512"/>
            <a:ext cx="219456" cy="219456"/>
          </a:xfrm>
          <a:prstGeom prst="ellipse">
            <a:avLst/>
          </a:prstGeom>
          <a:solidFill>
            <a:schemeClr val="accent1"/>
          </a:solidFill>
          <a:ln w="9525">
            <a:solidFill>
              <a:srgbClr val="C1440E"/>
            </a:solidFill>
            <a:prstDash val="solid"/>
          </a:ln>
        </p:spPr>
      </p:sp>
      <p:sp>
        <p:nvSpPr>
          <p:cNvPr id="9" name="Tracker 5 Models and results"/>
          <p:cNvSpPr/>
          <p:nvPr/>
        </p:nvSpPr>
        <p:spPr>
          <a:xfrm>
            <a:off x="10428732" y="6432804"/>
            <a:ext cx="118872" cy="118872"/>
          </a:xfrm>
          <a:prstGeom prst="ellipse">
            <a:avLst/>
          </a:prstGeom>
          <a:solidFill>
            <a:schemeClr val="bg1"/>
          </a:solidFill>
          <a:ln w="9525">
            <a:solidFill>
              <a:srgbClr val="98A6B5"/>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4  ML framework</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Evaluation: leave-one-campaign-out validation</a:t>
            </a:r>
            <a:endParaRPr lang="en-US" sz="2800" dirty="0"/>
          </a:p>
        </p:txBody>
      </p:sp>
      <p:sp>
        <p:nvSpPr>
          <p:cNvPr id="13" name="Input box"/>
          <p:cNvSpPr/>
          <p:nvPr/>
        </p:nvSpPr>
        <p:spPr>
          <a:xfrm>
            <a:off x="548640" y="1325880"/>
            <a:ext cx="4206240" cy="2514600"/>
          </a:xfrm>
          <a:prstGeom prst="rect">
            <a:avLst/>
          </a:prstGeom>
          <a:solidFill>
            <a:schemeClr val="bg1"/>
          </a:solidFill>
          <a:ln w="12700">
            <a:solidFill>
              <a:srgbClr val="98A6B5"/>
            </a:solidFill>
            <a:prstDash val="solid"/>
          </a:ln>
        </p:spPr>
      </p:sp>
      <p:sp>
        <p:nvSpPr>
          <p:cNvPr id="14" name="Text 10"/>
          <p:cNvSpPr txBox="1"/>
          <p:nvPr/>
        </p:nvSpPr>
        <p:spPr>
          <a:xfrm>
            <a:off x="731520" y="1463040"/>
            <a:ext cx="3886200" cy="2240280"/>
          </a:xfrm>
          <a:prstGeom prst="rect">
            <a:avLst/>
          </a:prstGeom>
          <a:noFill/>
          <a:ln/>
        </p:spPr>
        <p:txBody>
          <a:bodyPr wrap="square" lIns="0" tIns="0" rIns="0" bIns="0" rtlCol="0" anchor="t"/>
          <a:lstStyle/>
          <a:p>
            <a:pPr indent="0" marL="0">
              <a:buNone/>
            </a:pPr>
            <a:r>
              <a:rPr lang="en-US" sz="1600" b="1" dirty="0">
                <a:solidFill>
                  <a:schemeClr val="tx2"/>
                </a:solidFill>
              </a:rPr>
              <a:t>Input: one measurement</a:t>
            </a:r>
            <a:endParaRPr lang="en-US" sz="1600" dirty="0"/>
          </a:p>
          <a:p>
            <a:pPr marL="342900" indent="-342900">
              <a:spcAft>
                <a:spcPts val="400"/>
              </a:spcAft>
              <a:buSzPct val="100000"/>
              <a:buChar char="•"/>
            </a:pPr>
            <a:r>
              <a:rPr lang="en-US" sz="1500" dirty="0">
                <a:solidFill>
                  <a:schemeClr val="tx1"/>
                </a:solidFill>
              </a:rPr>
              <a:t>Day of bed rest when the scan was taken</a:t>
            </a:r>
            <a:endParaRPr lang="en-US" sz="1600" dirty="0"/>
          </a:p>
          <a:p>
            <a:pPr marL="342900" indent="-342900">
              <a:spcAft>
                <a:spcPts val="400"/>
              </a:spcAft>
              <a:buSzPct val="100000"/>
              <a:buChar char="•"/>
            </a:pPr>
            <a:r>
              <a:rPr lang="en-US" sz="1500" dirty="0">
                <a:solidFill>
                  <a:schemeClr val="tx1"/>
                </a:solidFill>
              </a:rPr>
              <a:t>Which muscle group (9, e.g. calf, front thigh)</a:t>
            </a:r>
            <a:endParaRPr lang="en-US" sz="1600" dirty="0"/>
          </a:p>
          <a:p>
            <a:pPr marL="342900" indent="-342900">
              <a:spcAft>
                <a:spcPts val="400"/>
              </a:spcAft>
              <a:buSzPct val="100000"/>
              <a:buChar char="•"/>
            </a:pPr>
            <a:r>
              <a:rPr lang="en-US" sz="1500" dirty="0">
                <a:solidFill>
                  <a:schemeClr val="tx1"/>
                </a:solidFill>
              </a:rPr>
              <a:t>Exercise group or no-exercise control</a:t>
            </a:r>
            <a:endParaRPr lang="en-US" sz="1600" dirty="0"/>
          </a:p>
          <a:p>
            <a:pPr marL="342900" indent="-342900">
              <a:spcAft>
                <a:spcPts val="400"/>
              </a:spcAft>
              <a:buSzPct val="100000"/>
              <a:buChar char="•"/>
            </a:pPr>
            <a:r>
              <a:rPr lang="en-US" sz="1500" dirty="0">
                <a:solidFill>
                  <a:schemeClr val="tx1"/>
                </a:solidFill>
              </a:rPr>
              <a:t>How it was scanned (MRI, CT, DXA, ultrasound)</a:t>
            </a:r>
            <a:endParaRPr lang="en-US" sz="1600" dirty="0"/>
          </a:p>
          <a:p>
            <a:pPr marL="342900" indent="-342900">
              <a:spcAft>
                <a:spcPts val="400"/>
              </a:spcAft>
              <a:buSzPct val="100000"/>
              <a:buChar char="•"/>
            </a:pPr>
            <a:r>
              <a:rPr lang="en-US" sz="1500" dirty="0">
                <a:solidFill>
                  <a:schemeClr val="tx1"/>
                </a:solidFill>
              </a:rPr>
              <a:t>One muscle or several combined</a:t>
            </a:r>
            <a:endParaRPr lang="en-US" sz="1600" dirty="0"/>
          </a:p>
        </p:txBody>
      </p:sp>
      <p:sp>
        <p:nvSpPr>
          <p:cNvPr id="15" name="Arrow input to model"/>
          <p:cNvSpPr/>
          <p:nvPr/>
        </p:nvSpPr>
        <p:spPr>
          <a:xfrm>
            <a:off x="4800600" y="2583180"/>
            <a:ext cx="457200" cy="0"/>
          </a:xfrm>
          <a:prstGeom prst="line">
            <a:avLst/>
          </a:prstGeom>
          <a:noFill/>
          <a:ln w="15875">
            <a:solidFill>
              <a:srgbClr val="1B2533"/>
            </a:solidFill>
            <a:prstDash val="solid"/>
            <a:tailEnd type="triangle"/>
          </a:ln>
        </p:spPr>
      </p:sp>
      <p:sp>
        <p:nvSpPr>
          <p:cNvPr id="16" name="Model box"/>
          <p:cNvSpPr/>
          <p:nvPr/>
        </p:nvSpPr>
        <p:spPr>
          <a:xfrm>
            <a:off x="5303520" y="1325880"/>
            <a:ext cx="3108960" cy="2514600"/>
          </a:xfrm>
          <a:prstGeom prst="rect">
            <a:avLst/>
          </a:prstGeom>
          <a:solidFill>
            <a:schemeClr val="bg1"/>
          </a:solidFill>
          <a:ln w="12700">
            <a:solidFill>
              <a:srgbClr val="98A6B5"/>
            </a:solidFill>
            <a:prstDash val="solid"/>
          </a:ln>
        </p:spPr>
      </p:sp>
      <p:sp>
        <p:nvSpPr>
          <p:cNvPr id="17" name="Text 13"/>
          <p:cNvSpPr txBox="1"/>
          <p:nvPr/>
        </p:nvSpPr>
        <p:spPr>
          <a:xfrm>
            <a:off x="5486400" y="1463040"/>
            <a:ext cx="2788920" cy="2240280"/>
          </a:xfrm>
          <a:prstGeom prst="rect">
            <a:avLst/>
          </a:prstGeom>
          <a:noFill/>
          <a:ln/>
        </p:spPr>
        <p:txBody>
          <a:bodyPr wrap="square" lIns="0" tIns="0" rIns="0" bIns="0" rtlCol="0" anchor="t"/>
          <a:lstStyle/>
          <a:p>
            <a:pPr indent="0" marL="0">
              <a:buNone/>
            </a:pPr>
            <a:r>
              <a:rPr lang="en-US" sz="1600" b="1" dirty="0">
                <a:solidFill>
                  <a:schemeClr val="tx2"/>
                </a:solidFill>
              </a:rPr>
              <a:t>Model</a:t>
            </a:r>
            <a:endParaRPr lang="en-US" sz="1600" dirty="0"/>
          </a:p>
          <a:p>
            <a:pPr marL="342900" indent="-342900">
              <a:spcAft>
                <a:spcPts val="400"/>
              </a:spcAft>
              <a:buSzPct val="100000"/>
              <a:buChar char="•"/>
            </a:pPr>
            <a:r>
              <a:rPr lang="en-US" sz="1500" dirty="0">
                <a:solidFill>
                  <a:schemeClr val="tx1"/>
                </a:solidFill>
              </a:rPr>
              <a:t>Duration curve: uses the number of days only (the baseline)</a:t>
            </a:r>
            <a:endParaRPr lang="en-US" sz="1600" dirty="0"/>
          </a:p>
          <a:p>
            <a:pPr marL="342900" indent="-342900">
              <a:spcAft>
                <a:spcPts val="400"/>
              </a:spcAft>
              <a:buSzPct val="100000"/>
              <a:buChar char="•"/>
            </a:pPr>
            <a:r>
              <a:rPr lang="en-US" sz="1500" dirty="0">
                <a:solidFill>
                  <a:schemeClr val="tx1"/>
                </a:solidFill>
              </a:rPr>
              <a:t>4 standard ML models</a:t>
            </a:r>
            <a:endParaRPr lang="en-US" sz="1600" dirty="0"/>
          </a:p>
          <a:p>
            <a:pPr marL="342900" indent="-342900">
              <a:spcAft>
                <a:spcPts val="400"/>
              </a:spcAft>
              <a:buSzPct val="100000"/>
              <a:buChar char="•"/>
            </a:pPr>
            <a:r>
              <a:rPr lang="en-US" sz="1500" dirty="0">
                <a:solidFill>
                  <a:schemeClr val="tx1"/>
                </a:solidFill>
              </a:rPr>
              <a:t>TabPFN (pretrained network)</a:t>
            </a:r>
            <a:endParaRPr lang="en-US" sz="1600" dirty="0"/>
          </a:p>
          <a:p>
            <a:pPr marL="342900" indent="-342900">
              <a:spcAft>
                <a:spcPts val="400"/>
              </a:spcAft>
              <a:buSzPct val="100000"/>
              <a:buChar char="•"/>
            </a:pPr>
            <a:r>
              <a:rPr lang="en-US" sz="1500" dirty="0">
                <a:solidFill>
                  <a:schemeClr val="tx1"/>
                </a:solidFill>
              </a:rPr>
              <a:t>LLM classifier: returns a probability per range</a:t>
            </a:r>
            <a:endParaRPr lang="en-US" sz="1600" dirty="0"/>
          </a:p>
        </p:txBody>
      </p:sp>
      <p:sp>
        <p:nvSpPr>
          <p:cNvPr id="18" name="Arrow model to output"/>
          <p:cNvSpPr/>
          <p:nvPr/>
        </p:nvSpPr>
        <p:spPr>
          <a:xfrm>
            <a:off x="8458200" y="2583180"/>
            <a:ext cx="457200" cy="0"/>
          </a:xfrm>
          <a:prstGeom prst="line">
            <a:avLst/>
          </a:prstGeom>
          <a:noFill/>
          <a:ln w="15875">
            <a:solidFill>
              <a:srgbClr val="1B2533"/>
            </a:solidFill>
            <a:prstDash val="solid"/>
            <a:tailEnd type="triangle"/>
          </a:ln>
        </p:spPr>
      </p:sp>
      <p:sp>
        <p:nvSpPr>
          <p:cNvPr id="19" name="Output box"/>
          <p:cNvSpPr/>
          <p:nvPr/>
        </p:nvSpPr>
        <p:spPr>
          <a:xfrm>
            <a:off x="8961120" y="1325880"/>
            <a:ext cx="2679192" cy="2514600"/>
          </a:xfrm>
          <a:prstGeom prst="rect">
            <a:avLst/>
          </a:prstGeom>
          <a:solidFill>
            <a:schemeClr val="bg1"/>
          </a:solidFill>
          <a:ln w="12700">
            <a:solidFill>
              <a:srgbClr val="98A6B5"/>
            </a:solidFill>
            <a:prstDash val="solid"/>
          </a:ln>
        </p:spPr>
      </p:sp>
      <p:sp>
        <p:nvSpPr>
          <p:cNvPr id="20" name="Text 16"/>
          <p:cNvSpPr txBox="1"/>
          <p:nvPr/>
        </p:nvSpPr>
        <p:spPr>
          <a:xfrm>
            <a:off x="9144000" y="1463040"/>
            <a:ext cx="2377440" cy="2240280"/>
          </a:xfrm>
          <a:prstGeom prst="rect">
            <a:avLst/>
          </a:prstGeom>
          <a:noFill/>
          <a:ln/>
        </p:spPr>
        <p:txBody>
          <a:bodyPr wrap="square" lIns="0" tIns="0" rIns="0" bIns="0" rtlCol="0" anchor="t"/>
          <a:lstStyle/>
          <a:p>
            <a:pPr indent="0" marL="0">
              <a:buNone/>
            </a:pPr>
            <a:r>
              <a:rPr lang="en-US" sz="1600" b="1" dirty="0">
                <a:solidFill>
                  <a:schemeClr val="tx2"/>
                </a:solidFill>
              </a:rPr>
              <a:t>Output</a:t>
            </a:r>
            <a:endParaRPr lang="en-US" sz="1600" dirty="0"/>
          </a:p>
          <a:p>
            <a:pPr indent="0" marL="0">
              <a:buNone/>
            </a:pPr>
            <a:r>
              <a:rPr lang="en-US" sz="1500" dirty="0">
                <a:solidFill>
                  <a:schemeClr val="tx1"/>
                </a:solidFill>
              </a:rPr>
              <a:t>How much the muscle has shrunk, in % of its size before bed rest</a:t>
            </a:r>
            <a:endParaRPr lang="en-US" sz="1600" dirty="0"/>
          </a:p>
          <a:p>
            <a:pPr indent="0" marL="0">
              <a:buNone/>
            </a:pPr>
            <a:r>
              <a:rPr lang="en-US" sz="1400" dirty="0">
                <a:solidFill>
                  <a:schemeClr val="accent3"/>
                </a:solidFill>
              </a:rPr>
              <a:t>Average over the group of volunteers, e.g. −10%</a:t>
            </a:r>
            <a:endParaRPr lang="en-US" sz="1600" dirty="0"/>
          </a:p>
        </p:txBody>
      </p:sp>
      <p:sp>
        <p:nvSpPr>
          <p:cNvPr id="21" name="Text 17"/>
          <p:cNvSpPr txBox="1"/>
          <p:nvPr/>
        </p:nvSpPr>
        <p:spPr>
          <a:xfrm>
            <a:off x="548640" y="4023360"/>
            <a:ext cx="9144000" cy="274320"/>
          </a:xfrm>
          <a:prstGeom prst="rect">
            <a:avLst/>
          </a:prstGeom>
          <a:noFill/>
          <a:ln/>
        </p:spPr>
        <p:txBody>
          <a:bodyPr wrap="square" lIns="0" tIns="0" rIns="0" bIns="0" rtlCol="0" anchor="t"/>
          <a:lstStyle/>
          <a:p>
            <a:pPr indent="0" marL="0">
              <a:buNone/>
            </a:pPr>
            <a:r>
              <a:rPr lang="en-US" sz="1500" b="1" dirty="0">
                <a:solidFill>
                  <a:schemeClr val="tx2"/>
                </a:solidFill>
              </a:rPr>
              <a:t>Figure 8. Testing: hold out one campaign, train on the rest, repeat 32 times</a:t>
            </a:r>
            <a:endParaRPr lang="en-US" sz="1500" dirty="0"/>
          </a:p>
        </p:txBody>
      </p:sp>
      <p:sp>
        <p:nvSpPr>
          <p:cNvPr id="22" name="Training campaign 1"/>
          <p:cNvSpPr/>
          <p:nvPr/>
        </p:nvSpPr>
        <p:spPr>
          <a:xfrm>
            <a:off x="548640" y="4343400"/>
            <a:ext cx="246888" cy="246888"/>
          </a:xfrm>
          <a:prstGeom prst="rect">
            <a:avLst/>
          </a:prstGeom>
          <a:solidFill>
            <a:schemeClr val="accent6"/>
          </a:solidFill>
          <a:ln w="6350">
            <a:solidFill>
              <a:srgbClr val="98A6B5"/>
            </a:solidFill>
            <a:prstDash val="solid"/>
          </a:ln>
        </p:spPr>
      </p:sp>
      <p:sp>
        <p:nvSpPr>
          <p:cNvPr id="23" name="Training campaign 2"/>
          <p:cNvSpPr/>
          <p:nvPr/>
        </p:nvSpPr>
        <p:spPr>
          <a:xfrm>
            <a:off x="841248" y="4343400"/>
            <a:ext cx="246888" cy="246888"/>
          </a:xfrm>
          <a:prstGeom prst="rect">
            <a:avLst/>
          </a:prstGeom>
          <a:solidFill>
            <a:schemeClr val="accent6"/>
          </a:solidFill>
          <a:ln w="6350">
            <a:solidFill>
              <a:srgbClr val="98A6B5"/>
            </a:solidFill>
            <a:prstDash val="solid"/>
          </a:ln>
        </p:spPr>
      </p:sp>
      <p:sp>
        <p:nvSpPr>
          <p:cNvPr id="24" name="Training campaign 3"/>
          <p:cNvSpPr/>
          <p:nvPr/>
        </p:nvSpPr>
        <p:spPr>
          <a:xfrm>
            <a:off x="1133856" y="4343400"/>
            <a:ext cx="246888" cy="246888"/>
          </a:xfrm>
          <a:prstGeom prst="rect">
            <a:avLst/>
          </a:prstGeom>
          <a:solidFill>
            <a:schemeClr val="accent6"/>
          </a:solidFill>
          <a:ln w="6350">
            <a:solidFill>
              <a:srgbClr val="98A6B5"/>
            </a:solidFill>
            <a:prstDash val="solid"/>
          </a:ln>
        </p:spPr>
      </p:sp>
      <p:sp>
        <p:nvSpPr>
          <p:cNvPr id="25" name="Training campaign 4"/>
          <p:cNvSpPr/>
          <p:nvPr/>
        </p:nvSpPr>
        <p:spPr>
          <a:xfrm>
            <a:off x="1426464" y="4343400"/>
            <a:ext cx="246888" cy="246888"/>
          </a:xfrm>
          <a:prstGeom prst="rect">
            <a:avLst/>
          </a:prstGeom>
          <a:solidFill>
            <a:schemeClr val="accent6"/>
          </a:solidFill>
          <a:ln w="6350">
            <a:solidFill>
              <a:srgbClr val="98A6B5"/>
            </a:solidFill>
            <a:prstDash val="solid"/>
          </a:ln>
        </p:spPr>
      </p:sp>
      <p:sp>
        <p:nvSpPr>
          <p:cNvPr id="26" name="Training campaign 5"/>
          <p:cNvSpPr/>
          <p:nvPr/>
        </p:nvSpPr>
        <p:spPr>
          <a:xfrm>
            <a:off x="1719072" y="4343400"/>
            <a:ext cx="246888" cy="246888"/>
          </a:xfrm>
          <a:prstGeom prst="rect">
            <a:avLst/>
          </a:prstGeom>
          <a:solidFill>
            <a:schemeClr val="accent6"/>
          </a:solidFill>
          <a:ln w="6350">
            <a:solidFill>
              <a:srgbClr val="98A6B5"/>
            </a:solidFill>
            <a:prstDash val="solid"/>
          </a:ln>
        </p:spPr>
      </p:sp>
      <p:sp>
        <p:nvSpPr>
          <p:cNvPr id="27" name="Training campaign 6"/>
          <p:cNvSpPr/>
          <p:nvPr/>
        </p:nvSpPr>
        <p:spPr>
          <a:xfrm>
            <a:off x="2011680" y="4343400"/>
            <a:ext cx="246888" cy="246888"/>
          </a:xfrm>
          <a:prstGeom prst="rect">
            <a:avLst/>
          </a:prstGeom>
          <a:solidFill>
            <a:schemeClr val="accent6"/>
          </a:solidFill>
          <a:ln w="6350">
            <a:solidFill>
              <a:srgbClr val="98A6B5"/>
            </a:solidFill>
            <a:prstDash val="solid"/>
          </a:ln>
        </p:spPr>
      </p:sp>
      <p:sp>
        <p:nvSpPr>
          <p:cNvPr id="28" name="Training campaign 7"/>
          <p:cNvSpPr/>
          <p:nvPr/>
        </p:nvSpPr>
        <p:spPr>
          <a:xfrm>
            <a:off x="2304288" y="4343400"/>
            <a:ext cx="246888" cy="246888"/>
          </a:xfrm>
          <a:prstGeom prst="rect">
            <a:avLst/>
          </a:prstGeom>
          <a:solidFill>
            <a:schemeClr val="accent6"/>
          </a:solidFill>
          <a:ln w="6350">
            <a:solidFill>
              <a:srgbClr val="98A6B5"/>
            </a:solidFill>
            <a:prstDash val="solid"/>
          </a:ln>
        </p:spPr>
      </p:sp>
      <p:sp>
        <p:nvSpPr>
          <p:cNvPr id="29" name="Training campaign 8"/>
          <p:cNvSpPr/>
          <p:nvPr/>
        </p:nvSpPr>
        <p:spPr>
          <a:xfrm>
            <a:off x="2596896" y="4343400"/>
            <a:ext cx="246888" cy="246888"/>
          </a:xfrm>
          <a:prstGeom prst="rect">
            <a:avLst/>
          </a:prstGeom>
          <a:solidFill>
            <a:schemeClr val="accent6"/>
          </a:solidFill>
          <a:ln w="6350">
            <a:solidFill>
              <a:srgbClr val="98A6B5"/>
            </a:solidFill>
            <a:prstDash val="solid"/>
          </a:ln>
        </p:spPr>
      </p:sp>
      <p:sp>
        <p:nvSpPr>
          <p:cNvPr id="30" name="Training campaign 9"/>
          <p:cNvSpPr/>
          <p:nvPr/>
        </p:nvSpPr>
        <p:spPr>
          <a:xfrm>
            <a:off x="2889504" y="4343400"/>
            <a:ext cx="246888" cy="246888"/>
          </a:xfrm>
          <a:prstGeom prst="rect">
            <a:avLst/>
          </a:prstGeom>
          <a:solidFill>
            <a:schemeClr val="accent6"/>
          </a:solidFill>
          <a:ln w="6350">
            <a:solidFill>
              <a:srgbClr val="98A6B5"/>
            </a:solidFill>
            <a:prstDash val="solid"/>
          </a:ln>
        </p:spPr>
      </p:sp>
      <p:sp>
        <p:nvSpPr>
          <p:cNvPr id="31" name="Training campaign 10"/>
          <p:cNvSpPr/>
          <p:nvPr/>
        </p:nvSpPr>
        <p:spPr>
          <a:xfrm>
            <a:off x="3182112" y="4343400"/>
            <a:ext cx="246888" cy="246888"/>
          </a:xfrm>
          <a:prstGeom prst="rect">
            <a:avLst/>
          </a:prstGeom>
          <a:solidFill>
            <a:schemeClr val="accent6"/>
          </a:solidFill>
          <a:ln w="6350">
            <a:solidFill>
              <a:srgbClr val="98A6B5"/>
            </a:solidFill>
            <a:prstDash val="solid"/>
          </a:ln>
        </p:spPr>
      </p:sp>
      <p:sp>
        <p:nvSpPr>
          <p:cNvPr id="32" name="Training campaign 11"/>
          <p:cNvSpPr/>
          <p:nvPr/>
        </p:nvSpPr>
        <p:spPr>
          <a:xfrm>
            <a:off x="3474720" y="4343400"/>
            <a:ext cx="246888" cy="246888"/>
          </a:xfrm>
          <a:prstGeom prst="rect">
            <a:avLst/>
          </a:prstGeom>
          <a:solidFill>
            <a:schemeClr val="accent6"/>
          </a:solidFill>
          <a:ln w="6350">
            <a:solidFill>
              <a:srgbClr val="98A6B5"/>
            </a:solidFill>
            <a:prstDash val="solid"/>
          </a:ln>
        </p:spPr>
      </p:sp>
      <p:sp>
        <p:nvSpPr>
          <p:cNvPr id="33" name="Training campaign 12"/>
          <p:cNvSpPr/>
          <p:nvPr/>
        </p:nvSpPr>
        <p:spPr>
          <a:xfrm>
            <a:off x="3767328" y="4343400"/>
            <a:ext cx="246888" cy="246888"/>
          </a:xfrm>
          <a:prstGeom prst="rect">
            <a:avLst/>
          </a:prstGeom>
          <a:solidFill>
            <a:schemeClr val="accent6"/>
          </a:solidFill>
          <a:ln w="6350">
            <a:solidFill>
              <a:srgbClr val="98A6B5"/>
            </a:solidFill>
            <a:prstDash val="solid"/>
          </a:ln>
        </p:spPr>
      </p:sp>
      <p:sp>
        <p:nvSpPr>
          <p:cNvPr id="34" name="Training campaign 13"/>
          <p:cNvSpPr/>
          <p:nvPr/>
        </p:nvSpPr>
        <p:spPr>
          <a:xfrm>
            <a:off x="4059936" y="4343400"/>
            <a:ext cx="246888" cy="246888"/>
          </a:xfrm>
          <a:prstGeom prst="rect">
            <a:avLst/>
          </a:prstGeom>
          <a:solidFill>
            <a:schemeClr val="accent6"/>
          </a:solidFill>
          <a:ln w="6350">
            <a:solidFill>
              <a:srgbClr val="98A6B5"/>
            </a:solidFill>
            <a:prstDash val="solid"/>
          </a:ln>
        </p:spPr>
      </p:sp>
      <p:sp>
        <p:nvSpPr>
          <p:cNvPr id="35" name="Test campaign"/>
          <p:cNvSpPr/>
          <p:nvPr/>
        </p:nvSpPr>
        <p:spPr>
          <a:xfrm>
            <a:off x="4352544" y="4343400"/>
            <a:ext cx="246888" cy="246888"/>
          </a:xfrm>
          <a:prstGeom prst="rect">
            <a:avLst/>
          </a:prstGeom>
          <a:solidFill>
            <a:schemeClr val="accent1"/>
          </a:solidFill>
          <a:ln w="6350">
            <a:solidFill>
              <a:srgbClr val="C1440E"/>
            </a:solidFill>
            <a:prstDash val="solid"/>
          </a:ln>
        </p:spPr>
      </p:sp>
      <p:sp>
        <p:nvSpPr>
          <p:cNvPr id="36" name="Training campaign 15"/>
          <p:cNvSpPr/>
          <p:nvPr/>
        </p:nvSpPr>
        <p:spPr>
          <a:xfrm>
            <a:off x="4645152" y="4343400"/>
            <a:ext cx="246888" cy="246888"/>
          </a:xfrm>
          <a:prstGeom prst="rect">
            <a:avLst/>
          </a:prstGeom>
          <a:solidFill>
            <a:schemeClr val="accent6"/>
          </a:solidFill>
          <a:ln w="6350">
            <a:solidFill>
              <a:srgbClr val="98A6B5"/>
            </a:solidFill>
            <a:prstDash val="solid"/>
          </a:ln>
        </p:spPr>
      </p:sp>
      <p:sp>
        <p:nvSpPr>
          <p:cNvPr id="37" name="Training campaign 16"/>
          <p:cNvSpPr/>
          <p:nvPr/>
        </p:nvSpPr>
        <p:spPr>
          <a:xfrm>
            <a:off x="4937760" y="4343400"/>
            <a:ext cx="246888" cy="246888"/>
          </a:xfrm>
          <a:prstGeom prst="rect">
            <a:avLst/>
          </a:prstGeom>
          <a:solidFill>
            <a:schemeClr val="accent6"/>
          </a:solidFill>
          <a:ln w="6350">
            <a:solidFill>
              <a:srgbClr val="98A6B5"/>
            </a:solidFill>
            <a:prstDash val="solid"/>
          </a:ln>
        </p:spPr>
      </p:sp>
      <p:sp>
        <p:nvSpPr>
          <p:cNvPr id="38" name="Training campaign 17"/>
          <p:cNvSpPr/>
          <p:nvPr/>
        </p:nvSpPr>
        <p:spPr>
          <a:xfrm>
            <a:off x="5230368" y="4343400"/>
            <a:ext cx="246888" cy="246888"/>
          </a:xfrm>
          <a:prstGeom prst="rect">
            <a:avLst/>
          </a:prstGeom>
          <a:solidFill>
            <a:schemeClr val="accent6"/>
          </a:solidFill>
          <a:ln w="6350">
            <a:solidFill>
              <a:srgbClr val="98A6B5"/>
            </a:solidFill>
            <a:prstDash val="solid"/>
          </a:ln>
        </p:spPr>
      </p:sp>
      <p:sp>
        <p:nvSpPr>
          <p:cNvPr id="39" name="Training campaign 18"/>
          <p:cNvSpPr/>
          <p:nvPr/>
        </p:nvSpPr>
        <p:spPr>
          <a:xfrm>
            <a:off x="5522976" y="4343400"/>
            <a:ext cx="246888" cy="246888"/>
          </a:xfrm>
          <a:prstGeom prst="rect">
            <a:avLst/>
          </a:prstGeom>
          <a:solidFill>
            <a:schemeClr val="accent6"/>
          </a:solidFill>
          <a:ln w="6350">
            <a:solidFill>
              <a:srgbClr val="98A6B5"/>
            </a:solidFill>
            <a:prstDash val="solid"/>
          </a:ln>
        </p:spPr>
      </p:sp>
      <p:sp>
        <p:nvSpPr>
          <p:cNvPr id="40" name="Training campaign 19"/>
          <p:cNvSpPr/>
          <p:nvPr/>
        </p:nvSpPr>
        <p:spPr>
          <a:xfrm>
            <a:off x="5815584" y="4343400"/>
            <a:ext cx="246888" cy="246888"/>
          </a:xfrm>
          <a:prstGeom prst="rect">
            <a:avLst/>
          </a:prstGeom>
          <a:solidFill>
            <a:schemeClr val="accent6"/>
          </a:solidFill>
          <a:ln w="6350">
            <a:solidFill>
              <a:srgbClr val="98A6B5"/>
            </a:solidFill>
            <a:prstDash val="solid"/>
          </a:ln>
        </p:spPr>
      </p:sp>
      <p:sp>
        <p:nvSpPr>
          <p:cNvPr id="41" name="Training campaign 20"/>
          <p:cNvSpPr/>
          <p:nvPr/>
        </p:nvSpPr>
        <p:spPr>
          <a:xfrm>
            <a:off x="6108192" y="4343400"/>
            <a:ext cx="246888" cy="246888"/>
          </a:xfrm>
          <a:prstGeom prst="rect">
            <a:avLst/>
          </a:prstGeom>
          <a:solidFill>
            <a:schemeClr val="accent6"/>
          </a:solidFill>
          <a:ln w="6350">
            <a:solidFill>
              <a:srgbClr val="98A6B5"/>
            </a:solidFill>
            <a:prstDash val="solid"/>
          </a:ln>
        </p:spPr>
      </p:sp>
      <p:sp>
        <p:nvSpPr>
          <p:cNvPr id="42" name="Training campaign 21"/>
          <p:cNvSpPr/>
          <p:nvPr/>
        </p:nvSpPr>
        <p:spPr>
          <a:xfrm>
            <a:off x="6400800" y="4343400"/>
            <a:ext cx="246888" cy="246888"/>
          </a:xfrm>
          <a:prstGeom prst="rect">
            <a:avLst/>
          </a:prstGeom>
          <a:solidFill>
            <a:schemeClr val="accent6"/>
          </a:solidFill>
          <a:ln w="6350">
            <a:solidFill>
              <a:srgbClr val="98A6B5"/>
            </a:solidFill>
            <a:prstDash val="solid"/>
          </a:ln>
        </p:spPr>
      </p:sp>
      <p:sp>
        <p:nvSpPr>
          <p:cNvPr id="43" name="Training campaign 22"/>
          <p:cNvSpPr/>
          <p:nvPr/>
        </p:nvSpPr>
        <p:spPr>
          <a:xfrm>
            <a:off x="6693408" y="4343400"/>
            <a:ext cx="246888" cy="246888"/>
          </a:xfrm>
          <a:prstGeom prst="rect">
            <a:avLst/>
          </a:prstGeom>
          <a:solidFill>
            <a:schemeClr val="accent6"/>
          </a:solidFill>
          <a:ln w="6350">
            <a:solidFill>
              <a:srgbClr val="98A6B5"/>
            </a:solidFill>
            <a:prstDash val="solid"/>
          </a:ln>
        </p:spPr>
      </p:sp>
      <p:sp>
        <p:nvSpPr>
          <p:cNvPr id="44" name="Training campaign 23"/>
          <p:cNvSpPr/>
          <p:nvPr/>
        </p:nvSpPr>
        <p:spPr>
          <a:xfrm>
            <a:off x="6986016" y="4343400"/>
            <a:ext cx="246888" cy="246888"/>
          </a:xfrm>
          <a:prstGeom prst="rect">
            <a:avLst/>
          </a:prstGeom>
          <a:solidFill>
            <a:schemeClr val="accent6"/>
          </a:solidFill>
          <a:ln w="6350">
            <a:solidFill>
              <a:srgbClr val="98A6B5"/>
            </a:solidFill>
            <a:prstDash val="solid"/>
          </a:ln>
        </p:spPr>
      </p:sp>
      <p:sp>
        <p:nvSpPr>
          <p:cNvPr id="45" name="Training campaign 24"/>
          <p:cNvSpPr/>
          <p:nvPr/>
        </p:nvSpPr>
        <p:spPr>
          <a:xfrm>
            <a:off x="7278624" y="4343400"/>
            <a:ext cx="246888" cy="246888"/>
          </a:xfrm>
          <a:prstGeom prst="rect">
            <a:avLst/>
          </a:prstGeom>
          <a:solidFill>
            <a:schemeClr val="accent6"/>
          </a:solidFill>
          <a:ln w="6350">
            <a:solidFill>
              <a:srgbClr val="98A6B5"/>
            </a:solidFill>
            <a:prstDash val="solid"/>
          </a:ln>
        </p:spPr>
      </p:sp>
      <p:sp>
        <p:nvSpPr>
          <p:cNvPr id="46" name="Training campaign 25"/>
          <p:cNvSpPr/>
          <p:nvPr/>
        </p:nvSpPr>
        <p:spPr>
          <a:xfrm>
            <a:off x="7571232" y="4343400"/>
            <a:ext cx="246888" cy="246888"/>
          </a:xfrm>
          <a:prstGeom prst="rect">
            <a:avLst/>
          </a:prstGeom>
          <a:solidFill>
            <a:schemeClr val="accent6"/>
          </a:solidFill>
          <a:ln w="6350">
            <a:solidFill>
              <a:srgbClr val="98A6B5"/>
            </a:solidFill>
            <a:prstDash val="solid"/>
          </a:ln>
        </p:spPr>
      </p:sp>
      <p:sp>
        <p:nvSpPr>
          <p:cNvPr id="47" name="Training campaign 26"/>
          <p:cNvSpPr/>
          <p:nvPr/>
        </p:nvSpPr>
        <p:spPr>
          <a:xfrm>
            <a:off x="7863840" y="4343400"/>
            <a:ext cx="246888" cy="246888"/>
          </a:xfrm>
          <a:prstGeom prst="rect">
            <a:avLst/>
          </a:prstGeom>
          <a:solidFill>
            <a:schemeClr val="accent6"/>
          </a:solidFill>
          <a:ln w="6350">
            <a:solidFill>
              <a:srgbClr val="98A6B5"/>
            </a:solidFill>
            <a:prstDash val="solid"/>
          </a:ln>
        </p:spPr>
      </p:sp>
      <p:sp>
        <p:nvSpPr>
          <p:cNvPr id="48" name="Training campaign 27"/>
          <p:cNvSpPr/>
          <p:nvPr/>
        </p:nvSpPr>
        <p:spPr>
          <a:xfrm>
            <a:off x="8156448" y="4343400"/>
            <a:ext cx="246888" cy="246888"/>
          </a:xfrm>
          <a:prstGeom prst="rect">
            <a:avLst/>
          </a:prstGeom>
          <a:solidFill>
            <a:schemeClr val="accent6"/>
          </a:solidFill>
          <a:ln w="6350">
            <a:solidFill>
              <a:srgbClr val="98A6B5"/>
            </a:solidFill>
            <a:prstDash val="solid"/>
          </a:ln>
        </p:spPr>
      </p:sp>
      <p:sp>
        <p:nvSpPr>
          <p:cNvPr id="49" name="Training campaign 28"/>
          <p:cNvSpPr/>
          <p:nvPr/>
        </p:nvSpPr>
        <p:spPr>
          <a:xfrm>
            <a:off x="8449056" y="4343400"/>
            <a:ext cx="246888" cy="246888"/>
          </a:xfrm>
          <a:prstGeom prst="rect">
            <a:avLst/>
          </a:prstGeom>
          <a:solidFill>
            <a:schemeClr val="accent6"/>
          </a:solidFill>
          <a:ln w="6350">
            <a:solidFill>
              <a:srgbClr val="98A6B5"/>
            </a:solidFill>
            <a:prstDash val="solid"/>
          </a:ln>
        </p:spPr>
      </p:sp>
      <p:sp>
        <p:nvSpPr>
          <p:cNvPr id="50" name="Training campaign 29"/>
          <p:cNvSpPr/>
          <p:nvPr/>
        </p:nvSpPr>
        <p:spPr>
          <a:xfrm>
            <a:off x="8741664" y="4343400"/>
            <a:ext cx="246888" cy="246888"/>
          </a:xfrm>
          <a:prstGeom prst="rect">
            <a:avLst/>
          </a:prstGeom>
          <a:solidFill>
            <a:schemeClr val="accent6"/>
          </a:solidFill>
          <a:ln w="6350">
            <a:solidFill>
              <a:srgbClr val="98A6B5"/>
            </a:solidFill>
            <a:prstDash val="solid"/>
          </a:ln>
        </p:spPr>
      </p:sp>
      <p:sp>
        <p:nvSpPr>
          <p:cNvPr id="51" name="Training campaign 30"/>
          <p:cNvSpPr/>
          <p:nvPr/>
        </p:nvSpPr>
        <p:spPr>
          <a:xfrm>
            <a:off x="9034272" y="4343400"/>
            <a:ext cx="246888" cy="246888"/>
          </a:xfrm>
          <a:prstGeom prst="rect">
            <a:avLst/>
          </a:prstGeom>
          <a:solidFill>
            <a:schemeClr val="accent6"/>
          </a:solidFill>
          <a:ln w="6350">
            <a:solidFill>
              <a:srgbClr val="98A6B5"/>
            </a:solidFill>
            <a:prstDash val="solid"/>
          </a:ln>
        </p:spPr>
      </p:sp>
      <p:sp>
        <p:nvSpPr>
          <p:cNvPr id="52" name="Training campaign 31"/>
          <p:cNvSpPr/>
          <p:nvPr/>
        </p:nvSpPr>
        <p:spPr>
          <a:xfrm>
            <a:off x="9326880" y="4343400"/>
            <a:ext cx="246888" cy="246888"/>
          </a:xfrm>
          <a:prstGeom prst="rect">
            <a:avLst/>
          </a:prstGeom>
          <a:solidFill>
            <a:schemeClr val="accent6"/>
          </a:solidFill>
          <a:ln w="6350">
            <a:solidFill>
              <a:srgbClr val="98A6B5"/>
            </a:solidFill>
            <a:prstDash val="solid"/>
          </a:ln>
        </p:spPr>
      </p:sp>
      <p:sp>
        <p:nvSpPr>
          <p:cNvPr id="53" name="Training campaign 32"/>
          <p:cNvSpPr/>
          <p:nvPr/>
        </p:nvSpPr>
        <p:spPr>
          <a:xfrm>
            <a:off x="9619488" y="4343400"/>
            <a:ext cx="246888" cy="246888"/>
          </a:xfrm>
          <a:prstGeom prst="rect">
            <a:avLst/>
          </a:prstGeom>
          <a:solidFill>
            <a:schemeClr val="accent6"/>
          </a:solidFill>
          <a:ln w="6350">
            <a:solidFill>
              <a:srgbClr val="98A6B5"/>
            </a:solidFill>
            <a:prstDash val="solid"/>
          </a:ln>
        </p:spPr>
      </p:sp>
      <p:sp>
        <p:nvSpPr>
          <p:cNvPr id="54" name="Text 50"/>
          <p:cNvSpPr txBox="1"/>
          <p:nvPr/>
        </p:nvSpPr>
        <p:spPr>
          <a:xfrm>
            <a:off x="548640" y="4709160"/>
            <a:ext cx="10058400" cy="274320"/>
          </a:xfrm>
          <a:prstGeom prst="rect">
            <a:avLst/>
          </a:prstGeom>
          <a:noFill/>
          <a:ln/>
        </p:spPr>
        <p:txBody>
          <a:bodyPr wrap="square" lIns="0" tIns="0" rIns="0" bIns="0" rtlCol="0" anchor="t"/>
          <a:lstStyle/>
          <a:p>
            <a:pPr indent="0" marL="0">
              <a:buNone/>
            </a:pPr>
            <a:r>
              <a:rPr lang="en-US" sz="1400" dirty="0">
                <a:solidFill>
                  <a:schemeClr val="tx1"/>
                </a:solidFill>
              </a:rPr>
              <a:t>Grey: 31 training campaigns.  </a:t>
            </a:r>
            <a:pPr indent="0" marL="0">
              <a:buNone/>
            </a:pPr>
            <a:r>
              <a:rPr lang="en-US" sz="1400" dirty="0">
                <a:solidFill>
                  <a:schemeClr val="accent1"/>
                </a:solidFill>
              </a:rPr>
              <a:t>Orange: the held-out test campaign.</a:t>
            </a:r>
            <a:endParaRPr lang="en-US" sz="1400" dirty="0"/>
          </a:p>
        </p:txBody>
      </p:sp>
      <p:sp>
        <p:nvSpPr>
          <p:cNvPr id="55" name="Text 51"/>
          <p:cNvSpPr txBox="1"/>
          <p:nvPr/>
        </p:nvSpPr>
        <p:spPr>
          <a:xfrm>
            <a:off x="548640" y="5120640"/>
            <a:ext cx="1106424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Rows of one campaign share volunteers, so whole campaigns are held out. The 346 modelling rows come from 32 of the 36 campaigns.</a:t>
            </a:r>
            <a:endParaRPr lang="en-US" sz="1400" dirty="0"/>
          </a:p>
          <a:p>
            <a:pPr marL="342900" indent="-342900">
              <a:spcAft>
                <a:spcPts val="400"/>
              </a:spcAft>
              <a:buSzPct val="100000"/>
              <a:buChar char="•"/>
            </a:pPr>
            <a:r>
              <a:rPr lang="en-US" sz="1400" dirty="0">
                <a:solidFill>
                  <a:schemeClr val="tx1"/>
                </a:solidFill>
              </a:rPr>
              <a:t>Score: average error in percentage points (pp), each campaign counted once. Predicted −10%, measured −13%: error 3 pp.</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9038844" y="6432804"/>
            <a:ext cx="118872" cy="118872"/>
          </a:xfrm>
          <a:prstGeom prst="ellipse">
            <a:avLst/>
          </a:prstGeom>
          <a:solidFill>
            <a:schemeClr val="tx2"/>
          </a:solidFill>
          <a:ln w="9525">
            <a:solidFill>
              <a:srgbClr val="0B2545"/>
            </a:solidFill>
            <a:prstDash val="solid"/>
          </a:ln>
        </p:spPr>
      </p:sp>
      <p:sp>
        <p:nvSpPr>
          <p:cNvPr id="6" name="Tracker 2 Literature research"/>
          <p:cNvSpPr/>
          <p:nvPr/>
        </p:nvSpPr>
        <p:spPr>
          <a:xfrm>
            <a:off x="9386316" y="6432804"/>
            <a:ext cx="118872" cy="118872"/>
          </a:xfrm>
          <a:prstGeom prst="ellipse">
            <a:avLst/>
          </a:prstGeom>
          <a:solidFill>
            <a:schemeClr val="tx2"/>
          </a:solidFill>
          <a:ln w="9525">
            <a:solidFill>
              <a:srgbClr val="0B2545"/>
            </a:solidFill>
            <a:prstDash val="solid"/>
          </a:ln>
        </p:spPr>
      </p:sp>
      <p:sp>
        <p:nvSpPr>
          <p:cNvPr id="7" name="Tracker 3 Data extraction and database"/>
          <p:cNvSpPr/>
          <p:nvPr/>
        </p:nvSpPr>
        <p:spPr>
          <a:xfrm>
            <a:off x="9733788" y="6432804"/>
            <a:ext cx="118872" cy="118872"/>
          </a:xfrm>
          <a:prstGeom prst="ellipse">
            <a:avLst/>
          </a:prstGeom>
          <a:solidFill>
            <a:schemeClr val="tx2"/>
          </a:solidFill>
          <a:ln w="9525">
            <a:solidFill>
              <a:srgbClr val="0B2545"/>
            </a:solidFill>
            <a:prstDash val="solid"/>
          </a:ln>
        </p:spPr>
      </p:sp>
      <p:sp>
        <p:nvSpPr>
          <p:cNvPr id="8" name="Tracker 4 ML framework"/>
          <p:cNvSpPr/>
          <p:nvPr/>
        </p:nvSpPr>
        <p:spPr>
          <a:xfrm>
            <a:off x="10081260" y="6432804"/>
            <a:ext cx="118872" cy="118872"/>
          </a:xfrm>
          <a:prstGeom prst="ellipse">
            <a:avLst/>
          </a:prstGeom>
          <a:solidFill>
            <a:schemeClr val="tx2"/>
          </a:solidFill>
          <a:ln w="9525">
            <a:solidFill>
              <a:srgbClr val="0B2545"/>
            </a:solidFill>
            <a:prstDash val="solid"/>
          </a:ln>
        </p:spPr>
      </p:sp>
      <p:sp>
        <p:nvSpPr>
          <p:cNvPr id="9" name="Tracker 5 Models and results"/>
          <p:cNvSpPr/>
          <p:nvPr/>
        </p:nvSpPr>
        <p:spPr>
          <a:xfrm>
            <a:off x="10378440" y="6382512"/>
            <a:ext cx="219456" cy="219456"/>
          </a:xfrm>
          <a:prstGeom prst="ellipse">
            <a:avLst/>
          </a:prstGeom>
          <a:solidFill>
            <a:schemeClr val="accent1"/>
          </a:solidFill>
          <a:ln w="9525">
            <a:solidFill>
              <a:srgbClr val="C1440E"/>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5  Models and results</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LLM-based probabilistic classifier: input and output</a:t>
            </a:r>
            <a:endParaRPr lang="en-US" sz="2800" dirty="0"/>
          </a:p>
        </p:txBody>
      </p:sp>
      <p:sp>
        <p:nvSpPr>
          <p:cNvPr id="13" name="Request box"/>
          <p:cNvSpPr/>
          <p:nvPr/>
        </p:nvSpPr>
        <p:spPr>
          <a:xfrm>
            <a:off x="548640" y="1234440"/>
            <a:ext cx="4846320" cy="4160520"/>
          </a:xfrm>
          <a:prstGeom prst="rect">
            <a:avLst/>
          </a:prstGeom>
          <a:solidFill>
            <a:schemeClr val="bg1"/>
          </a:solidFill>
          <a:ln w="12700">
            <a:solidFill>
              <a:srgbClr val="98A6B5"/>
            </a:solidFill>
            <a:prstDash val="solid"/>
          </a:ln>
        </p:spPr>
      </p:sp>
      <p:sp>
        <p:nvSpPr>
          <p:cNvPr id="14" name="Text 10"/>
          <p:cNvSpPr txBox="1"/>
          <p:nvPr/>
        </p:nvSpPr>
        <p:spPr>
          <a:xfrm>
            <a:off x="731520" y="1371600"/>
            <a:ext cx="4480560" cy="3886200"/>
          </a:xfrm>
          <a:prstGeom prst="rect">
            <a:avLst/>
          </a:prstGeom>
          <a:noFill/>
          <a:ln/>
        </p:spPr>
        <p:txBody>
          <a:bodyPr wrap="square" lIns="0" tIns="0" rIns="0" bIns="0" rtlCol="0" anchor="t"/>
          <a:lstStyle/>
          <a:p>
            <a:pPr indent="0" marL="0">
              <a:spcAft>
                <a:spcPts val="100"/>
              </a:spcAft>
              <a:buNone/>
            </a:pPr>
            <a:r>
              <a:rPr lang="en-US" sz="1600" b="1" dirty="0">
                <a:solidFill>
                  <a:schemeClr val="tx2"/>
                </a:solidFill>
              </a:rPr>
              <a:t>Request (one per measurement)</a:t>
            </a:r>
            <a:endParaRPr lang="en-US" sz="1600" dirty="0"/>
          </a:p>
          <a:p>
            <a:pPr indent="0" marL="0">
              <a:spcAft>
                <a:spcPts val="100"/>
              </a:spcAft>
              <a:buNone/>
            </a:pPr>
            <a:r>
              <a:rPr lang="en-US" sz="400" dirty="0">
                <a:solidFill>
                  <a:schemeClr val="tx1"/>
                </a:solidFill>
              </a:rPr>
              <a:t> </a:t>
            </a:r>
            <a:endParaRPr lang="en-US" sz="1600" dirty="0"/>
          </a:p>
          <a:p>
            <a:pPr indent="0" marL="0">
              <a:spcAft>
                <a:spcPts val="100"/>
              </a:spcAft>
              <a:buNone/>
            </a:pPr>
            <a:r>
              <a:rPr lang="en-US" sz="1200" b="1" dirty="0">
                <a:solidFill>
                  <a:schemeClr val="tx2"/>
                </a:solidFill>
                <a:latin typeface="Courier New" pitchFamily="34" charset="0"/>
                <a:ea typeface="Courier New" pitchFamily="34" charset="-122"/>
                <a:cs typeface="Courier New" pitchFamily="34" charset="-120"/>
              </a:rPr>
              <a:t>participants</a:t>
            </a:r>
            <a:endParaRPr lang="en-US" sz="1600" dirty="0"/>
          </a:p>
          <a:p>
            <a:pPr indent="0" marL="0">
              <a:spcAft>
                <a:spcPts val="100"/>
              </a:spcAft>
              <a:buNone/>
            </a:pPr>
            <a:r>
              <a:rPr lang="en-US" sz="1300" dirty="0">
                <a:solidFill>
                  <a:schemeClr val="tx1"/>
                </a:solidFill>
              </a:rPr>
              <a:t>men only, mean age 35, n = 11</a:t>
            </a:r>
            <a:endParaRPr lang="en-US" sz="1600" dirty="0"/>
          </a:p>
          <a:p>
            <a:pPr indent="0" marL="0">
              <a:spcAft>
                <a:spcPts val="100"/>
              </a:spcAft>
              <a:buNone/>
            </a:pPr>
            <a:r>
              <a:rPr lang="en-US" sz="1200" b="1" dirty="0">
                <a:solidFill>
                  <a:schemeClr val="tx2"/>
                </a:solidFill>
                <a:latin typeface="Courier New" pitchFamily="34" charset="0"/>
                <a:ea typeface="Courier New" pitchFamily="34" charset="-122"/>
                <a:cs typeface="Courier New" pitchFamily="34" charset="-120"/>
              </a:rPr>
              <a:t>protocol</a:t>
            </a:r>
            <a:endParaRPr lang="en-US" sz="1600" dirty="0"/>
          </a:p>
          <a:p>
            <a:pPr indent="0" marL="0">
              <a:spcAft>
                <a:spcPts val="100"/>
              </a:spcAft>
              <a:buNone/>
            </a:pPr>
            <a:r>
              <a:rPr lang="en-US" sz="1300" dirty="0">
                <a:solidFill>
                  <a:schemeClr val="tx1"/>
                </a:solidFill>
              </a:rPr>
              <a:t>head-down tilt bed rest, 21 days, control group</a:t>
            </a:r>
            <a:endParaRPr lang="en-US" sz="1600" dirty="0"/>
          </a:p>
          <a:p>
            <a:pPr indent="0" marL="0">
              <a:spcAft>
                <a:spcPts val="100"/>
              </a:spcAft>
              <a:buNone/>
            </a:pPr>
            <a:r>
              <a:rPr lang="en-US" sz="1200" b="1" dirty="0">
                <a:solidFill>
                  <a:schemeClr val="tx2"/>
                </a:solidFill>
                <a:latin typeface="Courier New" pitchFamily="34" charset="0"/>
                <a:ea typeface="Courier New" pitchFamily="34" charset="-122"/>
                <a:cs typeface="Courier New" pitchFamily="34" charset="-120"/>
              </a:rPr>
              <a:t>measurement</a:t>
            </a:r>
            <a:endParaRPr lang="en-US" sz="1600" dirty="0"/>
          </a:p>
          <a:p>
            <a:pPr indent="0" marL="0">
              <a:spcAft>
                <a:spcPts val="100"/>
              </a:spcAft>
              <a:buNone/>
            </a:pPr>
            <a:r>
              <a:rPr lang="en-US" sz="1300" dirty="0">
                <a:solidFill>
                  <a:schemeClr val="tx1"/>
                </a:solidFill>
              </a:rPr>
              <a:t>vastus lateralis, MRI cross-sectional area</a:t>
            </a:r>
            <a:endParaRPr lang="en-US" sz="1600" dirty="0"/>
          </a:p>
          <a:p>
            <a:pPr indent="0" marL="0">
              <a:spcAft>
                <a:spcPts val="100"/>
              </a:spcAft>
              <a:buNone/>
            </a:pPr>
            <a:r>
              <a:rPr lang="en-US" sz="1200" b="1" dirty="0">
                <a:solidFill>
                  <a:schemeClr val="tx2"/>
                </a:solidFill>
                <a:latin typeface="Courier New" pitchFamily="34" charset="0"/>
                <a:ea typeface="Courier New" pitchFamily="34" charset="-122"/>
                <a:cs typeface="Courier New" pitchFamily="34" charset="-120"/>
              </a:rPr>
              <a:t>target</a:t>
            </a:r>
            <a:endParaRPr lang="en-US" sz="1600" dirty="0"/>
          </a:p>
          <a:p>
            <a:pPr indent="0" marL="0">
              <a:spcAft>
                <a:spcPts val="100"/>
              </a:spcAft>
              <a:buNone/>
            </a:pPr>
            <a:r>
              <a:rPr lang="en-US" sz="1300" dirty="0">
                <a:solidFill>
                  <a:schemeClr val="tx1"/>
                </a:solidFill>
              </a:rPr>
              <a:t>day 21 of bed rest</a:t>
            </a:r>
            <a:endParaRPr lang="en-US" sz="1600" dirty="0"/>
          </a:p>
          <a:p>
            <a:pPr indent="0" marL="0">
              <a:spcAft>
                <a:spcPts val="100"/>
              </a:spcAft>
              <a:buNone/>
            </a:pPr>
            <a:r>
              <a:rPr lang="en-US" sz="1200" b="1" dirty="0">
                <a:solidFill>
                  <a:schemeClr val="tx2"/>
                </a:solidFill>
                <a:latin typeface="Courier New" pitchFamily="34" charset="0"/>
                <a:ea typeface="Courier New" pitchFamily="34" charset="-122"/>
                <a:cs typeface="Courier New" pitchFamily="34" charset="-120"/>
              </a:rPr>
              <a:t>typical_curve_other_campaigns</a:t>
            </a:r>
            <a:endParaRPr lang="en-US" sz="1600" dirty="0"/>
          </a:p>
          <a:p>
            <a:pPr indent="0" marL="0">
              <a:spcAft>
                <a:spcPts val="100"/>
              </a:spcAft>
              <a:buNone/>
            </a:pPr>
            <a:r>
              <a:rPr lang="en-US" sz="1300" dirty="0">
                <a:solidFill>
                  <a:schemeClr val="tx1"/>
                </a:solidFill>
              </a:rPr>
              <a:t>duration curve fitted on the other 31 campaigns</a:t>
            </a:r>
            <a:endParaRPr lang="en-US" sz="1600" dirty="0"/>
          </a:p>
          <a:p>
            <a:pPr indent="0" marL="0">
              <a:spcAft>
                <a:spcPts val="100"/>
              </a:spcAft>
              <a:buNone/>
            </a:pPr>
            <a:r>
              <a:rPr lang="en-US" sz="1200" b="1" dirty="0">
                <a:solidFill>
                  <a:schemeClr val="tx2"/>
                </a:solidFill>
                <a:latin typeface="Courier New" pitchFamily="34" charset="0"/>
                <a:ea typeface="Courier New" pitchFamily="34" charset="-122"/>
                <a:cs typeface="Courier New" pitchFamily="34" charset="-120"/>
              </a:rPr>
              <a:t>observations_other_campaigns</a:t>
            </a:r>
            <a:endParaRPr lang="en-US" sz="1600" dirty="0"/>
          </a:p>
          <a:p>
            <a:pPr indent="0" marL="0">
              <a:spcAft>
                <a:spcPts val="100"/>
              </a:spcAft>
              <a:buNone/>
            </a:pPr>
            <a:r>
              <a:rPr lang="en-US" sz="1300" dirty="0">
                <a:solidFill>
                  <a:schemeClr val="tx1"/>
                </a:solidFill>
              </a:rPr>
              <a:t>rows from the other 31 campaigns, most similar first, up to about 26,000 tokens</a:t>
            </a:r>
            <a:endParaRPr lang="en-US" sz="1600" dirty="0"/>
          </a:p>
          <a:p>
            <a:pPr indent="0" marL="0">
              <a:spcAft>
                <a:spcPts val="100"/>
              </a:spcAft>
              <a:buNone/>
            </a:pPr>
            <a:r>
              <a:rPr lang="en-US" sz="1200" b="1" dirty="0">
                <a:solidFill>
                  <a:schemeClr val="tx2"/>
                </a:solidFill>
                <a:latin typeface="Courier New" pitchFamily="34" charset="0"/>
                <a:ea typeface="Courier New" pitchFamily="34" charset="-122"/>
                <a:cs typeface="Courier New" pitchFamily="34" charset="-120"/>
              </a:rPr>
              <a:t>question</a:t>
            </a:r>
            <a:endParaRPr lang="en-US" sz="1600" dirty="0"/>
          </a:p>
          <a:p>
            <a:pPr indent="0" marL="0">
              <a:spcAft>
                <a:spcPts val="100"/>
              </a:spcAft>
              <a:buNone/>
            </a:pPr>
            <a:r>
              <a:rPr lang="en-US" sz="1300" dirty="0">
                <a:solidFill>
                  <a:schemeClr val="tx1"/>
                </a:solidFill>
              </a:rPr>
              <a:t>Which range will the change fall in? 19 options: below −30%, 2-point ranges up to +4%, +4% and above</a:t>
            </a:r>
            <a:endParaRPr lang="en-US" sz="1600" dirty="0"/>
          </a:p>
        </p:txBody>
      </p:sp>
      <p:sp>
        <p:nvSpPr>
          <p:cNvPr id="15" name="Arrow request to LLM"/>
          <p:cNvSpPr/>
          <p:nvPr/>
        </p:nvSpPr>
        <p:spPr>
          <a:xfrm>
            <a:off x="5486400" y="3383280"/>
            <a:ext cx="457200" cy="0"/>
          </a:xfrm>
          <a:prstGeom prst="line">
            <a:avLst/>
          </a:prstGeom>
          <a:noFill/>
          <a:ln w="15875">
            <a:solidFill>
              <a:srgbClr val="1B2533"/>
            </a:solidFill>
            <a:prstDash val="solid"/>
            <a:tailEnd type="triangle"/>
          </a:ln>
        </p:spPr>
      </p:sp>
      <p:sp>
        <p:nvSpPr>
          <p:cNvPr id="16" name="LLM box"/>
          <p:cNvSpPr/>
          <p:nvPr/>
        </p:nvSpPr>
        <p:spPr>
          <a:xfrm>
            <a:off x="5989320" y="2788920"/>
            <a:ext cx="1234440" cy="1188720"/>
          </a:xfrm>
          <a:prstGeom prst="rect">
            <a:avLst/>
          </a:prstGeom>
          <a:solidFill>
            <a:schemeClr val="bg2"/>
          </a:solidFill>
          <a:ln w="12700">
            <a:solidFill>
              <a:srgbClr val="98A6B5"/>
            </a:solidFill>
            <a:prstDash val="solid"/>
          </a:ln>
        </p:spPr>
      </p:sp>
      <p:sp>
        <p:nvSpPr>
          <p:cNvPr id="17" name="Text 13"/>
          <p:cNvSpPr txBox="1"/>
          <p:nvPr/>
        </p:nvSpPr>
        <p:spPr>
          <a:xfrm>
            <a:off x="5989320" y="2788920"/>
            <a:ext cx="1234440" cy="1188720"/>
          </a:xfrm>
          <a:prstGeom prst="rect">
            <a:avLst/>
          </a:prstGeom>
          <a:noFill/>
          <a:ln/>
        </p:spPr>
        <p:txBody>
          <a:bodyPr wrap="square" lIns="0" tIns="0" rIns="0" bIns="0" rtlCol="0" anchor="ctr"/>
          <a:lstStyle/>
          <a:p>
            <a:pPr algn="ctr" indent="0" marL="0">
              <a:buNone/>
            </a:pPr>
            <a:r>
              <a:rPr lang="en-US" sz="1600" b="1" dirty="0">
                <a:solidFill>
                  <a:schemeClr val="tx2"/>
                </a:solidFill>
              </a:rPr>
              <a:t>LLM</a:t>
            </a:r>
            <a:endParaRPr lang="en-US" sz="1600" dirty="0"/>
          </a:p>
          <a:p>
            <a:pPr algn="ctr" indent="0" marL="0">
              <a:buNone/>
            </a:pPr>
            <a:r>
              <a:rPr lang="en-US" sz="1400" b="1" dirty="0">
                <a:solidFill>
                  <a:schemeClr val="tx2"/>
                </a:solidFill>
              </a:rPr>
              <a:t>classifier</a:t>
            </a:r>
            <a:endParaRPr lang="en-US" sz="1600" dirty="0"/>
          </a:p>
          <a:p>
            <a:pPr algn="ctr" indent="0" marL="0">
              <a:buNone/>
            </a:pPr>
            <a:r>
              <a:rPr lang="en-US" sz="1100" dirty="0">
                <a:solidFill>
                  <a:schemeClr val="accent3"/>
                </a:solidFill>
              </a:rPr>
              <a:t>fixed version</a:t>
            </a:r>
            <a:endParaRPr lang="en-US" sz="1600" dirty="0"/>
          </a:p>
        </p:txBody>
      </p:sp>
      <p:sp>
        <p:nvSpPr>
          <p:cNvPr id="18" name="Arrow LLM to answer"/>
          <p:cNvSpPr/>
          <p:nvPr/>
        </p:nvSpPr>
        <p:spPr>
          <a:xfrm>
            <a:off x="7269480" y="3383280"/>
            <a:ext cx="457200" cy="0"/>
          </a:xfrm>
          <a:prstGeom prst="line">
            <a:avLst/>
          </a:prstGeom>
          <a:noFill/>
          <a:ln w="15875">
            <a:solidFill>
              <a:srgbClr val="1B2533"/>
            </a:solidFill>
            <a:prstDash val="solid"/>
            <a:tailEnd type="triangle"/>
          </a:ln>
        </p:spPr>
      </p:sp>
      <p:sp>
        <p:nvSpPr>
          <p:cNvPr id="19" name="Text 15"/>
          <p:cNvSpPr txBox="1"/>
          <p:nvPr/>
        </p:nvSpPr>
        <p:spPr>
          <a:xfrm>
            <a:off x="5486400" y="4069080"/>
            <a:ext cx="2240280" cy="1188720"/>
          </a:xfrm>
          <a:prstGeom prst="rect">
            <a:avLst/>
          </a:prstGeom>
          <a:noFill/>
          <a:ln/>
        </p:spPr>
        <p:txBody>
          <a:bodyPr wrap="square" lIns="0" tIns="0" rIns="0" bIns="0" rtlCol="0" anchor="t"/>
          <a:lstStyle/>
          <a:p>
            <a:pPr algn="ctr" indent="0" marL="0">
              <a:buNone/>
            </a:pPr>
            <a:r>
              <a:rPr lang="en-US" sz="1100" i="1" dirty="0">
                <a:solidFill>
                  <a:schemeClr val="accent3"/>
                </a:solidFill>
              </a:rPr>
              <a:t>A classifier: it returns one probability per listed option and never writes text.</a:t>
            </a:r>
            <a:endParaRPr lang="en-US" sz="1100" dirty="0"/>
          </a:p>
        </p:txBody>
      </p:sp>
      <p:graphicFrame>
        <p:nvGraphicFramePr>
          <p:cNvPr id="20" name="Example answer chart" descr=""/>
          <p:cNvGraphicFramePr/>
          <p:nvPr/>
        </p:nvGraphicFramePr>
        <p:xfrm>
          <a:off x="7772400" y="1234440"/>
          <a:ext cx="3931920" cy="3108960"/>
        </p:xfrm>
        <a:graphic xmlns:a="http://schemas.openxmlformats.org/drawingml/2006/main">
          <a:graphicData uri="http://schemas.openxmlformats.org/drawingml/2006/chart">
            <c:chart xmlns:c="http://schemas.openxmlformats.org/drawingml/2006/chart" r:id="rId3"/>
          </a:graphicData>
        </a:graphic>
      </p:graphicFrame>
      <p:sp>
        <p:nvSpPr>
          <p:cNvPr id="21" name="Text 16"/>
          <p:cNvSpPr txBox="1"/>
          <p:nvPr/>
        </p:nvSpPr>
        <p:spPr>
          <a:xfrm>
            <a:off x="7863840" y="4434840"/>
            <a:ext cx="379476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Prediction −6.6%: range midpoints weighted by probability (open ends −31% and +5%)</a:t>
            </a:r>
            <a:endParaRPr lang="en-US" sz="1300" dirty="0"/>
          </a:p>
          <a:p>
            <a:pPr marL="342900" indent="-342900">
              <a:spcAft>
                <a:spcPts val="400"/>
              </a:spcAft>
              <a:buSzPct val="100000"/>
              <a:buChar char="•"/>
            </a:pPr>
            <a:r>
              <a:rPr lang="en-US" sz="1300" dirty="0">
                <a:solidFill>
                  <a:schemeClr val="tx1"/>
                </a:solidFill>
              </a:rPr>
              <a:t>Measured −9.4%: error 2.8 pp, the median error</a:t>
            </a:r>
            <a:endParaRPr lang="en-US" sz="1300" dirty="0"/>
          </a:p>
        </p:txBody>
      </p:sp>
      <p:sp>
        <p:nvSpPr>
          <p:cNvPr id="22" name="Text 17"/>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300" b="1" dirty="0">
                <a:solidFill>
                  <a:schemeClr val="tx1"/>
                </a:solidFill>
              </a:rPr>
              <a:t>Never sent, checked on every request: </a:t>
            </a:r>
            <a:pPr indent="0" marL="0">
              <a:buNone/>
            </a:pPr>
            <a:r>
              <a:rPr lang="en-US" sz="1300" dirty="0">
                <a:solidFill>
                  <a:schemeClr val="tx1"/>
                </a:solidFill>
              </a:rPr>
              <a:t>the held-out campaign's measurements, and any paper, author or campaign name. All 430 answers are saved, and every result rebuilds from them.</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9038844" y="6432804"/>
            <a:ext cx="118872" cy="118872"/>
          </a:xfrm>
          <a:prstGeom prst="ellipse">
            <a:avLst/>
          </a:prstGeom>
          <a:solidFill>
            <a:schemeClr val="tx2"/>
          </a:solidFill>
          <a:ln w="9525">
            <a:solidFill>
              <a:srgbClr val="0B2545"/>
            </a:solidFill>
            <a:prstDash val="solid"/>
          </a:ln>
        </p:spPr>
      </p:sp>
      <p:sp>
        <p:nvSpPr>
          <p:cNvPr id="6" name="Tracker 2 Literature research"/>
          <p:cNvSpPr/>
          <p:nvPr/>
        </p:nvSpPr>
        <p:spPr>
          <a:xfrm>
            <a:off x="9386316" y="6432804"/>
            <a:ext cx="118872" cy="118872"/>
          </a:xfrm>
          <a:prstGeom prst="ellipse">
            <a:avLst/>
          </a:prstGeom>
          <a:solidFill>
            <a:schemeClr val="tx2"/>
          </a:solidFill>
          <a:ln w="9525">
            <a:solidFill>
              <a:srgbClr val="0B2545"/>
            </a:solidFill>
            <a:prstDash val="solid"/>
          </a:ln>
        </p:spPr>
      </p:sp>
      <p:sp>
        <p:nvSpPr>
          <p:cNvPr id="7" name="Tracker 3 Data extraction and database"/>
          <p:cNvSpPr/>
          <p:nvPr/>
        </p:nvSpPr>
        <p:spPr>
          <a:xfrm>
            <a:off x="9733788" y="6432804"/>
            <a:ext cx="118872" cy="118872"/>
          </a:xfrm>
          <a:prstGeom prst="ellipse">
            <a:avLst/>
          </a:prstGeom>
          <a:solidFill>
            <a:schemeClr val="tx2"/>
          </a:solidFill>
          <a:ln w="9525">
            <a:solidFill>
              <a:srgbClr val="0B2545"/>
            </a:solidFill>
            <a:prstDash val="solid"/>
          </a:ln>
        </p:spPr>
      </p:sp>
      <p:sp>
        <p:nvSpPr>
          <p:cNvPr id="8" name="Tracker 4 ML framework"/>
          <p:cNvSpPr/>
          <p:nvPr/>
        </p:nvSpPr>
        <p:spPr>
          <a:xfrm>
            <a:off x="10081260" y="6432804"/>
            <a:ext cx="118872" cy="118872"/>
          </a:xfrm>
          <a:prstGeom prst="ellipse">
            <a:avLst/>
          </a:prstGeom>
          <a:solidFill>
            <a:schemeClr val="tx2"/>
          </a:solidFill>
          <a:ln w="9525">
            <a:solidFill>
              <a:srgbClr val="0B2545"/>
            </a:solidFill>
            <a:prstDash val="solid"/>
          </a:ln>
        </p:spPr>
      </p:sp>
      <p:sp>
        <p:nvSpPr>
          <p:cNvPr id="9" name="Tracker 5 Models and results"/>
          <p:cNvSpPr/>
          <p:nvPr/>
        </p:nvSpPr>
        <p:spPr>
          <a:xfrm>
            <a:off x="10378440" y="6382512"/>
            <a:ext cx="219456" cy="219456"/>
          </a:xfrm>
          <a:prstGeom prst="ellipse">
            <a:avLst/>
          </a:prstGeom>
          <a:solidFill>
            <a:schemeClr val="accent1"/>
          </a:solidFill>
          <a:ln w="9525">
            <a:solidFill>
              <a:srgbClr val="C1440E"/>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5  Models and results</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Model comparison on held-out campaigns</a:t>
            </a:r>
            <a:endParaRPr lang="en-US" sz="2800" dirty="0"/>
          </a:p>
        </p:txBody>
      </p:sp>
      <p:graphicFrame>
        <p:nvGraphicFramePr>
          <p:cNvPr id="13" name="MAE chart with LLM" descr=""/>
          <p:cNvGraphicFramePr/>
          <p:nvPr/>
        </p:nvGraphicFramePr>
        <p:xfrm>
          <a:off x="457200" y="1188720"/>
          <a:ext cx="5669280" cy="3429000"/>
        </p:xfrm>
        <a:graphic xmlns:a="http://schemas.openxmlformats.org/drawingml/2006/main">
          <a:graphicData uri="http://schemas.openxmlformats.org/drawingml/2006/chart">
            <c:chart xmlns:c="http://schemas.openxmlformats.org/drawingml/2006/chart" r:id="rId3"/>
          </a:graphicData>
        </a:graphic>
      </p:graphicFrame>
      <p:graphicFrame>
        <p:nvGraphicFramePr>
          <p:cNvPr id="14" name="R2 chart with LLM" descr=""/>
          <p:cNvGraphicFramePr/>
          <p:nvPr/>
        </p:nvGraphicFramePr>
        <p:xfrm>
          <a:off x="6309360" y="1188720"/>
          <a:ext cx="5394960" cy="3429000"/>
        </p:xfrm>
        <a:graphic xmlns:a="http://schemas.openxmlformats.org/drawingml/2006/main">
          <a:graphicData uri="http://schemas.openxmlformats.org/drawingml/2006/chart">
            <c:chart xmlns:c="http://schemas.openxmlformats.org/drawingml/2006/chart" r:id="rId4"/>
          </a:graphicData>
        </a:graphic>
      </p:graphicFrame>
      <p:sp>
        <p:nvSpPr>
          <p:cNvPr id="15" name="Text 9"/>
          <p:cNvSpPr txBox="1"/>
          <p:nvPr/>
        </p:nvSpPr>
        <p:spPr>
          <a:xfrm>
            <a:off x="548640" y="4681728"/>
            <a:ext cx="1106424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ML models explain more variance (R² 0.27 to 0.39), but none has lower error than the curve.</a:t>
            </a:r>
            <a:endParaRPr lang="en-US" sz="1400" dirty="0"/>
          </a:p>
          <a:p>
            <a:pPr marL="342900" indent="-342900">
              <a:spcAft>
                <a:spcPts val="400"/>
              </a:spcAft>
              <a:buSzPct val="100000"/>
              <a:buChar char="•"/>
            </a:pPr>
            <a:r>
              <a:rPr lang="en-US" sz="1400" dirty="0">
                <a:solidFill>
                  <a:schemeClr val="tx1"/>
                </a:solidFill>
              </a:rPr>
              <a:t>LLM vs curve, scored the same way: 2.71 vs 3.13 pp, so 0.42 pp smaller; closer in 20 of 32 campaigns.</a:t>
            </a:r>
            <a:endParaRPr lang="en-US" sz="1400" dirty="0"/>
          </a:p>
          <a:p>
            <a:pPr marL="342900" indent="-342900">
              <a:spcAft>
                <a:spcPts val="400"/>
              </a:spcAft>
              <a:buSzPct val="100000"/>
              <a:buChar char="•"/>
            </a:pPr>
            <a:r>
              <a:rPr lang="en-US" sz="1400" dirty="0">
                <a:solidFill>
                  <a:schemeClr val="tx1"/>
                </a:solidFill>
              </a:rPr>
              <a:t>95% confidence interval of that difference: 0.13 to 0.73 pp, entirely above zero.</a:t>
            </a:r>
            <a:endParaRPr lang="en-US" sz="1400" dirty="0"/>
          </a:p>
        </p:txBody>
      </p:sp>
      <p:sp>
        <p:nvSpPr>
          <p:cNvPr id="16" name="Text 10"/>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i="1" dirty="0">
                <a:solidFill>
                  <a:schemeClr val="accent3"/>
                </a:solidFill>
              </a:rPr>
              <a:t>In the paired comparison the curve is scored exactly as the LLM is, which gives 3.13 pp instead of 3.16.</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9038844" y="6432804"/>
            <a:ext cx="118872" cy="118872"/>
          </a:xfrm>
          <a:prstGeom prst="ellipse">
            <a:avLst/>
          </a:prstGeom>
          <a:solidFill>
            <a:schemeClr val="tx2"/>
          </a:solidFill>
          <a:ln w="9525">
            <a:solidFill>
              <a:srgbClr val="0B2545"/>
            </a:solidFill>
            <a:prstDash val="solid"/>
          </a:ln>
        </p:spPr>
      </p:sp>
      <p:sp>
        <p:nvSpPr>
          <p:cNvPr id="6" name="Tracker 2 Literature research"/>
          <p:cNvSpPr/>
          <p:nvPr/>
        </p:nvSpPr>
        <p:spPr>
          <a:xfrm>
            <a:off x="9386316" y="6432804"/>
            <a:ext cx="118872" cy="118872"/>
          </a:xfrm>
          <a:prstGeom prst="ellipse">
            <a:avLst/>
          </a:prstGeom>
          <a:solidFill>
            <a:schemeClr val="tx2"/>
          </a:solidFill>
          <a:ln w="9525">
            <a:solidFill>
              <a:srgbClr val="0B2545"/>
            </a:solidFill>
            <a:prstDash val="solid"/>
          </a:ln>
        </p:spPr>
      </p:sp>
      <p:sp>
        <p:nvSpPr>
          <p:cNvPr id="7" name="Tracker 3 Data extraction and database"/>
          <p:cNvSpPr/>
          <p:nvPr/>
        </p:nvSpPr>
        <p:spPr>
          <a:xfrm>
            <a:off x="9733788" y="6432804"/>
            <a:ext cx="118872" cy="118872"/>
          </a:xfrm>
          <a:prstGeom prst="ellipse">
            <a:avLst/>
          </a:prstGeom>
          <a:solidFill>
            <a:schemeClr val="tx2"/>
          </a:solidFill>
          <a:ln w="9525">
            <a:solidFill>
              <a:srgbClr val="0B2545"/>
            </a:solidFill>
            <a:prstDash val="solid"/>
          </a:ln>
        </p:spPr>
      </p:sp>
      <p:sp>
        <p:nvSpPr>
          <p:cNvPr id="8" name="Tracker 4 ML framework"/>
          <p:cNvSpPr/>
          <p:nvPr/>
        </p:nvSpPr>
        <p:spPr>
          <a:xfrm>
            <a:off x="10081260" y="6432804"/>
            <a:ext cx="118872" cy="118872"/>
          </a:xfrm>
          <a:prstGeom prst="ellipse">
            <a:avLst/>
          </a:prstGeom>
          <a:solidFill>
            <a:schemeClr val="tx2"/>
          </a:solidFill>
          <a:ln w="9525">
            <a:solidFill>
              <a:srgbClr val="0B2545"/>
            </a:solidFill>
            <a:prstDash val="solid"/>
          </a:ln>
        </p:spPr>
      </p:sp>
      <p:sp>
        <p:nvSpPr>
          <p:cNvPr id="9" name="Tracker 5 Models and results"/>
          <p:cNvSpPr/>
          <p:nvPr/>
        </p:nvSpPr>
        <p:spPr>
          <a:xfrm>
            <a:off x="10378440" y="6382512"/>
            <a:ext cx="219456" cy="219456"/>
          </a:xfrm>
          <a:prstGeom prst="ellipse">
            <a:avLst/>
          </a:prstGeom>
          <a:solidFill>
            <a:schemeClr val="accent1"/>
          </a:solidFill>
          <a:ln w="9525">
            <a:solidFill>
              <a:srgbClr val="C1440E"/>
            </a:solidFill>
            <a:prstDash val="solid"/>
          </a:ln>
        </p:spPr>
      </p:sp>
      <p:sp>
        <p:nvSpPr>
          <p:cNvPr id="10" name="Tracker 6 Conclusion"/>
          <p:cNvSpPr/>
          <p:nvPr/>
        </p:nvSpPr>
        <p:spPr>
          <a:xfrm>
            <a:off x="10776204" y="6432804"/>
            <a:ext cx="118872" cy="118872"/>
          </a:xfrm>
          <a:prstGeom prst="ellipse">
            <a:avLst/>
          </a:prstGeom>
          <a:solidFill>
            <a:schemeClr val="bg1"/>
          </a:solidFill>
          <a:ln w="9525">
            <a:solidFill>
              <a:srgbClr val="98A6B5"/>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5  Models and results</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Robustness and validity checks of the LLM prediction</a:t>
            </a:r>
            <a:endParaRPr lang="en-US" sz="2800" dirty="0"/>
          </a:p>
        </p:txBody>
      </p:sp>
      <p:sp>
        <p:nvSpPr>
          <p:cNvPr id="13" name="Text 9"/>
          <p:cNvSpPr txBox="1"/>
          <p:nvPr/>
        </p:nvSpPr>
        <p:spPr>
          <a:xfrm>
            <a:off x="548640" y="1097280"/>
            <a:ext cx="11064240" cy="320040"/>
          </a:xfrm>
          <a:prstGeom prst="rect">
            <a:avLst/>
          </a:prstGeom>
          <a:noFill/>
          <a:ln/>
        </p:spPr>
        <p:txBody>
          <a:bodyPr wrap="square" lIns="0" tIns="0" rIns="0" bIns="0" rtlCol="0" anchor="t"/>
          <a:lstStyle/>
          <a:p>
            <a:pPr indent="0" marL="0">
              <a:buNone/>
            </a:pPr>
            <a:r>
              <a:rPr lang="en-US" sz="1300" i="1" dirty="0">
                <a:solidFill>
                  <a:schemeClr val="accent3"/>
                </a:solidFill>
              </a:rPr>
              <a:t>Gain: reduction in error against the curve, in pp (full result 0.42). Each check and its pass rule were fixed before it was run.</a:t>
            </a:r>
            <a:endParaRPr lang="en-US" sz="1300" dirty="0"/>
          </a:p>
        </p:txBody>
      </p:sp>
      <p:sp>
        <p:nvSpPr>
          <p:cNvPr id="14" name="Text 10"/>
          <p:cNvSpPr txBox="1"/>
          <p:nvPr/>
        </p:nvSpPr>
        <p:spPr>
          <a:xfrm>
            <a:off x="548640" y="1600200"/>
            <a:ext cx="5349240" cy="2926080"/>
          </a:xfrm>
          <a:prstGeom prst="rect">
            <a:avLst/>
          </a:prstGeom>
          <a:noFill/>
          <a:ln/>
        </p:spPr>
        <p:txBody>
          <a:bodyPr wrap="square" lIns="0" tIns="0" rIns="0" bIns="0" rtlCol="0" anchor="t"/>
          <a:lstStyle/>
          <a:p>
            <a:pPr indent="0" marL="0">
              <a:buNone/>
            </a:pPr>
            <a:r>
              <a:rPr lang="en-US" sz="1600" b="1" dirty="0">
                <a:solidFill>
                  <a:schemeClr val="tx2"/>
                </a:solidFill>
              </a:rPr>
              <a:t>Recognition of a known campaign</a:t>
            </a:r>
            <a:endParaRPr lang="en-US" sz="1600" dirty="0"/>
          </a:p>
          <a:p>
            <a:pPr marL="342900" indent="-342900">
              <a:spcAft>
                <a:spcPts val="400"/>
              </a:spcAft>
              <a:buSzPct val="100000"/>
              <a:buChar char="•"/>
            </a:pPr>
            <a:r>
              <a:rPr lang="en-US" sz="1400" dirty="0">
                <a:solidFill>
                  <a:schemeClr val="tx1"/>
                </a:solidFill>
              </a:rPr>
              <a:t>Everything identifying a campaign removed: gain still 0.30 pp, interval above zero</a:t>
            </a:r>
            <a:endParaRPr lang="en-US" sz="1600" dirty="0"/>
          </a:p>
          <a:p>
            <a:pPr marL="342900" indent="-342900">
              <a:spcAft>
                <a:spcPts val="400"/>
              </a:spcAft>
              <a:buSzPct val="100000"/>
              <a:buChar char="•"/>
            </a:pPr>
            <a:r>
              <a:rPr lang="en-US" sz="1400" dirty="0">
                <a:solidFill>
                  <a:schemeClr val="tx1"/>
                </a:solidFill>
              </a:rPr>
              <a:t>Asked to choose the campaign's name from a list of options: right 19% of the time, where guessing gives 8%</a:t>
            </a:r>
            <a:endParaRPr lang="en-US" sz="1600" dirty="0"/>
          </a:p>
          <a:p>
            <a:pPr indent="0" marL="0">
              <a:spcBef>
                <a:spcPts val="1000"/>
              </a:spcBef>
              <a:buNone/>
            </a:pPr>
            <a:r>
              <a:rPr lang="en-US" sz="1600" b="1" dirty="0">
                <a:solidFill>
                  <a:schemeClr val="tx2"/>
                </a:solidFill>
              </a:rPr>
              <a:t>Use of the other campaigns' data</a:t>
            </a:r>
            <a:endParaRPr lang="en-US" sz="1600" dirty="0"/>
          </a:p>
          <a:p>
            <a:pPr marL="342900" indent="-342900">
              <a:spcAft>
                <a:spcPts val="400"/>
              </a:spcAft>
              <a:buSzPct val="100000"/>
              <a:buChar char="•"/>
            </a:pPr>
            <a:r>
              <a:rPr lang="en-US" sz="1400" dirty="0">
                <a:solidFill>
                  <a:schemeClr val="tx1"/>
                </a:solidFill>
              </a:rPr>
              <a:t>Their values shuffled: worse than the curve (gain −1.25 pp)</a:t>
            </a:r>
            <a:endParaRPr lang="en-US" sz="1600" dirty="0"/>
          </a:p>
          <a:p>
            <a:pPr marL="342900" indent="-342900">
              <a:spcAft>
                <a:spcPts val="400"/>
              </a:spcAft>
              <a:buSzPct val="100000"/>
              <a:buChar char="•"/>
            </a:pPr>
            <a:r>
              <a:rPr lang="en-US" sz="1400" dirty="0">
                <a:solidFill>
                  <a:schemeClr val="tx1"/>
                </a:solidFill>
              </a:rPr>
              <a:t>None of their data given: error 5.85 vs 3.13 pp</a:t>
            </a:r>
            <a:endParaRPr lang="en-US" sz="1600" dirty="0"/>
          </a:p>
        </p:txBody>
      </p:sp>
      <p:sp>
        <p:nvSpPr>
          <p:cNvPr id="15" name="Text 11"/>
          <p:cNvSpPr txBox="1"/>
          <p:nvPr/>
        </p:nvSpPr>
        <p:spPr>
          <a:xfrm>
            <a:off x="6263640" y="1600200"/>
            <a:ext cx="5349240" cy="2926080"/>
          </a:xfrm>
          <a:prstGeom prst="rect">
            <a:avLst/>
          </a:prstGeom>
          <a:noFill/>
          <a:ln/>
        </p:spPr>
        <p:txBody>
          <a:bodyPr wrap="square" lIns="0" tIns="0" rIns="0" bIns="0" rtlCol="0" anchor="t"/>
          <a:lstStyle/>
          <a:p>
            <a:pPr indent="0" marL="0">
              <a:buNone/>
            </a:pPr>
            <a:r>
              <a:rPr lang="en-US" sz="1600" b="1" dirty="0">
                <a:solidFill>
                  <a:schemeClr val="tx2"/>
                </a:solidFill>
              </a:rPr>
              <a:t>Sensitivity to presentation</a:t>
            </a:r>
            <a:endParaRPr lang="en-US" sz="1600" dirty="0"/>
          </a:p>
          <a:p>
            <a:pPr marL="342900" indent="-342900">
              <a:spcAft>
                <a:spcPts val="400"/>
              </a:spcAft>
              <a:buSzPct val="100000"/>
              <a:buChar char="•"/>
            </a:pPr>
            <a:r>
              <a:rPr lang="en-US" sz="1400" dirty="0">
                <a:solidFill>
                  <a:schemeClr val="tx1"/>
                </a:solidFill>
              </a:rPr>
              <a:t>Other campaigns' rows in a different order: error changes 3%</a:t>
            </a:r>
            <a:endParaRPr lang="en-US" sz="1600" dirty="0"/>
          </a:p>
          <a:p>
            <a:pPr marL="342900" indent="-342900">
              <a:spcAft>
                <a:spcPts val="400"/>
              </a:spcAft>
              <a:buSzPct val="100000"/>
              <a:buChar char="•"/>
            </a:pPr>
            <a:r>
              <a:rPr lang="en-US" sz="1400" dirty="0">
                <a:solidFill>
                  <a:schemeClr val="tx1"/>
                </a:solidFill>
              </a:rPr>
              <a:t>Answer ranges moved by 1 point: error changes 1%</a:t>
            </a:r>
            <a:endParaRPr lang="en-US" sz="1600" dirty="0"/>
          </a:p>
          <a:p>
            <a:pPr indent="0" marL="0">
              <a:spcBef>
                <a:spcPts val="1000"/>
              </a:spcBef>
              <a:buNone/>
            </a:pPr>
            <a:r>
              <a:rPr lang="en-US" sz="1600" b="1" dirty="0">
                <a:solidFill>
                  <a:schemeClr val="tx2"/>
                </a:solidFill>
              </a:rPr>
              <a:t>Reproducibility</a:t>
            </a:r>
            <a:endParaRPr lang="en-US" sz="1600" dirty="0"/>
          </a:p>
          <a:p>
            <a:pPr marL="342900" indent="-342900">
              <a:spcAft>
                <a:spcPts val="400"/>
              </a:spcAft>
              <a:buSzPct val="100000"/>
              <a:buChar char="•"/>
            </a:pPr>
            <a:r>
              <a:rPr lang="en-US" sz="1400" dirty="0">
                <a:solidFill>
                  <a:schemeClr val="tx1"/>
                </a:solidFill>
              </a:rPr>
              <a:t>20 identical requests resent: predictions differ by 0.17 pp on average, below the 0.42 pp gain</a:t>
            </a:r>
            <a:endParaRPr lang="en-US" sz="1600" dirty="0"/>
          </a:p>
        </p:txBody>
      </p:sp>
      <p:sp>
        <p:nvSpPr>
          <p:cNvPr id="16" name="Text 12"/>
          <p:cNvSpPr txBox="1"/>
          <p:nvPr/>
        </p:nvSpPr>
        <p:spPr>
          <a:xfrm>
            <a:off x="548640" y="4572000"/>
            <a:ext cx="11064240" cy="1463040"/>
          </a:xfrm>
          <a:prstGeom prst="rect">
            <a:avLst/>
          </a:prstGeom>
          <a:noFill/>
          <a:ln/>
        </p:spPr>
        <p:txBody>
          <a:bodyPr wrap="square" lIns="0" tIns="0" rIns="0" bIns="0" rtlCol="0" anchor="t"/>
          <a:lstStyle/>
          <a:p>
            <a:pPr indent="0" marL="0">
              <a:buNone/>
            </a:pPr>
            <a:r>
              <a:rPr lang="en-US" sz="1600" b="1" dirty="0">
                <a:solidFill>
                  <a:schemeClr val="tx2"/>
                </a:solidFill>
              </a:rPr>
              <a:t>Limitations of this result</a:t>
            </a:r>
            <a:endParaRPr lang="en-US" sz="1600" dirty="0"/>
          </a:p>
          <a:p>
            <a:pPr marL="342900" indent="-342900">
              <a:spcAft>
                <a:spcPts val="400"/>
              </a:spcAft>
              <a:buSzPct val="100000"/>
              <a:buChar char="•"/>
            </a:pPr>
            <a:r>
              <a:rPr lang="en-US" sz="1400" dirty="0">
                <a:solidFill>
                  <a:schemeClr val="tx1"/>
                </a:solidFill>
              </a:rPr>
              <a:t>Added after the ML result was known</a:t>
            </a:r>
            <a:endParaRPr lang="en-US" sz="1600" dirty="0"/>
          </a:p>
          <a:p>
            <a:pPr marL="342900" indent="-342900">
              <a:spcAft>
                <a:spcPts val="400"/>
              </a:spcAft>
              <a:buSzPct val="100000"/>
              <a:buChar char="•"/>
            </a:pPr>
            <a:r>
              <a:rPr lang="en-US" sz="1400" dirty="0">
                <a:solidFill>
                  <a:schemeClr val="tx1"/>
                </a:solidFill>
              </a:rPr>
              <a:t>Overconfident ranges: its 80% ranges hold the measured value 62% of the time, so we report only its single-number prediction</a:t>
            </a:r>
            <a:endParaRPr lang="en-US" sz="1600" dirty="0"/>
          </a:p>
          <a:p>
            <a:pPr marL="342900" indent="-342900">
              <a:spcAft>
                <a:spcPts val="400"/>
              </a:spcAft>
              <a:buSzPct val="100000"/>
              <a:buChar char="•"/>
            </a:pPr>
            <a:r>
              <a:rPr lang="en-US" sz="1400" dirty="0">
                <a:solidFill>
                  <a:schemeClr val="tx1"/>
                </a:solidFill>
              </a:rPr>
              <a:t>Given a campaign's own earlier scans, it does not use them</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cker line"/>
          <p:cNvSpPr/>
          <p:nvPr/>
        </p:nvSpPr>
        <p:spPr>
          <a:xfrm>
            <a:off x="8732520" y="6492240"/>
            <a:ext cx="2450592" cy="0"/>
          </a:xfrm>
          <a:prstGeom prst="line">
            <a:avLst/>
          </a:prstGeom>
          <a:noFill/>
          <a:ln w="9525">
            <a:solidFill>
              <a:srgbClr val="98A6B5"/>
            </a:solidFill>
            <a:prstDash val="dash"/>
          </a:ln>
        </p:spPr>
      </p:sp>
      <p:pic>
        <p:nvPicPr>
          <p:cNvPr id="3" name="Image 0" descr="Earth">    </p:cNvPr>
          <p:cNvPicPr>
            <a:picLocks noChangeAspect="1"/>
          </p:cNvPicPr>
          <p:nvPr/>
        </p:nvPicPr>
        <p:blipFill>
          <a:blip r:embed="rId1"/>
          <a:stretch>
            <a:fillRect/>
          </a:stretch>
        </p:blipFill>
        <p:spPr>
          <a:xfrm>
            <a:off x="8631936" y="6391656"/>
            <a:ext cx="201168" cy="201168"/>
          </a:xfrm>
          <a:prstGeom prst="rect">
            <a:avLst/>
          </a:prstGeom>
        </p:spPr>
      </p:pic>
      <p:pic>
        <p:nvPicPr>
          <p:cNvPr id="4" name="Image 1" descr="Mars">    </p:cNvPr>
          <p:cNvPicPr>
            <a:picLocks noChangeAspect="1"/>
          </p:cNvPicPr>
          <p:nvPr/>
        </p:nvPicPr>
        <p:blipFill>
          <a:blip r:embed="rId2"/>
          <a:stretch>
            <a:fillRect/>
          </a:stretch>
        </p:blipFill>
        <p:spPr>
          <a:xfrm>
            <a:off x="11073384" y="6382512"/>
            <a:ext cx="219456" cy="219456"/>
          </a:xfrm>
          <a:prstGeom prst="rect">
            <a:avLst/>
          </a:prstGeom>
        </p:spPr>
      </p:pic>
      <p:sp>
        <p:nvSpPr>
          <p:cNvPr id="5" name="Tracker 1 Intro and motivation"/>
          <p:cNvSpPr/>
          <p:nvPr/>
        </p:nvSpPr>
        <p:spPr>
          <a:xfrm>
            <a:off x="9038844" y="6432804"/>
            <a:ext cx="118872" cy="118872"/>
          </a:xfrm>
          <a:prstGeom prst="ellipse">
            <a:avLst/>
          </a:prstGeom>
          <a:solidFill>
            <a:schemeClr val="tx2"/>
          </a:solidFill>
          <a:ln w="9525">
            <a:solidFill>
              <a:srgbClr val="0B2545"/>
            </a:solidFill>
            <a:prstDash val="solid"/>
          </a:ln>
        </p:spPr>
      </p:sp>
      <p:sp>
        <p:nvSpPr>
          <p:cNvPr id="6" name="Tracker 2 Literature research"/>
          <p:cNvSpPr/>
          <p:nvPr/>
        </p:nvSpPr>
        <p:spPr>
          <a:xfrm>
            <a:off x="9386316" y="6432804"/>
            <a:ext cx="118872" cy="118872"/>
          </a:xfrm>
          <a:prstGeom prst="ellipse">
            <a:avLst/>
          </a:prstGeom>
          <a:solidFill>
            <a:schemeClr val="tx2"/>
          </a:solidFill>
          <a:ln w="9525">
            <a:solidFill>
              <a:srgbClr val="0B2545"/>
            </a:solidFill>
            <a:prstDash val="solid"/>
          </a:ln>
        </p:spPr>
      </p:sp>
      <p:sp>
        <p:nvSpPr>
          <p:cNvPr id="7" name="Tracker 3 Data extraction and database"/>
          <p:cNvSpPr/>
          <p:nvPr/>
        </p:nvSpPr>
        <p:spPr>
          <a:xfrm>
            <a:off x="9733788" y="6432804"/>
            <a:ext cx="118872" cy="118872"/>
          </a:xfrm>
          <a:prstGeom prst="ellipse">
            <a:avLst/>
          </a:prstGeom>
          <a:solidFill>
            <a:schemeClr val="tx2"/>
          </a:solidFill>
          <a:ln w="9525">
            <a:solidFill>
              <a:srgbClr val="0B2545"/>
            </a:solidFill>
            <a:prstDash val="solid"/>
          </a:ln>
        </p:spPr>
      </p:sp>
      <p:sp>
        <p:nvSpPr>
          <p:cNvPr id="8" name="Tracker 4 ML framework"/>
          <p:cNvSpPr/>
          <p:nvPr/>
        </p:nvSpPr>
        <p:spPr>
          <a:xfrm>
            <a:off x="10081260" y="6432804"/>
            <a:ext cx="118872" cy="118872"/>
          </a:xfrm>
          <a:prstGeom prst="ellipse">
            <a:avLst/>
          </a:prstGeom>
          <a:solidFill>
            <a:schemeClr val="tx2"/>
          </a:solidFill>
          <a:ln w="9525">
            <a:solidFill>
              <a:srgbClr val="0B2545"/>
            </a:solidFill>
            <a:prstDash val="solid"/>
          </a:ln>
        </p:spPr>
      </p:sp>
      <p:sp>
        <p:nvSpPr>
          <p:cNvPr id="9" name="Tracker 5 Models and results"/>
          <p:cNvSpPr/>
          <p:nvPr/>
        </p:nvSpPr>
        <p:spPr>
          <a:xfrm>
            <a:off x="10428732" y="6432804"/>
            <a:ext cx="118872" cy="118872"/>
          </a:xfrm>
          <a:prstGeom prst="ellipse">
            <a:avLst/>
          </a:prstGeom>
          <a:solidFill>
            <a:schemeClr val="tx2"/>
          </a:solidFill>
          <a:ln w="9525">
            <a:solidFill>
              <a:srgbClr val="0B2545"/>
            </a:solidFill>
            <a:prstDash val="solid"/>
          </a:ln>
        </p:spPr>
      </p:sp>
      <p:sp>
        <p:nvSpPr>
          <p:cNvPr id="10" name="Tracker 6 Conclusion"/>
          <p:cNvSpPr/>
          <p:nvPr/>
        </p:nvSpPr>
        <p:spPr>
          <a:xfrm>
            <a:off x="10725912" y="6382512"/>
            <a:ext cx="219456" cy="219456"/>
          </a:xfrm>
          <a:prstGeom prst="ellipse">
            <a:avLst/>
          </a:prstGeom>
          <a:solidFill>
            <a:schemeClr val="accent1"/>
          </a:solidFill>
          <a:ln w="9525">
            <a:solidFill>
              <a:srgbClr val="C1440E"/>
            </a:solidFill>
            <a:prstDash val="solid"/>
          </a:ln>
        </p:spPr>
      </p:sp>
      <p:sp>
        <p:nvSpPr>
          <p:cNvPr id="11" name="Text 7"/>
          <p:cNvSpPr txBox="1"/>
          <p:nvPr/>
        </p:nvSpPr>
        <p:spPr>
          <a:xfrm>
            <a:off x="5394960" y="6355080"/>
            <a:ext cx="3017520" cy="274320"/>
          </a:xfrm>
          <a:prstGeom prst="rect">
            <a:avLst/>
          </a:prstGeom>
          <a:noFill/>
          <a:ln/>
        </p:spPr>
        <p:txBody>
          <a:bodyPr wrap="square" lIns="0" tIns="0" rIns="0" bIns="0" rtlCol="0" anchor="ctr"/>
          <a:lstStyle/>
          <a:p>
            <a:pPr algn="r" indent="0" marL="0">
              <a:buNone/>
            </a:pPr>
            <a:r>
              <a:rPr lang="en-US" sz="1000" b="1" dirty="0">
                <a:solidFill>
                  <a:schemeClr val="accent1"/>
                </a:solidFill>
              </a:rPr>
              <a:t>6  Conclusion</a:t>
            </a:r>
            <a:endParaRPr lang="en-US" sz="1000" dirty="0"/>
          </a:p>
        </p:txBody>
      </p:sp>
      <p:sp>
        <p:nvSpPr>
          <p:cNvPr id="1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Conclusions, limitations and further work</a:t>
            </a:r>
            <a:endParaRPr lang="en-US" sz="2800" dirty="0"/>
          </a:p>
        </p:txBody>
      </p:sp>
      <p:sp>
        <p:nvSpPr>
          <p:cNvPr id="13" name="Text 9"/>
          <p:cNvSpPr txBox="1"/>
          <p:nvPr/>
        </p:nvSpPr>
        <p:spPr>
          <a:xfrm>
            <a:off x="548640" y="1280160"/>
            <a:ext cx="5303520" cy="2377440"/>
          </a:xfrm>
          <a:prstGeom prst="rect">
            <a:avLst/>
          </a:prstGeom>
          <a:noFill/>
          <a:ln/>
        </p:spPr>
        <p:txBody>
          <a:bodyPr wrap="square" lIns="0" tIns="0" rIns="0" bIns="0" rtlCol="0" anchor="t"/>
          <a:lstStyle/>
          <a:p>
            <a:pPr indent="0" marL="0">
              <a:spcAft>
                <a:spcPts val="800"/>
              </a:spcAft>
              <a:buNone/>
            </a:pPr>
            <a:r>
              <a:rPr lang="en-US" sz="2000" b="1" dirty="0">
                <a:solidFill>
                  <a:schemeClr val="tx2"/>
                </a:solidFill>
              </a:rPr>
              <a:t>Conclusions</a:t>
            </a:r>
            <a:endParaRPr lang="en-US" sz="2000" dirty="0"/>
          </a:p>
          <a:p>
            <a:pPr marL="342900" indent="-342900">
              <a:spcAft>
                <a:spcPts val="400"/>
              </a:spcAft>
              <a:buSzPct val="100000"/>
              <a:buChar char="•"/>
            </a:pPr>
            <a:r>
              <a:rPr lang="en-US" sz="1800" dirty="0">
                <a:solidFill>
                  <a:schemeClr val="tx1"/>
                </a:solidFill>
              </a:rPr>
              <a:t>ML models do not beat a duration-only curve (3.18 vs 3.16 pp)</a:t>
            </a:r>
            <a:endParaRPr lang="en-US" sz="2000" dirty="0"/>
          </a:p>
          <a:p>
            <a:pPr marL="342900" indent="-342900">
              <a:spcAft>
                <a:spcPts val="400"/>
              </a:spcAft>
              <a:buSzPct val="100000"/>
              <a:buChar char="•"/>
            </a:pPr>
            <a:r>
              <a:rPr lang="en-US" sz="1800" dirty="0">
                <a:solidFill>
                  <a:schemeClr val="tx1"/>
                </a:solidFill>
              </a:rPr>
              <a:t>The LLM classifier lowers the error to 2.71 pp (curve 3.13 pp)</a:t>
            </a:r>
            <a:endParaRPr lang="en-US" sz="2000" dirty="0"/>
          </a:p>
        </p:txBody>
      </p:sp>
      <p:sp>
        <p:nvSpPr>
          <p:cNvPr id="14" name="Text 10"/>
          <p:cNvSpPr txBox="1"/>
          <p:nvPr/>
        </p:nvSpPr>
        <p:spPr>
          <a:xfrm>
            <a:off x="6309360" y="1280160"/>
            <a:ext cx="5303520" cy="2377440"/>
          </a:xfrm>
          <a:prstGeom prst="rect">
            <a:avLst/>
          </a:prstGeom>
          <a:noFill/>
          <a:ln/>
        </p:spPr>
        <p:txBody>
          <a:bodyPr wrap="square" lIns="0" tIns="0" rIns="0" bIns="0" rtlCol="0" anchor="t"/>
          <a:lstStyle/>
          <a:p>
            <a:pPr indent="0" marL="0">
              <a:spcAft>
                <a:spcPts val="800"/>
              </a:spcAft>
              <a:buNone/>
            </a:pPr>
            <a:r>
              <a:rPr lang="en-US" sz="2000" b="1" dirty="0">
                <a:solidFill>
                  <a:schemeClr val="tx2"/>
                </a:solidFill>
              </a:rPr>
              <a:t>Limitations</a:t>
            </a:r>
            <a:endParaRPr lang="en-US" sz="2000" dirty="0"/>
          </a:p>
          <a:p>
            <a:pPr marL="342900" indent="-342900">
              <a:spcAft>
                <a:spcPts val="400"/>
              </a:spcAft>
              <a:buSzPct val="100000"/>
              <a:buChar char="•"/>
            </a:pPr>
            <a:r>
              <a:rPr lang="en-US" sz="1800" dirty="0">
                <a:solidFill>
                  <a:schemeClr val="tx1"/>
                </a:solidFill>
              </a:rPr>
              <a:t>32 independent campaigns, mostly young men</a:t>
            </a:r>
            <a:endParaRPr lang="en-US" sz="2000" dirty="0"/>
          </a:p>
          <a:p>
            <a:pPr marL="342900" indent="-342900">
              <a:spcAft>
                <a:spcPts val="400"/>
              </a:spcAft>
              <a:buSzPct val="100000"/>
              <a:buChar char="•"/>
            </a:pPr>
            <a:r>
              <a:rPr lang="en-US" sz="1800" dirty="0">
                <a:solidFill>
                  <a:schemeClr val="tx1"/>
                </a:solidFill>
              </a:rPr>
              <a:t>No bed-rest data beyond day 119</a:t>
            </a:r>
            <a:endParaRPr lang="en-US" sz="2000" dirty="0"/>
          </a:p>
          <a:p>
            <a:pPr marL="342900" indent="-342900">
              <a:spcAft>
                <a:spcPts val="400"/>
              </a:spcAft>
              <a:buSzPct val="100000"/>
              <a:buChar char="•"/>
            </a:pPr>
            <a:r>
              <a:rPr lang="en-US" sz="1800" dirty="0">
                <a:solidFill>
                  <a:schemeClr val="tx1"/>
                </a:solidFill>
              </a:rPr>
              <a:t>Group averages, not individual astronauts</a:t>
            </a:r>
            <a:endParaRPr lang="en-US" sz="2000" dirty="0"/>
          </a:p>
          <a:p>
            <a:pPr marL="342900" indent="-342900">
              <a:spcAft>
                <a:spcPts val="400"/>
              </a:spcAft>
              <a:buSzPct val="100000"/>
              <a:buChar char="•"/>
            </a:pPr>
            <a:r>
              <a:rPr lang="en-US" sz="1800" dirty="0">
                <a:solidFill>
                  <a:schemeClr val="tx1"/>
                </a:solidFill>
              </a:rPr>
              <a:t>Bed rest is not spaceflight</a:t>
            </a:r>
            <a:endParaRPr lang="en-US" sz="2000" dirty="0"/>
          </a:p>
        </p:txBody>
      </p:sp>
      <p:sp>
        <p:nvSpPr>
          <p:cNvPr id="15" name="Divider"/>
          <p:cNvSpPr/>
          <p:nvPr/>
        </p:nvSpPr>
        <p:spPr>
          <a:xfrm>
            <a:off x="548640" y="3840480"/>
            <a:ext cx="11064240" cy="0"/>
          </a:xfrm>
          <a:prstGeom prst="line">
            <a:avLst/>
          </a:prstGeom>
          <a:noFill/>
          <a:ln w="9525">
            <a:solidFill>
              <a:srgbClr val="98A6B5"/>
            </a:solidFill>
            <a:prstDash val="solid"/>
          </a:ln>
        </p:spPr>
      </p:sp>
      <p:sp>
        <p:nvSpPr>
          <p:cNvPr id="16" name="Text 12"/>
          <p:cNvSpPr txBox="1"/>
          <p:nvPr/>
        </p:nvSpPr>
        <p:spPr>
          <a:xfrm>
            <a:off x="548640" y="4023360"/>
            <a:ext cx="11064240" cy="2103120"/>
          </a:xfrm>
          <a:prstGeom prst="rect">
            <a:avLst/>
          </a:prstGeom>
          <a:noFill/>
          <a:ln/>
        </p:spPr>
        <p:txBody>
          <a:bodyPr wrap="square" lIns="0" tIns="0" rIns="0" bIns="0" rtlCol="0" anchor="t"/>
          <a:lstStyle/>
          <a:p>
            <a:pPr indent="0" marL="0">
              <a:spcAft>
                <a:spcPts val="800"/>
              </a:spcAft>
              <a:buNone/>
            </a:pPr>
            <a:r>
              <a:rPr lang="en-US" sz="2000" b="1" dirty="0">
                <a:solidFill>
                  <a:schemeClr val="tx2"/>
                </a:solidFill>
              </a:rPr>
              <a:t>Further work</a:t>
            </a:r>
            <a:endParaRPr lang="en-US" sz="2000" dirty="0"/>
          </a:p>
          <a:p>
            <a:pPr marL="342900" indent="-342900">
              <a:spcAft>
                <a:spcPts val="400"/>
              </a:spcAft>
              <a:buSzPct val="100000"/>
              <a:buChar char="•"/>
            </a:pPr>
            <a:r>
              <a:rPr lang="en-US" sz="1600" dirty="0">
                <a:solidFill>
                  <a:schemeClr val="tx1"/>
                </a:solidFill>
              </a:rPr>
              <a:t>Muscle-specific modelling: estimate each muscle's susceptibility and combine it with baseline volumes into total lower-limb volume loss</a:t>
            </a:r>
            <a:endParaRPr lang="en-US" sz="2000" dirty="0"/>
          </a:p>
          <a:p>
            <a:pPr marL="342900" indent="-342900">
              <a:spcAft>
                <a:spcPts val="400"/>
              </a:spcAft>
              <a:buSzPct val="100000"/>
              <a:buChar char="•"/>
            </a:pPr>
            <a:r>
              <a:rPr lang="en-US" sz="1600" dirty="0">
                <a:solidFill>
                  <a:schemeClr val="tx1"/>
                </a:solidFill>
              </a:rPr>
              <a:t>Individual and functional prediction: participant-level data over time, linked to strength and function</a:t>
            </a:r>
            <a:endParaRPr lang="en-US" sz="2000" dirty="0"/>
          </a:p>
          <a:p>
            <a:pPr marL="342900" indent="-342900">
              <a:spcAft>
                <a:spcPts val="400"/>
              </a:spcAft>
              <a:buSzPct val="100000"/>
              <a:buChar char="•"/>
            </a:pPr>
            <a:r>
              <a:rPr lang="en-US" sz="1600" dirty="0">
                <a:solidFill>
                  <a:schemeClr val="tx1"/>
                </a:solidFill>
              </a:rPr>
              <a:t>Validation on independent campaigns and spaceflight data before any personal risk-assessment tool</a:t>
            </a:r>
            <a:endParaRPr lang="en-US" sz="2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DGLRM logo">    </p:cNvPr>
          <p:cNvPicPr>
            <a:picLocks noChangeAspect="1"/>
          </p:cNvPicPr>
          <p:nvPr/>
        </p:nvPicPr>
        <p:blipFill>
          <a:blip r:embed="rId2"/>
          <a:stretch>
            <a:fillRect/>
          </a:stretch>
        </p:blipFill>
        <p:spPr>
          <a:xfrm>
            <a:off x="822960" y="548640"/>
            <a:ext cx="2926080" cy="786581"/>
          </a:xfrm>
          <a:prstGeom prst="rect">
            <a:avLst/>
          </a:prstGeom>
        </p:spPr>
      </p:pic>
      <p:sp>
        <p:nvSpPr>
          <p:cNvPr id="3" name="Text 0"/>
          <p:cNvSpPr txBox="1"/>
          <p:nvPr/>
        </p:nvSpPr>
        <p:spPr>
          <a:xfrm>
            <a:off x="822960" y="1920240"/>
            <a:ext cx="8961120" cy="1737360"/>
          </a:xfrm>
          <a:prstGeom prst="rect">
            <a:avLst/>
          </a:prstGeom>
          <a:noFill/>
          <a:ln/>
        </p:spPr>
        <p:txBody>
          <a:bodyPr wrap="square" lIns="0" tIns="0" rIns="0" bIns="0" rtlCol="0" anchor="b"/>
          <a:lstStyle/>
          <a:p>
            <a:pPr indent="0" marL="0">
              <a:spcAft>
                <a:spcPts val="1000"/>
              </a:spcAft>
              <a:buNone/>
            </a:pPr>
            <a:r>
              <a:rPr lang="en-US" sz="4600" b="1" dirty="0">
                <a:solidFill>
                  <a:srgbClr val="FFFFFF"/>
                </a:solidFill>
                <a:latin typeface="Cambria" pitchFamily="34" charset="0"/>
                <a:ea typeface="Cambria" pitchFamily="34" charset="-122"/>
                <a:cs typeface="Cambria" pitchFamily="34" charset="-120"/>
              </a:rPr>
              <a:t>Thank you for listening</a:t>
            </a:r>
            <a:endParaRPr lang="en-US" sz="4600" dirty="0"/>
          </a:p>
          <a:p>
            <a:pPr indent="0" marL="0">
              <a:spcAft>
                <a:spcPts val="1000"/>
              </a:spcAft>
              <a:buNone/>
            </a:pPr>
            <a:r>
              <a:rPr lang="en-US" sz="2600" b="1" dirty="0">
                <a:solidFill>
                  <a:srgbClr val="F2D0A9"/>
                </a:solidFill>
                <a:latin typeface="Cambria" pitchFamily="34" charset="0"/>
                <a:ea typeface="Cambria" pitchFamily="34" charset="-122"/>
                <a:cs typeface="Cambria" pitchFamily="34" charset="-120"/>
              </a:rPr>
              <a:t>Questions are welcome</a:t>
            </a:r>
            <a:endParaRPr lang="en-US" sz="4600" dirty="0"/>
          </a:p>
        </p:txBody>
      </p:sp>
      <p:sp>
        <p:nvSpPr>
          <p:cNvPr id="4" name="Text 1"/>
          <p:cNvSpPr txBox="1"/>
          <p:nvPr/>
        </p:nvSpPr>
        <p:spPr>
          <a:xfrm>
            <a:off x="822960" y="3931920"/>
            <a:ext cx="7680960" cy="365760"/>
          </a:xfrm>
          <a:prstGeom prst="rect">
            <a:avLst/>
          </a:prstGeom>
          <a:noFill/>
          <a:ln/>
        </p:spPr>
        <p:txBody>
          <a:bodyPr wrap="square" lIns="0" tIns="0" rIns="0" bIns="0" rtlCol="0" anchor="t"/>
          <a:lstStyle/>
          <a:p>
            <a:pPr indent="0" marL="0">
              <a:buNone/>
            </a:pPr>
            <a:r>
              <a:rPr lang="en-US" sz="1600" b="1" dirty="0">
                <a:solidFill>
                  <a:srgbClr val="F2D0A9"/>
                </a:solidFill>
              </a:rPr>
              <a:t>From Bed Rest to Mars  |  64. Jahrestagung der DGLRM</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Backup: dataset coverage and limitations</a:t>
            </a:r>
            <a:endParaRPr lang="en-US" sz="2800" dirty="0"/>
          </a:p>
        </p:txBody>
      </p:sp>
      <p:sp>
        <p:nvSpPr>
          <p:cNvPr id="3" name="Text 1"/>
          <p:cNvSpPr txBox="1"/>
          <p:nvPr/>
        </p:nvSpPr>
        <p:spPr>
          <a:xfrm>
            <a:off x="9784080" y="6355080"/>
            <a:ext cx="1188720" cy="274320"/>
          </a:xfrm>
          <a:prstGeom prst="rect">
            <a:avLst/>
          </a:prstGeom>
          <a:noFill/>
          <a:ln/>
        </p:spPr>
        <p:txBody>
          <a:bodyPr wrap="square" lIns="0" tIns="0" rIns="0" bIns="0" rtlCol="0" anchor="ctr"/>
          <a:lstStyle/>
          <a:p>
            <a:pPr algn="r" indent="0" marL="0">
              <a:buNone/>
            </a:pPr>
            <a:r>
              <a:rPr lang="en-US" sz="1000" b="1" dirty="0">
                <a:solidFill>
                  <a:schemeClr val="accent3"/>
                </a:solidFill>
              </a:rPr>
              <a:t>BACKUP</a:t>
            </a:r>
            <a:endParaRPr lang="en-US" sz="1000" dirty="0"/>
          </a:p>
        </p:txBody>
      </p:sp>
      <p:sp>
        <p:nvSpPr>
          <p:cNvPr id="4" name="Text 2"/>
          <p:cNvSpPr txBox="1"/>
          <p:nvPr/>
        </p:nvSpPr>
        <p:spPr>
          <a:xfrm>
            <a:off x="54864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Did you miss studies?</a:t>
            </a:r>
            <a:endParaRPr lang="en-US" sz="1500" dirty="0"/>
          </a:p>
          <a:p>
            <a:pPr marL="342900" indent="-342900">
              <a:spcAft>
                <a:spcPts val="400"/>
              </a:spcAft>
              <a:buSzPct val="100000"/>
              <a:buChar char="•"/>
            </a:pPr>
            <a:r>
              <a:rPr lang="en-US" sz="1400" dirty="0">
                <a:solidFill>
                  <a:schemeClr val="tx1"/>
                </a:solidFill>
              </a:rPr>
              <a:t>Four sources searched from 2013 on, plus 10 older or open-data studies (sources and queries on the next slide)</a:t>
            </a:r>
            <a:endParaRPr lang="en-US" sz="1500" dirty="0"/>
          </a:p>
          <a:p>
            <a:pPr marL="342900" indent="-342900">
              <a:spcAft>
                <a:spcPts val="400"/>
              </a:spcAft>
              <a:buSzPct val="100000"/>
              <a:buChar char="•"/>
            </a:pPr>
            <a:r>
              <a:rPr lang="en-US" sz="1400" dirty="0">
                <a:solidFill>
                  <a:schemeClr val="tx1"/>
                </a:solidFill>
              </a:rPr>
              <a:t>Not covered: Embase (no access)</a:t>
            </a:r>
            <a:endParaRPr lang="en-US" sz="1500" dirty="0"/>
          </a:p>
        </p:txBody>
      </p:sp>
      <p:sp>
        <p:nvSpPr>
          <p:cNvPr id="5" name="Text 3"/>
          <p:cNvSpPr txBox="1"/>
          <p:nvPr/>
        </p:nvSpPr>
        <p:spPr>
          <a:xfrm>
            <a:off x="621792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One campaign dominates the data</a:t>
            </a:r>
            <a:endParaRPr lang="en-US" sz="1500" dirty="0"/>
          </a:p>
          <a:p>
            <a:pPr marL="342900" indent="-342900">
              <a:spcAft>
                <a:spcPts val="400"/>
              </a:spcAft>
              <a:buSzPct val="100000"/>
              <a:buChar char="•"/>
            </a:pPr>
            <a:r>
              <a:rPr lang="en-US" sz="1400" dirty="0">
                <a:solidFill>
                  <a:schemeClr val="tx1"/>
                </a:solidFill>
              </a:rPr>
              <a:t>MEDES 90-day: 40% of all rows, a quarter of the modelling data</a:t>
            </a:r>
            <a:endParaRPr lang="en-US" sz="1500" dirty="0"/>
          </a:p>
          <a:p>
            <a:pPr marL="342900" indent="-342900">
              <a:spcAft>
                <a:spcPts val="400"/>
              </a:spcAft>
              <a:buSzPct val="100000"/>
              <a:buChar char="•"/>
            </a:pPr>
            <a:r>
              <a:rPr lang="en-US" sz="1400" dirty="0">
                <a:solidFill>
                  <a:schemeClr val="tx1"/>
                </a:solidFill>
              </a:rPr>
              <a:t>Scoring gives each campaign one vote; the re-run without it is still to do</a:t>
            </a:r>
            <a:endParaRPr lang="en-US" sz="1500" dirty="0"/>
          </a:p>
        </p:txBody>
      </p:sp>
      <p:sp>
        <p:nvSpPr>
          <p:cNvPr id="6" name="Text 4"/>
          <p:cNvSpPr txBox="1"/>
          <p:nvPr/>
        </p:nvSpPr>
        <p:spPr>
          <a:xfrm>
            <a:off x="54864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Can MRI, CT, DXA and ultrasound be mixed?</a:t>
            </a:r>
            <a:endParaRPr lang="en-US" sz="1500" dirty="0"/>
          </a:p>
          <a:p>
            <a:pPr marL="342900" indent="-342900">
              <a:spcAft>
                <a:spcPts val="400"/>
              </a:spcAft>
              <a:buSzPct val="100000"/>
              <a:buChar char="•"/>
            </a:pPr>
            <a:r>
              <a:rPr lang="en-US" sz="1400" dirty="0">
                <a:solidFill>
                  <a:schemeClr val="tx1"/>
                </a:solidFill>
              </a:rPr>
              <a:t>Each method gets its own term: DXA and ultrasound thickness show 5 to 6 pp less loss than CT; MRI volume is within 0.5 pp</a:t>
            </a:r>
            <a:endParaRPr lang="en-US" sz="1500" dirty="0"/>
          </a:p>
          <a:p>
            <a:pPr marL="342900" indent="-342900">
              <a:spcAft>
                <a:spcPts val="400"/>
              </a:spcAft>
              <a:buSzPct val="100000"/>
              <a:buChar char="•"/>
            </a:pPr>
            <a:r>
              <a:rPr lang="en-US" sz="1400" dirty="0">
                <a:solidFill>
                  <a:schemeClr val="tx1"/>
                </a:solidFill>
              </a:rPr>
              <a:t>The MRI-only re-run is still to do</a:t>
            </a:r>
            <a:endParaRPr lang="en-US" sz="1500" dirty="0"/>
          </a:p>
        </p:txBody>
      </p:sp>
      <p:sp>
        <p:nvSpPr>
          <p:cNvPr id="7" name="Text 5"/>
          <p:cNvSpPr txBox="1"/>
          <p:nvPr/>
        </p:nvSpPr>
        <p:spPr>
          <a:xfrm>
            <a:off x="621792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How reliable is the extraction?</a:t>
            </a:r>
            <a:endParaRPr lang="en-US" sz="1500" dirty="0"/>
          </a:p>
          <a:p>
            <a:pPr marL="342900" indent="-342900">
              <a:spcAft>
                <a:spcPts val="400"/>
              </a:spcAft>
              <a:buSzPct val="100000"/>
              <a:buChar char="•"/>
            </a:pPr>
            <a:r>
              <a:rPr lang="en-US" sz="1400" dirty="0">
                <a:solidFill>
                  <a:schemeClr val="tx1"/>
                </a:solidFill>
              </a:rPr>
              <a:t>Every value is traced to its paper and page, table or figure</a:t>
            </a:r>
            <a:endParaRPr lang="en-US" sz="1500" dirty="0"/>
          </a:p>
          <a:p>
            <a:pPr marL="342900" indent="-342900">
              <a:spcAft>
                <a:spcPts val="400"/>
              </a:spcAft>
              <a:buSzPct val="100000"/>
              <a:buChar char="•"/>
            </a:pPr>
            <a:r>
              <a:rPr lang="en-US" sz="1400" dirty="0">
                <a:solidFill>
                  <a:schemeClr val="tx1"/>
                </a:solidFill>
              </a:rPr>
              <a:t>674 of 742 rows high confidence; 19 read off figures; no independent second extraction</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Backup: literature search sources and query</a:t>
            </a:r>
            <a:endParaRPr lang="en-US" sz="2800" dirty="0"/>
          </a:p>
        </p:txBody>
      </p:sp>
      <p:sp>
        <p:nvSpPr>
          <p:cNvPr id="3" name="Text 1"/>
          <p:cNvSpPr txBox="1"/>
          <p:nvPr/>
        </p:nvSpPr>
        <p:spPr>
          <a:xfrm>
            <a:off x="9784080" y="6355080"/>
            <a:ext cx="1188720" cy="274320"/>
          </a:xfrm>
          <a:prstGeom prst="rect">
            <a:avLst/>
          </a:prstGeom>
          <a:noFill/>
          <a:ln/>
        </p:spPr>
        <p:txBody>
          <a:bodyPr wrap="square" lIns="0" tIns="0" rIns="0" bIns="0" rtlCol="0" anchor="ctr"/>
          <a:lstStyle/>
          <a:p>
            <a:pPr algn="r" indent="0" marL="0">
              <a:buNone/>
            </a:pPr>
            <a:r>
              <a:rPr lang="en-US" sz="1000" b="1" dirty="0">
                <a:solidFill>
                  <a:schemeClr val="accent3"/>
                </a:solidFill>
              </a:rPr>
              <a:t>BACKUP</a:t>
            </a:r>
            <a:endParaRPr lang="en-US" sz="1000" dirty="0"/>
          </a:p>
        </p:txBody>
      </p:sp>
      <p:sp>
        <p:nvSpPr>
          <p:cNvPr id="4" name="Text 2"/>
          <p:cNvSpPr txBox="1"/>
          <p:nvPr/>
        </p:nvSpPr>
        <p:spPr>
          <a:xfrm>
            <a:off x="548640" y="1188720"/>
            <a:ext cx="5120640" cy="292608"/>
          </a:xfrm>
          <a:prstGeom prst="rect">
            <a:avLst/>
          </a:prstGeom>
          <a:noFill/>
          <a:ln/>
        </p:spPr>
        <p:txBody>
          <a:bodyPr wrap="square" lIns="0" tIns="0" rIns="0" bIns="0" rtlCol="0" anchor="t"/>
          <a:lstStyle/>
          <a:p>
            <a:pPr indent="0" marL="0">
              <a:buNone/>
            </a:pPr>
            <a:r>
              <a:rPr lang="en-US" sz="1500" b="1" dirty="0">
                <a:solidFill>
                  <a:schemeClr val="tx2"/>
                </a:solidFill>
              </a:rPr>
              <a:t>Table 3. Sources (searched 4 September 2026)</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120640" cy="914400"/>
        </p:xfrm>
        <a:graphic>
          <a:graphicData uri="http://schemas.openxmlformats.org/drawingml/2006/table">
            <a:tbl>
              <a:tblPr/>
              <a:tblGrid>
                <a:gridCol w="3931920"/>
                <a:gridCol w="1188720"/>
              </a:tblGrid>
              <a:tr h="34747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solidFill>
                      <a:srgbClr val="0B254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Records</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solidFill>
                      <a:srgbClr val="0B2545"/>
                    </a:solidFill>
                  </a:tcPr>
                </a:tc>
              </a:tr>
              <a:tr h="347472">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PubMed</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dirty="0">
                          <a:solidFill>
                            <a:srgbClr val="1B2533"/>
                          </a:solidFill>
                          <a:latin typeface="Calibri" pitchFamily="34" charset="0"/>
                          <a:ea typeface="Calibri" pitchFamily="34" charset="-122"/>
                          <a:cs typeface="Calibri" pitchFamily="34" charset="-120"/>
                        </a:rPr>
                        <a:t>1,412</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347472">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Scopus</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dirty="0">
                          <a:solidFill>
                            <a:srgbClr val="1B2533"/>
                          </a:solidFill>
                          <a:latin typeface="Calibri" pitchFamily="34" charset="0"/>
                          <a:ea typeface="Calibri" pitchFamily="34" charset="-122"/>
                          <a:cs typeface="Calibri" pitchFamily="34" charset="-120"/>
                        </a:rPr>
                        <a:t>1,757</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347472">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Web of Science Core Collection</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dirty="0">
                          <a:solidFill>
                            <a:srgbClr val="1B2533"/>
                          </a:solidFill>
                          <a:latin typeface="Calibri" pitchFamily="34" charset="0"/>
                          <a:ea typeface="Calibri" pitchFamily="34" charset="-122"/>
                          <a:cs typeface="Calibri" pitchFamily="34" charset="-120"/>
                        </a:rPr>
                        <a:t>1,876</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347472">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NASA Technical Reports Server</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dirty="0">
                          <a:solidFill>
                            <a:srgbClr val="1B2533"/>
                          </a:solidFill>
                          <a:latin typeface="Calibri" pitchFamily="34" charset="0"/>
                          <a:ea typeface="Calibri" pitchFamily="34" charset="-122"/>
                          <a:cs typeface="Calibri" pitchFamily="34" charset="-120"/>
                        </a:rPr>
                        <a:t>686</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347472">
                <a:tc>
                  <a:txBody>
                    <a:bodyPr/>
                    <a:lstStyle/>
                    <a:p>
                      <a:pPr algn="l" indent="0" marL="0">
                        <a:buNone/>
                      </a:pPr>
                      <a:r>
                        <a:rPr lang="en-US" sz="1300" dirty="0">
                          <a:solidFill>
                            <a:srgbClr val="1B2533"/>
                          </a:solidFill>
                          <a:latin typeface="Calibri" pitchFamily="34" charset="0"/>
                          <a:ea typeface="Calibri" pitchFamily="34" charset="-122"/>
                          <a:cs typeface="Calibri" pitchFamily="34" charset="-120"/>
                        </a:rPr>
                        <a:t>Earlier studies and NASA open data</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dirty="0">
                          <a:solidFill>
                            <a:srgbClr val="1B253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r h="347472">
                <a:tc>
                  <a:txBody>
                    <a:bodyPr/>
                    <a:lstStyle/>
                    <a:p>
                      <a:pPr algn="l" indent="0" marL="0">
                        <a:buNone/>
                      </a:pPr>
                      <a:r>
                        <a:rPr lang="en-US" sz="1300" b="1" dirty="0">
                          <a:solidFill>
                            <a:srgbClr val="1B2533"/>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c>
                  <a:txBody>
                    <a:bodyPr/>
                    <a:lstStyle/>
                    <a:p>
                      <a:pPr algn="r" indent="0" marL="0">
                        <a:buNone/>
                      </a:pPr>
                      <a:r>
                        <a:rPr lang="en-US" sz="1300" b="1" dirty="0">
                          <a:solidFill>
                            <a:srgbClr val="1B2533"/>
                          </a:solidFill>
                          <a:latin typeface="Calibri" pitchFamily="34" charset="0"/>
                          <a:ea typeface="Calibri" pitchFamily="34" charset="-122"/>
                          <a:cs typeface="Calibri" pitchFamily="34" charset="-120"/>
                        </a:rPr>
                        <a:t>5,741</a:t>
                      </a:r>
                      <a:endParaRPr lang="en-US" sz="130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9525" cap="flat" cmpd="sng" algn="ctr">
                      <a:solidFill>
                        <a:srgbClr val="E2E7ED"/>
                      </a:solidFill>
                      <a:prstDash val="solid"/>
                      <a:round/>
                      <a:headEnd type="none" w="med" len="med"/>
                      <a:tailEnd type="none" w="med" len="med"/>
                    </a:lnB>
                  </a:tcPr>
                </a:tc>
              </a:tr>
            </a:tbl>
          </a:graphicData>
        </a:graphic>
      </p:graphicFrame>
      <p:sp>
        <p:nvSpPr>
          <p:cNvPr id="6" name="Text 3"/>
          <p:cNvSpPr txBox="1"/>
          <p:nvPr/>
        </p:nvSpPr>
        <p:spPr>
          <a:xfrm>
            <a:off x="548640" y="4114800"/>
            <a:ext cx="5120640" cy="2011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Journal databases: publications from 2013 onwards</a:t>
            </a:r>
            <a:endParaRPr lang="en-US" sz="1300" dirty="0"/>
          </a:p>
          <a:p>
            <a:pPr marL="342900" indent="-342900">
              <a:spcAft>
                <a:spcPts val="400"/>
              </a:spcAft>
              <a:buSzPct val="100000"/>
              <a:buChar char="•"/>
            </a:pPr>
            <a:r>
              <a:rPr lang="en-US" sz="1300" dirty="0">
                <a:solidFill>
                  <a:schemeClr val="tx1"/>
                </a:solidFill>
              </a:rPr>
              <a:t>Older work enters through studies we held before the search (9) and one NASA open-data campaign</a:t>
            </a:r>
            <a:endParaRPr lang="en-US" sz="1300" dirty="0"/>
          </a:p>
          <a:p>
            <a:pPr marL="342900" indent="-342900">
              <a:spcAft>
                <a:spcPts val="400"/>
              </a:spcAft>
              <a:buSzPct val="100000"/>
              <a:buChar char="•"/>
            </a:pPr>
            <a:r>
              <a:rPr lang="en-US" sz="1300" dirty="0">
                <a:solidFill>
                  <a:schemeClr val="tx1"/>
                </a:solidFill>
              </a:rPr>
              <a:t>NASA reports: five short keyword queries, e.g. "bed rest" "muscle volume"</a:t>
            </a:r>
            <a:endParaRPr lang="en-US" sz="1300" dirty="0"/>
          </a:p>
          <a:p>
            <a:pPr marL="342900" indent="-342900">
              <a:spcAft>
                <a:spcPts val="400"/>
              </a:spcAft>
              <a:buSzPct val="100000"/>
              <a:buChar char="•"/>
            </a:pPr>
            <a:r>
              <a:rPr lang="en-US" sz="1300" dirty="0">
                <a:solidFill>
                  <a:schemeClr val="tx1"/>
                </a:solidFill>
              </a:rPr>
              <a:t>Not searched: Embase (no institutional access), Cochrane CENTRAL, trial registries, citation chasing</a:t>
            </a:r>
            <a:endParaRPr lang="en-US" sz="1300" dirty="0"/>
          </a:p>
        </p:txBody>
      </p:sp>
      <p:sp>
        <p:nvSpPr>
          <p:cNvPr id="7" name="Text 4"/>
          <p:cNvSpPr txBox="1"/>
          <p:nvPr/>
        </p:nvSpPr>
        <p:spPr>
          <a:xfrm>
            <a:off x="6035040" y="1188720"/>
            <a:ext cx="5577840" cy="292608"/>
          </a:xfrm>
          <a:prstGeom prst="rect">
            <a:avLst/>
          </a:prstGeom>
          <a:noFill/>
          <a:ln/>
        </p:spPr>
        <p:txBody>
          <a:bodyPr wrap="square" lIns="0" tIns="0" rIns="0" bIns="0" rtlCol="0" anchor="t"/>
          <a:lstStyle/>
          <a:p>
            <a:pPr indent="0" marL="0">
              <a:buNone/>
            </a:pPr>
            <a:r>
              <a:rPr lang="en-US" sz="1500" b="1" dirty="0">
                <a:solidFill>
                  <a:schemeClr val="tx2"/>
                </a:solidFill>
              </a:rPr>
              <a:t>Figure 12. Query: two required blocks</a:t>
            </a:r>
            <a:endParaRPr lang="en-US" sz="1500" dirty="0"/>
          </a:p>
        </p:txBody>
      </p:sp>
      <p:sp>
        <p:nvSpPr>
          <p:cNvPr id="8" name="Block Unloading model"/>
          <p:cNvSpPr/>
          <p:nvPr/>
        </p:nvSpPr>
        <p:spPr>
          <a:xfrm>
            <a:off x="6035040" y="1572768"/>
            <a:ext cx="1600200" cy="1463040"/>
          </a:xfrm>
          <a:prstGeom prst="rect">
            <a:avLst/>
          </a:prstGeom>
          <a:solidFill>
            <a:srgbClr val="FFFFFF"/>
          </a:solidFill>
          <a:ln w="12700">
            <a:solidFill>
              <a:srgbClr val="98A6B5"/>
            </a:solidFill>
            <a:prstDash val="solid"/>
          </a:ln>
        </p:spPr>
      </p:sp>
      <p:sp>
        <p:nvSpPr>
          <p:cNvPr id="9" name="Text 6"/>
          <p:cNvSpPr txBox="1"/>
          <p:nvPr/>
        </p:nvSpPr>
        <p:spPr>
          <a:xfrm>
            <a:off x="6108192" y="1627632"/>
            <a:ext cx="1453896" cy="1371600"/>
          </a:xfrm>
          <a:prstGeom prst="rect">
            <a:avLst/>
          </a:prstGeom>
          <a:noFill/>
          <a:ln/>
        </p:spPr>
        <p:txBody>
          <a:bodyPr wrap="square" lIns="0" tIns="0" rIns="0" bIns="0" rtlCol="0" anchor="ctr"/>
          <a:lstStyle/>
          <a:p>
            <a:pPr algn="ctr" indent="0" marL="0">
              <a:buNone/>
            </a:pPr>
            <a:r>
              <a:rPr lang="en-US" sz="1200" b="1" dirty="0">
                <a:solidFill>
                  <a:schemeClr val="tx2"/>
                </a:solidFill>
              </a:rPr>
              <a:t>Unloading model</a:t>
            </a:r>
            <a:endParaRPr lang="en-US" sz="1200" dirty="0"/>
          </a:p>
          <a:p>
            <a:pPr algn="ctr" indent="0" marL="0">
              <a:buNone/>
            </a:pPr>
            <a:r>
              <a:rPr lang="en-US" sz="1050" dirty="0">
                <a:solidFill>
                  <a:schemeClr val="tx1"/>
                </a:solidFill>
              </a:rPr>
              <a:t>bed rest, head-down tilt, dry immersion, limb suspension, simulated microgravity, disuse</a:t>
            </a:r>
            <a:endParaRPr lang="en-US" sz="1200" dirty="0"/>
          </a:p>
        </p:txBody>
      </p:sp>
      <p:sp>
        <p:nvSpPr>
          <p:cNvPr id="10" name="Text 7"/>
          <p:cNvSpPr txBox="1"/>
          <p:nvPr/>
        </p:nvSpPr>
        <p:spPr>
          <a:xfrm>
            <a:off x="7635240" y="1572768"/>
            <a:ext cx="388620" cy="1463040"/>
          </a:xfrm>
          <a:prstGeom prst="rect">
            <a:avLst/>
          </a:prstGeom>
          <a:noFill/>
          <a:ln/>
        </p:spPr>
        <p:txBody>
          <a:bodyPr wrap="square" lIns="0" tIns="0" rIns="0" bIns="0" rtlCol="0" anchor="ctr"/>
          <a:lstStyle/>
          <a:p>
            <a:pPr algn="ctr" indent="0" marL="0">
              <a:buNone/>
            </a:pPr>
            <a:r>
              <a:rPr lang="en-US" sz="1100" b="1" dirty="0">
                <a:solidFill>
                  <a:schemeClr val="accent1"/>
                </a:solidFill>
              </a:rPr>
              <a:t>AND</a:t>
            </a:r>
            <a:endParaRPr lang="en-US" sz="1100" dirty="0"/>
          </a:p>
        </p:txBody>
      </p:sp>
      <p:sp>
        <p:nvSpPr>
          <p:cNvPr id="11" name="Block Muscle outcome"/>
          <p:cNvSpPr/>
          <p:nvPr/>
        </p:nvSpPr>
        <p:spPr>
          <a:xfrm>
            <a:off x="8023860" y="1572768"/>
            <a:ext cx="1600200" cy="1463040"/>
          </a:xfrm>
          <a:prstGeom prst="rect">
            <a:avLst/>
          </a:prstGeom>
          <a:solidFill>
            <a:srgbClr val="FFFFFF"/>
          </a:solidFill>
          <a:ln w="12700">
            <a:solidFill>
              <a:srgbClr val="98A6B5"/>
            </a:solidFill>
            <a:prstDash val="solid"/>
          </a:ln>
        </p:spPr>
      </p:sp>
      <p:sp>
        <p:nvSpPr>
          <p:cNvPr id="12" name="Text 9"/>
          <p:cNvSpPr txBox="1"/>
          <p:nvPr/>
        </p:nvSpPr>
        <p:spPr>
          <a:xfrm>
            <a:off x="8097012" y="1627632"/>
            <a:ext cx="1453896" cy="1371600"/>
          </a:xfrm>
          <a:prstGeom prst="rect">
            <a:avLst/>
          </a:prstGeom>
          <a:noFill/>
          <a:ln/>
        </p:spPr>
        <p:txBody>
          <a:bodyPr wrap="square" lIns="0" tIns="0" rIns="0" bIns="0" rtlCol="0" anchor="ctr"/>
          <a:lstStyle/>
          <a:p>
            <a:pPr algn="ctr" indent="0" marL="0">
              <a:buNone/>
            </a:pPr>
            <a:r>
              <a:rPr lang="en-US" sz="1200" b="1" dirty="0">
                <a:solidFill>
                  <a:schemeClr val="tx2"/>
                </a:solidFill>
              </a:rPr>
              <a:t>Muscle outcome</a:t>
            </a:r>
            <a:endParaRPr lang="en-US" sz="1200" dirty="0"/>
          </a:p>
          <a:p>
            <a:pPr algn="ctr" indent="0" marL="0">
              <a:buNone/>
            </a:pPr>
            <a:r>
              <a:rPr lang="en-US" sz="1050" dirty="0">
                <a:solidFill>
                  <a:schemeClr val="tx1"/>
                </a:solidFill>
              </a:rPr>
              <a:t>atrophy, muscle volume, mass, size, cross-sectional area, lean mass, thickness, main leg muscles</a:t>
            </a:r>
            <a:endParaRPr lang="en-US" sz="1200" dirty="0"/>
          </a:p>
        </p:txBody>
      </p:sp>
      <p:sp>
        <p:nvSpPr>
          <p:cNvPr id="13" name="Text 10"/>
          <p:cNvSpPr txBox="1"/>
          <p:nvPr/>
        </p:nvSpPr>
        <p:spPr>
          <a:xfrm>
            <a:off x="9624060" y="1572768"/>
            <a:ext cx="388620" cy="1463040"/>
          </a:xfrm>
          <a:prstGeom prst="rect">
            <a:avLst/>
          </a:prstGeom>
          <a:noFill/>
          <a:ln/>
        </p:spPr>
        <p:txBody>
          <a:bodyPr wrap="square" lIns="0" tIns="0" rIns="0" bIns="0" rtlCol="0" anchor="ctr"/>
          <a:lstStyle/>
          <a:p>
            <a:pPr algn="ctr" indent="0" marL="0">
              <a:buNone/>
            </a:pPr>
            <a:r>
              <a:rPr lang="en-US" sz="1100" b="1" dirty="0">
                <a:solidFill>
                  <a:schemeClr val="accent1"/>
                </a:solidFill>
              </a:rPr>
              <a:t>NOT</a:t>
            </a:r>
            <a:endParaRPr lang="en-US" sz="1100" dirty="0"/>
          </a:p>
        </p:txBody>
      </p:sp>
      <p:sp>
        <p:nvSpPr>
          <p:cNvPr id="14" name="Block Excluded"/>
          <p:cNvSpPr/>
          <p:nvPr/>
        </p:nvSpPr>
        <p:spPr>
          <a:xfrm>
            <a:off x="10012680" y="1572768"/>
            <a:ext cx="1600200" cy="1463040"/>
          </a:xfrm>
          <a:prstGeom prst="rect">
            <a:avLst/>
          </a:prstGeom>
          <a:solidFill>
            <a:schemeClr val="bg2"/>
          </a:solidFill>
          <a:ln w="12700">
            <a:solidFill>
              <a:srgbClr val="98A6B5"/>
            </a:solidFill>
            <a:prstDash val="dash"/>
          </a:ln>
        </p:spPr>
      </p:sp>
      <p:sp>
        <p:nvSpPr>
          <p:cNvPr id="15" name="Text 12"/>
          <p:cNvSpPr txBox="1"/>
          <p:nvPr/>
        </p:nvSpPr>
        <p:spPr>
          <a:xfrm>
            <a:off x="10085832" y="1627632"/>
            <a:ext cx="1453896" cy="1371600"/>
          </a:xfrm>
          <a:prstGeom prst="rect">
            <a:avLst/>
          </a:prstGeom>
          <a:noFill/>
          <a:ln/>
        </p:spPr>
        <p:txBody>
          <a:bodyPr wrap="square" lIns="0" tIns="0" rIns="0" bIns="0" rtlCol="0" anchor="ctr"/>
          <a:lstStyle/>
          <a:p>
            <a:pPr algn="ctr" indent="0" marL="0">
              <a:buNone/>
            </a:pPr>
            <a:r>
              <a:rPr lang="en-US" sz="1200" b="1" dirty="0">
                <a:solidFill>
                  <a:schemeClr val="tx2"/>
                </a:solidFill>
              </a:rPr>
              <a:t>Excluded</a:t>
            </a:r>
            <a:endParaRPr lang="en-US" sz="1200" dirty="0"/>
          </a:p>
          <a:p>
            <a:pPr algn="ctr" indent="0" marL="0">
              <a:buNone/>
            </a:pPr>
            <a:r>
              <a:rPr lang="en-US" sz="1050" dirty="0">
                <a:solidFill>
                  <a:schemeClr val="tx1"/>
                </a:solidFill>
              </a:rPr>
              <a:t>rat, mouse, rodent, hindlimb</a:t>
            </a:r>
            <a:endParaRPr lang="en-US" sz="1200" dirty="0"/>
          </a:p>
        </p:txBody>
      </p:sp>
      <p:sp>
        <p:nvSpPr>
          <p:cNvPr id="16" name="Text 13"/>
          <p:cNvSpPr txBox="1"/>
          <p:nvPr/>
        </p:nvSpPr>
        <p:spPr>
          <a:xfrm>
            <a:off x="6035040" y="3200400"/>
            <a:ext cx="5577840" cy="228600"/>
          </a:xfrm>
          <a:prstGeom prst="rect">
            <a:avLst/>
          </a:prstGeom>
          <a:noFill/>
          <a:ln/>
        </p:spPr>
        <p:txBody>
          <a:bodyPr wrap="square" lIns="0" tIns="0" rIns="0" bIns="0" rtlCol="0" anchor="t"/>
          <a:lstStyle/>
          <a:p>
            <a:pPr indent="0" marL="0">
              <a:buNone/>
            </a:pPr>
            <a:r>
              <a:rPr lang="en-US" sz="1100" b="1" dirty="0">
                <a:solidFill>
                  <a:schemeClr val="accent3"/>
                </a:solidFill>
              </a:rPr>
              <a:t>Web of Science string, verbatim</a:t>
            </a:r>
            <a:endParaRPr lang="en-US" sz="1100" dirty="0"/>
          </a:p>
        </p:txBody>
      </p:sp>
      <p:sp>
        <p:nvSpPr>
          <p:cNvPr id="17" name="Query panel"/>
          <p:cNvSpPr/>
          <p:nvPr/>
        </p:nvSpPr>
        <p:spPr>
          <a:xfrm>
            <a:off x="6035040" y="3456432"/>
            <a:ext cx="5605272" cy="2240280"/>
          </a:xfrm>
          <a:prstGeom prst="rect">
            <a:avLst/>
          </a:prstGeom>
          <a:solidFill>
            <a:schemeClr val="bg2"/>
          </a:solidFill>
          <a:ln/>
        </p:spPr>
      </p:sp>
      <p:sp>
        <p:nvSpPr>
          <p:cNvPr id="18" name="Text 15"/>
          <p:cNvSpPr txBox="1"/>
          <p:nvPr/>
        </p:nvSpPr>
        <p:spPr>
          <a:xfrm>
            <a:off x="6144768" y="3547872"/>
            <a:ext cx="5440680" cy="2103120"/>
          </a:xfrm>
          <a:prstGeom prst="rect">
            <a:avLst/>
          </a:prstGeom>
          <a:noFill/>
          <a:ln/>
        </p:spPr>
        <p:txBody>
          <a:bodyPr wrap="square" lIns="0" tIns="0" rIns="0" bIns="0" rtlCol="0" anchor="t"/>
          <a:lstStyle/>
          <a:p>
            <a:pPr indent="0" marL="0">
              <a:buNone/>
            </a:pPr>
            <a:r>
              <a:rPr lang="en-US" sz="900" dirty="0">
                <a:solidFill>
                  <a:schemeClr val="tx1"/>
                </a:solidFill>
                <a:latin typeface="Courier New" pitchFamily="34" charset="0"/>
                <a:ea typeface="Courier New" pitchFamily="34" charset="-122"/>
                <a:cs typeface="Courier New" pitchFamily="34" charset="-120"/>
              </a:rPr>
              <a:t>TS=(("bed rest" OR bedrest OR "head-down tilt" OR "head down bed rest" OR HDBR</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OR antiorthostatic OR hypokinesia OR hypodynamia OR "dry immersion"</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OR "limb suspension" OR ULLS OR "simulated microgravity"</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OR "microgravity analog*" OR "spaceflight analog*" OR "mechanical unloading"</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OR "muscle unloading" OR disuse)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AND</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(atroph* OR "muscle volume" OR "muscle mass" OR "muscle size"</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OR "cross-sectional area" OR PCSA OR "lean mass" OR "muscle thickness"</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OR "muscle wasting" OR deconditioning OR soleus OR gastrocnemius</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  OR "triceps surae" OR quadriceps OR "vastus lateralis" OR "knee extensor"))</a:t>
            </a:r>
            <a:endParaRPr lang="en-US" sz="900" dirty="0"/>
          </a:p>
          <a:p>
            <a:pPr indent="0" marL="0">
              <a:buNone/>
            </a:pPr>
            <a:r>
              <a:rPr lang="en-US" sz="900" dirty="0">
                <a:solidFill>
                  <a:schemeClr val="tx1"/>
                </a:solidFill>
                <a:latin typeface="Courier New" pitchFamily="34" charset="0"/>
                <a:ea typeface="Courier New" pitchFamily="34" charset="-122"/>
                <a:cs typeface="Courier New" pitchFamily="34" charset="-120"/>
              </a:rPr>
              <a:t>NOT TS=(rat OR rats OR mice OR mouse OR rodent OR hindlimb OR "hind limb")</a:t>
            </a:r>
            <a:endParaRPr lang="en-US" sz="9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Backup: dataset expansion and composition</a:t>
            </a:r>
            <a:endParaRPr lang="en-US" sz="2800" dirty="0"/>
          </a:p>
        </p:txBody>
      </p:sp>
      <p:sp>
        <p:nvSpPr>
          <p:cNvPr id="3" name="Text 1"/>
          <p:cNvSpPr txBox="1"/>
          <p:nvPr/>
        </p:nvSpPr>
        <p:spPr>
          <a:xfrm>
            <a:off x="9784080" y="6355080"/>
            <a:ext cx="1188720" cy="274320"/>
          </a:xfrm>
          <a:prstGeom prst="rect">
            <a:avLst/>
          </a:prstGeom>
          <a:noFill/>
          <a:ln/>
        </p:spPr>
        <p:txBody>
          <a:bodyPr wrap="square" lIns="0" tIns="0" rIns="0" bIns="0" rtlCol="0" anchor="ctr"/>
          <a:lstStyle/>
          <a:p>
            <a:pPr algn="r" indent="0" marL="0">
              <a:buNone/>
            </a:pPr>
            <a:r>
              <a:rPr lang="en-US" sz="1000" b="1" dirty="0">
                <a:solidFill>
                  <a:schemeClr val="accent3"/>
                </a:solidFill>
              </a:rPr>
              <a:t>BACKUP</a:t>
            </a:r>
            <a:endParaRPr lang="en-US" sz="1000" dirty="0"/>
          </a:p>
        </p:txBody>
      </p:sp>
      <p:sp>
        <p:nvSpPr>
          <p:cNvPr id="4" name="Text 2"/>
          <p:cNvSpPr txBox="1"/>
          <p:nvPr/>
        </p:nvSpPr>
        <p:spPr>
          <a:xfrm>
            <a:off x="54864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The abstract had 15 studies. Did adding 37 change the analysis after seeing data?</a:t>
            </a:r>
            <a:endParaRPr lang="en-US" sz="1500" dirty="0"/>
          </a:p>
          <a:p>
            <a:pPr marL="342900" indent="-342900">
              <a:spcAft>
                <a:spcPts val="400"/>
              </a:spcAft>
              <a:buSzPct val="100000"/>
              <a:buChar char="•"/>
            </a:pPr>
            <a:r>
              <a:rPr lang="en-US" sz="1400" dirty="0">
                <a:solidFill>
                  <a:schemeClr val="tx1"/>
                </a:solidFill>
              </a:rPr>
              <a:t>Eligibility criteria were fixed before screening; the dataset was frozen (14 and 19 September) before the final models</a:t>
            </a:r>
            <a:endParaRPr lang="en-US" sz="1500" dirty="0"/>
          </a:p>
          <a:p>
            <a:pPr marL="342900" indent="-342900">
              <a:spcAft>
                <a:spcPts val="400"/>
              </a:spcAft>
              <a:buSzPct val="100000"/>
              <a:buChar char="•"/>
            </a:pPr>
            <a:r>
              <a:rPr lang="en-US" sz="1400" dirty="0">
                <a:solidFill>
                  <a:schemeClr val="tx1"/>
                </a:solidFill>
              </a:rPr>
              <a:t>The curve shape was chosen by a rule declared before fitting</a:t>
            </a:r>
            <a:endParaRPr lang="en-US" sz="1500" dirty="0"/>
          </a:p>
        </p:txBody>
      </p:sp>
      <p:sp>
        <p:nvSpPr>
          <p:cNvPr id="5" name="Text 3"/>
          <p:cNvSpPr txBox="1"/>
          <p:nvPr/>
        </p:nvSpPr>
        <p:spPr>
          <a:xfrm>
            <a:off x="621792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Slide 5 shows 180 days, but the model stops at day 119. Why?</a:t>
            </a:r>
            <a:endParaRPr lang="en-US" sz="1500" dirty="0"/>
          </a:p>
          <a:p>
            <a:pPr marL="342900" indent="-342900">
              <a:spcAft>
                <a:spcPts val="400"/>
              </a:spcAft>
              <a:buSzPct val="100000"/>
              <a:buChar char="•"/>
            </a:pPr>
            <a:r>
              <a:rPr lang="en-US" sz="1400" dirty="0">
                <a:solidFill>
                  <a:schemeClr val="tx1"/>
                </a:solidFill>
              </a:rPr>
              <a:t>The 14 spaceflight rows were measured after landing, so they leave the model with the 264 recovery rows</a:t>
            </a:r>
            <a:endParaRPr lang="en-US" sz="1500" dirty="0"/>
          </a:p>
          <a:p>
            <a:pPr marL="342900" indent="-342900">
              <a:spcAft>
                <a:spcPts val="400"/>
              </a:spcAft>
              <a:buSzPct val="100000"/>
              <a:buChar char="•"/>
            </a:pPr>
            <a:r>
              <a:rPr lang="en-US" sz="1400" dirty="0">
                <a:solidFill>
                  <a:schemeClr val="tx1"/>
                </a:solidFill>
              </a:rPr>
              <a:t>8 of the 14 are one back muscle (lumbar multifidus)</a:t>
            </a:r>
            <a:endParaRPr lang="en-US" sz="1500" dirty="0"/>
          </a:p>
        </p:txBody>
      </p:sp>
      <p:sp>
        <p:nvSpPr>
          <p:cNvPr id="6" name="Text 4"/>
          <p:cNvSpPr txBox="1"/>
          <p:nvPr/>
        </p:nvSpPr>
        <p:spPr>
          <a:xfrm>
            <a:off x="54864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Mostly young men: does this apply to women and older crews?</a:t>
            </a:r>
            <a:endParaRPr lang="en-US" sz="1500" dirty="0"/>
          </a:p>
          <a:p>
            <a:pPr marL="342900" indent="-342900">
              <a:spcAft>
                <a:spcPts val="400"/>
              </a:spcAft>
              <a:buSzPct val="100000"/>
              <a:buChar char="•"/>
            </a:pPr>
            <a:r>
              <a:rPr lang="en-US" sz="1400" dirty="0">
                <a:solidFill>
                  <a:schemeClr val="tx1"/>
                </a:solidFill>
              </a:rPr>
              <a:t>Rows, not people: men only 567, mixed 113, women only 40 (35 of them WISE-2005), not reported 22</a:t>
            </a:r>
            <a:endParaRPr lang="en-US" sz="1500" dirty="0"/>
          </a:p>
          <a:p>
            <a:pPr marL="342900" indent="-342900">
              <a:spcAft>
                <a:spcPts val="400"/>
              </a:spcAft>
              <a:buSzPct val="100000"/>
              <a:buChar char="•"/>
            </a:pPr>
            <a:r>
              <a:rPr lang="en-US" sz="1400" dirty="0">
                <a:solidFill>
                  <a:schemeClr val="tx1"/>
                </a:solidFill>
              </a:rPr>
              <a:t>Healthy young 692, middle-aged 8, older 42: the results describe young men</a:t>
            </a:r>
            <a:endParaRPr lang="en-US" sz="1500" dirty="0"/>
          </a:p>
        </p:txBody>
      </p:sp>
      <p:sp>
        <p:nvSpPr>
          <p:cNvPr id="7" name="Text 5"/>
          <p:cNvSpPr txBox="1"/>
          <p:nvPr/>
        </p:nvSpPr>
        <p:spPr>
          <a:xfrm>
            <a:off x="621792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What exactly is a row's percentage change?</a:t>
            </a:r>
            <a:endParaRPr lang="en-US" sz="1500" dirty="0"/>
          </a:p>
          <a:p>
            <a:pPr marL="342900" indent="-342900">
              <a:spcAft>
                <a:spcPts val="400"/>
              </a:spcAft>
              <a:buSzPct val="100000"/>
              <a:buChar char="•"/>
            </a:pPr>
            <a:r>
              <a:rPr lang="en-US" sz="1400" dirty="0">
                <a:solidFill>
                  <a:schemeClr val="tx1"/>
                </a:solidFill>
              </a:rPr>
              <a:t>Follow-up vs the same group's own baseline; negative means loss</a:t>
            </a:r>
            <a:endParaRPr lang="en-US" sz="1500" dirty="0"/>
          </a:p>
          <a:p>
            <a:pPr marL="342900" indent="-342900">
              <a:spcAft>
                <a:spcPts val="400"/>
              </a:spcAft>
              <a:buSzPct val="100000"/>
              <a:buChar char="•"/>
            </a:pPr>
            <a:r>
              <a:rPr lang="en-US" sz="1400" dirty="0">
                <a:solidFill>
                  <a:schemeClr val="tx1"/>
                </a:solidFill>
              </a:rPr>
              <a:t>Recomputed from the printed values; where a paper prints the mean of individual changes, that value is kept and labelled</a:t>
            </a:r>
            <a:endParaRPr lang="en-US" sz="1500" dirty="0"/>
          </a:p>
          <a:p>
            <a:pPr marL="342900" indent="-342900">
              <a:spcAft>
                <a:spcPts val="400"/>
              </a:spcAft>
              <a:buSzPct val="100000"/>
              <a:buChar char="•"/>
            </a:pPr>
            <a:r>
              <a:rPr lang="en-US" sz="1400" dirty="0">
                <a:solidFill>
                  <a:schemeClr val="tx1"/>
                </a:solidFill>
              </a:rPr>
              <a:t>Rows weighted by number of participants: only 8 of 32 campaigns report the spread of the change</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Backup: certainty of the muscle-group curves</a:t>
            </a:r>
            <a:endParaRPr lang="en-US" sz="2800" dirty="0"/>
          </a:p>
        </p:txBody>
      </p:sp>
      <p:sp>
        <p:nvSpPr>
          <p:cNvPr id="3" name="Text 1"/>
          <p:cNvSpPr txBox="1"/>
          <p:nvPr/>
        </p:nvSpPr>
        <p:spPr>
          <a:xfrm>
            <a:off x="9784080" y="6355080"/>
            <a:ext cx="1188720" cy="274320"/>
          </a:xfrm>
          <a:prstGeom prst="rect">
            <a:avLst/>
          </a:prstGeom>
          <a:noFill/>
          <a:ln/>
        </p:spPr>
        <p:txBody>
          <a:bodyPr wrap="square" lIns="0" tIns="0" rIns="0" bIns="0" rtlCol="0" anchor="ctr"/>
          <a:lstStyle/>
          <a:p>
            <a:pPr algn="r" indent="0" marL="0">
              <a:buNone/>
            </a:pPr>
            <a:r>
              <a:rPr lang="en-US" sz="1000" b="1" dirty="0">
                <a:solidFill>
                  <a:schemeClr val="accent3"/>
                </a:solidFill>
              </a:rPr>
              <a:t>BACKUP</a:t>
            </a:r>
            <a:endParaRPr lang="en-US" sz="1000" dirty="0"/>
          </a:p>
        </p:txBody>
      </p:sp>
      <p:sp>
        <p:nvSpPr>
          <p:cNvPr id="4" name="Text 2"/>
          <p:cNvSpPr txBox="1"/>
          <p:nvPr/>
        </p:nvSpPr>
        <p:spPr>
          <a:xfrm>
            <a:off x="54864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Is each line fitted to its own muscle?</a:t>
            </a:r>
            <a:endParaRPr lang="en-US" sz="1500" dirty="0"/>
          </a:p>
          <a:p>
            <a:pPr marL="342900" indent="-342900">
              <a:spcAft>
                <a:spcPts val="400"/>
              </a:spcAft>
              <a:buSzPct val="100000"/>
              <a:buChar char="•"/>
            </a:pPr>
            <a:r>
              <a:rPr lang="en-US" sz="1400" dirty="0">
                <a:solidFill>
                  <a:schemeClr val="tx1"/>
                </a:solidFill>
              </a:rPr>
              <a:t>No. The day-60 values are fitted per muscle group (named muscles, 25 campaigns); the lines share one time course (τ = 60 days)</a:t>
            </a:r>
            <a:endParaRPr lang="en-US" sz="1500" dirty="0"/>
          </a:p>
          <a:p>
            <a:pPr marL="342900" indent="-342900">
              <a:spcAft>
                <a:spcPts val="400"/>
              </a:spcAft>
              <a:buSzPct val="100000"/>
              <a:buChar char="•"/>
            </a:pPr>
            <a:r>
              <a:rPr lang="en-US" sz="1400" dirty="0">
                <a:solidFill>
                  <a:schemeClr val="tx1"/>
                </a:solidFill>
              </a:rPr>
              <a:t>Separate shapes cannot be estimated: six of nine groups rest on four campaigns or fewer</a:t>
            </a:r>
            <a:endParaRPr lang="en-US" sz="1500" dirty="0"/>
          </a:p>
        </p:txBody>
      </p:sp>
      <p:sp>
        <p:nvSpPr>
          <p:cNvPr id="5" name="Text 3"/>
          <p:cNvSpPr txBox="1"/>
          <p:nvPr/>
        </p:nvSpPr>
        <p:spPr>
          <a:xfrm>
            <a:off x="621792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Why a saturating curve?</a:t>
            </a:r>
            <a:endParaRPr lang="en-US" sz="1500" dirty="0"/>
          </a:p>
          <a:p>
            <a:pPr marL="342900" indent="-342900">
              <a:spcAft>
                <a:spcPts val="400"/>
              </a:spcAft>
              <a:buSzPct val="100000"/>
              <a:buChar char="•"/>
            </a:pPr>
            <a:r>
              <a:rPr lang="en-US" sz="1400" dirty="0">
                <a:solidFill>
                  <a:schemeClr val="tx1"/>
                </a:solidFill>
              </a:rPr>
              <a:t>Logarithmic, saturating and spline curves fit equally well (within 1.3 AIC points): the loss slows, but the data cannot say along which curve</a:t>
            </a:r>
            <a:endParaRPr lang="en-US" sz="1500" dirty="0"/>
          </a:p>
          <a:p>
            <a:pPr marL="342900" indent="-342900">
              <a:spcAft>
                <a:spcPts val="400"/>
              </a:spcAft>
              <a:buSzPct val="100000"/>
              <a:buChar char="•"/>
            </a:pPr>
            <a:r>
              <a:rPr lang="en-US" sz="1400" dirty="0">
                <a:solidFill>
                  <a:schemeClr val="tx1"/>
                </a:solidFill>
              </a:rPr>
              <a:t>By day 119 the curve reaches 86% of its plateau, −17.3% (95% CI −20.9 to −13.7)</a:t>
            </a:r>
            <a:endParaRPr lang="en-US" sz="1500" dirty="0"/>
          </a:p>
        </p:txBody>
      </p:sp>
      <p:sp>
        <p:nvSpPr>
          <p:cNvPr id="6" name="Text 4"/>
          <p:cNvSpPr txBox="1"/>
          <p:nvPr/>
        </p:nvSpPr>
        <p:spPr>
          <a:xfrm>
            <a:off x="54864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How certain are the day-60 values?</a:t>
            </a:r>
            <a:endParaRPr lang="en-US" sz="1500" dirty="0"/>
          </a:p>
          <a:p>
            <a:pPr marL="342900" indent="-342900">
              <a:spcAft>
                <a:spcPts val="400"/>
              </a:spcAft>
              <a:buSzPct val="100000"/>
              <a:buChar char="•"/>
            </a:pPr>
            <a:r>
              <a:rPr lang="en-US" sz="1400" dirty="0">
                <a:solidFill>
                  <a:schemeClr val="tx1"/>
                </a:solidFill>
              </a:rPr>
              <a:t>Calf −15.8% (95% CI −18.9 to −12.7); front thigh −10.1% (−13.6 to −6.6); hip rotators −1.9% (−3.9 to 0.2)</a:t>
            </a:r>
            <a:endParaRPr lang="en-US" sz="1500" dirty="0"/>
          </a:p>
          <a:p>
            <a:pPr marL="342900" indent="-342900">
              <a:spcAft>
                <a:spcPts val="400"/>
              </a:spcAft>
              <a:buSzPct val="100000"/>
              <a:buChar char="•"/>
            </a:pPr>
            <a:r>
              <a:rPr lang="en-US" sz="1400" dirty="0">
                <a:solidFill>
                  <a:schemeClr val="tx1"/>
                </a:solidFill>
              </a:rPr>
              <a:t>Calf vs shin, the ankle's opposing pair: 5.6 pp more loss (2.1 to 9.1), p = 0.003</a:t>
            </a:r>
            <a:endParaRPr lang="en-US" sz="1500" dirty="0"/>
          </a:p>
          <a:p>
            <a:pPr marL="342900" indent="-342900">
              <a:spcAft>
                <a:spcPts val="400"/>
              </a:spcAft>
              <a:buSzPct val="100000"/>
              <a:buChar char="•"/>
            </a:pPr>
            <a:r>
              <a:rPr lang="en-US" sz="1400" dirty="0">
                <a:solidFill>
                  <a:schemeClr val="tx1"/>
                </a:solidFill>
              </a:rPr>
              <a:t>Hip rotators and outer hip: one campaign each</a:t>
            </a:r>
            <a:endParaRPr lang="en-US" sz="1500" dirty="0"/>
          </a:p>
        </p:txBody>
      </p:sp>
      <p:sp>
        <p:nvSpPr>
          <p:cNvPr id="7" name="Text 5"/>
          <p:cNvSpPr txBox="1"/>
          <p:nvPr/>
        </p:nvSpPr>
        <p:spPr>
          <a:xfrm>
            <a:off x="621792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Is the calf result an artefact of how often it is scanned?</a:t>
            </a:r>
            <a:endParaRPr lang="en-US" sz="1500" dirty="0"/>
          </a:p>
          <a:p>
            <a:pPr marL="342900" indent="-342900">
              <a:spcAft>
                <a:spcPts val="400"/>
              </a:spcAft>
              <a:buSzPct val="100000"/>
              <a:buChar char="•"/>
            </a:pPr>
            <a:r>
              <a:rPr lang="en-US" sz="1400" dirty="0">
                <a:solidFill>
                  <a:schemeClr val="tx1"/>
                </a:solidFill>
              </a:rPr>
              <a:t>The order holds after adjusting for duration, countermeasure group and imaging method</a:t>
            </a:r>
            <a:endParaRPr lang="en-US" sz="1500" dirty="0"/>
          </a:p>
          <a:p>
            <a:pPr marL="342900" indent="-342900">
              <a:spcAft>
                <a:spcPts val="400"/>
              </a:spcAft>
              <a:buSzPct val="100000"/>
              <a:buChar char="•"/>
            </a:pPr>
            <a:r>
              <a:rPr lang="en-US" sz="1400" dirty="0">
                <a:solidFill>
                  <a:schemeClr val="tx1"/>
                </a:solidFill>
              </a:rPr>
              <a:t>Calf: 78 rows from 13 campaigns, the second best-covered group after the front thigh (86 rows, 22 campaigns)</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Backup: significance and relevance of the LLM gain</a:t>
            </a:r>
            <a:endParaRPr lang="en-US" sz="2800" dirty="0"/>
          </a:p>
        </p:txBody>
      </p:sp>
      <p:sp>
        <p:nvSpPr>
          <p:cNvPr id="3" name="Text 1"/>
          <p:cNvSpPr txBox="1"/>
          <p:nvPr/>
        </p:nvSpPr>
        <p:spPr>
          <a:xfrm>
            <a:off x="9784080" y="6355080"/>
            <a:ext cx="1188720" cy="274320"/>
          </a:xfrm>
          <a:prstGeom prst="rect">
            <a:avLst/>
          </a:prstGeom>
          <a:noFill/>
          <a:ln/>
        </p:spPr>
        <p:txBody>
          <a:bodyPr wrap="square" lIns="0" tIns="0" rIns="0" bIns="0" rtlCol="0" anchor="ctr"/>
          <a:lstStyle/>
          <a:p>
            <a:pPr algn="r" indent="0" marL="0">
              <a:buNone/>
            </a:pPr>
            <a:r>
              <a:rPr lang="en-US" sz="1000" b="1" dirty="0">
                <a:solidFill>
                  <a:schemeClr val="accent3"/>
                </a:solidFill>
              </a:rPr>
              <a:t>BACKUP</a:t>
            </a:r>
            <a:endParaRPr lang="en-US" sz="1000" dirty="0"/>
          </a:p>
        </p:txBody>
      </p:sp>
      <p:sp>
        <p:nvSpPr>
          <p:cNvPr id="4" name="Text 2"/>
          <p:cNvSpPr txBox="1"/>
          <p:nvPr/>
        </p:nvSpPr>
        <p:spPr>
          <a:xfrm>
            <a:off x="54864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Is 0.42 pp worth anything?</a:t>
            </a:r>
            <a:endParaRPr lang="en-US" sz="1500" dirty="0"/>
          </a:p>
          <a:p>
            <a:pPr marL="342900" indent="-342900">
              <a:spcAft>
                <a:spcPts val="400"/>
              </a:spcAft>
              <a:buSzPct val="100000"/>
              <a:buChar char="•"/>
            </a:pPr>
            <a:r>
              <a:rPr lang="en-US" sz="1400" dirty="0">
                <a:solidFill>
                  <a:schemeClr val="tx1"/>
                </a:solidFill>
              </a:rPr>
              <a:t>It is 13% lower error than the curve (3.13 to 2.71 pp)</a:t>
            </a:r>
            <a:endParaRPr lang="en-US" sz="1500" dirty="0"/>
          </a:p>
          <a:p>
            <a:pPr marL="342900" indent="-342900">
              <a:spcAft>
                <a:spcPts val="400"/>
              </a:spcAft>
              <a:buSzPct val="100000"/>
              <a:buChar char="•"/>
            </a:pPr>
            <a:r>
              <a:rPr lang="en-US" sz="1400" dirty="0">
                <a:solidFill>
                  <a:schemeClr val="tx1"/>
                </a:solidFill>
              </a:rPr>
              <a:t>Small; we present it as a secondary finding</a:t>
            </a:r>
            <a:endParaRPr lang="en-US" sz="1500" dirty="0"/>
          </a:p>
        </p:txBody>
      </p:sp>
      <p:sp>
        <p:nvSpPr>
          <p:cNvPr id="5" name="Text 3"/>
          <p:cNvSpPr txBox="1"/>
          <p:nvPr/>
        </p:nvSpPr>
        <p:spPr>
          <a:xfrm>
            <a:off x="621792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20 of 32 campaigns is close to a coin flip</a:t>
            </a:r>
            <a:endParaRPr lang="en-US" sz="1500" dirty="0"/>
          </a:p>
          <a:p>
            <a:pPr marL="342900" indent="-342900">
              <a:spcAft>
                <a:spcPts val="400"/>
              </a:spcAft>
              <a:buSzPct val="100000"/>
              <a:buChar char="•"/>
            </a:pPr>
            <a:r>
              <a:rPr lang="en-US" sz="1400" dirty="0">
                <a:solidFill>
                  <a:schemeClr val="tx1"/>
                </a:solidFill>
              </a:rPr>
              <a:t>Counting wins only: p = 0.22 (sign test)*</a:t>
            </a:r>
            <a:endParaRPr lang="en-US" sz="1500" dirty="0"/>
          </a:p>
          <a:p>
            <a:pPr marL="342900" indent="-342900">
              <a:spcAft>
                <a:spcPts val="400"/>
              </a:spcAft>
              <a:buSzPct val="100000"/>
              <a:buChar char="•"/>
            </a:pPr>
            <a:r>
              <a:rPr lang="en-US" sz="1400" dirty="0">
                <a:solidFill>
                  <a:schemeClr val="tx1"/>
                </a:solidFill>
              </a:rPr>
              <a:t>Using the size of each win: mean gain 0.42 pp, 95% CI 0.13 to 0.73</a:t>
            </a:r>
            <a:endParaRPr lang="en-US" sz="1500" dirty="0"/>
          </a:p>
        </p:txBody>
      </p:sp>
      <p:sp>
        <p:nvSpPr>
          <p:cNvPr id="6" name="Text 4"/>
          <p:cNvSpPr txBox="1"/>
          <p:nvPr/>
        </p:nvSpPr>
        <p:spPr>
          <a:xfrm>
            <a:off x="54864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Does it rest on a few campaigns?</a:t>
            </a:r>
            <a:endParaRPr lang="en-US" sz="1500" dirty="0"/>
          </a:p>
          <a:p>
            <a:pPr marL="342900" indent="-342900">
              <a:spcAft>
                <a:spcPts val="400"/>
              </a:spcAft>
              <a:buSzPct val="100000"/>
              <a:buChar char="•"/>
            </a:pPr>
            <a:r>
              <a:rPr lang="en-US" sz="1400" dirty="0">
                <a:solidFill>
                  <a:schemeClr val="tx1"/>
                </a:solidFill>
              </a:rPr>
              <a:t>3 long MRI campaigns (NASA SPRINT, Berlin BBR2-2, MEDES LTBR) give 56% of the gain; without them 0.20 pp, CI −0.01 to 0.43*</a:t>
            </a:r>
            <a:endParaRPr lang="en-US" sz="1500" dirty="0"/>
          </a:p>
          <a:p>
            <a:pPr marL="342900" indent="-342900">
              <a:spcAft>
                <a:spcPts val="400"/>
              </a:spcAft>
              <a:buSzPct val="100000"/>
              <a:buChar char="•"/>
            </a:pPr>
            <a:r>
              <a:rPr lang="en-US" sz="1400" dirty="0">
                <a:solidFill>
                  <a:schemeClr val="tx1"/>
                </a:solidFill>
              </a:rPr>
              <a:t>Only SPRINT is recognised, and with campaign details removed the LLM still wins there (3.79 vs 5.92 pp)</a:t>
            </a:r>
            <a:endParaRPr lang="en-US" sz="1500" dirty="0"/>
          </a:p>
        </p:txBody>
      </p:sp>
      <p:sp>
        <p:nvSpPr>
          <p:cNvPr id="7" name="Text 5"/>
          <p:cNvSpPr txBox="1"/>
          <p:nvPr/>
        </p:nvSpPr>
        <p:spPr>
          <a:xfrm>
            <a:off x="621792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Did it read these papers in training? Was it added after the fact?</a:t>
            </a:r>
            <a:endParaRPr lang="en-US" sz="1500" dirty="0"/>
          </a:p>
          <a:p>
            <a:pPr marL="342900" indent="-342900">
              <a:spcAft>
                <a:spcPts val="400"/>
              </a:spcAft>
              <a:buSzPct val="100000"/>
              <a:buChar char="•"/>
            </a:pPr>
            <a:r>
              <a:rPr lang="en-US" sz="1400" dirty="0">
                <a:solidFill>
                  <a:schemeClr val="tx1"/>
                </a:solidFill>
              </a:rPr>
              <a:t>No test can rule out training exposure; hiding campaign details and the naming test are the strongest checks available</a:t>
            </a:r>
            <a:endParaRPr lang="en-US" sz="1500" dirty="0"/>
          </a:p>
          <a:p>
            <a:pPr marL="342900" indent="-342900">
              <a:spcAft>
                <a:spcPts val="400"/>
              </a:spcAft>
              <a:buSzPct val="100000"/>
              <a:buChar char="•"/>
            </a:pPr>
            <a:r>
              <a:rPr lang="en-US" sz="1400" dirty="0">
                <a:solidFill>
                  <a:schemeClr val="tx1"/>
                </a:solidFill>
              </a:rPr>
              <a:t>Added after the ML result, but every check and target was committed before the first answer</a:t>
            </a:r>
            <a:endParaRPr lang="en-US" sz="1500" dirty="0"/>
          </a:p>
        </p:txBody>
      </p:sp>
      <p:sp>
        <p:nvSpPr>
          <p:cNvPr id="8" name="Text 6"/>
          <p:cNvSpPr txBox="1"/>
          <p:nvPr/>
        </p:nvSpPr>
        <p:spPr>
          <a:xfrm>
            <a:off x="548640" y="6035040"/>
            <a:ext cx="9144000" cy="274320"/>
          </a:xfrm>
          <a:prstGeom prst="rect">
            <a:avLst/>
          </a:prstGeom>
          <a:noFill/>
          <a:ln/>
        </p:spPr>
        <p:txBody>
          <a:bodyPr wrap="square" lIns="0" tIns="0" rIns="0" bIns="0" rtlCol="0" anchor="t"/>
          <a:lstStyle/>
          <a:p>
            <a:pPr indent="0" marL="0">
              <a:buNone/>
            </a:pPr>
            <a:r>
              <a:rPr lang="en-US" sz="1100" i="1" dirty="0">
                <a:solidFill>
                  <a:schemeClr val="accent3"/>
                </a:solidFill>
              </a:rPr>
              <a:t>* Our calculation from the saved LLM predictions; not in the report.</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Backup: ML results and fairness of the comparison</a:t>
            </a:r>
            <a:endParaRPr lang="en-US" sz="2800" dirty="0"/>
          </a:p>
        </p:txBody>
      </p:sp>
      <p:sp>
        <p:nvSpPr>
          <p:cNvPr id="3" name="Text 1"/>
          <p:cNvSpPr txBox="1"/>
          <p:nvPr/>
        </p:nvSpPr>
        <p:spPr>
          <a:xfrm>
            <a:off x="9784080" y="6355080"/>
            <a:ext cx="1188720" cy="274320"/>
          </a:xfrm>
          <a:prstGeom prst="rect">
            <a:avLst/>
          </a:prstGeom>
          <a:noFill/>
          <a:ln/>
        </p:spPr>
        <p:txBody>
          <a:bodyPr wrap="square" lIns="0" tIns="0" rIns="0" bIns="0" rtlCol="0" anchor="ctr"/>
          <a:lstStyle/>
          <a:p>
            <a:pPr algn="r" indent="0" marL="0">
              <a:buNone/>
            </a:pPr>
            <a:r>
              <a:rPr lang="en-US" sz="1000" b="1" dirty="0">
                <a:solidFill>
                  <a:schemeClr val="accent3"/>
                </a:solidFill>
              </a:rPr>
              <a:t>BACKUP</a:t>
            </a:r>
            <a:endParaRPr lang="en-US" sz="1000" dirty="0"/>
          </a:p>
        </p:txBody>
      </p:sp>
      <p:sp>
        <p:nvSpPr>
          <p:cNvPr id="4" name="Text 2"/>
          <p:cNvSpPr txBox="1"/>
          <p:nvPr/>
        </p:nvSpPr>
        <p:spPr>
          <a:xfrm>
            <a:off x="54864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Did the ML models get a fair chance?</a:t>
            </a:r>
            <a:endParaRPr lang="en-US" sz="1500" dirty="0"/>
          </a:p>
          <a:p>
            <a:pPr marL="342900" indent="-342900">
              <a:spcAft>
                <a:spcPts val="400"/>
              </a:spcAft>
              <a:buSzPct val="100000"/>
              <a:buChar char="•"/>
            </a:pPr>
            <a:r>
              <a:rPr lang="en-US" sz="1400" dirty="0">
                <a:solidFill>
                  <a:schemeClr val="tx1"/>
                </a:solidFill>
              </a:rPr>
              <a:t>Tuned inside each training fold, grouped by campaign; TabPFN needs no tuning</a:t>
            </a:r>
            <a:endParaRPr lang="en-US" sz="1500" dirty="0"/>
          </a:p>
          <a:p>
            <a:pPr marL="342900" indent="-342900">
              <a:spcAft>
                <a:spcPts val="400"/>
              </a:spcAft>
              <a:buSzPct val="100000"/>
              <a:buChar char="•"/>
            </a:pPr>
            <a:r>
              <a:rPr lang="en-US" sz="1400" dirty="0">
                <a:solidFill>
                  <a:schemeClr val="tx1"/>
                </a:solidFill>
              </a:rPr>
              <a:t>All models saw the same inputs, folds and scoring</a:t>
            </a:r>
            <a:endParaRPr lang="en-US" sz="1500" dirty="0"/>
          </a:p>
        </p:txBody>
      </p:sp>
      <p:sp>
        <p:nvSpPr>
          <p:cNvPr id="5" name="Text 3"/>
          <p:cNvSpPr txBox="1"/>
          <p:nvPr/>
        </p:nvSpPr>
        <p:spPr>
          <a:xfrm>
            <a:off x="621792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Why not add age, sex or countermeasure type?</a:t>
            </a:r>
            <a:endParaRPr lang="en-US" sz="1500" dirty="0"/>
          </a:p>
          <a:p>
            <a:pPr marL="342900" indent="-342900">
              <a:spcAft>
                <a:spcPts val="400"/>
              </a:spcAft>
              <a:buSzPct val="100000"/>
              <a:buChar char="•"/>
            </a:pPr>
            <a:r>
              <a:rPr lang="en-US" sz="1400" dirty="0">
                <a:solidFill>
                  <a:schemeClr val="tx1"/>
                </a:solidFill>
              </a:rPr>
              <a:t>32 campaigns leave room for about 3 campaign-level inputs (about 10 campaigns per input)</a:t>
            </a:r>
            <a:endParaRPr lang="en-US" sz="1500" dirty="0"/>
          </a:p>
          <a:p>
            <a:pPr marL="342900" indent="-342900">
              <a:spcAft>
                <a:spcPts val="400"/>
              </a:spcAft>
              <a:buSzPct val="100000"/>
              <a:buChar char="•"/>
            </a:pPr>
            <a:r>
              <a:rPr lang="en-US" sz="1400" dirty="0">
                <a:solidFill>
                  <a:schemeClr val="tx1"/>
                </a:solidFill>
              </a:rPr>
              <a:t>Age and sex are fixed within a campaign (271 of the 346 modelling rows men-only), so they act as a campaign label; 100 countermeasure rows spread over 9 types</a:t>
            </a:r>
            <a:endParaRPr lang="en-US" sz="1500" dirty="0"/>
          </a:p>
        </p:txBody>
      </p:sp>
      <p:sp>
        <p:nvSpPr>
          <p:cNvPr id="6" name="Text 4"/>
          <p:cNvSpPr txBox="1"/>
          <p:nvPr/>
        </p:nvSpPr>
        <p:spPr>
          <a:xfrm>
            <a:off x="54864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Is the duration curve a straw man?</a:t>
            </a:r>
            <a:endParaRPr lang="en-US" sz="1500" dirty="0"/>
          </a:p>
          <a:p>
            <a:pPr marL="342900" indent="-342900">
              <a:spcAft>
                <a:spcPts val="400"/>
              </a:spcAft>
              <a:buSzPct val="100000"/>
              <a:buChar char="•"/>
            </a:pPr>
            <a:r>
              <a:rPr lang="en-US" sz="1400" dirty="0">
                <a:solidFill>
                  <a:schemeClr val="tx1"/>
                </a:solidFill>
              </a:rPr>
              <a:t>Ridge regression uses days, muscle and every other input: 3.28 vs 3.16 pp</a:t>
            </a:r>
            <a:endParaRPr lang="en-US" sz="1500" dirty="0"/>
          </a:p>
          <a:p>
            <a:pPr marL="342900" indent="-342900">
              <a:spcAft>
                <a:spcPts val="400"/>
              </a:spcAft>
              <a:buSzPct val="100000"/>
              <a:buChar char="•"/>
            </a:pPr>
            <a:r>
              <a:rPr lang="en-US" sz="1400" dirty="0">
                <a:solidFill>
                  <a:schemeClr val="tx1"/>
                </a:solidFill>
              </a:rPr>
              <a:t>Knowing the muscle raises R² but not the error on a new campaign</a:t>
            </a:r>
            <a:endParaRPr lang="en-US" sz="1500" dirty="0"/>
          </a:p>
        </p:txBody>
      </p:sp>
      <p:sp>
        <p:nvSpPr>
          <p:cNvPr id="7" name="Text 5"/>
          <p:cNvSpPr txBox="1"/>
          <p:nvPr/>
        </p:nvSpPr>
        <p:spPr>
          <a:xfrm>
            <a:off x="621792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Would a nearest-neighbour method match the LLM?</a:t>
            </a:r>
            <a:endParaRPr lang="en-US" sz="1500" dirty="0"/>
          </a:p>
          <a:p>
            <a:pPr marL="342900" indent="-342900">
              <a:spcAft>
                <a:spcPts val="400"/>
              </a:spcAft>
              <a:buSzPct val="100000"/>
              <a:buChar char="•"/>
            </a:pPr>
            <a:r>
              <a:rPr lang="en-US" sz="1400" dirty="0">
                <a:solidFill>
                  <a:schemeClr val="tx1"/>
                </a:solidFill>
              </a:rPr>
              <a:t>Not tested. If the gain comes from picking similar rows, this is the next control to run</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Backup: applicability to Mars mission planning</a:t>
            </a:r>
            <a:endParaRPr lang="en-US" sz="2800" dirty="0"/>
          </a:p>
        </p:txBody>
      </p:sp>
      <p:sp>
        <p:nvSpPr>
          <p:cNvPr id="3" name="Text 1"/>
          <p:cNvSpPr txBox="1"/>
          <p:nvPr/>
        </p:nvSpPr>
        <p:spPr>
          <a:xfrm>
            <a:off x="9784080" y="6355080"/>
            <a:ext cx="1188720" cy="274320"/>
          </a:xfrm>
          <a:prstGeom prst="rect">
            <a:avLst/>
          </a:prstGeom>
          <a:noFill/>
          <a:ln/>
        </p:spPr>
        <p:txBody>
          <a:bodyPr wrap="square" lIns="0" tIns="0" rIns="0" bIns="0" rtlCol="0" anchor="ctr"/>
          <a:lstStyle/>
          <a:p>
            <a:pPr algn="r" indent="0" marL="0">
              <a:buNone/>
            </a:pPr>
            <a:r>
              <a:rPr lang="en-US" sz="1000" b="1" dirty="0">
                <a:solidFill>
                  <a:schemeClr val="accent3"/>
                </a:solidFill>
              </a:rPr>
              <a:t>BACKUP</a:t>
            </a:r>
            <a:endParaRPr lang="en-US" sz="1000" dirty="0"/>
          </a:p>
        </p:txBody>
      </p:sp>
      <p:sp>
        <p:nvSpPr>
          <p:cNvPr id="4" name="Text 2"/>
          <p:cNvSpPr txBox="1"/>
          <p:nvPr/>
        </p:nvSpPr>
        <p:spPr>
          <a:xfrm>
            <a:off x="54864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A Mars transit is about 180 days; the data stop at 119</a:t>
            </a:r>
            <a:endParaRPr lang="en-US" sz="1500" dirty="0"/>
          </a:p>
          <a:p>
            <a:pPr marL="342900" indent="-342900">
              <a:spcAft>
                <a:spcPts val="400"/>
              </a:spcAft>
              <a:buSzPct val="100000"/>
              <a:buChar char="•"/>
            </a:pPr>
            <a:r>
              <a:rPr lang="en-US" sz="1400" dirty="0">
                <a:solidFill>
                  <a:schemeClr val="tx1"/>
                </a:solidFill>
              </a:rPr>
              <a:t>Only one campaign reaches 119 days</a:t>
            </a:r>
            <a:endParaRPr lang="en-US" sz="1500" dirty="0"/>
          </a:p>
          <a:p>
            <a:pPr marL="342900" indent="-342900">
              <a:spcAft>
                <a:spcPts val="400"/>
              </a:spcAft>
              <a:buSzPct val="100000"/>
              <a:buChar char="•"/>
            </a:pPr>
            <a:r>
              <a:rPr lang="en-US" sz="1400" dirty="0">
                <a:solidFill>
                  <a:schemeClr val="tx1"/>
                </a:solidFill>
              </a:rPr>
              <a:t>A 180-day estimate is planned from the duration curve only, with an uncertainty range, labelled as an assumption</a:t>
            </a:r>
            <a:endParaRPr lang="en-US" sz="1500" dirty="0"/>
          </a:p>
        </p:txBody>
      </p:sp>
      <p:sp>
        <p:nvSpPr>
          <p:cNvPr id="5" name="Text 3"/>
          <p:cNvSpPr txBox="1"/>
          <p:nvPr/>
        </p:nvSpPr>
        <p:spPr>
          <a:xfrm>
            <a:off x="6217920" y="11887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Bed rest is not spaceflight</a:t>
            </a:r>
            <a:endParaRPr lang="en-US" sz="1500" dirty="0"/>
          </a:p>
          <a:p>
            <a:pPr marL="342900" indent="-342900">
              <a:spcAft>
                <a:spcPts val="400"/>
              </a:spcAft>
              <a:buSzPct val="100000"/>
              <a:buChar char="•"/>
            </a:pPr>
            <a:r>
              <a:rPr lang="en-US" sz="1400" dirty="0">
                <a:solidFill>
                  <a:schemeClr val="tx1"/>
                </a:solidFill>
              </a:rPr>
              <a:t>Only 14 spaceflight rows, 8 of them one back muscle: too few to test transfer</a:t>
            </a:r>
            <a:endParaRPr lang="en-US" sz="1500" dirty="0"/>
          </a:p>
        </p:txBody>
      </p:sp>
      <p:sp>
        <p:nvSpPr>
          <p:cNvPr id="6" name="Text 4"/>
          <p:cNvSpPr txBox="1"/>
          <p:nvPr/>
        </p:nvSpPr>
        <p:spPr>
          <a:xfrm>
            <a:off x="54864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Which countermeasure works? What about individuals?</a:t>
            </a:r>
            <a:endParaRPr lang="en-US" sz="1500" dirty="0"/>
          </a:p>
          <a:p>
            <a:pPr marL="342900" indent="-342900">
              <a:spcAft>
                <a:spcPts val="400"/>
              </a:spcAft>
              <a:buSzPct val="100000"/>
              <a:buChar char="•"/>
            </a:pPr>
            <a:r>
              <a:rPr lang="en-US" sz="1400" dirty="0">
                <a:solidFill>
                  <a:schemeClr val="tx1"/>
                </a:solidFill>
              </a:rPr>
              <a:t>Countermeasure groups lose 3.7 pp less (95% CI 1.5 to 5.9), all types pooled</a:t>
            </a:r>
            <a:endParaRPr lang="en-US" sz="1500" dirty="0"/>
          </a:p>
          <a:p>
            <a:pPr marL="342900" indent="-342900">
              <a:spcAft>
                <a:spcPts val="400"/>
              </a:spcAft>
              <a:buSzPct val="100000"/>
              <a:buChar char="•"/>
            </a:pPr>
            <a:r>
              <a:rPr lang="en-US" sz="1400" dirty="0">
                <a:solidFill>
                  <a:schemeClr val="tx1"/>
                </a:solidFill>
              </a:rPr>
              <a:t>Every row is a group average; nothing about individual risk</a:t>
            </a:r>
            <a:endParaRPr lang="en-US" sz="1500" dirty="0"/>
          </a:p>
        </p:txBody>
      </p:sp>
      <p:sp>
        <p:nvSpPr>
          <p:cNvPr id="7" name="Text 5"/>
          <p:cNvSpPr txBox="1"/>
          <p:nvPr/>
        </p:nvSpPr>
        <p:spPr>
          <a:xfrm>
            <a:off x="6217920" y="3703320"/>
            <a:ext cx="5394960" cy="23774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Can anyone reproduce an LLM result?</a:t>
            </a:r>
            <a:endParaRPr lang="en-US" sz="1500" dirty="0"/>
          </a:p>
          <a:p>
            <a:pPr marL="342900" indent="-342900">
              <a:spcAft>
                <a:spcPts val="400"/>
              </a:spcAft>
              <a:buSzPct val="100000"/>
              <a:buChar char="•"/>
            </a:pPr>
            <a:r>
              <a:rPr lang="en-US" sz="1400" dirty="0">
                <a:solidFill>
                  <a:schemeClr val="tx1"/>
                </a:solidFill>
              </a:rPr>
              <a:t>Fixed model version; all 430 answers saved, so every number rebuilds without the model</a:t>
            </a:r>
            <a:endParaRPr lang="en-US" sz="1500" dirty="0"/>
          </a:p>
          <a:p>
            <a:pPr marL="342900" indent="-342900">
              <a:spcAft>
                <a:spcPts val="400"/>
              </a:spcAft>
              <a:buSzPct val="100000"/>
              <a:buChar char="•"/>
            </a:pPr>
            <a:r>
              <a:rPr lang="en-US" sz="1400" dirty="0">
                <a:solidFill>
                  <a:schemeClr val="tx1"/>
                </a:solidFill>
              </a:rPr>
              <a:t>Identical requests differ by 0.17 pp on average</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Bed Rest to Mars academic">
  <a:themeElements>
    <a:clrScheme name="Bed Rest to Mars academic">
      <a:dk1>
        <a:srgbClr val="1B2533"/>
      </a:dk1>
      <a:lt1>
        <a:srgbClr val="FFFFFF"/>
      </a:lt1>
      <a:dk2>
        <a:srgbClr val="0B2545"/>
      </a:dk2>
      <a:lt2>
        <a:srgbClr val="F0F3F7"/>
      </a:lt2>
      <a:accent1>
        <a:srgbClr val="C1440E"/>
      </a:accent1>
      <a:accent2>
        <a:srgbClr val="2F6690"/>
      </a:accent2>
      <a:accent3>
        <a:srgbClr val="5D6B7B"/>
      </a:accent3>
      <a:accent4>
        <a:srgbClr val="B8C4D1"/>
      </a:accent4>
      <a:accent5>
        <a:srgbClr val="98A6B5"/>
      </a:accent5>
      <a:accent6>
        <a:srgbClr val="E2E7ED"/>
      </a:accent6>
      <a:hlink>
        <a:srgbClr val="2F6690"/>
      </a:hlink>
      <a:folHlink>
        <a:srgbClr val="5D6B7B"/>
      </a:folHlink>
    </a:clrScheme>
    <a:fontScheme name="Bed Rest to Mars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Bed Rest to Mars: Development of a Literature-Derived Machine Learning Framework for Predicting Lower-Limb Muscle Atrophy in Spaceflight Analogues</dc:title>
  <dc:subject>PptxGenJS Presentation</dc:subject>
  <dc:creator>PptxGenJS</dc:creator>
  <cp:lastModifiedBy>PptxGenJS</cp:lastModifiedBy>
  <cp:revision>1</cp:revision>
  <dcterms:created xsi:type="dcterms:W3CDTF">2026-10-14T22:04:18Z</dcterms:created>
  <dcterms:modified xsi:type="dcterms:W3CDTF">2026-10-14T22:04:18Z</dcterms:modified>
</cp:coreProperties>
</file>