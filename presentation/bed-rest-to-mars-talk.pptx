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421f92f-619b-92f5-eda2-a523eb5a0978}">
          <p14:sldIdLst>
            <p14:sldId id="256"/>
            <p14:sldId id="257"/>
          </p14:sldIdLst>
        </p14:section>
        <p14:section name="Part 1" id="{8b5df16e-cad6-40eb-a460-5563f7ffde41}">
          <p14:sldIdLst>
            <p14:sldId id="258"/>
            <p14:sldId id="259"/>
            <p14:sldId id="260"/>
            <p14:sldId id="261"/>
            <p14:sldId id="262"/>
            <p14:sldId id="263"/>
          </p14:sldIdLst>
        </p14:section>
        <p14:section name="Part 2" id="{80c09609-ec9c-5623-5f66-e25b372f01dd}">
          <p14:sldIdLst>
            <p14:sldId id="264"/>
            <p14:sldId id="265"/>
            <p14:sldId id="266"/>
            <p14:sldId id="267"/>
            <p14:sldId id="268"/>
            <p14:sldId id="269"/>
          </p14:sldIdLst>
        </p14:section>
        <p14:section name="Backup" id="{e58a330e-d7c4-5bb8-3747-ab00fa234367}">
          <p14:sldIdLst>
            <p14:sldId id="270"/>
            <p14:sldId id="271"/>
            <p14:sldId id="272"/>
            <p14:sldId id="273"/>
            <p14:sldId id="274"/>
          </p14:sldIdLst>
        </p14:section>
        <p14:section name="Backup" id="{9290a141-ea83-e486-bac4-c4fab1c91a3f}">
          <p14:sldIdLst/>
        </p14:section>
        <p14:section name="Backup" id="{f7f90a6a-9edf-a351-1ead-24258aa548cd}">
          <p14:sldIdLst/>
        </p14:section>
        <p14:section name="Backup" id="{62a5d96d-3bb4-632f-9113-ee8d282f8c7d}">
          <p14:sldIdLst/>
        </p14:section>
        <p14:section name="Backup" id="{5615ba96-2802-64bb-7fca-d8636d793ae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F3A5F"/>
                </a:solidFill>
                <a:latin typeface="Arial"/>
              </a:defRPr>
            </a:pPr>
            <a:r>
              <a:rPr sz="1400" b="1" i="0" u="none" strike="noStrike">
                <a:solidFill>
                  <a:srgbClr val="1F3A5F"/>
                </a:solidFill>
                <a:latin typeface="Arial"/>
              </a:rPr>
              <a:t>Studies published per year, by length of unloading (years without studies omitted)</a:t>
            </a:r>
          </a:p>
        </c:rich>
      </c:tx>
      <c:layout/>
      <c:overlay val="0"/>
    </c:title>
    <c:autoTitleDeleted val="0"/>
    <c:plotArea>
      <c:layout>
        <c:manualLayout>
          <c:layoutTarget val="inner"/>
          <c:xMode val="edge"/>
          <c:yMode val="edge"/>
          <c:x val="0.05"/>
          <c:y val="0.15"/>
          <c:w val="0.78"/>
          <c:h val="0.72"/>
        </c:manualLayout>
      </c:layout>
      <c:barChart>
        <c:barDir val="col"/>
        <c:grouping val="stacked"/>
        <c:varyColors val="0"/>
        <c:ser>
          <c:idx val="0"/>
          <c:order val="0"/>
          <c:tx>
            <c:strRef>
              <c:f>Sheet1!$B$1</c:f>
              <c:strCache>
                <c:ptCount val="1"/>
                <c:pt idx="0">
                  <c:v>5 to 14 days</c:v>
                </c:pt>
              </c:strCache>
            </c:strRef>
          </c:tx>
          <c:spPr>
            <a:solidFill>
              <a:srgbClr val="C9D2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8FA3B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E"/>
            </a:solidFill>
            <a:prstDash val="solid"/>
            <a:round/>
          </a:ln>
        </c:spPr>
        <c:txPr>
          <a:bodyPr/>
          <a:lstStyle/>
          <a:p>
            <a:pPr>
              <a:defRPr sz="10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5E7EB"/>
              </a:solidFill>
              <a:prstDash val="solid"/>
              <a:round/>
            </a:ln>
          </c:spPr>
        </c:majorGridlines>
        <c:title>
          <c:tx>
            <c:rich>
              <a:bodyPr/>
              <a:lstStyle/>
              <a:p>
                <a:pPr>
                  <a:defRPr sz="1100" b="0" i="0" u="none" strike="noStrike">
                    <a:solidFill>
                      <a:srgbClr val="6B7280"/>
                    </a:solidFill>
                    <a:latin typeface="Arial"/>
                  </a:defRPr>
                </a:pPr>
                <a:r>
                  <a:rPr sz="1100" b="0" i="0" u="none" strike="noStrike">
                    <a:solidFill>
                      <a:srgbClr val="6B7280"/>
                    </a:solidFill>
                    <a:latin typeface="Arial"/>
                  </a:rPr>
                  <a:t>Studies</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r"/>
      <c:overlay val="0"/>
      <c:txPr>
        <a:bodyPr/>
        <a:lstStyle/>
        <a:p>
          <a:pPr>
            <a:defRPr sz="1100">
              <a:solidFill>
                <a:srgbClr val="1A1A1A"/>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campaign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campaign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drawn to scale: after 60 days of bed rest, control groups lose about 16 percent of calf muscle in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red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campaigns, because several papers report the same volunteers. So we test by holding out one whole campaign, training on the other 31 and predicting the held-out one, 32 times. The code checks that no campaign appears on both sides of a split.
The score is the mean absolute error in percentage points, averaged so that each campaign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campaign.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campaign, and most of what remains is a shift that applies to a whole campaign, from its scanner, its volunteers or its protocol. None of our columns describes that, so 32 campaigns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campaigns and as many rows from those campaigns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campaign's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campaigns.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campaign and recall its result. With every identifying detail removed, the gain is 0.30 points and its interval stays above zero. When we asked the model to choose the campaign's name from a list of options, it was right 19 percent of the time, where guessing gives 8 percent. If asked: of the three campaigns behind most of the gain, it named only one.
When we shuffle the other campaigns'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campaign's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campaigns, standard ML models and TabPFN do not beat a curve that only knows the number of days. A language model that reads each campaign's description and the other campaigns' data reduces the error from 3.13 to 2.71 points. The limitations and next steps are on the slide; the main one is that 32 campaigns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strings are in the report appendix, copied from docs/literature-review/search_log.md. PubMed uses the same two blocks with MeSH terms and the humans filter; Scopus and Web of Science exclude animal studies in the query. The 2013 limit is the main weakness: only two of ten known modelling papers fall inside the window, and the known-item test without the limit was not run. Embase was not searched for lack of access; it indexes conference abstracts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campaigns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Ground analogue: 6° head-down bed rest</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Day 60: −16%</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Calf cross-section to scale; dashed line = size before. Model estimate for control groups (plantar flexors, −15.8% at day 60).</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Direct spaceflight data on muscle are scarce</a:t>
            </a:r>
            <a:endParaRPr lang="en-US" sz="1700" dirty="0"/>
          </a:p>
          <a:p>
            <a:pPr marL="342900" indent="-342900">
              <a:spcAft>
                <a:spcPts val="400"/>
              </a:spcAft>
              <a:buSzPct val="100000"/>
              <a:buChar char="•"/>
            </a:pPr>
            <a:r>
              <a:rPr lang="en-US" sz="1400" dirty="0">
                <a:solidFill>
                  <a:schemeClr val="tx1"/>
                </a:solidFill>
              </a:rPr>
              <a:t>Head-down bed rest is the established ground analogue: it unloads the legs under controlled conditions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A Mars mission lasts about 2.5 years, with about 6 months of transit each way</a:t>
            </a:r>
            <a:endParaRPr lang="en-US" sz="1700" dirty="0"/>
          </a:p>
          <a:p>
            <a:pPr marL="342900" indent="-342900">
              <a:spcAft>
                <a:spcPts val="400"/>
              </a:spcAft>
              <a:buSzPct val="100000"/>
              <a:buChar char="•"/>
            </a:pPr>
            <a:r>
              <a:rPr lang="en-US" sz="1400" dirty="0">
                <a:solidFill>
                  <a:schemeClr val="tx1"/>
                </a:solidFill>
              </a:rPr>
              <a:t>No early return in an emergency: the crew depends on its own fitness</a:t>
            </a:r>
            <a:endParaRPr lang="en-US" sz="1700" dirty="0"/>
          </a:p>
          <a:p>
            <a:pPr marL="342900" indent="-342900">
              <a:spcAft>
                <a:spcPts val="400"/>
              </a:spcAft>
              <a:buSzPct val="100000"/>
              <a:buChar char="•"/>
            </a:pPr>
            <a:r>
              <a:rPr lang="en-US" sz="1400" dirty="0">
                <a:solidFill>
                  <a:schemeClr val="tx1"/>
                </a:solidFill>
              </a:rPr>
              <a:t>After months in weightlessness, the crew must leave the spacecraft and work on the surface</a:t>
            </a:r>
            <a:endParaRPr lang="en-US" sz="17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did we study?</a:t>
            </a:r>
            <a:endParaRPr lang="en-US" sz="2800" dirty="0"/>
          </a:p>
        </p:txBody>
      </p:sp>
      <p:sp>
        <p:nvSpPr>
          <p:cNvPr id="11" name="Text 9"/>
          <p:cNvSpPr txBox="1"/>
          <p:nvPr/>
        </p:nvSpPr>
        <p:spPr>
          <a:xfrm>
            <a:off x="548640" y="12344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2" name="Abstract 14-119"/>
          <p:cNvSpPr/>
          <p:nvPr/>
        </p:nvSpPr>
        <p:spPr>
          <a:xfrm>
            <a:off x="3889248" y="1344168"/>
            <a:ext cx="4480560" cy="329184"/>
          </a:xfrm>
          <a:prstGeom prst="rect">
            <a:avLst/>
          </a:prstGeom>
          <a:solidFill>
            <a:srgbClr val="A7AEB8"/>
          </a:solidFill>
          <a:ln/>
        </p:spPr>
      </p:sp>
      <p:sp>
        <p:nvSpPr>
          <p:cNvPr id="13" name="Text 11"/>
          <p:cNvSpPr txBox="1"/>
          <p:nvPr/>
        </p:nvSpPr>
        <p:spPr>
          <a:xfrm>
            <a:off x="3477768" y="1344168"/>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4" name="Text 12"/>
          <p:cNvSpPr txBox="1"/>
          <p:nvPr/>
        </p:nvSpPr>
        <p:spPr>
          <a:xfrm>
            <a:off x="8433816" y="1344168"/>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5" name="Text 13"/>
          <p:cNvSpPr txBox="1"/>
          <p:nvPr/>
        </p:nvSpPr>
        <p:spPr>
          <a:xfrm>
            <a:off x="548640" y="189280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6" name="Final dataset 5-119"/>
          <p:cNvSpPr/>
          <p:nvPr/>
        </p:nvSpPr>
        <p:spPr>
          <a:xfrm>
            <a:off x="3505200" y="2002536"/>
            <a:ext cx="4864608" cy="329184"/>
          </a:xfrm>
          <a:prstGeom prst="rect">
            <a:avLst/>
          </a:prstGeom>
          <a:solidFill>
            <a:srgbClr val="1F3A5F"/>
          </a:solidFill>
          <a:ln/>
        </p:spPr>
      </p:sp>
      <p:sp>
        <p:nvSpPr>
          <p:cNvPr id="17" name="Final dataset 119-180"/>
          <p:cNvSpPr/>
          <p:nvPr/>
        </p:nvSpPr>
        <p:spPr>
          <a:xfrm>
            <a:off x="8369808" y="2002536"/>
            <a:ext cx="2602992" cy="329184"/>
          </a:xfrm>
          <a:prstGeom prst="rect">
            <a:avLst/>
          </a:prstGeom>
          <a:solidFill>
            <a:srgbClr val="A23B2A"/>
          </a:solidFill>
          <a:ln/>
        </p:spPr>
      </p:sp>
      <p:sp>
        <p:nvSpPr>
          <p:cNvPr id="18" name="Text 16"/>
          <p:cNvSpPr txBox="1"/>
          <p:nvPr/>
        </p:nvSpPr>
        <p:spPr>
          <a:xfrm>
            <a:off x="3093720" y="200253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19" name="Text 17"/>
          <p:cNvSpPr txBox="1"/>
          <p:nvPr/>
        </p:nvSpPr>
        <p:spPr>
          <a:xfrm>
            <a:off x="11036808" y="200253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0" name="Text 18"/>
          <p:cNvSpPr txBox="1"/>
          <p:nvPr/>
        </p:nvSpPr>
        <p:spPr>
          <a:xfrm>
            <a:off x="3505200" y="2002536"/>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1" name="Text 19"/>
          <p:cNvSpPr txBox="1"/>
          <p:nvPr/>
        </p:nvSpPr>
        <p:spPr>
          <a:xfrm>
            <a:off x="8369808" y="2002536"/>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2" name="Day axis"/>
          <p:cNvSpPr/>
          <p:nvPr/>
        </p:nvSpPr>
        <p:spPr>
          <a:xfrm>
            <a:off x="3291840" y="2670048"/>
            <a:ext cx="7680960" cy="0"/>
          </a:xfrm>
          <a:prstGeom prst="line">
            <a:avLst/>
          </a:prstGeom>
          <a:noFill/>
          <a:ln w="9525">
            <a:solidFill>
              <a:srgbClr val="6B7280"/>
            </a:solidFill>
            <a:prstDash val="solid"/>
          </a:ln>
        </p:spPr>
      </p:sp>
      <p:sp>
        <p:nvSpPr>
          <p:cNvPr id="23" name="Tick 0"/>
          <p:cNvSpPr/>
          <p:nvPr/>
        </p:nvSpPr>
        <p:spPr>
          <a:xfrm>
            <a:off x="3291840" y="2670048"/>
            <a:ext cx="0" cy="54864"/>
          </a:xfrm>
          <a:prstGeom prst="line">
            <a:avLst/>
          </a:prstGeom>
          <a:noFill/>
          <a:ln w="9525">
            <a:solidFill>
              <a:srgbClr val="6B7280"/>
            </a:solidFill>
            <a:prstDash val="solid"/>
          </a:ln>
        </p:spPr>
      </p:sp>
      <p:sp>
        <p:nvSpPr>
          <p:cNvPr id="24" name="Text 22"/>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5" name="Tick 30"/>
          <p:cNvSpPr/>
          <p:nvPr/>
        </p:nvSpPr>
        <p:spPr>
          <a:xfrm>
            <a:off x="4572000" y="2670048"/>
            <a:ext cx="0" cy="54864"/>
          </a:xfrm>
          <a:prstGeom prst="line">
            <a:avLst/>
          </a:prstGeom>
          <a:noFill/>
          <a:ln w="9525">
            <a:solidFill>
              <a:srgbClr val="6B7280"/>
            </a:solidFill>
            <a:prstDash val="solid"/>
          </a:ln>
        </p:spPr>
      </p:sp>
      <p:sp>
        <p:nvSpPr>
          <p:cNvPr id="26" name="Text 24"/>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ick 60"/>
          <p:cNvSpPr/>
          <p:nvPr/>
        </p:nvSpPr>
        <p:spPr>
          <a:xfrm>
            <a:off x="5852160" y="2670048"/>
            <a:ext cx="0" cy="54864"/>
          </a:xfrm>
          <a:prstGeom prst="line">
            <a:avLst/>
          </a:prstGeom>
          <a:noFill/>
          <a:ln w="9525">
            <a:solidFill>
              <a:srgbClr val="6B7280"/>
            </a:solidFill>
            <a:prstDash val="solid"/>
          </a:ln>
        </p:spPr>
      </p:sp>
      <p:sp>
        <p:nvSpPr>
          <p:cNvPr id="28" name="Text 26"/>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90"/>
          <p:cNvSpPr/>
          <p:nvPr/>
        </p:nvSpPr>
        <p:spPr>
          <a:xfrm>
            <a:off x="7132320" y="2670048"/>
            <a:ext cx="0" cy="54864"/>
          </a:xfrm>
          <a:prstGeom prst="line">
            <a:avLst/>
          </a:prstGeom>
          <a:noFill/>
          <a:ln w="9525">
            <a:solidFill>
              <a:srgbClr val="6B7280"/>
            </a:solidFill>
            <a:prstDash val="solid"/>
          </a:ln>
        </p:spPr>
      </p:sp>
      <p:sp>
        <p:nvSpPr>
          <p:cNvPr id="30" name="Text 28"/>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ick 119"/>
          <p:cNvSpPr/>
          <p:nvPr/>
        </p:nvSpPr>
        <p:spPr>
          <a:xfrm>
            <a:off x="8369808" y="2670048"/>
            <a:ext cx="0" cy="54864"/>
          </a:xfrm>
          <a:prstGeom prst="line">
            <a:avLst/>
          </a:prstGeom>
          <a:noFill/>
          <a:ln w="9525">
            <a:solidFill>
              <a:srgbClr val="6B7280"/>
            </a:solidFill>
            <a:prstDash val="solid"/>
          </a:ln>
        </p:spPr>
      </p:sp>
      <p:sp>
        <p:nvSpPr>
          <p:cNvPr id="32" name="Text 30"/>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3" name="Tick 150"/>
          <p:cNvSpPr/>
          <p:nvPr/>
        </p:nvSpPr>
        <p:spPr>
          <a:xfrm>
            <a:off x="9692640" y="2670048"/>
            <a:ext cx="0" cy="54864"/>
          </a:xfrm>
          <a:prstGeom prst="line">
            <a:avLst/>
          </a:prstGeom>
          <a:noFill/>
          <a:ln w="9525">
            <a:solidFill>
              <a:srgbClr val="6B7280"/>
            </a:solidFill>
            <a:prstDash val="solid"/>
          </a:ln>
        </p:spPr>
      </p:sp>
      <p:sp>
        <p:nvSpPr>
          <p:cNvPr id="34" name="Text 32"/>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5" name="Tick 180"/>
          <p:cNvSpPr/>
          <p:nvPr/>
        </p:nvSpPr>
        <p:spPr>
          <a:xfrm>
            <a:off x="10972800" y="2670048"/>
            <a:ext cx="0" cy="54864"/>
          </a:xfrm>
          <a:prstGeom prst="line">
            <a:avLst/>
          </a:prstGeom>
          <a:noFill/>
          <a:ln w="9525">
            <a:solidFill>
              <a:srgbClr val="6B7280"/>
            </a:solidFill>
            <a:prstDash val="solid"/>
          </a:ln>
        </p:spPr>
      </p:sp>
      <p:sp>
        <p:nvSpPr>
          <p:cNvPr id="36" name="Text 34"/>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7" name="Text 35"/>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graphicFrame>
        <p:nvGraphicFramePr>
          <p:cNvPr id="38" name="Chart 0" descr=""/>
          <p:cNvGraphicFramePr/>
          <p:nvPr/>
        </p:nvGraphicFramePr>
        <p:xfrm>
          <a:off x="548640" y="3063240"/>
          <a:ext cx="11064240"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did we build the dataset?</a:t>
            </a:r>
            <a:endParaRPr lang="en-US" sz="2800" dirty="0"/>
          </a:p>
        </p:txBody>
      </p:sp>
      <p:sp>
        <p:nvSpPr>
          <p:cNvPr id="11"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2" name="Step Identification"/>
          <p:cNvSpPr/>
          <p:nvPr/>
        </p:nvSpPr>
        <p:spPr>
          <a:xfrm>
            <a:off x="548640" y="2286000"/>
            <a:ext cx="1920240" cy="1325880"/>
          </a:xfrm>
          <a:prstGeom prst="rect">
            <a:avLst/>
          </a:prstGeom>
          <a:solidFill>
            <a:srgbClr val="FFFFFF"/>
          </a:solidFill>
          <a:ln w="12700">
            <a:solidFill>
              <a:srgbClr val="9AA3AE"/>
            </a:solidFill>
            <a:prstDash val="solid"/>
          </a:ln>
        </p:spPr>
      </p:sp>
      <p:sp>
        <p:nvSpPr>
          <p:cNvPr id="13"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4" name="Flow arrow 1"/>
          <p:cNvSpPr/>
          <p:nvPr/>
        </p:nvSpPr>
        <p:spPr>
          <a:xfrm>
            <a:off x="2505456" y="2948940"/>
            <a:ext cx="246888" cy="0"/>
          </a:xfrm>
          <a:prstGeom prst="line">
            <a:avLst/>
          </a:prstGeom>
          <a:noFill/>
          <a:ln w="15875">
            <a:solidFill>
              <a:srgbClr val="1A1A1A"/>
            </a:solidFill>
            <a:prstDash val="solid"/>
            <a:tailEnd type="triangle"/>
          </a:ln>
        </p:spPr>
      </p:sp>
      <p:sp>
        <p:nvSpPr>
          <p:cNvPr id="15"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6" name="Step Screening"/>
          <p:cNvSpPr/>
          <p:nvPr/>
        </p:nvSpPr>
        <p:spPr>
          <a:xfrm>
            <a:off x="2788920" y="2286000"/>
            <a:ext cx="1920240" cy="1325880"/>
          </a:xfrm>
          <a:prstGeom prst="rect">
            <a:avLst/>
          </a:prstGeom>
          <a:solidFill>
            <a:srgbClr val="FFFFFF"/>
          </a:solidFill>
          <a:ln w="12700">
            <a:solidFill>
              <a:srgbClr val="9AA3AE"/>
            </a:solidFill>
            <a:prstDash val="solid"/>
          </a:ln>
        </p:spPr>
      </p:sp>
      <p:sp>
        <p:nvSpPr>
          <p:cNvPr id="17"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18" name="Flow arrow 2"/>
          <p:cNvSpPr/>
          <p:nvPr/>
        </p:nvSpPr>
        <p:spPr>
          <a:xfrm>
            <a:off x="4745736" y="2948940"/>
            <a:ext cx="246888" cy="0"/>
          </a:xfrm>
          <a:prstGeom prst="line">
            <a:avLst/>
          </a:prstGeom>
          <a:noFill/>
          <a:ln w="15875">
            <a:solidFill>
              <a:srgbClr val="1A1A1A"/>
            </a:solidFill>
            <a:prstDash val="solid"/>
            <a:tailEnd type="triangle"/>
          </a:ln>
        </p:spPr>
      </p:sp>
      <p:sp>
        <p:nvSpPr>
          <p:cNvPr id="19"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0" name="Step Full text"/>
          <p:cNvSpPr/>
          <p:nvPr/>
        </p:nvSpPr>
        <p:spPr>
          <a:xfrm>
            <a:off x="5029200" y="2286000"/>
            <a:ext cx="1920240" cy="1325880"/>
          </a:xfrm>
          <a:prstGeom prst="rect">
            <a:avLst/>
          </a:prstGeom>
          <a:solidFill>
            <a:srgbClr val="FFFFFF"/>
          </a:solidFill>
          <a:ln w="12700">
            <a:solidFill>
              <a:srgbClr val="9AA3AE"/>
            </a:solidFill>
            <a:prstDash val="solid"/>
          </a:ln>
        </p:spPr>
      </p:sp>
      <p:sp>
        <p:nvSpPr>
          <p:cNvPr id="21"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2" name="Flow arrow 3"/>
          <p:cNvSpPr/>
          <p:nvPr/>
        </p:nvSpPr>
        <p:spPr>
          <a:xfrm>
            <a:off x="6986016" y="2948940"/>
            <a:ext cx="246888" cy="0"/>
          </a:xfrm>
          <a:prstGeom prst="line">
            <a:avLst/>
          </a:prstGeom>
          <a:noFill/>
          <a:ln w="15875">
            <a:solidFill>
              <a:srgbClr val="1A1A1A"/>
            </a:solidFill>
            <a:prstDash val="solid"/>
            <a:tailEnd type="triangle"/>
          </a:ln>
        </p:spPr>
      </p:sp>
      <p:sp>
        <p:nvSpPr>
          <p:cNvPr id="23"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4" name="Step Included"/>
          <p:cNvSpPr/>
          <p:nvPr/>
        </p:nvSpPr>
        <p:spPr>
          <a:xfrm>
            <a:off x="7269480" y="2286000"/>
            <a:ext cx="1920240" cy="1325880"/>
          </a:xfrm>
          <a:prstGeom prst="rect">
            <a:avLst/>
          </a:prstGeom>
          <a:solidFill>
            <a:srgbClr val="FFFFFF"/>
          </a:solidFill>
          <a:ln w="12700">
            <a:solidFill>
              <a:srgbClr val="9AA3AE"/>
            </a:solidFill>
            <a:prstDash val="solid"/>
          </a:ln>
        </p:spPr>
      </p:sp>
      <p:sp>
        <p:nvSpPr>
          <p:cNvPr id="25"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6" name="Flow arrow 4"/>
          <p:cNvSpPr/>
          <p:nvPr/>
        </p:nvSpPr>
        <p:spPr>
          <a:xfrm>
            <a:off x="9226296" y="2948940"/>
            <a:ext cx="246888" cy="0"/>
          </a:xfrm>
          <a:prstGeom prst="line">
            <a:avLst/>
          </a:prstGeom>
          <a:noFill/>
          <a:ln w="15875">
            <a:solidFill>
              <a:srgbClr val="1A1A1A"/>
            </a:solidFill>
            <a:prstDash val="solid"/>
            <a:tailEnd type="triangle"/>
          </a:ln>
        </p:spPr>
      </p:sp>
      <p:sp>
        <p:nvSpPr>
          <p:cNvPr id="27"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28" name="Step Final dataset"/>
          <p:cNvSpPr/>
          <p:nvPr/>
        </p:nvSpPr>
        <p:spPr>
          <a:xfrm>
            <a:off x="9509760" y="2286000"/>
            <a:ext cx="1920240" cy="1325880"/>
          </a:xfrm>
          <a:prstGeom prst="rect">
            <a:avLst/>
          </a:prstGeom>
          <a:solidFill>
            <a:srgbClr val="1F3A5F"/>
          </a:solidFill>
          <a:ln w="12700">
            <a:solidFill>
              <a:srgbClr val="1F3A5F"/>
            </a:solidFill>
            <a:prstDash val="solid"/>
          </a:ln>
        </p:spPr>
      </p:sp>
      <p:sp>
        <p:nvSpPr>
          <p:cNvPr id="29"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0" name="Removed 1"/>
          <p:cNvSpPr/>
          <p:nvPr/>
        </p:nvSpPr>
        <p:spPr>
          <a:xfrm>
            <a:off x="2628900" y="2994660"/>
            <a:ext cx="0" cy="960120"/>
          </a:xfrm>
          <a:prstGeom prst="line">
            <a:avLst/>
          </a:prstGeom>
          <a:noFill/>
          <a:ln w="9525">
            <a:solidFill>
              <a:srgbClr val="9AA3AE"/>
            </a:solidFill>
            <a:prstDash val="dash"/>
            <a:tailEnd type="triangle"/>
          </a:ln>
        </p:spPr>
      </p:sp>
      <p:sp>
        <p:nvSpPr>
          <p:cNvPr id="31"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2" name="Removed 2"/>
          <p:cNvSpPr/>
          <p:nvPr/>
        </p:nvSpPr>
        <p:spPr>
          <a:xfrm>
            <a:off x="4869180" y="2994660"/>
            <a:ext cx="0" cy="960120"/>
          </a:xfrm>
          <a:prstGeom prst="line">
            <a:avLst/>
          </a:prstGeom>
          <a:noFill/>
          <a:ln w="9525">
            <a:solidFill>
              <a:srgbClr val="9AA3AE"/>
            </a:solidFill>
            <a:prstDash val="dash"/>
            <a:tailEnd type="triangle"/>
          </a:ln>
        </p:spPr>
      </p:sp>
      <p:sp>
        <p:nvSpPr>
          <p:cNvPr id="33"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4" name="Removed 3"/>
          <p:cNvSpPr/>
          <p:nvPr/>
        </p:nvSpPr>
        <p:spPr>
          <a:xfrm>
            <a:off x="7109460" y="2994660"/>
            <a:ext cx="0" cy="960120"/>
          </a:xfrm>
          <a:prstGeom prst="line">
            <a:avLst/>
          </a:prstGeom>
          <a:noFill/>
          <a:ln w="9525">
            <a:solidFill>
              <a:srgbClr val="9AA3AE"/>
            </a:solidFill>
            <a:prstDash val="dash"/>
            <a:tailEnd type="triangle"/>
          </a:ln>
        </p:spPr>
      </p:sp>
      <p:sp>
        <p:nvSpPr>
          <p:cNvPr id="35"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6" name="Text 34"/>
          <p:cNvSpPr txBox="1"/>
          <p:nvPr/>
        </p:nvSpPr>
        <p:spPr>
          <a:xfrm>
            <a:off x="548640" y="5806440"/>
            <a:ext cx="6400800" cy="274320"/>
          </a:xfrm>
          <a:prstGeom prst="rect">
            <a:avLst/>
          </a:prstGeom>
          <a:noFill/>
          <a:ln/>
        </p:spPr>
        <p:txBody>
          <a:bodyPr wrap="square" lIns="0" tIns="0" rIns="0" bIns="0" rtlCol="0" anchor="t"/>
          <a:lstStyle/>
          <a:p>
            <a:pPr indent="0" marL="0">
              <a:buNone/>
            </a:pPr>
            <a:r>
              <a:rPr lang="en-US" sz="1100" i="1" dirty="0">
                <a:solidFill>
                  <a:schemeClr val="accent3"/>
                </a:solidFill>
              </a:rPr>
              <a:t>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does the dataset look like?</a:t>
            </a:r>
            <a:endParaRPr lang="en-US" sz="2800" dirty="0"/>
          </a:p>
        </p:txBody>
      </p:sp>
      <p:sp>
        <p:nvSpPr>
          <p:cNvPr id="11"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Observations (rows)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Studies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Independent campaigns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13" name="Text 10"/>
          <p:cNvSpPr txBox="1"/>
          <p:nvPr/>
        </p:nvSpPr>
        <p:spPr>
          <a:xfrm>
            <a:off x="548640" y="534924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4"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Grid 0"/>
          <p:cNvSpPr/>
          <p:nvPr/>
        </p:nvSpPr>
        <p:spPr>
          <a:xfrm>
            <a:off x="1234440" y="1371600"/>
            <a:ext cx="6309360" cy="0"/>
          </a:xfrm>
          <a:prstGeom prst="line">
            <a:avLst/>
          </a:prstGeom>
          <a:noFill/>
          <a:ln w="9525">
            <a:solidFill>
              <a:srgbClr val="6B7280"/>
            </a:solidFill>
            <a:prstDash val="solid"/>
          </a:ln>
        </p:spPr>
      </p:sp>
      <p:sp>
        <p:nvSpPr>
          <p:cNvPr id="12"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3" name="Grid -4"/>
          <p:cNvSpPr/>
          <p:nvPr/>
        </p:nvSpPr>
        <p:spPr>
          <a:xfrm>
            <a:off x="1234440" y="2019300"/>
            <a:ext cx="6309360" cy="0"/>
          </a:xfrm>
          <a:prstGeom prst="line">
            <a:avLst/>
          </a:prstGeom>
          <a:noFill/>
          <a:ln w="9525">
            <a:solidFill>
              <a:srgbClr val="E5E7EB"/>
            </a:solidFill>
            <a:prstDash val="solid"/>
          </a:ln>
        </p:spPr>
      </p:sp>
      <p:sp>
        <p:nvSpPr>
          <p:cNvPr id="14"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5" name="Grid -8"/>
          <p:cNvSpPr/>
          <p:nvPr/>
        </p:nvSpPr>
        <p:spPr>
          <a:xfrm>
            <a:off x="1234440" y="2667000"/>
            <a:ext cx="6309360" cy="0"/>
          </a:xfrm>
          <a:prstGeom prst="line">
            <a:avLst/>
          </a:prstGeom>
          <a:noFill/>
          <a:ln w="9525">
            <a:solidFill>
              <a:srgbClr val="E5E7EB"/>
            </a:solidFill>
            <a:prstDash val="solid"/>
          </a:ln>
        </p:spPr>
      </p:sp>
      <p:sp>
        <p:nvSpPr>
          <p:cNvPr id="16"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7" name="Grid -12"/>
          <p:cNvSpPr/>
          <p:nvPr/>
        </p:nvSpPr>
        <p:spPr>
          <a:xfrm>
            <a:off x="1234440" y="3314700"/>
            <a:ext cx="6309360" cy="0"/>
          </a:xfrm>
          <a:prstGeom prst="line">
            <a:avLst/>
          </a:prstGeom>
          <a:noFill/>
          <a:ln w="9525">
            <a:solidFill>
              <a:srgbClr val="E5E7EB"/>
            </a:solidFill>
            <a:prstDash val="solid"/>
          </a:ln>
        </p:spPr>
      </p:sp>
      <p:sp>
        <p:nvSpPr>
          <p:cNvPr id="18"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19" name="Grid -16"/>
          <p:cNvSpPr/>
          <p:nvPr/>
        </p:nvSpPr>
        <p:spPr>
          <a:xfrm>
            <a:off x="1234440" y="3962400"/>
            <a:ext cx="6309360" cy="0"/>
          </a:xfrm>
          <a:prstGeom prst="line">
            <a:avLst/>
          </a:prstGeom>
          <a:noFill/>
          <a:ln w="9525">
            <a:solidFill>
              <a:srgbClr val="E5E7EB"/>
            </a:solidFill>
            <a:prstDash val="solid"/>
          </a:ln>
        </p:spPr>
      </p:sp>
      <p:sp>
        <p:nvSpPr>
          <p:cNvPr id="20"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1" name="Grid -20"/>
          <p:cNvSpPr/>
          <p:nvPr/>
        </p:nvSpPr>
        <p:spPr>
          <a:xfrm>
            <a:off x="1234440" y="4610100"/>
            <a:ext cx="6309360" cy="0"/>
          </a:xfrm>
          <a:prstGeom prst="line">
            <a:avLst/>
          </a:prstGeom>
          <a:noFill/>
          <a:ln w="9525">
            <a:solidFill>
              <a:srgbClr val="E5E7EB"/>
            </a:solidFill>
            <a:prstDash val="solid"/>
          </a:ln>
        </p:spPr>
      </p:sp>
      <p:sp>
        <p:nvSpPr>
          <p:cNvPr id="22"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3" name="Grid -24"/>
          <p:cNvSpPr/>
          <p:nvPr/>
        </p:nvSpPr>
        <p:spPr>
          <a:xfrm>
            <a:off x="1234440" y="5257800"/>
            <a:ext cx="6309360" cy="0"/>
          </a:xfrm>
          <a:prstGeom prst="line">
            <a:avLst/>
          </a:prstGeom>
          <a:noFill/>
          <a:ln w="9525">
            <a:solidFill>
              <a:srgbClr val="E5E7EB"/>
            </a:solidFill>
            <a:prstDash val="solid"/>
          </a:ln>
        </p:spPr>
      </p:sp>
      <p:sp>
        <p:nvSpPr>
          <p:cNvPr id="24"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5"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6"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8"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29"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0"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1"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2" name="Day 60 line"/>
          <p:cNvSpPr/>
          <p:nvPr/>
        </p:nvSpPr>
        <p:spPr>
          <a:xfrm>
            <a:off x="4389120" y="1280160"/>
            <a:ext cx="0" cy="3977640"/>
          </a:xfrm>
          <a:prstGeom prst="line">
            <a:avLst/>
          </a:prstGeom>
          <a:noFill/>
          <a:ln w="12700">
            <a:solidFill>
              <a:srgbClr val="1A1A1A"/>
            </a:solidFill>
            <a:prstDash val="dash"/>
          </a:ln>
        </p:spPr>
      </p:sp>
      <p:sp>
        <p:nvSpPr>
          <p:cNvPr id="33"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4"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6B7280"/>
            </a:solidFill>
            <a:prstDash val="solid"/>
          </a:ln>
        </p:spPr>
      </p:sp>
      <p:sp>
        <p:nvSpPr>
          <p:cNvPr id="35" name="Deep hip rotators at day 60"/>
          <p:cNvSpPr/>
          <p:nvPr/>
        </p:nvSpPr>
        <p:spPr>
          <a:xfrm>
            <a:off x="4338828" y="1628966"/>
            <a:ext cx="100584" cy="100584"/>
          </a:xfrm>
          <a:prstGeom prst="ellipse">
            <a:avLst/>
          </a:prstGeom>
          <a:solidFill>
            <a:srgbClr val="6B7280"/>
          </a:solidFill>
          <a:ln w="6350">
            <a:solidFill>
              <a:srgbClr val="FFFFFF"/>
            </a:solidFill>
            <a:prstDash val="solid"/>
          </a:ln>
        </p:spPr>
      </p:sp>
      <p:sp>
        <p:nvSpPr>
          <p:cNvPr id="36"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17A2B8"/>
            </a:solidFill>
            <a:prstDash val="solid"/>
          </a:ln>
        </p:spPr>
      </p:sp>
      <p:sp>
        <p:nvSpPr>
          <p:cNvPr id="37" name="Inner thigh (hip adductors) at day 60"/>
          <p:cNvSpPr/>
          <p:nvPr/>
        </p:nvSpPr>
        <p:spPr>
          <a:xfrm>
            <a:off x="4338828" y="2195703"/>
            <a:ext cx="100584" cy="100584"/>
          </a:xfrm>
          <a:prstGeom prst="ellipse">
            <a:avLst/>
          </a:prstGeom>
          <a:solidFill>
            <a:srgbClr val="17A2B8"/>
          </a:solidFill>
          <a:ln w="6350">
            <a:solidFill>
              <a:srgbClr val="FFFFFF"/>
            </a:solidFill>
            <a:prstDash val="solid"/>
          </a:ln>
        </p:spPr>
      </p:sp>
      <p:sp>
        <p:nvSpPr>
          <p:cNvPr id="38"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8C564B"/>
            </a:solidFill>
            <a:prstDash val="solid"/>
          </a:ln>
        </p:spPr>
      </p:sp>
      <p:sp>
        <p:nvSpPr>
          <p:cNvPr id="39" name="Glutes (hip extensors) at day 60"/>
          <p:cNvSpPr/>
          <p:nvPr/>
        </p:nvSpPr>
        <p:spPr>
          <a:xfrm>
            <a:off x="4338828" y="2309050"/>
            <a:ext cx="100584" cy="100584"/>
          </a:xfrm>
          <a:prstGeom prst="ellipse">
            <a:avLst/>
          </a:prstGeom>
          <a:solidFill>
            <a:srgbClr val="8C564B"/>
          </a:solidFill>
          <a:ln w="6350">
            <a:solidFill>
              <a:srgbClr val="FFFFFF"/>
            </a:solidFill>
            <a:prstDash val="solid"/>
          </a:ln>
        </p:spPr>
      </p:sp>
      <p:sp>
        <p:nvSpPr>
          <p:cNvPr id="40"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2E8B57"/>
            </a:solidFill>
            <a:prstDash val="solid"/>
          </a:ln>
        </p:spPr>
      </p:sp>
      <p:sp>
        <p:nvSpPr>
          <p:cNvPr id="41" name="Hip flexors at day 60"/>
          <p:cNvSpPr/>
          <p:nvPr/>
        </p:nvSpPr>
        <p:spPr>
          <a:xfrm>
            <a:off x="4338828" y="2422398"/>
            <a:ext cx="100584" cy="100584"/>
          </a:xfrm>
          <a:prstGeom prst="ellipse">
            <a:avLst/>
          </a:prstGeom>
          <a:solidFill>
            <a:srgbClr val="2E8B57"/>
          </a:solidFill>
          <a:ln w="6350">
            <a:solidFill>
              <a:srgbClr val="FFFFFF"/>
            </a:solidFill>
            <a:prstDash val="solid"/>
          </a:ln>
        </p:spPr>
      </p:sp>
      <p:sp>
        <p:nvSpPr>
          <p:cNvPr id="42"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BA8"/>
            </a:solidFill>
            <a:prstDash val="solid"/>
          </a:ln>
        </p:spPr>
      </p:sp>
      <p:sp>
        <p:nvSpPr>
          <p:cNvPr id="43" name="Outer hip (hip abductors) at day 60"/>
          <p:cNvSpPr/>
          <p:nvPr/>
        </p:nvSpPr>
        <p:spPr>
          <a:xfrm>
            <a:off x="4338828" y="2794825"/>
            <a:ext cx="100584" cy="100584"/>
          </a:xfrm>
          <a:prstGeom prst="ellipse">
            <a:avLst/>
          </a:prstGeom>
          <a:solidFill>
            <a:srgbClr val="7B6BA8"/>
          </a:solidFill>
          <a:ln w="6350">
            <a:solidFill>
              <a:srgbClr val="FFFFFF"/>
            </a:solidFill>
            <a:prstDash val="solid"/>
          </a:ln>
        </p:spPr>
      </p:sp>
      <p:sp>
        <p:nvSpPr>
          <p:cNvPr id="44"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C78A8"/>
            </a:solidFill>
            <a:prstDash val="solid"/>
          </a:ln>
        </p:spPr>
      </p:sp>
      <p:sp>
        <p:nvSpPr>
          <p:cNvPr id="45" name="Back thigh (knee flexors) at day 60"/>
          <p:cNvSpPr/>
          <p:nvPr/>
        </p:nvSpPr>
        <p:spPr>
          <a:xfrm>
            <a:off x="4338828" y="2908173"/>
            <a:ext cx="100584" cy="100584"/>
          </a:xfrm>
          <a:prstGeom prst="ellipse">
            <a:avLst/>
          </a:prstGeom>
          <a:solidFill>
            <a:srgbClr val="4C78A8"/>
          </a:solidFill>
          <a:ln w="6350">
            <a:solidFill>
              <a:srgbClr val="FFFFFF"/>
            </a:solidFill>
            <a:prstDash val="solid"/>
          </a:ln>
        </p:spPr>
      </p:sp>
      <p:sp>
        <p:nvSpPr>
          <p:cNvPr id="46"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1F3A5F"/>
            </a:solidFill>
            <a:prstDash val="solid"/>
          </a:ln>
        </p:spPr>
      </p:sp>
      <p:sp>
        <p:nvSpPr>
          <p:cNvPr id="47" name="Front thigh (knee extensors) at day 60"/>
          <p:cNvSpPr/>
          <p:nvPr/>
        </p:nvSpPr>
        <p:spPr>
          <a:xfrm>
            <a:off x="4338828" y="2956751"/>
            <a:ext cx="100584" cy="100584"/>
          </a:xfrm>
          <a:prstGeom prst="ellipse">
            <a:avLst/>
          </a:prstGeom>
          <a:solidFill>
            <a:srgbClr val="1F3A5F"/>
          </a:solidFill>
          <a:ln w="6350">
            <a:solidFill>
              <a:srgbClr val="FFFFFF"/>
            </a:solidFill>
            <a:prstDash val="solid"/>
          </a:ln>
        </p:spPr>
      </p:sp>
      <p:sp>
        <p:nvSpPr>
          <p:cNvPr id="48"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D08C34"/>
            </a:solidFill>
            <a:prstDash val="solid"/>
          </a:ln>
        </p:spPr>
      </p:sp>
      <p:sp>
        <p:nvSpPr>
          <p:cNvPr id="49" name="Shin (dorsiflexors) at day 60"/>
          <p:cNvSpPr/>
          <p:nvPr/>
        </p:nvSpPr>
        <p:spPr>
          <a:xfrm>
            <a:off x="4338828" y="2972943"/>
            <a:ext cx="100584" cy="100584"/>
          </a:xfrm>
          <a:prstGeom prst="ellipse">
            <a:avLst/>
          </a:prstGeom>
          <a:solidFill>
            <a:srgbClr val="D08C34"/>
          </a:solidFill>
          <a:ln w="6350">
            <a:solidFill>
              <a:srgbClr val="FFFFFF"/>
            </a:solidFill>
            <a:prstDash val="solid"/>
          </a:ln>
        </p:spPr>
      </p:sp>
      <p:sp>
        <p:nvSpPr>
          <p:cNvPr id="50"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A23B2A"/>
            </a:solidFill>
            <a:prstDash val="solid"/>
          </a:ln>
        </p:spPr>
      </p:sp>
      <p:sp>
        <p:nvSpPr>
          <p:cNvPr id="51" name="Calf (plantar flexors) at day 60"/>
          <p:cNvSpPr/>
          <p:nvPr/>
        </p:nvSpPr>
        <p:spPr>
          <a:xfrm>
            <a:off x="4338828" y="3879723"/>
            <a:ext cx="100584" cy="100584"/>
          </a:xfrm>
          <a:prstGeom prst="ellipse">
            <a:avLst/>
          </a:prstGeom>
          <a:solidFill>
            <a:srgbClr val="A23B2A"/>
          </a:solidFill>
          <a:ln w="6350">
            <a:solidFill>
              <a:srgbClr val="FFFFFF"/>
            </a:solidFill>
            <a:prstDash val="solid"/>
          </a:ln>
        </p:spPr>
      </p:sp>
      <p:sp>
        <p:nvSpPr>
          <p:cNvPr id="52"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3" name="Deep hip rotators leader"/>
          <p:cNvSpPr/>
          <p:nvPr/>
        </p:nvSpPr>
        <p:spPr>
          <a:xfrm flipV="1">
            <a:off x="7518654" y="1508760"/>
            <a:ext cx="646938" cy="282571"/>
          </a:xfrm>
          <a:prstGeom prst="line">
            <a:avLst/>
          </a:prstGeom>
          <a:noFill/>
          <a:ln w="9525">
            <a:solidFill>
              <a:srgbClr val="6B7280"/>
            </a:solidFill>
            <a:prstDash val="solid"/>
          </a:ln>
        </p:spPr>
      </p:sp>
      <p:pic>
        <p:nvPicPr>
          <p:cNvPr id="54" name="Image 0" descr="Deep hip rotators (highlighted on a leg outline)">    </p:cNvPr>
          <p:cNvPicPr>
            <a:picLocks noChangeAspect="1"/>
          </p:cNvPicPr>
          <p:nvPr/>
        </p:nvPicPr>
        <p:blipFill>
          <a:blip r:embed="rId1"/>
          <a:stretch>
            <a:fillRect/>
          </a:stretch>
        </p:blipFill>
        <p:spPr>
          <a:xfrm>
            <a:off x="8229600" y="1280160"/>
            <a:ext cx="304800" cy="457200"/>
          </a:xfrm>
          <a:prstGeom prst="rect">
            <a:avLst/>
          </a:prstGeom>
        </p:spPr>
      </p:pic>
      <p:sp>
        <p:nvSpPr>
          <p:cNvPr id="55"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6"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6B7280"/>
                </a:solidFill>
              </a:rPr>
              <a:t>−1.9%</a:t>
            </a:r>
            <a:endParaRPr lang="en-US" sz="1300" dirty="0"/>
          </a:p>
        </p:txBody>
      </p:sp>
      <p:sp>
        <p:nvSpPr>
          <p:cNvPr id="57" name="Inner thigh (hip adductors) leader"/>
          <p:cNvSpPr/>
          <p:nvPr/>
        </p:nvSpPr>
        <p:spPr>
          <a:xfrm flipV="1">
            <a:off x="7518654" y="2002536"/>
            <a:ext cx="646938" cy="561985"/>
          </a:xfrm>
          <a:prstGeom prst="line">
            <a:avLst/>
          </a:prstGeom>
          <a:noFill/>
          <a:ln w="9525">
            <a:solidFill>
              <a:srgbClr val="17A2B8"/>
            </a:solidFill>
            <a:prstDash val="solid"/>
          </a:ln>
        </p:spPr>
      </p:sp>
      <p:pic>
        <p:nvPicPr>
          <p:cNvPr id="58" name="Image 1" descr="Inner thigh (hip adductors) (highlighted on a leg outline)">    </p:cNvPr>
          <p:cNvPicPr>
            <a:picLocks noChangeAspect="1"/>
          </p:cNvPicPr>
          <p:nvPr/>
        </p:nvPicPr>
        <p:blipFill>
          <a:blip r:embed="rId2"/>
          <a:stretch>
            <a:fillRect/>
          </a:stretch>
        </p:blipFill>
        <p:spPr>
          <a:xfrm>
            <a:off x="8229600" y="1773936"/>
            <a:ext cx="304800" cy="457200"/>
          </a:xfrm>
          <a:prstGeom prst="rect">
            <a:avLst/>
          </a:prstGeom>
        </p:spPr>
      </p:pic>
      <p:sp>
        <p:nvSpPr>
          <p:cNvPr id="59"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0"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17A2B8"/>
                </a:solidFill>
              </a:rPr>
              <a:t>−5.4%</a:t>
            </a:r>
            <a:endParaRPr lang="en-US" sz="1300" dirty="0"/>
          </a:p>
        </p:txBody>
      </p:sp>
      <p:sp>
        <p:nvSpPr>
          <p:cNvPr id="61" name="Glutes (hip extensors) leader"/>
          <p:cNvSpPr/>
          <p:nvPr/>
        </p:nvSpPr>
        <p:spPr>
          <a:xfrm flipV="1">
            <a:off x="7518654" y="2496312"/>
            <a:ext cx="646938" cy="222847"/>
          </a:xfrm>
          <a:prstGeom prst="line">
            <a:avLst/>
          </a:prstGeom>
          <a:noFill/>
          <a:ln w="9525">
            <a:solidFill>
              <a:srgbClr val="8C564B"/>
            </a:solidFill>
            <a:prstDash val="solid"/>
          </a:ln>
        </p:spPr>
      </p:sp>
      <p:pic>
        <p:nvPicPr>
          <p:cNvPr id="62" name="Image 2" descr="Glutes (hip extensors) (highlighted on a leg outline)">    </p:cNvPr>
          <p:cNvPicPr>
            <a:picLocks noChangeAspect="1"/>
          </p:cNvPicPr>
          <p:nvPr/>
        </p:nvPicPr>
        <p:blipFill>
          <a:blip r:embed="rId3"/>
          <a:stretch>
            <a:fillRect/>
          </a:stretch>
        </p:blipFill>
        <p:spPr>
          <a:xfrm>
            <a:off x="8229600" y="2267712"/>
            <a:ext cx="304800" cy="457200"/>
          </a:xfrm>
          <a:prstGeom prst="rect">
            <a:avLst/>
          </a:prstGeom>
        </p:spPr>
      </p:pic>
      <p:sp>
        <p:nvSpPr>
          <p:cNvPr id="63"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4"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8C564B"/>
                </a:solidFill>
              </a:rPr>
              <a:t>−6.1%</a:t>
            </a:r>
            <a:endParaRPr lang="en-US" sz="1300" dirty="0"/>
          </a:p>
        </p:txBody>
      </p:sp>
      <p:sp>
        <p:nvSpPr>
          <p:cNvPr id="65" name="Hip flexors leader"/>
          <p:cNvSpPr/>
          <p:nvPr/>
        </p:nvSpPr>
        <p:spPr>
          <a:xfrm>
            <a:off x="7518654" y="2873796"/>
            <a:ext cx="646938" cy="116292"/>
          </a:xfrm>
          <a:prstGeom prst="line">
            <a:avLst/>
          </a:prstGeom>
          <a:noFill/>
          <a:ln w="9525">
            <a:solidFill>
              <a:srgbClr val="2E8B57"/>
            </a:solidFill>
            <a:prstDash val="solid"/>
          </a:ln>
        </p:spPr>
      </p:sp>
      <p:pic>
        <p:nvPicPr>
          <p:cNvPr id="66" name="Image 3" descr="Hip flexors (highlighted on a leg outline)">    </p:cNvPr>
          <p:cNvPicPr>
            <a:picLocks noChangeAspect="1"/>
          </p:cNvPicPr>
          <p:nvPr/>
        </p:nvPicPr>
        <p:blipFill>
          <a:blip r:embed="rId4"/>
          <a:stretch>
            <a:fillRect/>
          </a:stretch>
        </p:blipFill>
        <p:spPr>
          <a:xfrm>
            <a:off x="8229600" y="2761488"/>
            <a:ext cx="304800" cy="457200"/>
          </a:xfrm>
          <a:prstGeom prst="rect">
            <a:avLst/>
          </a:prstGeom>
        </p:spPr>
      </p:pic>
      <p:sp>
        <p:nvSpPr>
          <p:cNvPr id="67"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68"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2E8B57"/>
                </a:solidFill>
              </a:rPr>
              <a:t>−6.8%</a:t>
            </a:r>
            <a:endParaRPr lang="en-US" sz="1300" dirty="0"/>
          </a:p>
        </p:txBody>
      </p:sp>
      <p:sp>
        <p:nvSpPr>
          <p:cNvPr id="69" name="Outer hip (hip abductors) leader"/>
          <p:cNvSpPr/>
          <p:nvPr/>
        </p:nvSpPr>
        <p:spPr>
          <a:xfrm>
            <a:off x="7518654" y="3381892"/>
            <a:ext cx="646938" cy="101972"/>
          </a:xfrm>
          <a:prstGeom prst="line">
            <a:avLst/>
          </a:prstGeom>
          <a:noFill/>
          <a:ln w="9525">
            <a:solidFill>
              <a:srgbClr val="7B6BA8"/>
            </a:solidFill>
            <a:prstDash val="solid"/>
          </a:ln>
        </p:spPr>
      </p:sp>
      <p:pic>
        <p:nvPicPr>
          <p:cNvPr id="70" name="Image 4" descr="Outer hip (hip abductors) (highlighted on a leg outline)">    </p:cNvPr>
          <p:cNvPicPr>
            <a:picLocks noChangeAspect="1"/>
          </p:cNvPicPr>
          <p:nvPr/>
        </p:nvPicPr>
        <p:blipFill>
          <a:blip r:embed="rId5"/>
          <a:stretch>
            <a:fillRect/>
          </a:stretch>
        </p:blipFill>
        <p:spPr>
          <a:xfrm>
            <a:off x="8229600" y="3255264"/>
            <a:ext cx="304800" cy="457200"/>
          </a:xfrm>
          <a:prstGeom prst="rect">
            <a:avLst/>
          </a:prstGeom>
        </p:spPr>
      </p:pic>
      <p:sp>
        <p:nvSpPr>
          <p:cNvPr id="71"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2"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BA8"/>
                </a:solidFill>
              </a:rPr>
              <a:t>−9.1%</a:t>
            </a:r>
            <a:endParaRPr lang="en-US" sz="1300" dirty="0"/>
          </a:p>
        </p:txBody>
      </p:sp>
      <p:sp>
        <p:nvSpPr>
          <p:cNvPr id="73" name="Back thigh (knee flexors) leader"/>
          <p:cNvSpPr/>
          <p:nvPr/>
        </p:nvSpPr>
        <p:spPr>
          <a:xfrm>
            <a:off x="7518654" y="3536530"/>
            <a:ext cx="646938" cy="441110"/>
          </a:xfrm>
          <a:prstGeom prst="line">
            <a:avLst/>
          </a:prstGeom>
          <a:noFill/>
          <a:ln w="9525">
            <a:solidFill>
              <a:srgbClr val="4C78A8"/>
            </a:solidFill>
            <a:prstDash val="solid"/>
          </a:ln>
        </p:spPr>
      </p:sp>
      <p:pic>
        <p:nvPicPr>
          <p:cNvPr id="74" name="Image 5" descr="Back thigh (knee flexors) (highlighted on a leg outline)">    </p:cNvPr>
          <p:cNvPicPr>
            <a:picLocks noChangeAspect="1"/>
          </p:cNvPicPr>
          <p:nvPr/>
        </p:nvPicPr>
        <p:blipFill>
          <a:blip r:embed="rId6"/>
          <a:stretch>
            <a:fillRect/>
          </a:stretch>
        </p:blipFill>
        <p:spPr>
          <a:xfrm>
            <a:off x="8229600" y="3749040"/>
            <a:ext cx="304800" cy="457200"/>
          </a:xfrm>
          <a:prstGeom prst="rect">
            <a:avLst/>
          </a:prstGeom>
        </p:spPr>
      </p:pic>
      <p:sp>
        <p:nvSpPr>
          <p:cNvPr id="75"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6"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C78A8"/>
                </a:solidFill>
              </a:rPr>
              <a:t>−9.8%</a:t>
            </a:r>
            <a:endParaRPr lang="en-US" sz="1300" dirty="0"/>
          </a:p>
        </p:txBody>
      </p:sp>
      <p:sp>
        <p:nvSpPr>
          <p:cNvPr id="77" name="Front thigh (knee extensors) leader"/>
          <p:cNvSpPr/>
          <p:nvPr/>
        </p:nvSpPr>
        <p:spPr>
          <a:xfrm>
            <a:off x="7518654" y="3602804"/>
            <a:ext cx="646938" cy="868612"/>
          </a:xfrm>
          <a:prstGeom prst="line">
            <a:avLst/>
          </a:prstGeom>
          <a:noFill/>
          <a:ln w="9525">
            <a:solidFill>
              <a:srgbClr val="1F3A5F"/>
            </a:solidFill>
            <a:prstDash val="solid"/>
          </a:ln>
        </p:spPr>
      </p:sp>
      <p:pic>
        <p:nvPicPr>
          <p:cNvPr id="78" name="Image 6" descr="Front thigh (knee extensors) (highlighted on a leg outline)">    </p:cNvPr>
          <p:cNvPicPr>
            <a:picLocks noChangeAspect="1"/>
          </p:cNvPicPr>
          <p:nvPr/>
        </p:nvPicPr>
        <p:blipFill>
          <a:blip r:embed="rId7"/>
          <a:stretch>
            <a:fillRect/>
          </a:stretch>
        </p:blipFill>
        <p:spPr>
          <a:xfrm>
            <a:off x="8229600" y="4242816"/>
            <a:ext cx="304800" cy="457200"/>
          </a:xfrm>
          <a:prstGeom prst="rect">
            <a:avLst/>
          </a:prstGeom>
        </p:spPr>
      </p:pic>
      <p:sp>
        <p:nvSpPr>
          <p:cNvPr id="79"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0"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1F3A5F"/>
                </a:solidFill>
              </a:rPr>
              <a:t>−10.1%</a:t>
            </a:r>
            <a:endParaRPr lang="en-US" sz="1300" dirty="0"/>
          </a:p>
        </p:txBody>
      </p:sp>
      <p:sp>
        <p:nvSpPr>
          <p:cNvPr id="81" name="Shin (dorsiflexors) leader"/>
          <p:cNvSpPr/>
          <p:nvPr/>
        </p:nvSpPr>
        <p:spPr>
          <a:xfrm>
            <a:off x="7518654" y="3624895"/>
            <a:ext cx="646938" cy="1340297"/>
          </a:xfrm>
          <a:prstGeom prst="line">
            <a:avLst/>
          </a:prstGeom>
          <a:noFill/>
          <a:ln w="9525">
            <a:solidFill>
              <a:srgbClr val="D08C34"/>
            </a:solidFill>
            <a:prstDash val="solid"/>
          </a:ln>
        </p:spPr>
      </p:sp>
      <p:pic>
        <p:nvPicPr>
          <p:cNvPr id="82" name="Image 7" descr="Shin (dorsiflexors) (highlighted on a leg outline)">    </p:cNvPr>
          <p:cNvPicPr>
            <a:picLocks noChangeAspect="1"/>
          </p:cNvPicPr>
          <p:nvPr/>
        </p:nvPicPr>
        <p:blipFill>
          <a:blip r:embed="rId8"/>
          <a:stretch>
            <a:fillRect/>
          </a:stretch>
        </p:blipFill>
        <p:spPr>
          <a:xfrm>
            <a:off x="8229600" y="4736592"/>
            <a:ext cx="304800" cy="457200"/>
          </a:xfrm>
          <a:prstGeom prst="rect">
            <a:avLst/>
          </a:prstGeom>
        </p:spPr>
      </p:pic>
      <p:sp>
        <p:nvSpPr>
          <p:cNvPr id="83"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4"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D08C34"/>
                </a:solidFill>
              </a:rPr>
              <a:t>−10.2%</a:t>
            </a:r>
            <a:endParaRPr lang="en-US" sz="1300" dirty="0"/>
          </a:p>
        </p:txBody>
      </p:sp>
      <p:sp>
        <p:nvSpPr>
          <p:cNvPr id="85" name="Calf (plantar flexors) leader"/>
          <p:cNvSpPr/>
          <p:nvPr/>
        </p:nvSpPr>
        <p:spPr>
          <a:xfrm>
            <a:off x="7518654" y="4861998"/>
            <a:ext cx="646938" cy="596970"/>
          </a:xfrm>
          <a:prstGeom prst="line">
            <a:avLst/>
          </a:prstGeom>
          <a:noFill/>
          <a:ln w="9525">
            <a:solidFill>
              <a:srgbClr val="A23B2A"/>
            </a:solidFill>
            <a:prstDash val="solid"/>
          </a:ln>
        </p:spPr>
      </p:sp>
      <p:pic>
        <p:nvPicPr>
          <p:cNvPr id="86" name="Image 8" descr="Calf (plantar flexors) (highlighted on a leg outline)">    </p:cNvPr>
          <p:cNvPicPr>
            <a:picLocks noChangeAspect="1"/>
          </p:cNvPicPr>
          <p:nvPr/>
        </p:nvPicPr>
        <p:blipFill>
          <a:blip r:embed="rId9"/>
          <a:stretch>
            <a:fillRect/>
          </a:stretch>
        </p:blipFill>
        <p:spPr>
          <a:xfrm>
            <a:off x="8229600" y="5230368"/>
            <a:ext cx="304800" cy="457200"/>
          </a:xfrm>
          <a:prstGeom prst="rect">
            <a:avLst/>
          </a:prstGeom>
        </p:spPr>
      </p:pic>
      <p:sp>
        <p:nvSpPr>
          <p:cNvPr id="87"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88"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A23B2A"/>
                </a:solidFill>
              </a:rPr>
              <a:t>−15.8%</a:t>
            </a:r>
            <a:endParaRPr lang="en-US" sz="1300" dirty="0"/>
          </a:p>
        </p:txBody>
      </p:sp>
      <p:sp>
        <p:nvSpPr>
          <p:cNvPr id="89"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Lines: one shared time course (saturating, τ = 60 days) scaled to each group's estimate at day 60.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campaign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campaign, train on the rest, repeat 32 times</a:t>
            </a:r>
            <a:endParaRPr lang="en-US" sz="1500" dirty="0"/>
          </a:p>
        </p:txBody>
      </p:sp>
      <p:sp>
        <p:nvSpPr>
          <p:cNvPr id="20" name="Training campaign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campaign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campaign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campaign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campaign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campaign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campaign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campaign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campaign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campaign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campaign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campaign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campaign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campaign"/>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campaign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campaign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campaign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campaign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campaign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campaign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campaign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campaign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campaign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campaign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campaign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campaign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campaign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campaign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campaign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campaign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campaign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campaign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campaigns.  </a:t>
            </a:r>
            <a:pPr indent="0" marL="0">
              <a:buNone/>
            </a:pPr>
            <a:r>
              <a:rPr lang="en-US" sz="1400" dirty="0">
                <a:solidFill>
                  <a:schemeClr val="accent1"/>
                </a:solidFill>
              </a:rPr>
              <a:t>Red: the held-out test campaign.</a:t>
            </a:r>
            <a:pPr indent="0" marL="0">
              <a:buNone/>
            </a:pPr>
            <a:r>
              <a:rPr lang="en-US" sz="1400" dirty="0">
                <a:solidFill>
                  <a:schemeClr val="tx1"/>
                </a:solidFill>
              </a:rPr>
              <a:t>  Each campaign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campaigns, not measurements: the 346 rows used for modelling come from 32 of the 36 campaigns, and rows of one campaign share volunteers.</a:t>
            </a:r>
            <a:endParaRPr lang="en-US" sz="1400" dirty="0"/>
          </a:p>
          <a:p>
            <a:pPr marL="342900" indent="-342900">
              <a:spcAft>
                <a:spcPts val="400"/>
              </a:spcAft>
              <a:buSzPct val="100000"/>
              <a:buChar char="•"/>
            </a:pPr>
            <a:r>
              <a:rPr lang="en-US" sz="1400" dirty="0">
                <a:solidFill>
                  <a:schemeClr val="tx1"/>
                </a:solidFill>
              </a:rPr>
              <a:t>Score: average error in percentage points (pp), each campaign counted once. Forecast −10%, measured −13%: error 3 pp.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campaign is still no lower. Most of the error left is a shift that affects a whole campaign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campaigns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campaigns,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campaign's measurements, and any paper, author or campaign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campaigns.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a known campaign?</a:t>
            </a:r>
            <a:endParaRPr lang="en-US" sz="1600" dirty="0"/>
          </a:p>
          <a:p>
            <a:pPr marL="342900" indent="-342900">
              <a:spcAft>
                <a:spcPts val="400"/>
              </a:spcAft>
              <a:buSzPct val="100000"/>
              <a:buChar char="•"/>
            </a:pPr>
            <a:r>
              <a:rPr lang="en-US" sz="1400" dirty="0">
                <a:solidFill>
                  <a:schemeClr val="tx1"/>
                </a:solidFill>
              </a:rPr>
              <a:t>Everything identifying a campaign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campaign's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campaigns'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campaigns'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not in the original plan</a:t>
            </a:r>
            <a:endParaRPr lang="en-US" sz="1600" dirty="0"/>
          </a:p>
          <a:p>
            <a:pPr marL="342900" indent="-342900">
              <a:spcAft>
                <a:spcPts val="400"/>
              </a:spcAft>
              <a:buSzPct val="100000"/>
              <a:buChar char="•"/>
            </a:pPr>
            <a:r>
              <a:rPr lang="en-US" sz="1400" dirty="0">
                <a:solidFill>
                  <a:schemeClr val="tx1"/>
                </a:solidFill>
              </a:rPr>
              <a:t>Overconfident ranges: its 80% ranges hold the measured value 62% of the time, so we report only its single-number forecast</a:t>
            </a:r>
            <a:endParaRPr lang="en-US" sz="1600" dirty="0"/>
          </a:p>
          <a:p>
            <a:pPr marL="342900" indent="-342900">
              <a:spcAft>
                <a:spcPts val="400"/>
              </a:spcAft>
              <a:buSzPct val="100000"/>
              <a:buChar char="•"/>
            </a:pPr>
            <a:r>
              <a:rPr lang="en-US" sz="1400" dirty="0">
                <a:solidFill>
                  <a:schemeClr val="tx1"/>
                </a:solidFill>
              </a:rPr>
              <a:t>Given a campaign's own earlier scans, it does not use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campaigns,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campaign's description and the other campaigns' data cuts the error to 2.71 pp (curve 3.13 pp); the gain remains when everything identifying a campaign is hidden.</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campaigns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campaign,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a:p>
            <a:pPr marL="342900" indent="-342900">
              <a:spcAft>
                <a:spcPts val="400"/>
              </a:spcAft>
              <a:buSzPct val="100000"/>
              <a:buChar char="•"/>
            </a:pPr>
            <a:r>
              <a:rPr lang="en-US" sz="1800" dirty="0">
                <a:solidFill>
                  <a:schemeClr val="tx1"/>
                </a:solidFill>
              </a:rPr>
              <a:t>Link the muscles: predict one muscle's loss from another's, and weight them into an estimate of strength loss</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Four sources searched from 2013 on, plus 10 older or open-data studies (sources and queries on the next slide)</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campaign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campaign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how did we search the literature?</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Sources (searched 4 September 2026)</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9AA3AE"/>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9AA3AE"/>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9AA3AE"/>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present it as a secondary finding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campaigns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Using the size of each win: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campaigns?</a:t>
            </a:r>
            <a:endParaRPr lang="en-US" sz="1500" dirty="0"/>
          </a:p>
          <a:p>
            <a:pPr marL="342900" indent="-342900">
              <a:spcAft>
                <a:spcPts val="400"/>
              </a:spcAft>
              <a:buSzPct val="100000"/>
              <a:buChar char="•"/>
            </a:pPr>
            <a:r>
              <a:rPr lang="en-US" sz="1400" dirty="0">
                <a:solidFill>
                  <a:schemeClr val="tx1"/>
                </a:solidFill>
              </a:rPr>
              <a:t>3 long MRI campaigns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campaign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campaign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campaign;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campaigns leave room for about 3 campaign-level inputs (about 10 campaigns per input)</a:t>
            </a:r>
            <a:endParaRPr lang="en-US" sz="1500" dirty="0"/>
          </a:p>
          <a:p>
            <a:pPr marL="342900" indent="-342900">
              <a:spcAft>
                <a:spcPts val="400"/>
              </a:spcAft>
              <a:buSzPct val="100000"/>
              <a:buChar char="•"/>
            </a:pPr>
            <a:r>
              <a:rPr lang="en-US" sz="1400" dirty="0">
                <a:solidFill>
                  <a:schemeClr val="tx1"/>
                </a:solidFill>
              </a:rPr>
              <a:t>Age and sex are fixed within a campaign (347 of 425 rows men-only), so they act as a campaign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campaign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next control to run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campaign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2026-10-06T12:21:11Z</dcterms:created>
  <dcterms:modified xsi:type="dcterms:W3CDTF">2026-10-06T12:21:11Z</dcterms:modified>
</cp:coreProperties>
</file>