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b3cec44-95c1-4a95-9731-878a2c5fe0af}">
          <p14:sldIdLst>
            <p14:sldId id="256"/>
            <p14:sldId id="257"/>
          </p14:sldIdLst>
        </p14:section>
        <p14:section name="Part 1" id="{fbb1d69c-5f0b-63b6-26f7-641d25bd3a9d}">
          <p14:sldIdLst>
            <p14:sldId id="258"/>
            <p14:sldId id="259"/>
            <p14:sldId id="260"/>
            <p14:sldId id="261"/>
            <p14:sldId id="262"/>
            <p14:sldId id="263"/>
          </p14:sldIdLst>
        </p14:section>
        <p14:section name="Part 2" id="{9d816eed-52c2-dd81-4a75-f9e9ebb4f245}">
          <p14:sldIdLst>
            <p14:sldId id="264"/>
            <p14:sldId id="265"/>
            <p14:sldId id="266"/>
            <p14:sldId id="267"/>
            <p14:sldId id="268"/>
            <p14:sldId id="269"/>
          </p14:sldIdLst>
        </p14:section>
        <p14:section name="Backup" id="{6ad0872b-063b-429d-0fb3-e0817e547509}">
          <p14:sldIdLst>
            <p14:sldId id="270"/>
            <p14:sldId id="271"/>
            <p14:sldId id="272"/>
            <p14:sldId id="273"/>
          </p14:sldIdLst>
        </p14:section>
        <p14:section name="Backup" id="{9ac391e1-a08b-3871-c0d5-71d9d7adf517}">
          <p14:sldIdLst/>
        </p14:section>
        <p14:section name="Backup" id="{991dee23-8c06-a46e-2c1c-3f34fbdb5c3c}">
          <p14:sldIdLst/>
        </p14:section>
        <p14:section name="Backup" id="{8ca0429e-2b93-d334-89fd-ef180cd368e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does the dataset look like?</a:t>
            </a:r>
            <a:endParaRPr lang="en-US" sz="2800" dirty="0"/>
          </a:p>
        </p:txBody>
      </p:sp>
      <p:sp>
        <p:nvSpPr>
          <p:cNvPr id="11"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Observations (rows)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Studies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Independent campaigns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13" name="Text 10"/>
          <p:cNvSpPr txBox="1"/>
          <p:nvPr/>
        </p:nvSpPr>
        <p:spPr>
          <a:xfrm>
            <a:off x="548640" y="534924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4"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Grid 0"/>
          <p:cNvSpPr/>
          <p:nvPr/>
        </p:nvSpPr>
        <p:spPr>
          <a:xfrm>
            <a:off x="1234440" y="1371600"/>
            <a:ext cx="6309360" cy="0"/>
          </a:xfrm>
          <a:prstGeom prst="line">
            <a:avLst/>
          </a:prstGeom>
          <a:noFill/>
          <a:ln w="9525">
            <a:solidFill>
              <a:srgbClr val="6B7280"/>
            </a:solidFill>
            <a:prstDash val="solid"/>
          </a:ln>
        </p:spPr>
      </p:sp>
      <p:sp>
        <p:nvSpPr>
          <p:cNvPr id="12"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3" name="Grid -4"/>
          <p:cNvSpPr/>
          <p:nvPr/>
        </p:nvSpPr>
        <p:spPr>
          <a:xfrm>
            <a:off x="1234440" y="2019300"/>
            <a:ext cx="6309360" cy="0"/>
          </a:xfrm>
          <a:prstGeom prst="line">
            <a:avLst/>
          </a:prstGeom>
          <a:noFill/>
          <a:ln w="9525">
            <a:solidFill>
              <a:srgbClr val="E5E7EB"/>
            </a:solidFill>
            <a:prstDash val="solid"/>
          </a:ln>
        </p:spPr>
      </p:sp>
      <p:sp>
        <p:nvSpPr>
          <p:cNvPr id="14"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5" name="Grid -8"/>
          <p:cNvSpPr/>
          <p:nvPr/>
        </p:nvSpPr>
        <p:spPr>
          <a:xfrm>
            <a:off x="1234440" y="2667000"/>
            <a:ext cx="6309360" cy="0"/>
          </a:xfrm>
          <a:prstGeom prst="line">
            <a:avLst/>
          </a:prstGeom>
          <a:noFill/>
          <a:ln w="9525">
            <a:solidFill>
              <a:srgbClr val="E5E7EB"/>
            </a:solidFill>
            <a:prstDash val="solid"/>
          </a:ln>
        </p:spPr>
      </p:sp>
      <p:sp>
        <p:nvSpPr>
          <p:cNvPr id="16"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7" name="Grid -12"/>
          <p:cNvSpPr/>
          <p:nvPr/>
        </p:nvSpPr>
        <p:spPr>
          <a:xfrm>
            <a:off x="1234440" y="3314700"/>
            <a:ext cx="6309360" cy="0"/>
          </a:xfrm>
          <a:prstGeom prst="line">
            <a:avLst/>
          </a:prstGeom>
          <a:noFill/>
          <a:ln w="9525">
            <a:solidFill>
              <a:srgbClr val="E5E7EB"/>
            </a:solidFill>
            <a:prstDash val="solid"/>
          </a:ln>
        </p:spPr>
      </p:sp>
      <p:sp>
        <p:nvSpPr>
          <p:cNvPr id="18"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19" name="Grid -16"/>
          <p:cNvSpPr/>
          <p:nvPr/>
        </p:nvSpPr>
        <p:spPr>
          <a:xfrm>
            <a:off x="1234440" y="3962400"/>
            <a:ext cx="6309360" cy="0"/>
          </a:xfrm>
          <a:prstGeom prst="line">
            <a:avLst/>
          </a:prstGeom>
          <a:noFill/>
          <a:ln w="9525">
            <a:solidFill>
              <a:srgbClr val="E5E7EB"/>
            </a:solidFill>
            <a:prstDash val="solid"/>
          </a:ln>
        </p:spPr>
      </p:sp>
      <p:sp>
        <p:nvSpPr>
          <p:cNvPr id="20"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1" name="Grid -20"/>
          <p:cNvSpPr/>
          <p:nvPr/>
        </p:nvSpPr>
        <p:spPr>
          <a:xfrm>
            <a:off x="1234440" y="4610100"/>
            <a:ext cx="6309360" cy="0"/>
          </a:xfrm>
          <a:prstGeom prst="line">
            <a:avLst/>
          </a:prstGeom>
          <a:noFill/>
          <a:ln w="9525">
            <a:solidFill>
              <a:srgbClr val="E5E7EB"/>
            </a:solidFill>
            <a:prstDash val="solid"/>
          </a:ln>
        </p:spPr>
      </p:sp>
      <p:sp>
        <p:nvSpPr>
          <p:cNvPr id="22"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3" name="Grid -24"/>
          <p:cNvSpPr/>
          <p:nvPr/>
        </p:nvSpPr>
        <p:spPr>
          <a:xfrm>
            <a:off x="1234440" y="5257800"/>
            <a:ext cx="6309360" cy="0"/>
          </a:xfrm>
          <a:prstGeom prst="line">
            <a:avLst/>
          </a:prstGeom>
          <a:noFill/>
          <a:ln w="9525">
            <a:solidFill>
              <a:srgbClr val="E5E7EB"/>
            </a:solidFill>
            <a:prstDash val="solid"/>
          </a:ln>
        </p:spPr>
      </p:sp>
      <p:sp>
        <p:nvSpPr>
          <p:cNvPr id="24"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5"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6"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8"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29"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0"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1"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2" name="Day 60 line"/>
          <p:cNvSpPr/>
          <p:nvPr/>
        </p:nvSpPr>
        <p:spPr>
          <a:xfrm>
            <a:off x="4389120" y="1280160"/>
            <a:ext cx="0" cy="3977640"/>
          </a:xfrm>
          <a:prstGeom prst="line">
            <a:avLst/>
          </a:prstGeom>
          <a:noFill/>
          <a:ln w="12700">
            <a:solidFill>
              <a:srgbClr val="1A1A1A"/>
            </a:solidFill>
            <a:prstDash val="dash"/>
          </a:ln>
        </p:spPr>
      </p:sp>
      <p:sp>
        <p:nvSpPr>
          <p:cNvPr id="33"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4"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6B7280"/>
            </a:solidFill>
            <a:prstDash val="solid"/>
          </a:ln>
        </p:spPr>
      </p:sp>
      <p:sp>
        <p:nvSpPr>
          <p:cNvPr id="35" name="Deep hip rotators at day 60"/>
          <p:cNvSpPr/>
          <p:nvPr/>
        </p:nvSpPr>
        <p:spPr>
          <a:xfrm>
            <a:off x="4338828" y="1628966"/>
            <a:ext cx="100584" cy="100584"/>
          </a:xfrm>
          <a:prstGeom prst="ellipse">
            <a:avLst/>
          </a:prstGeom>
          <a:solidFill>
            <a:srgbClr val="6B7280"/>
          </a:solidFill>
          <a:ln w="6350">
            <a:solidFill>
              <a:srgbClr val="FFFFFF"/>
            </a:solidFill>
            <a:prstDash val="solid"/>
          </a:ln>
        </p:spPr>
      </p:sp>
      <p:sp>
        <p:nvSpPr>
          <p:cNvPr id="36"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17A2B8"/>
            </a:solidFill>
            <a:prstDash val="solid"/>
          </a:ln>
        </p:spPr>
      </p:sp>
      <p:sp>
        <p:nvSpPr>
          <p:cNvPr id="37" name="Inner thigh (hip adductors) at day 60"/>
          <p:cNvSpPr/>
          <p:nvPr/>
        </p:nvSpPr>
        <p:spPr>
          <a:xfrm>
            <a:off x="4338828" y="2195703"/>
            <a:ext cx="100584" cy="100584"/>
          </a:xfrm>
          <a:prstGeom prst="ellipse">
            <a:avLst/>
          </a:prstGeom>
          <a:solidFill>
            <a:srgbClr val="17A2B8"/>
          </a:solidFill>
          <a:ln w="6350">
            <a:solidFill>
              <a:srgbClr val="FFFFFF"/>
            </a:solidFill>
            <a:prstDash val="solid"/>
          </a:ln>
        </p:spPr>
      </p:sp>
      <p:sp>
        <p:nvSpPr>
          <p:cNvPr id="38"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8C564B"/>
            </a:solidFill>
            <a:prstDash val="solid"/>
          </a:ln>
        </p:spPr>
      </p:sp>
      <p:sp>
        <p:nvSpPr>
          <p:cNvPr id="39" name="Glutes (hip extensors) at day 60"/>
          <p:cNvSpPr/>
          <p:nvPr/>
        </p:nvSpPr>
        <p:spPr>
          <a:xfrm>
            <a:off x="4338828" y="2309050"/>
            <a:ext cx="100584" cy="100584"/>
          </a:xfrm>
          <a:prstGeom prst="ellipse">
            <a:avLst/>
          </a:prstGeom>
          <a:solidFill>
            <a:srgbClr val="8C564B"/>
          </a:solidFill>
          <a:ln w="6350">
            <a:solidFill>
              <a:srgbClr val="FFFFFF"/>
            </a:solidFill>
            <a:prstDash val="solid"/>
          </a:ln>
        </p:spPr>
      </p:sp>
      <p:sp>
        <p:nvSpPr>
          <p:cNvPr id="40"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2E8B57"/>
            </a:solidFill>
            <a:prstDash val="solid"/>
          </a:ln>
        </p:spPr>
      </p:sp>
      <p:sp>
        <p:nvSpPr>
          <p:cNvPr id="41" name="Hip flexors at day 60"/>
          <p:cNvSpPr/>
          <p:nvPr/>
        </p:nvSpPr>
        <p:spPr>
          <a:xfrm>
            <a:off x="4338828" y="2422398"/>
            <a:ext cx="100584" cy="100584"/>
          </a:xfrm>
          <a:prstGeom prst="ellipse">
            <a:avLst/>
          </a:prstGeom>
          <a:solidFill>
            <a:srgbClr val="2E8B57"/>
          </a:solidFill>
          <a:ln w="6350">
            <a:solidFill>
              <a:srgbClr val="FFFFFF"/>
            </a:solidFill>
            <a:prstDash val="solid"/>
          </a:ln>
        </p:spPr>
      </p:sp>
      <p:sp>
        <p:nvSpPr>
          <p:cNvPr id="42"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BA8"/>
            </a:solidFill>
            <a:prstDash val="solid"/>
          </a:ln>
        </p:spPr>
      </p:sp>
      <p:sp>
        <p:nvSpPr>
          <p:cNvPr id="43" name="Outer hip (hip abductors) at day 60"/>
          <p:cNvSpPr/>
          <p:nvPr/>
        </p:nvSpPr>
        <p:spPr>
          <a:xfrm>
            <a:off x="4338828" y="2794825"/>
            <a:ext cx="100584" cy="100584"/>
          </a:xfrm>
          <a:prstGeom prst="ellipse">
            <a:avLst/>
          </a:prstGeom>
          <a:solidFill>
            <a:srgbClr val="7B6BA8"/>
          </a:solidFill>
          <a:ln w="6350">
            <a:solidFill>
              <a:srgbClr val="FFFFFF"/>
            </a:solidFill>
            <a:prstDash val="solid"/>
          </a:ln>
        </p:spPr>
      </p:sp>
      <p:sp>
        <p:nvSpPr>
          <p:cNvPr id="44"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C78A8"/>
            </a:solidFill>
            <a:prstDash val="solid"/>
          </a:ln>
        </p:spPr>
      </p:sp>
      <p:sp>
        <p:nvSpPr>
          <p:cNvPr id="45" name="Back thigh (knee flexors) at day 60"/>
          <p:cNvSpPr/>
          <p:nvPr/>
        </p:nvSpPr>
        <p:spPr>
          <a:xfrm>
            <a:off x="4338828" y="2908173"/>
            <a:ext cx="100584" cy="100584"/>
          </a:xfrm>
          <a:prstGeom prst="ellipse">
            <a:avLst/>
          </a:prstGeom>
          <a:solidFill>
            <a:srgbClr val="4C78A8"/>
          </a:solidFill>
          <a:ln w="6350">
            <a:solidFill>
              <a:srgbClr val="FFFFFF"/>
            </a:solidFill>
            <a:prstDash val="solid"/>
          </a:ln>
        </p:spPr>
      </p:sp>
      <p:sp>
        <p:nvSpPr>
          <p:cNvPr id="46"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1F3A5F"/>
            </a:solidFill>
            <a:prstDash val="solid"/>
          </a:ln>
        </p:spPr>
      </p:sp>
      <p:sp>
        <p:nvSpPr>
          <p:cNvPr id="47" name="Front thigh (knee extensors) at day 60"/>
          <p:cNvSpPr/>
          <p:nvPr/>
        </p:nvSpPr>
        <p:spPr>
          <a:xfrm>
            <a:off x="4338828" y="2956751"/>
            <a:ext cx="100584" cy="100584"/>
          </a:xfrm>
          <a:prstGeom prst="ellipse">
            <a:avLst/>
          </a:prstGeom>
          <a:solidFill>
            <a:srgbClr val="1F3A5F"/>
          </a:solidFill>
          <a:ln w="6350">
            <a:solidFill>
              <a:srgbClr val="FFFFFF"/>
            </a:solidFill>
            <a:prstDash val="solid"/>
          </a:ln>
        </p:spPr>
      </p:sp>
      <p:sp>
        <p:nvSpPr>
          <p:cNvPr id="48"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D08C34"/>
            </a:solidFill>
            <a:prstDash val="solid"/>
          </a:ln>
        </p:spPr>
      </p:sp>
      <p:sp>
        <p:nvSpPr>
          <p:cNvPr id="49" name="Shin (dorsiflexors) at day 60"/>
          <p:cNvSpPr/>
          <p:nvPr/>
        </p:nvSpPr>
        <p:spPr>
          <a:xfrm>
            <a:off x="4338828" y="2972943"/>
            <a:ext cx="100584" cy="100584"/>
          </a:xfrm>
          <a:prstGeom prst="ellipse">
            <a:avLst/>
          </a:prstGeom>
          <a:solidFill>
            <a:srgbClr val="D08C34"/>
          </a:solidFill>
          <a:ln w="6350">
            <a:solidFill>
              <a:srgbClr val="FFFFFF"/>
            </a:solidFill>
            <a:prstDash val="solid"/>
          </a:ln>
        </p:spPr>
      </p:sp>
      <p:sp>
        <p:nvSpPr>
          <p:cNvPr id="50"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A23B2A"/>
            </a:solidFill>
            <a:prstDash val="solid"/>
          </a:ln>
        </p:spPr>
      </p:sp>
      <p:sp>
        <p:nvSpPr>
          <p:cNvPr id="51" name="Calf (plantar flexors) at day 60"/>
          <p:cNvSpPr/>
          <p:nvPr/>
        </p:nvSpPr>
        <p:spPr>
          <a:xfrm>
            <a:off x="4338828" y="3879723"/>
            <a:ext cx="100584" cy="100584"/>
          </a:xfrm>
          <a:prstGeom prst="ellipse">
            <a:avLst/>
          </a:prstGeom>
          <a:solidFill>
            <a:srgbClr val="A23B2A"/>
          </a:solidFill>
          <a:ln w="6350">
            <a:solidFill>
              <a:srgbClr val="FFFFFF"/>
            </a:solidFill>
            <a:prstDash val="solid"/>
          </a:ln>
        </p:spPr>
      </p:sp>
      <p:sp>
        <p:nvSpPr>
          <p:cNvPr id="52"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3" name="Deep hip rotators leader"/>
          <p:cNvSpPr/>
          <p:nvPr/>
        </p:nvSpPr>
        <p:spPr>
          <a:xfrm flipV="1">
            <a:off x="7518654" y="1508760"/>
            <a:ext cx="646938" cy="282571"/>
          </a:xfrm>
          <a:prstGeom prst="line">
            <a:avLst/>
          </a:prstGeom>
          <a:noFill/>
          <a:ln w="9525">
            <a:solidFill>
              <a:srgbClr val="6B7280"/>
            </a:solidFill>
            <a:prstDash val="solid"/>
          </a:ln>
        </p:spPr>
      </p:sp>
      <p:pic>
        <p:nvPicPr>
          <p:cNvPr id="54" name="Image 0" descr="Deep hip rotators (highlighted on a leg outline)">    </p:cNvPr>
          <p:cNvPicPr>
            <a:picLocks noChangeAspect="1"/>
          </p:cNvPicPr>
          <p:nvPr/>
        </p:nvPicPr>
        <p:blipFill>
          <a:blip r:embed="rId1"/>
          <a:stretch>
            <a:fillRect/>
          </a:stretch>
        </p:blipFill>
        <p:spPr>
          <a:xfrm>
            <a:off x="8229600" y="1280160"/>
            <a:ext cx="304800" cy="457200"/>
          </a:xfrm>
          <a:prstGeom prst="rect">
            <a:avLst/>
          </a:prstGeom>
        </p:spPr>
      </p:pic>
      <p:sp>
        <p:nvSpPr>
          <p:cNvPr id="55"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6"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6B7280"/>
                </a:solidFill>
              </a:rPr>
              <a:t>−1.9%</a:t>
            </a:r>
            <a:endParaRPr lang="en-US" sz="1300" dirty="0"/>
          </a:p>
        </p:txBody>
      </p:sp>
      <p:sp>
        <p:nvSpPr>
          <p:cNvPr id="57" name="Inner thigh (hip adductors) leader"/>
          <p:cNvSpPr/>
          <p:nvPr/>
        </p:nvSpPr>
        <p:spPr>
          <a:xfrm flipV="1">
            <a:off x="7518654" y="2002536"/>
            <a:ext cx="646938" cy="561985"/>
          </a:xfrm>
          <a:prstGeom prst="line">
            <a:avLst/>
          </a:prstGeom>
          <a:noFill/>
          <a:ln w="9525">
            <a:solidFill>
              <a:srgbClr val="17A2B8"/>
            </a:solidFill>
            <a:prstDash val="solid"/>
          </a:ln>
        </p:spPr>
      </p:sp>
      <p:pic>
        <p:nvPicPr>
          <p:cNvPr id="58" name="Image 1" descr="Inner thigh (hip adductors) (highlighted on a leg outline)">    </p:cNvPr>
          <p:cNvPicPr>
            <a:picLocks noChangeAspect="1"/>
          </p:cNvPicPr>
          <p:nvPr/>
        </p:nvPicPr>
        <p:blipFill>
          <a:blip r:embed="rId2"/>
          <a:stretch>
            <a:fillRect/>
          </a:stretch>
        </p:blipFill>
        <p:spPr>
          <a:xfrm>
            <a:off x="8229600" y="1773936"/>
            <a:ext cx="304800" cy="457200"/>
          </a:xfrm>
          <a:prstGeom prst="rect">
            <a:avLst/>
          </a:prstGeom>
        </p:spPr>
      </p:pic>
      <p:sp>
        <p:nvSpPr>
          <p:cNvPr id="59"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0"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17A2B8"/>
                </a:solidFill>
              </a:rPr>
              <a:t>−5.4%</a:t>
            </a:r>
            <a:endParaRPr lang="en-US" sz="1300" dirty="0"/>
          </a:p>
        </p:txBody>
      </p:sp>
      <p:sp>
        <p:nvSpPr>
          <p:cNvPr id="61" name="Glutes (hip extensors) leader"/>
          <p:cNvSpPr/>
          <p:nvPr/>
        </p:nvSpPr>
        <p:spPr>
          <a:xfrm flipV="1">
            <a:off x="7518654" y="2496312"/>
            <a:ext cx="646938" cy="222847"/>
          </a:xfrm>
          <a:prstGeom prst="line">
            <a:avLst/>
          </a:prstGeom>
          <a:noFill/>
          <a:ln w="9525">
            <a:solidFill>
              <a:srgbClr val="8C564B"/>
            </a:solidFill>
            <a:prstDash val="solid"/>
          </a:ln>
        </p:spPr>
      </p:sp>
      <p:pic>
        <p:nvPicPr>
          <p:cNvPr id="62" name="Image 2" descr="Glutes (hip extensors) (highlighted on a leg outline)">    </p:cNvPr>
          <p:cNvPicPr>
            <a:picLocks noChangeAspect="1"/>
          </p:cNvPicPr>
          <p:nvPr/>
        </p:nvPicPr>
        <p:blipFill>
          <a:blip r:embed="rId3"/>
          <a:stretch>
            <a:fillRect/>
          </a:stretch>
        </p:blipFill>
        <p:spPr>
          <a:xfrm>
            <a:off x="8229600" y="2267712"/>
            <a:ext cx="304800" cy="457200"/>
          </a:xfrm>
          <a:prstGeom prst="rect">
            <a:avLst/>
          </a:prstGeom>
        </p:spPr>
      </p:pic>
      <p:sp>
        <p:nvSpPr>
          <p:cNvPr id="63"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4"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8C564B"/>
                </a:solidFill>
              </a:rPr>
              <a:t>−6.1%</a:t>
            </a:r>
            <a:endParaRPr lang="en-US" sz="1300" dirty="0"/>
          </a:p>
        </p:txBody>
      </p:sp>
      <p:sp>
        <p:nvSpPr>
          <p:cNvPr id="65" name="Hip flexors leader"/>
          <p:cNvSpPr/>
          <p:nvPr/>
        </p:nvSpPr>
        <p:spPr>
          <a:xfrm>
            <a:off x="7518654" y="2873796"/>
            <a:ext cx="646938" cy="116292"/>
          </a:xfrm>
          <a:prstGeom prst="line">
            <a:avLst/>
          </a:prstGeom>
          <a:noFill/>
          <a:ln w="9525">
            <a:solidFill>
              <a:srgbClr val="2E8B57"/>
            </a:solidFill>
            <a:prstDash val="solid"/>
          </a:ln>
        </p:spPr>
      </p:sp>
      <p:pic>
        <p:nvPicPr>
          <p:cNvPr id="66" name="Image 3" descr="Hip flexors (highlighted on a leg outline)">    </p:cNvPr>
          <p:cNvPicPr>
            <a:picLocks noChangeAspect="1"/>
          </p:cNvPicPr>
          <p:nvPr/>
        </p:nvPicPr>
        <p:blipFill>
          <a:blip r:embed="rId4"/>
          <a:stretch>
            <a:fillRect/>
          </a:stretch>
        </p:blipFill>
        <p:spPr>
          <a:xfrm>
            <a:off x="8229600" y="2761488"/>
            <a:ext cx="304800" cy="457200"/>
          </a:xfrm>
          <a:prstGeom prst="rect">
            <a:avLst/>
          </a:prstGeom>
        </p:spPr>
      </p:pic>
      <p:sp>
        <p:nvSpPr>
          <p:cNvPr id="67"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68"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2E8B57"/>
                </a:solidFill>
              </a:rPr>
              <a:t>−6.8%</a:t>
            </a:r>
            <a:endParaRPr lang="en-US" sz="1300" dirty="0"/>
          </a:p>
        </p:txBody>
      </p:sp>
      <p:sp>
        <p:nvSpPr>
          <p:cNvPr id="69" name="Outer hip (hip abductors) leader"/>
          <p:cNvSpPr/>
          <p:nvPr/>
        </p:nvSpPr>
        <p:spPr>
          <a:xfrm>
            <a:off x="7518654" y="3381892"/>
            <a:ext cx="646938" cy="101972"/>
          </a:xfrm>
          <a:prstGeom prst="line">
            <a:avLst/>
          </a:prstGeom>
          <a:noFill/>
          <a:ln w="9525">
            <a:solidFill>
              <a:srgbClr val="7B6BA8"/>
            </a:solidFill>
            <a:prstDash val="solid"/>
          </a:ln>
        </p:spPr>
      </p:sp>
      <p:pic>
        <p:nvPicPr>
          <p:cNvPr id="70" name="Image 4" descr="Outer hip (hip abductors) (highlighted on a leg outline)">    </p:cNvPr>
          <p:cNvPicPr>
            <a:picLocks noChangeAspect="1"/>
          </p:cNvPicPr>
          <p:nvPr/>
        </p:nvPicPr>
        <p:blipFill>
          <a:blip r:embed="rId5"/>
          <a:stretch>
            <a:fillRect/>
          </a:stretch>
        </p:blipFill>
        <p:spPr>
          <a:xfrm>
            <a:off x="8229600" y="3255264"/>
            <a:ext cx="304800" cy="457200"/>
          </a:xfrm>
          <a:prstGeom prst="rect">
            <a:avLst/>
          </a:prstGeom>
        </p:spPr>
      </p:pic>
      <p:sp>
        <p:nvSpPr>
          <p:cNvPr id="71"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2"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BA8"/>
                </a:solidFill>
              </a:rPr>
              <a:t>−9.1%</a:t>
            </a:r>
            <a:endParaRPr lang="en-US" sz="1300" dirty="0"/>
          </a:p>
        </p:txBody>
      </p:sp>
      <p:sp>
        <p:nvSpPr>
          <p:cNvPr id="73" name="Back thigh (knee flexors) leader"/>
          <p:cNvSpPr/>
          <p:nvPr/>
        </p:nvSpPr>
        <p:spPr>
          <a:xfrm>
            <a:off x="7518654" y="3536530"/>
            <a:ext cx="646938" cy="441110"/>
          </a:xfrm>
          <a:prstGeom prst="line">
            <a:avLst/>
          </a:prstGeom>
          <a:noFill/>
          <a:ln w="9525">
            <a:solidFill>
              <a:srgbClr val="4C78A8"/>
            </a:solidFill>
            <a:prstDash val="solid"/>
          </a:ln>
        </p:spPr>
      </p:sp>
      <p:pic>
        <p:nvPicPr>
          <p:cNvPr id="74" name="Image 5" descr="Back thigh (knee flexors) (highlighted on a leg outline)">    </p:cNvPr>
          <p:cNvPicPr>
            <a:picLocks noChangeAspect="1"/>
          </p:cNvPicPr>
          <p:nvPr/>
        </p:nvPicPr>
        <p:blipFill>
          <a:blip r:embed="rId6"/>
          <a:stretch>
            <a:fillRect/>
          </a:stretch>
        </p:blipFill>
        <p:spPr>
          <a:xfrm>
            <a:off x="8229600" y="3749040"/>
            <a:ext cx="304800" cy="457200"/>
          </a:xfrm>
          <a:prstGeom prst="rect">
            <a:avLst/>
          </a:prstGeom>
        </p:spPr>
      </p:pic>
      <p:sp>
        <p:nvSpPr>
          <p:cNvPr id="75"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6"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C78A8"/>
                </a:solidFill>
              </a:rPr>
              <a:t>−9.8%</a:t>
            </a:r>
            <a:endParaRPr lang="en-US" sz="1300" dirty="0"/>
          </a:p>
        </p:txBody>
      </p:sp>
      <p:sp>
        <p:nvSpPr>
          <p:cNvPr id="77" name="Front thigh (knee extensors) leader"/>
          <p:cNvSpPr/>
          <p:nvPr/>
        </p:nvSpPr>
        <p:spPr>
          <a:xfrm>
            <a:off x="7518654" y="3602804"/>
            <a:ext cx="646938" cy="868612"/>
          </a:xfrm>
          <a:prstGeom prst="line">
            <a:avLst/>
          </a:prstGeom>
          <a:noFill/>
          <a:ln w="9525">
            <a:solidFill>
              <a:srgbClr val="1F3A5F"/>
            </a:solidFill>
            <a:prstDash val="solid"/>
          </a:ln>
        </p:spPr>
      </p:sp>
      <p:pic>
        <p:nvPicPr>
          <p:cNvPr id="78" name="Image 6" descr="Front thigh (knee extensors) (highlighted on a leg outline)">    </p:cNvPr>
          <p:cNvPicPr>
            <a:picLocks noChangeAspect="1"/>
          </p:cNvPicPr>
          <p:nvPr/>
        </p:nvPicPr>
        <p:blipFill>
          <a:blip r:embed="rId7"/>
          <a:stretch>
            <a:fillRect/>
          </a:stretch>
        </p:blipFill>
        <p:spPr>
          <a:xfrm>
            <a:off x="8229600" y="4242816"/>
            <a:ext cx="304800" cy="457200"/>
          </a:xfrm>
          <a:prstGeom prst="rect">
            <a:avLst/>
          </a:prstGeom>
        </p:spPr>
      </p:pic>
      <p:sp>
        <p:nvSpPr>
          <p:cNvPr id="79"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0"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1F3A5F"/>
                </a:solidFill>
              </a:rPr>
              <a:t>−10.1%</a:t>
            </a:r>
            <a:endParaRPr lang="en-US" sz="1300" dirty="0"/>
          </a:p>
        </p:txBody>
      </p:sp>
      <p:sp>
        <p:nvSpPr>
          <p:cNvPr id="81" name="Shin (dorsiflexors) leader"/>
          <p:cNvSpPr/>
          <p:nvPr/>
        </p:nvSpPr>
        <p:spPr>
          <a:xfrm>
            <a:off x="7518654" y="3624895"/>
            <a:ext cx="646938" cy="1340297"/>
          </a:xfrm>
          <a:prstGeom prst="line">
            <a:avLst/>
          </a:prstGeom>
          <a:noFill/>
          <a:ln w="9525">
            <a:solidFill>
              <a:srgbClr val="D08C34"/>
            </a:solidFill>
            <a:prstDash val="solid"/>
          </a:ln>
        </p:spPr>
      </p:sp>
      <p:pic>
        <p:nvPicPr>
          <p:cNvPr id="82" name="Image 7" descr="Shin (dorsiflexors) (highlighted on a leg outline)">    </p:cNvPr>
          <p:cNvPicPr>
            <a:picLocks noChangeAspect="1"/>
          </p:cNvPicPr>
          <p:nvPr/>
        </p:nvPicPr>
        <p:blipFill>
          <a:blip r:embed="rId8"/>
          <a:stretch>
            <a:fillRect/>
          </a:stretch>
        </p:blipFill>
        <p:spPr>
          <a:xfrm>
            <a:off x="8229600" y="4736592"/>
            <a:ext cx="304800" cy="457200"/>
          </a:xfrm>
          <a:prstGeom prst="rect">
            <a:avLst/>
          </a:prstGeom>
        </p:spPr>
      </p:pic>
      <p:sp>
        <p:nvSpPr>
          <p:cNvPr id="83"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4"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D08C34"/>
                </a:solidFill>
              </a:rPr>
              <a:t>−10.2%</a:t>
            </a:r>
            <a:endParaRPr lang="en-US" sz="1300" dirty="0"/>
          </a:p>
        </p:txBody>
      </p:sp>
      <p:sp>
        <p:nvSpPr>
          <p:cNvPr id="85" name="Calf (plantar flexors) leader"/>
          <p:cNvSpPr/>
          <p:nvPr/>
        </p:nvSpPr>
        <p:spPr>
          <a:xfrm>
            <a:off x="7518654" y="4861998"/>
            <a:ext cx="646938" cy="596970"/>
          </a:xfrm>
          <a:prstGeom prst="line">
            <a:avLst/>
          </a:prstGeom>
          <a:noFill/>
          <a:ln w="9525">
            <a:solidFill>
              <a:srgbClr val="A23B2A"/>
            </a:solidFill>
            <a:prstDash val="solid"/>
          </a:ln>
        </p:spPr>
      </p:sp>
      <p:pic>
        <p:nvPicPr>
          <p:cNvPr id="86" name="Image 8" descr="Calf (plantar flexors) (highlighted on a leg outline)">    </p:cNvPr>
          <p:cNvPicPr>
            <a:picLocks noChangeAspect="1"/>
          </p:cNvPicPr>
          <p:nvPr/>
        </p:nvPicPr>
        <p:blipFill>
          <a:blip r:embed="rId9"/>
          <a:stretch>
            <a:fillRect/>
          </a:stretch>
        </p:blipFill>
        <p:spPr>
          <a:xfrm>
            <a:off x="8229600" y="5230368"/>
            <a:ext cx="304800" cy="457200"/>
          </a:xfrm>
          <a:prstGeom prst="rect">
            <a:avLst/>
          </a:prstGeom>
        </p:spPr>
      </p:pic>
      <p:sp>
        <p:nvSpPr>
          <p:cNvPr id="87"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88"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A23B2A"/>
                </a:solidFill>
              </a:rPr>
              <a:t>−15.8%</a:t>
            </a:r>
            <a:endParaRPr lang="en-US" sz="1300" dirty="0"/>
          </a:p>
        </p:txBody>
      </p:sp>
      <p:sp>
        <p:nvSpPr>
          <p:cNvPr id="89"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Lines: one shared time course (saturating, τ = 60 days) scaled to each group's estimate at day 60.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2026-10-06T12:12:49Z</dcterms:created>
  <dcterms:modified xsi:type="dcterms:W3CDTF">2026-10-06T12:12:49Z</dcterms:modified>
</cp:coreProperties>
</file>