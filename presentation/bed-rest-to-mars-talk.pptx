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0dc7691-2bf2-2674-ef07-e19c9b65dc72}">
          <p14:sldIdLst>
            <p14:sldId id="256"/>
            <p14:sldId id="257"/>
            <p14:sldId id="269"/>
          </p14:sldIdLst>
        </p14:section>
        <p14:section name="Part 1" id="{8cefd1f0-170c-06fe-af01-a72cec1a76fa}">
          <p14:sldIdLst>
            <p14:sldId id="258"/>
            <p14:sldId id="259"/>
            <p14:sldId id="260"/>
            <p14:sldId id="261"/>
            <p14:sldId id="262"/>
            <p14:sldId id="263"/>
          </p14:sldIdLst>
        </p14:section>
        <p14:section name="Part 2" id="{1d4b737a-40e3-db5f-e476-b9a0477c78a5}">
          <p14:sldIdLst>
            <p14:sldId id="264"/>
            <p14:sldId id="265"/>
            <p14:sldId id="266"/>
            <p14:sldId id="267"/>
            <p14:sldId id="268"/>
          </p14:sldIdLst>
        </p14:section>
        <p14:section name="Opening" id="{abc4aff3-0da7-bad6-6404-4ed8a9fbaf5c}">
          <p14:sldIdLst/>
        </p14:section>
        <p14:section name="Backup" id="{df318c58-9405-80b7-fbb9-b7575de952d6}">
          <p14:sldIdLst>
            <p14:sldId id="270"/>
            <p14:sldId id="271"/>
            <p14:sldId id="272"/>
            <p14:sldId id="273"/>
            <p14:sldId id="274"/>
            <p14:sldId id="275"/>
            <p14:sldId id="276"/>
            <p14:sldId id="277"/>
          </p14:sldIdLst>
        </p14:section>
        <p14:section name="Backup" id="{9aedc952-e807-b8d2-eb8f-ec387f1f3895}">
          <p14:sldIdLst/>
        </p14:section>
        <p14:section name="Backup" id="{61a15db3-76af-d63e-8963-b10874e8a5fc}">
          <p14:sldIdLst/>
        </p14:section>
        <p14:section name="Backup" id="{e1e1bebb-8e6a-0be7-f3a9-8d5cec179642}">
          <p14:sldIdLst/>
        </p14:section>
        <p14:section name="Backup" id="{950e64a2-1c0f-b942-7426-67348643ec48}">
          <p14:sldIdLst/>
        </p14:section>
        <p14:section name="Backup" id="{eb1b283e-b8c8-6a0b-31a7-746cf06c868f}">
          <p14:sldIdLst/>
        </p14:section>
        <p14:section name="Backup" id="{34f217ce-628d-bb2e-1e6f-22e9ab9851a0}">
          <p14:sldIdLst/>
        </p14:section>
        <p14:section name="Backup" id="{0e83922b-a45f-28a1-d6ed-15bc1fa0ced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3DCE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9AB0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B80A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0B2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8A6B5"/>
            </a:solidFill>
            <a:prstDash val="solid"/>
            <a:round/>
          </a:ln>
        </c:spPr>
        <c:txPr>
          <a:bodyPr/>
          <a:lstStyle/>
          <a:p>
            <a:pPr>
              <a:defRPr sz="1000" b="0" i="0" u="none" strike="noStrike">
                <a:solidFill>
                  <a:srgbClr val="5D6B7B"/>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2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D6B7B"/>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B8C4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D6B7B"/>
                    </a:solidFill>
                    <a:latin typeface="Arial"/>
                  </a:defRPr>
                </a:pPr>
                <a:r>
                  <a:rPr sz="1000" b="0" i="0" u="none" strike="noStrike">
                    <a:solidFill>
                      <a:srgbClr val="5D6B7B"/>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533"/>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2E7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2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2E7ED"/>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orange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main limitation is the small sample of 32 campaigns, mostly young men, with no bed-rest data beyond day 119.
Next, we want to link the muscles, so that one muscle's loss predicts another's and a weighted sum estimates strength loss, and to build a risk-assessment system based on a person's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(Milad). Thank the audience and invite questions. The backup slides that follow answer the questions we expect: part 1 on slides 17 to 19, data and search on 15 and 16, part 2 on 20 to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The arithmetic question is the most likely one: 3,600 minus 2,493 is 1,107, of which 84 reached full text and 1,023 were not screened in time. Say so plainly: they are open work, not exclusions. If pressed on the full-text stage: the report's own full-text counts are still being reconciled with the final extraction (it says so in a draft note), so do not claim the full-text numbers add up exactly. Known-item test: of the ten modelling papers we knew before the search, only two were published after 2013, and every journal database returned both. The test without the date limit was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Expansion: the eligibility criteria in the report's Table 2 were written before screening; dataset version 1.0 was frozen on 14 September and 1.1 on 19 September, and every result is fitted on 1.1. The rule for the curve: the saturating form is the headline unless another form beats it by at least 4 AIC points. Spaceflight: the dataset keeps the spaceflight rows, flagged, but they are post-flight measurements, so the during-unloading filter removes them. Weighting: inverse-variance weighting would need the spread of the change, which most papers do not print; the check that compares both weightings moved the duration effect by under 1 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Be precise about slide 8: the coloured dots at day 60 are the model's estimates for each muscle group, with the intervals shown here. The lines are drawn with one shared time course scaled to those values, so they show the shape the model assumes, not a separate fit per muscle. The intervals are 95% cluster-robust, which means they account for several rows coming from the same campaign. The calf-versus-shin contrast is reported on its own because it does not depend on which muscle is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Gradient stripe, Earth blue to Mars red">    </p:cNvPr>
          <p:cNvPicPr>
            <a:picLocks noChangeAspect="1"/>
          </p:cNvPicPr>
          <p:nvPr/>
        </p:nvPicPr>
        <p:blipFill>
          <a:blip r:embed="rId1"/>
          <a:stretch>
            <a:fillRect/>
          </a:stretch>
        </p:blipFill>
        <p:spPr>
          <a:xfrm>
            <a:off x="0" y="0"/>
            <a:ext cx="12191695" cy="82296"/>
          </a:xfrm>
          <a:prstGeom prst="rect">
            <a:avLst/>
          </a:prstGeom>
        </p:spPr>
      </p:pic>
      <p:sp>
        <p:nvSpPr>
          <p:cNvPr id="3" name="Text 0"/>
          <p:cNvSpPr/>
          <p:nvPr>
            <p:ph idx="101"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4" name="Image 1" descr="DGLRM logo">    </p:cNvPr>
          <p:cNvPicPr>
            <a:picLocks noChangeAspect="1"/>
          </p:cNvPicPr>
          <p:nvPr/>
        </p:nvPicPr>
        <p:blipFill>
          <a:blip r:embed="rId2"/>
          <a:stretch>
            <a:fillRect/>
          </a:stretch>
        </p:blipFill>
        <p:spPr>
          <a:xfrm>
            <a:off x="548640" y="6336792"/>
            <a:ext cx="1143000" cy="307258"/>
          </a:xfrm>
          <a:prstGeom prst="rect">
            <a:avLst/>
          </a:prstGeom>
        </p:spPr>
      </p:pic>
      <p:sp>
        <p:nvSpPr>
          <p:cNvPr id="5"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2.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3.xml"/><Relationship Id="rId4" Type="http://schemas.openxmlformats.org/officeDocument/2006/relationships/chart" Target="/ppt/charts/chart4.xm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7863840" cy="2651760"/>
          </a:xfrm>
          <a:prstGeom prst="rect">
            <a:avLst/>
          </a:prstGeom>
          <a:noFill/>
          <a:ln/>
        </p:spPr>
        <p:txBody>
          <a:bodyPr wrap="square" lIns="0" tIns="0" rIns="0" bIns="0" rtlCol="0" anchor="b"/>
          <a:lstStyle/>
          <a:p>
            <a:pPr indent="0" marL="0">
              <a:spcAft>
                <a:spcPts val="800"/>
              </a:spcAft>
              <a:buNone/>
            </a:pPr>
            <a:r>
              <a:rPr lang="en-US" sz="4400" b="1" dirty="0">
                <a:solidFill>
                  <a:srgbClr val="FFFFFF"/>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200" b="1" dirty="0">
                <a:solidFill>
                  <a:srgbClr val="F2D0A9"/>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7863840" cy="365760"/>
          </a:xfrm>
          <a:prstGeom prst="rect">
            <a:avLst/>
          </a:prstGeom>
          <a:noFill/>
          <a:ln/>
        </p:spPr>
        <p:txBody>
          <a:bodyPr wrap="square" lIns="0" tIns="0" rIns="0" bIns="0" rtlCol="0" anchor="t"/>
          <a:lstStyle/>
          <a:p>
            <a:pPr indent="0" marL="0">
              <a:buNone/>
            </a:pPr>
            <a:r>
              <a:rPr lang="en-US" sz="1800" dirty="0">
                <a:solidFill>
                  <a:srgbClr val="FFFFFF"/>
                </a:solidFill>
              </a:rPr>
              <a:t>Niloufar Ahmadymarzdashty</a:t>
            </a:r>
            <a:pPr indent="0" marL="0">
              <a:buNone/>
            </a:pPr>
            <a:r>
              <a:rPr lang="en-US" sz="1800" baseline="30000" dirty="0">
                <a:solidFill>
                  <a:srgbClr val="FFFFFF"/>
                </a:solidFill>
              </a:rPr>
              <a:t>1</a:t>
            </a:r>
            <a:pPr indent="0" marL="0">
              <a:buNone/>
            </a:pPr>
            <a:r>
              <a:rPr lang="en-US" sz="1800" dirty="0">
                <a:solidFill>
                  <a:srgbClr val="FFFFFF"/>
                </a:solidFill>
              </a:rPr>
              <a:t>,  Milad Bahari Qaragoz</a:t>
            </a:r>
            <a:pPr indent="0" marL="0">
              <a:buNone/>
            </a:pPr>
            <a:r>
              <a:rPr lang="en-US" sz="1800" baseline="30000" dirty="0">
                <a:solidFill>
                  <a:srgbClr val="FFFFFF"/>
                </a:solidFill>
              </a:rPr>
              <a:t>2</a:t>
            </a:r>
            <a:endParaRPr lang="en-US" sz="1800" dirty="0"/>
          </a:p>
        </p:txBody>
      </p:sp>
      <p:sp>
        <p:nvSpPr>
          <p:cNvPr id="5" name="Text 2"/>
          <p:cNvSpPr txBox="1"/>
          <p:nvPr/>
        </p:nvSpPr>
        <p:spPr>
          <a:xfrm>
            <a:off x="822960" y="4709160"/>
            <a:ext cx="7863840" cy="548640"/>
          </a:xfrm>
          <a:prstGeom prst="rect">
            <a:avLst/>
          </a:prstGeom>
          <a:noFill/>
          <a:ln/>
        </p:spPr>
        <p:txBody>
          <a:bodyPr wrap="square" lIns="0" tIns="0" rIns="0" bIns="0" rtlCol="0" anchor="t"/>
          <a:lstStyle/>
          <a:p>
            <a:pPr indent="0" marL="0">
              <a:buNone/>
            </a:pPr>
            <a:r>
              <a:rPr lang="en-US" sz="1400" baseline="30000" dirty="0">
                <a:solidFill>
                  <a:srgbClr val="B7C3D3"/>
                </a:solidFill>
              </a:rPr>
              <a:t>1</a:t>
            </a:r>
            <a:pPr indent="0" marL="0">
              <a:buNone/>
            </a:pPr>
            <a:r>
              <a:rPr lang="en-US" sz="1400" dirty="0">
                <a:solidFill>
                  <a:srgbClr val="B7C3D3"/>
                </a:solidFill>
              </a:rPr>
              <a:t> Independent researcher</a:t>
            </a:r>
            <a:endParaRPr lang="en-US" sz="1400" dirty="0"/>
          </a:p>
          <a:p>
            <a:pPr indent="0" marL="0">
              <a:buNone/>
            </a:pPr>
            <a:r>
              <a:rPr lang="en-US" sz="1400" baseline="30000" dirty="0">
                <a:solidFill>
                  <a:srgbClr val="B7C3D3"/>
                </a:solidFill>
              </a:rPr>
              <a:t>2</a:t>
            </a:r>
            <a:pPr indent="0" marL="0">
              <a:buNone/>
            </a:pPr>
            <a:r>
              <a:rPr lang="en-US" sz="1400" dirty="0">
                <a:solidFill>
                  <a:srgbClr val="B7C3D3"/>
                </a:solidFill>
              </a:rPr>
              <a:t> Master's candidate, Friedrich-Alexander-Universität Erlangen-Nürnberg (FAU)</a:t>
            </a:r>
            <a:endParaRPr lang="en-US" sz="1400" dirty="0"/>
          </a:p>
        </p:txBody>
      </p:sp>
      <p:sp>
        <p:nvSpPr>
          <p:cNvPr id="6" name="Text 3"/>
          <p:cNvSpPr txBox="1"/>
          <p:nvPr/>
        </p:nvSpPr>
        <p:spPr>
          <a:xfrm>
            <a:off x="822960" y="5394960"/>
            <a:ext cx="7863840" cy="365760"/>
          </a:xfrm>
          <a:prstGeom prst="rect">
            <a:avLst/>
          </a:prstGeom>
          <a:noFill/>
          <a:ln/>
        </p:spPr>
        <p:txBody>
          <a:bodyPr wrap="square" lIns="0" tIns="0" rIns="0" bIns="0" rtlCol="0" anchor="t"/>
          <a:lstStyle/>
          <a:p>
            <a:pPr indent="0" marL="0">
              <a:buNone/>
            </a:pPr>
            <a:r>
              <a:rPr lang="en-US" sz="1600" b="1" dirty="0">
                <a:solidFill>
                  <a:srgbClr val="F2D0A9"/>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685800" y="3429000"/>
            <a:ext cx="10789920" cy="0"/>
          </a:xfrm>
          <a:prstGeom prst="line">
            <a:avLst/>
          </a:prstGeom>
          <a:noFill/>
          <a:ln w="19050">
            <a:solidFill>
              <a:srgbClr val="98A6B5"/>
            </a:solidFill>
            <a:prstDash val="dash"/>
          </a:ln>
        </p:spPr>
      </p:sp>
      <p:pic>
        <p:nvPicPr>
          <p:cNvPr id="4" name="Image 0" descr="Earth">    </p:cNvPr>
          <p:cNvPicPr>
            <a:picLocks noChangeAspect="1"/>
          </p:cNvPicPr>
          <p:nvPr/>
        </p:nvPicPr>
        <p:blipFill>
          <a:blip r:embed="rId1"/>
          <a:stretch>
            <a:fillRect/>
          </a:stretch>
        </p:blipFill>
        <p:spPr>
          <a:xfrm>
            <a:off x="457200" y="3218688"/>
            <a:ext cx="420624" cy="420624"/>
          </a:xfrm>
          <a:prstGeom prst="rect">
            <a:avLst/>
          </a:prstGeom>
        </p:spPr>
      </p:pic>
      <p:pic>
        <p:nvPicPr>
          <p:cNvPr id="5" name="Image 1" descr="Mars">    </p:cNvPr>
          <p:cNvPicPr>
            <a:picLocks noChangeAspect="1"/>
          </p:cNvPicPr>
          <p:nvPr/>
        </p:nvPicPr>
        <p:blipFill>
          <a:blip r:embed="rId2"/>
          <a:stretch>
            <a:fillRect/>
          </a:stretch>
        </p:blipFill>
        <p:spPr>
          <a:xfrm>
            <a:off x="11274552" y="3191256"/>
            <a:ext cx="475488" cy="475488"/>
          </a:xfrm>
          <a:prstGeom prst="rect">
            <a:avLst/>
          </a:prstGeom>
        </p:spPr>
      </p:pic>
      <p:sp>
        <p:nvSpPr>
          <p:cNvPr id="6" name="Part 1 bracket"/>
          <p:cNvSpPr/>
          <p:nvPr/>
        </p:nvSpPr>
        <p:spPr>
          <a:xfrm>
            <a:off x="1005840" y="2834640"/>
            <a:ext cx="4443984" cy="0"/>
          </a:xfrm>
          <a:prstGeom prst="line">
            <a:avLst/>
          </a:prstGeom>
          <a:noFill/>
          <a:ln w="12700">
            <a:solidFill>
              <a:srgbClr val="0B2545"/>
            </a:solidFill>
            <a:prstDash val="solid"/>
          </a:ln>
        </p:spPr>
      </p:sp>
      <p:sp>
        <p:nvSpPr>
          <p:cNvPr id="7" name="Part 1 bracket left"/>
          <p:cNvSpPr/>
          <p:nvPr/>
        </p:nvSpPr>
        <p:spPr>
          <a:xfrm>
            <a:off x="1005840" y="2834640"/>
            <a:ext cx="0" cy="137160"/>
          </a:xfrm>
          <a:prstGeom prst="line">
            <a:avLst/>
          </a:prstGeom>
          <a:noFill/>
          <a:ln w="12700">
            <a:solidFill>
              <a:srgbClr val="0B2545"/>
            </a:solidFill>
            <a:prstDash val="solid"/>
          </a:ln>
        </p:spPr>
      </p:sp>
      <p:sp>
        <p:nvSpPr>
          <p:cNvPr id="8" name="Part 1 bracket right"/>
          <p:cNvSpPr/>
          <p:nvPr/>
        </p:nvSpPr>
        <p:spPr>
          <a:xfrm>
            <a:off x="5449824" y="2834640"/>
            <a:ext cx="0" cy="137160"/>
          </a:xfrm>
          <a:prstGeom prst="line">
            <a:avLst/>
          </a:prstGeom>
          <a:noFill/>
          <a:ln w="12700">
            <a:solidFill>
              <a:srgbClr val="0B2545"/>
            </a:solidFill>
            <a:prstDash val="solid"/>
          </a:ln>
        </p:spPr>
      </p:sp>
      <p:sp>
        <p:nvSpPr>
          <p:cNvPr id="9"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10" name="Part 2 bracket"/>
          <p:cNvSpPr/>
          <p:nvPr/>
        </p:nvSpPr>
        <p:spPr>
          <a:xfrm>
            <a:off x="6711696" y="2834640"/>
            <a:ext cx="4443984" cy="0"/>
          </a:xfrm>
          <a:prstGeom prst="line">
            <a:avLst/>
          </a:prstGeom>
          <a:noFill/>
          <a:ln w="12700">
            <a:solidFill>
              <a:srgbClr val="0B2545"/>
            </a:solidFill>
            <a:prstDash val="solid"/>
          </a:ln>
        </p:spPr>
      </p:sp>
      <p:sp>
        <p:nvSpPr>
          <p:cNvPr id="11" name="Part 2 bracket left"/>
          <p:cNvSpPr/>
          <p:nvPr/>
        </p:nvSpPr>
        <p:spPr>
          <a:xfrm>
            <a:off x="6711696" y="2834640"/>
            <a:ext cx="0" cy="137160"/>
          </a:xfrm>
          <a:prstGeom prst="line">
            <a:avLst/>
          </a:prstGeom>
          <a:noFill/>
          <a:ln w="12700">
            <a:solidFill>
              <a:srgbClr val="0B2545"/>
            </a:solidFill>
            <a:prstDash val="solid"/>
          </a:ln>
        </p:spPr>
      </p:sp>
      <p:sp>
        <p:nvSpPr>
          <p:cNvPr id="12" name="Part 2 bracket right"/>
          <p:cNvSpPr/>
          <p:nvPr/>
        </p:nvSpPr>
        <p:spPr>
          <a:xfrm>
            <a:off x="11155680" y="2834640"/>
            <a:ext cx="0" cy="137160"/>
          </a:xfrm>
          <a:prstGeom prst="line">
            <a:avLst/>
          </a:prstGeom>
          <a:noFill/>
          <a:ln w="12700">
            <a:solidFill>
              <a:srgbClr val="0B2545"/>
            </a:solidFill>
            <a:prstDash val="solid"/>
          </a:ln>
        </p:spPr>
      </p:sp>
      <p:sp>
        <p:nvSpPr>
          <p:cNvPr id="13"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4" name="Agenda 1"/>
          <p:cNvSpPr/>
          <p:nvPr/>
        </p:nvSpPr>
        <p:spPr>
          <a:xfrm>
            <a:off x="1005840" y="3108960"/>
            <a:ext cx="640080" cy="640080"/>
          </a:xfrm>
          <a:prstGeom prst="ellipse">
            <a:avLst/>
          </a:prstGeom>
          <a:solidFill>
            <a:schemeClr val="tx2"/>
          </a:solidFill>
          <a:ln/>
        </p:spPr>
      </p:sp>
      <p:sp>
        <p:nvSpPr>
          <p:cNvPr id="15"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6"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7" name="Agenda 2"/>
          <p:cNvSpPr/>
          <p:nvPr/>
        </p:nvSpPr>
        <p:spPr>
          <a:xfrm>
            <a:off x="2907792" y="3108960"/>
            <a:ext cx="640080" cy="640080"/>
          </a:xfrm>
          <a:prstGeom prst="ellipse">
            <a:avLst/>
          </a:prstGeom>
          <a:solidFill>
            <a:schemeClr val="tx2"/>
          </a:solidFill>
          <a:ln/>
        </p:spPr>
      </p:sp>
      <p:sp>
        <p:nvSpPr>
          <p:cNvPr id="18"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9"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20" name="Agenda 3"/>
          <p:cNvSpPr/>
          <p:nvPr/>
        </p:nvSpPr>
        <p:spPr>
          <a:xfrm>
            <a:off x="4809744" y="3108960"/>
            <a:ext cx="640080" cy="640080"/>
          </a:xfrm>
          <a:prstGeom prst="ellipse">
            <a:avLst/>
          </a:prstGeom>
          <a:solidFill>
            <a:schemeClr val="tx2"/>
          </a:solidFill>
          <a:ln/>
        </p:spPr>
      </p:sp>
      <p:sp>
        <p:nvSpPr>
          <p:cNvPr id="21"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3" name="Agenda 4"/>
          <p:cNvSpPr/>
          <p:nvPr/>
        </p:nvSpPr>
        <p:spPr>
          <a:xfrm>
            <a:off x="6711696" y="3108960"/>
            <a:ext cx="640080" cy="640080"/>
          </a:xfrm>
          <a:prstGeom prst="ellipse">
            <a:avLst/>
          </a:prstGeom>
          <a:solidFill>
            <a:schemeClr val="accent1"/>
          </a:solidFill>
          <a:ln/>
        </p:spPr>
      </p:sp>
      <p:sp>
        <p:nvSpPr>
          <p:cNvPr id="24"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6" name="Agenda 5"/>
          <p:cNvSpPr/>
          <p:nvPr/>
        </p:nvSpPr>
        <p:spPr>
          <a:xfrm>
            <a:off x="8613648" y="3108960"/>
            <a:ext cx="640080" cy="640080"/>
          </a:xfrm>
          <a:prstGeom prst="ellipse">
            <a:avLst/>
          </a:prstGeom>
          <a:solidFill>
            <a:schemeClr val="accent1"/>
          </a:solidFill>
          <a:ln/>
        </p:spPr>
      </p:sp>
      <p:sp>
        <p:nvSpPr>
          <p:cNvPr id="27"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8"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used, results, LLM validity checks</a:t>
            </a:r>
            <a:endParaRPr lang="en-US" sz="1600" dirty="0"/>
          </a:p>
        </p:txBody>
      </p:sp>
      <p:sp>
        <p:nvSpPr>
          <p:cNvPr id="29" name="Agenda 6"/>
          <p:cNvSpPr/>
          <p:nvPr/>
        </p:nvSpPr>
        <p:spPr>
          <a:xfrm>
            <a:off x="10515600" y="3108960"/>
            <a:ext cx="640080" cy="640080"/>
          </a:xfrm>
          <a:prstGeom prst="ellipse">
            <a:avLst/>
          </a:prstGeom>
          <a:solidFill>
            <a:schemeClr val="accent1"/>
          </a:solidFill>
          <a:ln/>
        </p:spPr>
      </p:sp>
      <p:sp>
        <p:nvSpPr>
          <p:cNvPr id="30"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1"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2"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3"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4" name="Illustration panel"/>
          <p:cNvSpPr/>
          <p:nvPr/>
        </p:nvSpPr>
        <p:spPr>
          <a:xfrm>
            <a:off x="6903720" y="1234440"/>
            <a:ext cx="4736592" cy="4892040"/>
          </a:xfrm>
          <a:prstGeom prst="rect">
            <a:avLst/>
          </a:prstGeom>
          <a:solidFill>
            <a:schemeClr val="bg2"/>
          </a:solidFill>
          <a:ln/>
        </p:spPr>
      </p:sp>
      <p:sp>
        <p:nvSpPr>
          <p:cNvPr id="15"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6" name="Bed"/>
          <p:cNvSpPr/>
          <p:nvPr/>
        </p:nvSpPr>
        <p:spPr>
          <a:xfrm rot="360000">
            <a:off x="7315200" y="2377440"/>
            <a:ext cx="3931920" cy="128016"/>
          </a:xfrm>
          <a:prstGeom prst="rect">
            <a:avLst/>
          </a:prstGeom>
          <a:solidFill>
            <a:schemeClr val="accent3"/>
          </a:solidFill>
          <a:ln/>
        </p:spPr>
      </p:sp>
      <p:sp>
        <p:nvSpPr>
          <p:cNvPr id="17" name="Body"/>
          <p:cNvSpPr/>
          <p:nvPr/>
        </p:nvSpPr>
        <p:spPr>
          <a:xfrm rot="360000">
            <a:off x="7863840" y="2093976"/>
            <a:ext cx="2606040" cy="329184"/>
          </a:xfrm>
          <a:prstGeom prst="roundRect">
            <a:avLst>
              <a:gd name="adj" fmla="val 41667"/>
            </a:avLst>
          </a:prstGeom>
          <a:solidFill>
            <a:schemeClr val="tx2"/>
          </a:solidFill>
          <a:ln/>
        </p:spPr>
      </p:sp>
      <p:sp>
        <p:nvSpPr>
          <p:cNvPr id="18" name="Head"/>
          <p:cNvSpPr/>
          <p:nvPr/>
        </p:nvSpPr>
        <p:spPr>
          <a:xfrm>
            <a:off x="10469880" y="2167128"/>
            <a:ext cx="384048" cy="384048"/>
          </a:xfrm>
          <a:prstGeom prst="ellipse">
            <a:avLst/>
          </a:prstGeom>
          <a:solidFill>
            <a:schemeClr val="tx2"/>
          </a:solidFill>
          <a:ln/>
        </p:spPr>
      </p:sp>
      <p:sp>
        <p:nvSpPr>
          <p:cNvPr id="19"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20" name="Muscle before"/>
          <p:cNvSpPr/>
          <p:nvPr/>
        </p:nvSpPr>
        <p:spPr>
          <a:xfrm>
            <a:off x="7223760" y="3337560"/>
            <a:ext cx="1737360" cy="1737360"/>
          </a:xfrm>
          <a:prstGeom prst="ellipse">
            <a:avLst/>
          </a:prstGeom>
          <a:solidFill>
            <a:schemeClr val="accent1">
              <a:alpha val="75000"/>
            </a:schemeClr>
          </a:solidFill>
          <a:ln w="12700">
            <a:solidFill>
              <a:srgbClr val="C1440E"/>
            </a:solidFill>
            <a:prstDash val="solid"/>
          </a:ln>
        </p:spPr>
      </p:sp>
      <p:sp>
        <p:nvSpPr>
          <p:cNvPr id="21" name="Muscle before bone"/>
          <p:cNvSpPr/>
          <p:nvPr/>
        </p:nvSpPr>
        <p:spPr>
          <a:xfrm>
            <a:off x="7717536" y="4151376"/>
            <a:ext cx="384048" cy="384048"/>
          </a:xfrm>
          <a:prstGeom prst="ellipse">
            <a:avLst/>
          </a:prstGeom>
          <a:solidFill>
            <a:schemeClr val="bg1"/>
          </a:solidFill>
          <a:ln w="12700">
            <a:solidFill>
              <a:srgbClr val="98A6B5"/>
            </a:solidFill>
            <a:prstDash val="solid"/>
          </a:ln>
        </p:spPr>
      </p:sp>
      <p:sp>
        <p:nvSpPr>
          <p:cNvPr id="22" name="Arrow"/>
          <p:cNvSpPr/>
          <p:nvPr/>
        </p:nvSpPr>
        <p:spPr>
          <a:xfrm>
            <a:off x="9098280" y="4206240"/>
            <a:ext cx="548640" cy="0"/>
          </a:xfrm>
          <a:prstGeom prst="line">
            <a:avLst/>
          </a:prstGeom>
          <a:noFill/>
          <a:ln w="15875">
            <a:solidFill>
              <a:srgbClr val="1B2533"/>
            </a:solidFill>
            <a:prstDash val="solid"/>
            <a:tailEnd type="triangle"/>
          </a:ln>
        </p:spPr>
      </p:sp>
      <p:sp>
        <p:nvSpPr>
          <p:cNvPr id="23" name="Muscle after"/>
          <p:cNvSpPr/>
          <p:nvPr/>
        </p:nvSpPr>
        <p:spPr>
          <a:xfrm>
            <a:off x="9764214" y="3409134"/>
            <a:ext cx="1594211" cy="1594211"/>
          </a:xfrm>
          <a:prstGeom prst="ellipse">
            <a:avLst/>
          </a:prstGeom>
          <a:solidFill>
            <a:schemeClr val="accent1">
              <a:alpha val="75000"/>
            </a:schemeClr>
          </a:solidFill>
          <a:ln w="12700">
            <a:solidFill>
              <a:srgbClr val="C1440E"/>
            </a:solidFill>
            <a:prstDash val="solid"/>
          </a:ln>
        </p:spPr>
      </p:sp>
      <p:sp>
        <p:nvSpPr>
          <p:cNvPr id="24" name="Muscle after bone"/>
          <p:cNvSpPr/>
          <p:nvPr/>
        </p:nvSpPr>
        <p:spPr>
          <a:xfrm>
            <a:off x="10186416" y="4151376"/>
            <a:ext cx="384048" cy="384048"/>
          </a:xfrm>
          <a:prstGeom prst="ellipse">
            <a:avLst/>
          </a:prstGeom>
          <a:solidFill>
            <a:schemeClr val="bg1"/>
          </a:solidFill>
          <a:ln w="12700">
            <a:solidFill>
              <a:srgbClr val="98A6B5"/>
            </a:solidFill>
            <a:prstDash val="solid"/>
          </a:ln>
        </p:spPr>
      </p:sp>
      <p:sp>
        <p:nvSpPr>
          <p:cNvPr id="25" name="Original outline"/>
          <p:cNvSpPr/>
          <p:nvPr/>
        </p:nvSpPr>
        <p:spPr>
          <a:xfrm>
            <a:off x="9692640" y="3337560"/>
            <a:ext cx="1737360" cy="1737360"/>
          </a:xfrm>
          <a:prstGeom prst="ellipse">
            <a:avLst/>
          </a:prstGeom>
          <a:ln w="12700">
            <a:solidFill>
              <a:srgbClr val="1B2533"/>
            </a:solidFill>
            <a:prstDash val="dash"/>
          </a:ln>
        </p:spPr>
      </p:sp>
      <p:sp>
        <p:nvSpPr>
          <p:cNvPr id="26"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7"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8"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3"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4" name="Mission panel"/>
          <p:cNvSpPr/>
          <p:nvPr/>
        </p:nvSpPr>
        <p:spPr>
          <a:xfrm>
            <a:off x="6492240" y="1188720"/>
            <a:ext cx="5148072" cy="3520440"/>
          </a:xfrm>
          <a:prstGeom prst="rect">
            <a:avLst/>
          </a:prstGeom>
          <a:solidFill>
            <a:schemeClr val="bg2"/>
          </a:solidFill>
          <a:ln/>
        </p:spPr>
      </p:sp>
      <p:sp>
        <p:nvSpPr>
          <p:cNvPr id="15"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6" name="Earth"/>
          <p:cNvSpPr/>
          <p:nvPr/>
        </p:nvSpPr>
        <p:spPr>
          <a:xfrm>
            <a:off x="6675120" y="1828800"/>
            <a:ext cx="548640" cy="548640"/>
          </a:xfrm>
          <a:prstGeom prst="ellipse">
            <a:avLst/>
          </a:prstGeom>
          <a:solidFill>
            <a:srgbClr val="0B2545"/>
          </a:solidFill>
          <a:ln/>
        </p:spPr>
      </p:sp>
      <p:pic>
        <p:nvPicPr>
          <p:cNvPr id="17" name="Image 2" descr="Earth (photo map, semi-transparent)">    </p:cNvPr>
          <p:cNvPicPr>
            <a:picLocks noChangeAspect="1"/>
          </p:cNvPicPr>
          <p:nvPr/>
        </p:nvPicPr>
        <p:blipFill>
          <a:blip r:embed="rId3"/>
          <a:stretch>
            <a:fillRect/>
          </a:stretch>
        </p:blipFill>
        <p:spPr>
          <a:xfrm>
            <a:off x="6675120" y="1828800"/>
            <a:ext cx="548640" cy="548640"/>
          </a:xfrm>
          <a:prstGeom prst="rect">
            <a:avLst/>
          </a:prstGeom>
        </p:spPr>
      </p:pic>
      <p:sp>
        <p:nvSpPr>
          <p:cNvPr id="18"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9" name="Moon"/>
          <p:cNvSpPr/>
          <p:nvPr/>
        </p:nvSpPr>
        <p:spPr>
          <a:xfrm>
            <a:off x="7863840" y="1965960"/>
            <a:ext cx="274320" cy="274320"/>
          </a:xfrm>
          <a:prstGeom prst="ellipse">
            <a:avLst/>
          </a:prstGeom>
          <a:solidFill>
            <a:srgbClr val="B8C4D1"/>
          </a:solidFill>
          <a:ln/>
        </p:spPr>
      </p:sp>
      <p:pic>
        <p:nvPicPr>
          <p:cNvPr id="20" name="Image 3" descr="Moon (photo map, semi-transparent)">    </p:cNvPr>
          <p:cNvPicPr>
            <a:picLocks noChangeAspect="1"/>
          </p:cNvPicPr>
          <p:nvPr/>
        </p:nvPicPr>
        <p:blipFill>
          <a:blip r:embed="rId4"/>
          <a:stretch>
            <a:fillRect/>
          </a:stretch>
        </p:blipFill>
        <p:spPr>
          <a:xfrm>
            <a:off x="7863840" y="1965960"/>
            <a:ext cx="274320" cy="274320"/>
          </a:xfrm>
          <a:prstGeom prst="rect">
            <a:avLst/>
          </a:prstGeom>
        </p:spPr>
      </p:pic>
      <p:sp>
        <p:nvSpPr>
          <p:cNvPr id="21"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2" name="Mars"/>
          <p:cNvSpPr/>
          <p:nvPr/>
        </p:nvSpPr>
        <p:spPr>
          <a:xfrm>
            <a:off x="10927080" y="1874520"/>
            <a:ext cx="457200" cy="457200"/>
          </a:xfrm>
          <a:prstGeom prst="ellipse">
            <a:avLst/>
          </a:prstGeom>
          <a:solidFill>
            <a:srgbClr val="C1440E"/>
          </a:solidFill>
          <a:ln/>
        </p:spPr>
      </p:sp>
      <p:pic>
        <p:nvPicPr>
          <p:cNvPr id="23" name="Image 4" descr="Mars (photo map, semi-transparent)">    </p:cNvPr>
          <p:cNvPicPr>
            <a:picLocks noChangeAspect="1"/>
          </p:cNvPicPr>
          <p:nvPr/>
        </p:nvPicPr>
        <p:blipFill>
          <a:blip r:embed="rId5"/>
          <a:stretch>
            <a:fillRect/>
          </a:stretch>
        </p:blipFill>
        <p:spPr>
          <a:xfrm>
            <a:off x="10927080" y="1874520"/>
            <a:ext cx="457200" cy="457200"/>
          </a:xfrm>
          <a:prstGeom prst="rect">
            <a:avLst/>
          </a:prstGeom>
        </p:spPr>
      </p:pic>
      <p:sp>
        <p:nvSpPr>
          <p:cNvPr id="24"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5" name="Route to Moon"/>
          <p:cNvSpPr/>
          <p:nvPr/>
        </p:nvSpPr>
        <p:spPr>
          <a:xfrm>
            <a:off x="7251192" y="2103120"/>
            <a:ext cx="594360" cy="0"/>
          </a:xfrm>
          <a:prstGeom prst="line">
            <a:avLst/>
          </a:prstGeom>
          <a:noFill/>
          <a:ln w="12700">
            <a:solidFill>
              <a:srgbClr val="5D6B7B"/>
            </a:solidFill>
            <a:prstDash val="dash"/>
            <a:tailEnd type="triangle"/>
          </a:ln>
        </p:spPr>
      </p:sp>
      <p:sp>
        <p:nvSpPr>
          <p:cNvPr id="26"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7" name="Route to Mars"/>
          <p:cNvSpPr/>
          <p:nvPr/>
        </p:nvSpPr>
        <p:spPr>
          <a:xfrm>
            <a:off x="8183880" y="2103120"/>
            <a:ext cx="2724912" cy="0"/>
          </a:xfrm>
          <a:prstGeom prst="line">
            <a:avLst/>
          </a:prstGeom>
          <a:noFill/>
          <a:ln w="12700">
            <a:solidFill>
              <a:srgbClr val="5D6B7B"/>
            </a:solidFill>
            <a:prstDash val="dash"/>
            <a:tailEnd type="triangle"/>
          </a:ln>
        </p:spPr>
      </p:sp>
      <p:sp>
        <p:nvSpPr>
          <p:cNvPr id="28"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9"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30" name="Moon mission bar"/>
          <p:cNvSpPr/>
          <p:nvPr/>
        </p:nvSpPr>
        <p:spPr>
          <a:xfrm>
            <a:off x="8229600" y="2880360"/>
            <a:ext cx="42672" cy="292608"/>
          </a:xfrm>
          <a:prstGeom prst="rect">
            <a:avLst/>
          </a:prstGeom>
          <a:solidFill>
            <a:srgbClr val="5D6B7B"/>
          </a:solidFill>
          <a:ln/>
        </p:spPr>
      </p:sp>
      <p:sp>
        <p:nvSpPr>
          <p:cNvPr id="31"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2"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3" name="Mars to Mars"/>
          <p:cNvSpPr/>
          <p:nvPr/>
        </p:nvSpPr>
        <p:spPr>
          <a:xfrm>
            <a:off x="8229600" y="3566160"/>
            <a:ext cx="640080" cy="292608"/>
          </a:xfrm>
          <a:prstGeom prst="rect">
            <a:avLst/>
          </a:prstGeom>
          <a:solidFill>
            <a:srgbClr val="C1440E"/>
          </a:solidFill>
          <a:ln w="12700">
            <a:solidFill>
              <a:srgbClr val="FFFFFF"/>
            </a:solidFill>
            <a:prstDash val="solid"/>
          </a:ln>
        </p:spPr>
      </p:sp>
      <p:sp>
        <p:nvSpPr>
          <p:cNvPr id="34"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5" name="Mars on Mars, about 500 days"/>
          <p:cNvSpPr/>
          <p:nvPr/>
        </p:nvSpPr>
        <p:spPr>
          <a:xfrm>
            <a:off x="8869680" y="3566160"/>
            <a:ext cx="1778000" cy="292608"/>
          </a:xfrm>
          <a:prstGeom prst="rect">
            <a:avLst/>
          </a:prstGeom>
          <a:solidFill>
            <a:srgbClr val="C1440E">
              <a:alpha val="55000"/>
            </a:srgbClr>
          </a:solidFill>
          <a:ln w="12700">
            <a:solidFill>
              <a:srgbClr val="FFFFFF"/>
            </a:solidFill>
            <a:prstDash val="solid"/>
          </a:ln>
        </p:spPr>
      </p:sp>
      <p:sp>
        <p:nvSpPr>
          <p:cNvPr id="36"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7" name="Mars home"/>
          <p:cNvSpPr/>
          <p:nvPr/>
        </p:nvSpPr>
        <p:spPr>
          <a:xfrm>
            <a:off x="10647680" y="3566160"/>
            <a:ext cx="640080" cy="292608"/>
          </a:xfrm>
          <a:prstGeom prst="rect">
            <a:avLst/>
          </a:prstGeom>
          <a:solidFill>
            <a:srgbClr val="C1440E"/>
          </a:solidFill>
          <a:ln w="12700">
            <a:solidFill>
              <a:srgbClr val="FFFFFF"/>
            </a:solidFill>
            <a:prstDash val="solid"/>
          </a:ln>
        </p:spPr>
      </p:sp>
      <p:sp>
        <p:nvSpPr>
          <p:cNvPr id="38"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9" name="Arrival marker"/>
          <p:cNvSpPr/>
          <p:nvPr/>
        </p:nvSpPr>
        <p:spPr>
          <a:xfrm>
            <a:off x="8869680" y="3886200"/>
            <a:ext cx="0" cy="182880"/>
          </a:xfrm>
          <a:prstGeom prst="line">
            <a:avLst/>
          </a:prstGeom>
          <a:noFill/>
          <a:ln w="12700">
            <a:solidFill>
              <a:srgbClr val="1B2533"/>
            </a:solidFill>
            <a:prstDash val="solid"/>
            <a:headEnd type="triangle"/>
          </a:ln>
        </p:spPr>
      </p:sp>
      <p:sp>
        <p:nvSpPr>
          <p:cNvPr id="40"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41" name="Time axis"/>
          <p:cNvSpPr/>
          <p:nvPr/>
        </p:nvSpPr>
        <p:spPr>
          <a:xfrm>
            <a:off x="8229600" y="4434840"/>
            <a:ext cx="3200400" cy="0"/>
          </a:xfrm>
          <a:prstGeom prst="line">
            <a:avLst/>
          </a:prstGeom>
          <a:noFill/>
          <a:ln w="9525">
            <a:solidFill>
              <a:srgbClr val="5D6B7B"/>
            </a:solidFill>
            <a:prstDash val="solid"/>
          </a:ln>
        </p:spPr>
      </p:sp>
      <p:sp>
        <p:nvSpPr>
          <p:cNvPr id="42" name="Tick 0"/>
          <p:cNvSpPr/>
          <p:nvPr/>
        </p:nvSpPr>
        <p:spPr>
          <a:xfrm>
            <a:off x="8229600" y="4434840"/>
            <a:ext cx="0" cy="54864"/>
          </a:xfrm>
          <a:prstGeom prst="line">
            <a:avLst/>
          </a:prstGeom>
          <a:noFill/>
          <a:ln w="9525">
            <a:solidFill>
              <a:srgbClr val="5D6B7B"/>
            </a:solidFill>
            <a:prstDash val="solid"/>
          </a:ln>
        </p:spPr>
      </p:sp>
      <p:sp>
        <p:nvSpPr>
          <p:cNvPr id="43"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4" name="Tick 1 year"/>
          <p:cNvSpPr/>
          <p:nvPr/>
        </p:nvSpPr>
        <p:spPr>
          <a:xfrm>
            <a:off x="9527540" y="4434840"/>
            <a:ext cx="0" cy="54864"/>
          </a:xfrm>
          <a:prstGeom prst="line">
            <a:avLst/>
          </a:prstGeom>
          <a:noFill/>
          <a:ln w="9525">
            <a:solidFill>
              <a:srgbClr val="5D6B7B"/>
            </a:solidFill>
            <a:prstDash val="solid"/>
          </a:ln>
        </p:spPr>
      </p:sp>
      <p:sp>
        <p:nvSpPr>
          <p:cNvPr id="45"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6" name="Tick 2 years"/>
          <p:cNvSpPr/>
          <p:nvPr/>
        </p:nvSpPr>
        <p:spPr>
          <a:xfrm>
            <a:off x="10825480" y="4434840"/>
            <a:ext cx="0" cy="54864"/>
          </a:xfrm>
          <a:prstGeom prst="line">
            <a:avLst/>
          </a:prstGeom>
          <a:noFill/>
          <a:ln w="9525">
            <a:solidFill>
              <a:srgbClr val="5D6B7B"/>
            </a:solidFill>
            <a:prstDash val="solid"/>
          </a:ln>
        </p:spPr>
      </p:sp>
      <p:sp>
        <p:nvSpPr>
          <p:cNvPr id="47"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8" name="Step 1"/>
          <p:cNvSpPr/>
          <p:nvPr/>
        </p:nvSpPr>
        <p:spPr>
          <a:xfrm>
            <a:off x="548640" y="4983480"/>
            <a:ext cx="2423160" cy="685800"/>
          </a:xfrm>
          <a:prstGeom prst="rect">
            <a:avLst/>
          </a:prstGeom>
          <a:solidFill>
            <a:srgbClr val="FFFFFF"/>
          </a:solidFill>
          <a:ln w="12700">
            <a:solidFill>
              <a:srgbClr val="98A6B5"/>
            </a:solidFill>
            <a:prstDash val="solid"/>
          </a:ln>
        </p:spPr>
      </p:sp>
      <p:sp>
        <p:nvSpPr>
          <p:cNvPr id="49"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50" name="Step 2"/>
          <p:cNvSpPr/>
          <p:nvPr/>
        </p:nvSpPr>
        <p:spPr>
          <a:xfrm>
            <a:off x="3429000" y="4983480"/>
            <a:ext cx="2423160" cy="685800"/>
          </a:xfrm>
          <a:prstGeom prst="rect">
            <a:avLst/>
          </a:prstGeom>
          <a:solidFill>
            <a:srgbClr val="0B2545"/>
          </a:solidFill>
          <a:ln w="12700">
            <a:solidFill>
              <a:srgbClr val="0B2545"/>
            </a:solidFill>
            <a:prstDash val="solid"/>
          </a:ln>
        </p:spPr>
      </p:sp>
      <p:sp>
        <p:nvSpPr>
          <p:cNvPr id="51"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2" name="Step 3"/>
          <p:cNvSpPr/>
          <p:nvPr/>
        </p:nvSpPr>
        <p:spPr>
          <a:xfrm>
            <a:off x="6309360" y="4983480"/>
            <a:ext cx="2423160" cy="685800"/>
          </a:xfrm>
          <a:prstGeom prst="rect">
            <a:avLst/>
          </a:prstGeom>
          <a:solidFill>
            <a:srgbClr val="FFFFFF"/>
          </a:solidFill>
          <a:ln w="12700">
            <a:solidFill>
              <a:srgbClr val="98A6B5"/>
            </a:solidFill>
            <a:prstDash val="dash"/>
          </a:ln>
        </p:spPr>
      </p:sp>
      <p:sp>
        <p:nvSpPr>
          <p:cNvPr id="53"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4" name="Step 4"/>
          <p:cNvSpPr/>
          <p:nvPr/>
        </p:nvSpPr>
        <p:spPr>
          <a:xfrm>
            <a:off x="9189720" y="4983480"/>
            <a:ext cx="2423160" cy="685800"/>
          </a:xfrm>
          <a:prstGeom prst="rect">
            <a:avLst/>
          </a:prstGeom>
          <a:solidFill>
            <a:srgbClr val="FFFFFF"/>
          </a:solidFill>
          <a:ln w="12700">
            <a:solidFill>
              <a:srgbClr val="98A6B5"/>
            </a:solidFill>
            <a:prstDash val="dash"/>
          </a:ln>
        </p:spPr>
      </p:sp>
      <p:sp>
        <p:nvSpPr>
          <p:cNvPr id="55"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6" name="Arrow 1"/>
          <p:cNvSpPr/>
          <p:nvPr/>
        </p:nvSpPr>
        <p:spPr>
          <a:xfrm>
            <a:off x="3017520" y="5326380"/>
            <a:ext cx="365760" cy="0"/>
          </a:xfrm>
          <a:prstGeom prst="line">
            <a:avLst/>
          </a:prstGeom>
          <a:noFill/>
          <a:ln w="15875">
            <a:solidFill>
              <a:srgbClr val="1B2533"/>
            </a:solidFill>
            <a:prstDash val="solid"/>
            <a:tailEnd type="triangle"/>
          </a:ln>
        </p:spPr>
      </p:sp>
      <p:sp>
        <p:nvSpPr>
          <p:cNvPr id="57"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8" name="Arrow 3"/>
          <p:cNvSpPr/>
          <p:nvPr/>
        </p:nvSpPr>
        <p:spPr>
          <a:xfrm>
            <a:off x="8778240" y="5326380"/>
            <a:ext cx="365760" cy="0"/>
          </a:xfrm>
          <a:prstGeom prst="line">
            <a:avLst/>
          </a:prstGeom>
          <a:noFill/>
          <a:ln w="15875">
            <a:solidFill>
              <a:srgbClr val="1B2533"/>
            </a:solidFill>
            <a:prstDash val="solid"/>
            <a:tailEnd type="triangle"/>
          </a:ln>
        </p:spPr>
      </p:sp>
      <p:sp>
        <p:nvSpPr>
          <p:cNvPr id="59"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60"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3"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4"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5" name="Abstract 14-119"/>
          <p:cNvSpPr/>
          <p:nvPr/>
        </p:nvSpPr>
        <p:spPr>
          <a:xfrm>
            <a:off x="3889248" y="1591056"/>
            <a:ext cx="4480560" cy="329184"/>
          </a:xfrm>
          <a:prstGeom prst="rect">
            <a:avLst/>
          </a:prstGeom>
          <a:solidFill>
            <a:srgbClr val="B8C4D1"/>
          </a:solidFill>
          <a:ln/>
        </p:spPr>
      </p:sp>
      <p:sp>
        <p:nvSpPr>
          <p:cNvPr id="16"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7"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8"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9" name="Final dataset 5-119"/>
          <p:cNvSpPr/>
          <p:nvPr/>
        </p:nvSpPr>
        <p:spPr>
          <a:xfrm>
            <a:off x="3505200" y="2157984"/>
            <a:ext cx="4864608" cy="329184"/>
          </a:xfrm>
          <a:prstGeom prst="rect">
            <a:avLst/>
          </a:prstGeom>
          <a:solidFill>
            <a:srgbClr val="0B2545"/>
          </a:solidFill>
          <a:ln/>
        </p:spPr>
      </p:sp>
      <p:sp>
        <p:nvSpPr>
          <p:cNvPr id="20" name="Final dataset 119-180"/>
          <p:cNvSpPr/>
          <p:nvPr/>
        </p:nvSpPr>
        <p:spPr>
          <a:xfrm>
            <a:off x="8369808" y="2157984"/>
            <a:ext cx="2602992" cy="329184"/>
          </a:xfrm>
          <a:prstGeom prst="rect">
            <a:avLst/>
          </a:prstGeom>
          <a:solidFill>
            <a:srgbClr val="C1440E"/>
          </a:solidFill>
          <a:ln/>
        </p:spPr>
      </p:sp>
      <p:sp>
        <p:nvSpPr>
          <p:cNvPr id="21"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2"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3"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4"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5" name="Day axis"/>
          <p:cNvSpPr/>
          <p:nvPr/>
        </p:nvSpPr>
        <p:spPr>
          <a:xfrm>
            <a:off x="3291840" y="2670048"/>
            <a:ext cx="7680960" cy="0"/>
          </a:xfrm>
          <a:prstGeom prst="line">
            <a:avLst/>
          </a:prstGeom>
          <a:noFill/>
          <a:ln w="9525">
            <a:solidFill>
              <a:srgbClr val="5D6B7B"/>
            </a:solidFill>
            <a:prstDash val="solid"/>
          </a:ln>
        </p:spPr>
      </p:sp>
      <p:sp>
        <p:nvSpPr>
          <p:cNvPr id="26" name="Tick 0"/>
          <p:cNvSpPr/>
          <p:nvPr/>
        </p:nvSpPr>
        <p:spPr>
          <a:xfrm>
            <a:off x="3291840" y="2670048"/>
            <a:ext cx="0" cy="54864"/>
          </a:xfrm>
          <a:prstGeom prst="line">
            <a:avLst/>
          </a:prstGeom>
          <a:noFill/>
          <a:ln w="9525">
            <a:solidFill>
              <a:srgbClr val="5D6B7B"/>
            </a:solidFill>
            <a:prstDash val="solid"/>
          </a:ln>
        </p:spPr>
      </p:sp>
      <p:sp>
        <p:nvSpPr>
          <p:cNvPr id="27"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ick 30"/>
          <p:cNvSpPr/>
          <p:nvPr/>
        </p:nvSpPr>
        <p:spPr>
          <a:xfrm>
            <a:off x="4572000" y="2670048"/>
            <a:ext cx="0" cy="54864"/>
          </a:xfrm>
          <a:prstGeom prst="line">
            <a:avLst/>
          </a:prstGeom>
          <a:noFill/>
          <a:ln w="9525">
            <a:solidFill>
              <a:srgbClr val="5D6B7B"/>
            </a:solidFill>
            <a:prstDash val="solid"/>
          </a:ln>
        </p:spPr>
      </p:sp>
      <p:sp>
        <p:nvSpPr>
          <p:cNvPr id="29"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30" name="Tick 60"/>
          <p:cNvSpPr/>
          <p:nvPr/>
        </p:nvSpPr>
        <p:spPr>
          <a:xfrm>
            <a:off x="5852160" y="2670048"/>
            <a:ext cx="0" cy="54864"/>
          </a:xfrm>
          <a:prstGeom prst="line">
            <a:avLst/>
          </a:prstGeom>
          <a:noFill/>
          <a:ln w="9525">
            <a:solidFill>
              <a:srgbClr val="5D6B7B"/>
            </a:solidFill>
            <a:prstDash val="solid"/>
          </a:ln>
        </p:spPr>
      </p:sp>
      <p:sp>
        <p:nvSpPr>
          <p:cNvPr id="31"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2" name="Tick 90"/>
          <p:cNvSpPr/>
          <p:nvPr/>
        </p:nvSpPr>
        <p:spPr>
          <a:xfrm>
            <a:off x="7132320" y="2670048"/>
            <a:ext cx="0" cy="54864"/>
          </a:xfrm>
          <a:prstGeom prst="line">
            <a:avLst/>
          </a:prstGeom>
          <a:noFill/>
          <a:ln w="9525">
            <a:solidFill>
              <a:srgbClr val="5D6B7B"/>
            </a:solidFill>
            <a:prstDash val="solid"/>
          </a:ln>
        </p:spPr>
      </p:sp>
      <p:sp>
        <p:nvSpPr>
          <p:cNvPr id="33"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4" name="Tick 119"/>
          <p:cNvSpPr/>
          <p:nvPr/>
        </p:nvSpPr>
        <p:spPr>
          <a:xfrm>
            <a:off x="8369808" y="2670048"/>
            <a:ext cx="0" cy="54864"/>
          </a:xfrm>
          <a:prstGeom prst="line">
            <a:avLst/>
          </a:prstGeom>
          <a:noFill/>
          <a:ln w="9525">
            <a:solidFill>
              <a:srgbClr val="5D6B7B"/>
            </a:solidFill>
            <a:prstDash val="solid"/>
          </a:ln>
        </p:spPr>
      </p:sp>
      <p:sp>
        <p:nvSpPr>
          <p:cNvPr id="35"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6" name="Tick 150"/>
          <p:cNvSpPr/>
          <p:nvPr/>
        </p:nvSpPr>
        <p:spPr>
          <a:xfrm>
            <a:off x="9692640" y="2670048"/>
            <a:ext cx="0" cy="54864"/>
          </a:xfrm>
          <a:prstGeom prst="line">
            <a:avLst/>
          </a:prstGeom>
          <a:noFill/>
          <a:ln w="9525">
            <a:solidFill>
              <a:srgbClr val="5D6B7B"/>
            </a:solidFill>
            <a:prstDash val="solid"/>
          </a:ln>
        </p:spPr>
      </p:sp>
      <p:sp>
        <p:nvSpPr>
          <p:cNvPr id="37"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8" name="Tick 180"/>
          <p:cNvSpPr/>
          <p:nvPr/>
        </p:nvSpPr>
        <p:spPr>
          <a:xfrm>
            <a:off x="10972800" y="2670048"/>
            <a:ext cx="0" cy="54864"/>
          </a:xfrm>
          <a:prstGeom prst="line">
            <a:avLst/>
          </a:prstGeom>
          <a:noFill/>
          <a:ln w="9525">
            <a:solidFill>
              <a:srgbClr val="5D6B7B"/>
            </a:solidFill>
            <a:prstDash val="solid"/>
          </a:ln>
        </p:spPr>
      </p:sp>
      <p:sp>
        <p:nvSpPr>
          <p:cNvPr id="39"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40"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41"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2"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3"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4" name="Legend 180 days (spaceflight)"/>
          <p:cNvSpPr/>
          <p:nvPr/>
        </p:nvSpPr>
        <p:spPr>
          <a:xfrm>
            <a:off x="548640" y="4261104"/>
            <a:ext cx="201168" cy="164592"/>
          </a:xfrm>
          <a:prstGeom prst="rect">
            <a:avLst/>
          </a:prstGeom>
          <a:solidFill>
            <a:srgbClr val="C1440E"/>
          </a:solidFill>
          <a:ln/>
        </p:spPr>
      </p:sp>
      <p:sp>
        <p:nvSpPr>
          <p:cNvPr id="45"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6" name="Legend 61 to 119 days"/>
          <p:cNvSpPr/>
          <p:nvPr/>
        </p:nvSpPr>
        <p:spPr>
          <a:xfrm>
            <a:off x="548640" y="4590288"/>
            <a:ext cx="201168" cy="164592"/>
          </a:xfrm>
          <a:prstGeom prst="rect">
            <a:avLst/>
          </a:prstGeom>
          <a:solidFill>
            <a:srgbClr val="0B2545"/>
          </a:solidFill>
          <a:ln/>
        </p:spPr>
      </p:sp>
      <p:sp>
        <p:nvSpPr>
          <p:cNvPr id="47"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8" name="Legend 31 to 60 days"/>
          <p:cNvSpPr/>
          <p:nvPr/>
        </p:nvSpPr>
        <p:spPr>
          <a:xfrm>
            <a:off x="548640" y="4919472"/>
            <a:ext cx="201168" cy="164592"/>
          </a:xfrm>
          <a:prstGeom prst="rect">
            <a:avLst/>
          </a:prstGeom>
          <a:solidFill>
            <a:srgbClr val="5B80A5"/>
          </a:solidFill>
          <a:ln/>
        </p:spPr>
      </p:sp>
      <p:sp>
        <p:nvSpPr>
          <p:cNvPr id="49"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50" name="Legend 15 to 30 days"/>
          <p:cNvSpPr/>
          <p:nvPr/>
        </p:nvSpPr>
        <p:spPr>
          <a:xfrm>
            <a:off x="548640" y="5248656"/>
            <a:ext cx="201168" cy="164592"/>
          </a:xfrm>
          <a:prstGeom prst="rect">
            <a:avLst/>
          </a:prstGeom>
          <a:solidFill>
            <a:srgbClr val="9AB0C7"/>
          </a:solidFill>
          <a:ln/>
        </p:spPr>
      </p:sp>
      <p:sp>
        <p:nvSpPr>
          <p:cNvPr id="51"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2" name="Legend 5 to 14 days"/>
          <p:cNvSpPr/>
          <p:nvPr/>
        </p:nvSpPr>
        <p:spPr>
          <a:xfrm>
            <a:off x="548640" y="5577840"/>
            <a:ext cx="201168" cy="164592"/>
          </a:xfrm>
          <a:prstGeom prst="rect">
            <a:avLst/>
          </a:prstGeom>
          <a:solidFill>
            <a:srgbClr val="D3DCE6"/>
          </a:solidFill>
          <a:ln/>
        </p:spPr>
      </p:sp>
      <p:sp>
        <p:nvSpPr>
          <p:cNvPr id="53"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4"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3"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4" name="Step Identification"/>
          <p:cNvSpPr/>
          <p:nvPr/>
        </p:nvSpPr>
        <p:spPr>
          <a:xfrm>
            <a:off x="548640" y="2286000"/>
            <a:ext cx="1920240" cy="1325880"/>
          </a:xfrm>
          <a:prstGeom prst="rect">
            <a:avLst/>
          </a:prstGeom>
          <a:solidFill>
            <a:srgbClr val="FFFFFF"/>
          </a:solidFill>
          <a:ln w="12700">
            <a:solidFill>
              <a:srgbClr val="98A6B5"/>
            </a:solidFill>
            <a:prstDash val="solid"/>
          </a:ln>
        </p:spPr>
      </p:sp>
      <p:sp>
        <p:nvSpPr>
          <p:cNvPr id="15"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6" name="Flow arrow 1"/>
          <p:cNvSpPr/>
          <p:nvPr/>
        </p:nvSpPr>
        <p:spPr>
          <a:xfrm>
            <a:off x="2505456" y="2948940"/>
            <a:ext cx="246888" cy="0"/>
          </a:xfrm>
          <a:prstGeom prst="line">
            <a:avLst/>
          </a:prstGeom>
          <a:noFill/>
          <a:ln w="15875">
            <a:solidFill>
              <a:srgbClr val="1B2533"/>
            </a:solidFill>
            <a:prstDash val="solid"/>
            <a:tailEnd type="triangle"/>
          </a:ln>
        </p:spPr>
      </p:sp>
      <p:sp>
        <p:nvSpPr>
          <p:cNvPr id="17"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8" name="Step Screening"/>
          <p:cNvSpPr/>
          <p:nvPr/>
        </p:nvSpPr>
        <p:spPr>
          <a:xfrm>
            <a:off x="2788920" y="2286000"/>
            <a:ext cx="1920240" cy="1325880"/>
          </a:xfrm>
          <a:prstGeom prst="rect">
            <a:avLst/>
          </a:prstGeom>
          <a:solidFill>
            <a:srgbClr val="FFFFFF"/>
          </a:solidFill>
          <a:ln w="12700">
            <a:solidFill>
              <a:srgbClr val="98A6B5"/>
            </a:solidFill>
            <a:prstDash val="solid"/>
          </a:ln>
        </p:spPr>
      </p:sp>
      <p:sp>
        <p:nvSpPr>
          <p:cNvPr id="19"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20" name="Flow arrow 2"/>
          <p:cNvSpPr/>
          <p:nvPr/>
        </p:nvSpPr>
        <p:spPr>
          <a:xfrm>
            <a:off x="4745736" y="2948940"/>
            <a:ext cx="246888" cy="0"/>
          </a:xfrm>
          <a:prstGeom prst="line">
            <a:avLst/>
          </a:prstGeom>
          <a:noFill/>
          <a:ln w="15875">
            <a:solidFill>
              <a:srgbClr val="1B2533"/>
            </a:solidFill>
            <a:prstDash val="solid"/>
            <a:tailEnd type="triangle"/>
          </a:ln>
        </p:spPr>
      </p:sp>
      <p:sp>
        <p:nvSpPr>
          <p:cNvPr id="21"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2" name="Step Full text"/>
          <p:cNvSpPr/>
          <p:nvPr/>
        </p:nvSpPr>
        <p:spPr>
          <a:xfrm>
            <a:off x="5029200" y="2286000"/>
            <a:ext cx="1920240" cy="1325880"/>
          </a:xfrm>
          <a:prstGeom prst="rect">
            <a:avLst/>
          </a:prstGeom>
          <a:solidFill>
            <a:srgbClr val="FFFFFF"/>
          </a:solidFill>
          <a:ln w="12700">
            <a:solidFill>
              <a:srgbClr val="98A6B5"/>
            </a:solidFill>
            <a:prstDash val="solid"/>
          </a:ln>
        </p:spPr>
      </p:sp>
      <p:sp>
        <p:nvSpPr>
          <p:cNvPr id="23"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4" name="Flow arrow 3"/>
          <p:cNvSpPr/>
          <p:nvPr/>
        </p:nvSpPr>
        <p:spPr>
          <a:xfrm>
            <a:off x="6986016" y="2948940"/>
            <a:ext cx="246888" cy="0"/>
          </a:xfrm>
          <a:prstGeom prst="line">
            <a:avLst/>
          </a:prstGeom>
          <a:noFill/>
          <a:ln w="15875">
            <a:solidFill>
              <a:srgbClr val="1B2533"/>
            </a:solidFill>
            <a:prstDash val="solid"/>
            <a:tailEnd type="triangle"/>
          </a:ln>
        </p:spPr>
      </p:sp>
      <p:sp>
        <p:nvSpPr>
          <p:cNvPr id="25"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6" name="Step Included"/>
          <p:cNvSpPr/>
          <p:nvPr/>
        </p:nvSpPr>
        <p:spPr>
          <a:xfrm>
            <a:off x="7269480" y="2286000"/>
            <a:ext cx="1920240" cy="1325880"/>
          </a:xfrm>
          <a:prstGeom prst="rect">
            <a:avLst/>
          </a:prstGeom>
          <a:solidFill>
            <a:srgbClr val="FFFFFF"/>
          </a:solidFill>
          <a:ln w="12700">
            <a:solidFill>
              <a:srgbClr val="98A6B5"/>
            </a:solidFill>
            <a:prstDash val="solid"/>
          </a:ln>
        </p:spPr>
      </p:sp>
      <p:sp>
        <p:nvSpPr>
          <p:cNvPr id="27"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8" name="Flow arrow 4"/>
          <p:cNvSpPr/>
          <p:nvPr/>
        </p:nvSpPr>
        <p:spPr>
          <a:xfrm>
            <a:off x="9226296" y="2948940"/>
            <a:ext cx="246888" cy="0"/>
          </a:xfrm>
          <a:prstGeom prst="line">
            <a:avLst/>
          </a:prstGeom>
          <a:noFill/>
          <a:ln w="15875">
            <a:solidFill>
              <a:srgbClr val="1B2533"/>
            </a:solidFill>
            <a:prstDash val="solid"/>
            <a:tailEnd type="triangle"/>
          </a:ln>
        </p:spPr>
      </p:sp>
      <p:sp>
        <p:nvSpPr>
          <p:cNvPr id="29"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30" name="Step Final dataset"/>
          <p:cNvSpPr/>
          <p:nvPr/>
        </p:nvSpPr>
        <p:spPr>
          <a:xfrm>
            <a:off x="9509760" y="2286000"/>
            <a:ext cx="1920240" cy="1325880"/>
          </a:xfrm>
          <a:prstGeom prst="rect">
            <a:avLst/>
          </a:prstGeom>
          <a:solidFill>
            <a:srgbClr val="0B2545"/>
          </a:solidFill>
          <a:ln w="12700">
            <a:solidFill>
              <a:srgbClr val="0B2545"/>
            </a:solidFill>
            <a:prstDash val="solid"/>
          </a:ln>
        </p:spPr>
      </p:sp>
      <p:sp>
        <p:nvSpPr>
          <p:cNvPr id="31"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2" name="Removed 1"/>
          <p:cNvSpPr/>
          <p:nvPr/>
        </p:nvSpPr>
        <p:spPr>
          <a:xfrm>
            <a:off x="2628900" y="2994660"/>
            <a:ext cx="0" cy="960120"/>
          </a:xfrm>
          <a:prstGeom prst="line">
            <a:avLst/>
          </a:prstGeom>
          <a:noFill/>
          <a:ln w="9525">
            <a:solidFill>
              <a:srgbClr val="98A6B5"/>
            </a:solidFill>
            <a:prstDash val="dash"/>
            <a:tailEnd type="triangle"/>
          </a:ln>
        </p:spPr>
      </p:sp>
      <p:sp>
        <p:nvSpPr>
          <p:cNvPr id="33"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4" name="Removed 2"/>
          <p:cNvSpPr/>
          <p:nvPr/>
        </p:nvSpPr>
        <p:spPr>
          <a:xfrm>
            <a:off x="4869180" y="2994660"/>
            <a:ext cx="0" cy="960120"/>
          </a:xfrm>
          <a:prstGeom prst="line">
            <a:avLst/>
          </a:prstGeom>
          <a:noFill/>
          <a:ln w="9525">
            <a:solidFill>
              <a:srgbClr val="98A6B5"/>
            </a:solidFill>
            <a:prstDash val="dash"/>
            <a:tailEnd type="triangle"/>
          </a:ln>
        </p:spPr>
      </p:sp>
      <p:sp>
        <p:nvSpPr>
          <p:cNvPr id="35"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6" name="Removed 3"/>
          <p:cNvSpPr/>
          <p:nvPr/>
        </p:nvSpPr>
        <p:spPr>
          <a:xfrm>
            <a:off x="7109460" y="2994660"/>
            <a:ext cx="0" cy="960120"/>
          </a:xfrm>
          <a:prstGeom prst="line">
            <a:avLst/>
          </a:prstGeom>
          <a:noFill/>
          <a:ln w="9525">
            <a:solidFill>
              <a:srgbClr val="98A6B5"/>
            </a:solidFill>
            <a:prstDash val="dash"/>
            <a:tailEnd type="triangle"/>
          </a:ln>
        </p:spPr>
      </p:sp>
      <p:sp>
        <p:nvSpPr>
          <p:cNvPr id="37"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8" name="Text 34"/>
          <p:cNvSpPr txBox="1"/>
          <p:nvPr/>
        </p:nvSpPr>
        <p:spPr>
          <a:xfrm>
            <a:off x="548640" y="5806440"/>
            <a:ext cx="822960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3"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15"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6"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3" name="Grid 0"/>
          <p:cNvSpPr/>
          <p:nvPr/>
        </p:nvSpPr>
        <p:spPr>
          <a:xfrm>
            <a:off x="1234440" y="1371600"/>
            <a:ext cx="6309360" cy="0"/>
          </a:xfrm>
          <a:prstGeom prst="line">
            <a:avLst/>
          </a:prstGeom>
          <a:noFill/>
          <a:ln w="9525">
            <a:solidFill>
              <a:srgbClr val="5D6B7B"/>
            </a:solidFill>
            <a:prstDash val="solid"/>
          </a:ln>
        </p:spPr>
      </p:sp>
      <p:sp>
        <p:nvSpPr>
          <p:cNvPr id="14"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5" name="Grid -4"/>
          <p:cNvSpPr/>
          <p:nvPr/>
        </p:nvSpPr>
        <p:spPr>
          <a:xfrm>
            <a:off x="1234440" y="2019300"/>
            <a:ext cx="6309360" cy="0"/>
          </a:xfrm>
          <a:prstGeom prst="line">
            <a:avLst/>
          </a:prstGeom>
          <a:noFill/>
          <a:ln w="9525">
            <a:solidFill>
              <a:srgbClr val="E2E7ED"/>
            </a:solidFill>
            <a:prstDash val="solid"/>
          </a:ln>
        </p:spPr>
      </p:sp>
      <p:sp>
        <p:nvSpPr>
          <p:cNvPr id="16"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7" name="Grid -8"/>
          <p:cNvSpPr/>
          <p:nvPr/>
        </p:nvSpPr>
        <p:spPr>
          <a:xfrm>
            <a:off x="1234440" y="2667000"/>
            <a:ext cx="6309360" cy="0"/>
          </a:xfrm>
          <a:prstGeom prst="line">
            <a:avLst/>
          </a:prstGeom>
          <a:noFill/>
          <a:ln w="9525">
            <a:solidFill>
              <a:srgbClr val="E2E7ED"/>
            </a:solidFill>
            <a:prstDash val="solid"/>
          </a:ln>
        </p:spPr>
      </p:sp>
      <p:sp>
        <p:nvSpPr>
          <p:cNvPr id="18"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9" name="Grid -12"/>
          <p:cNvSpPr/>
          <p:nvPr/>
        </p:nvSpPr>
        <p:spPr>
          <a:xfrm>
            <a:off x="1234440" y="3314700"/>
            <a:ext cx="6309360" cy="0"/>
          </a:xfrm>
          <a:prstGeom prst="line">
            <a:avLst/>
          </a:prstGeom>
          <a:noFill/>
          <a:ln w="9525">
            <a:solidFill>
              <a:srgbClr val="E2E7ED"/>
            </a:solidFill>
            <a:prstDash val="solid"/>
          </a:ln>
        </p:spPr>
      </p:sp>
      <p:sp>
        <p:nvSpPr>
          <p:cNvPr id="20"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21" name="Grid -16"/>
          <p:cNvSpPr/>
          <p:nvPr/>
        </p:nvSpPr>
        <p:spPr>
          <a:xfrm>
            <a:off x="1234440" y="3962400"/>
            <a:ext cx="6309360" cy="0"/>
          </a:xfrm>
          <a:prstGeom prst="line">
            <a:avLst/>
          </a:prstGeom>
          <a:noFill/>
          <a:ln w="9525">
            <a:solidFill>
              <a:srgbClr val="E2E7ED"/>
            </a:solidFill>
            <a:prstDash val="solid"/>
          </a:ln>
        </p:spPr>
      </p:sp>
      <p:sp>
        <p:nvSpPr>
          <p:cNvPr id="22"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3" name="Grid -20"/>
          <p:cNvSpPr/>
          <p:nvPr/>
        </p:nvSpPr>
        <p:spPr>
          <a:xfrm>
            <a:off x="1234440" y="4610100"/>
            <a:ext cx="6309360" cy="0"/>
          </a:xfrm>
          <a:prstGeom prst="line">
            <a:avLst/>
          </a:prstGeom>
          <a:noFill/>
          <a:ln w="9525">
            <a:solidFill>
              <a:srgbClr val="E2E7ED"/>
            </a:solidFill>
            <a:prstDash val="solid"/>
          </a:ln>
        </p:spPr>
      </p:sp>
      <p:sp>
        <p:nvSpPr>
          <p:cNvPr id="24"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5" name="Grid -24"/>
          <p:cNvSpPr/>
          <p:nvPr/>
        </p:nvSpPr>
        <p:spPr>
          <a:xfrm>
            <a:off x="1234440" y="5257800"/>
            <a:ext cx="6309360" cy="0"/>
          </a:xfrm>
          <a:prstGeom prst="line">
            <a:avLst/>
          </a:prstGeom>
          <a:noFill/>
          <a:ln w="9525">
            <a:solidFill>
              <a:srgbClr val="E2E7ED"/>
            </a:solidFill>
            <a:prstDash val="solid"/>
          </a:ln>
        </p:spPr>
      </p:sp>
      <p:sp>
        <p:nvSpPr>
          <p:cNvPr id="26"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7"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9"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2"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3"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4" name="Day 60 line"/>
          <p:cNvSpPr/>
          <p:nvPr/>
        </p:nvSpPr>
        <p:spPr>
          <a:xfrm>
            <a:off x="4389120" y="1280160"/>
            <a:ext cx="0" cy="3977640"/>
          </a:xfrm>
          <a:prstGeom prst="line">
            <a:avLst/>
          </a:prstGeom>
          <a:noFill/>
          <a:ln w="12700">
            <a:solidFill>
              <a:srgbClr val="1B2533"/>
            </a:solidFill>
            <a:prstDash val="dash"/>
          </a:ln>
        </p:spPr>
      </p:sp>
      <p:sp>
        <p:nvSpPr>
          <p:cNvPr id="35"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6"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9AA5B1"/>
            </a:solidFill>
            <a:prstDash val="solid"/>
          </a:ln>
        </p:spPr>
      </p:sp>
      <p:sp>
        <p:nvSpPr>
          <p:cNvPr id="37" name="Deep hip rotators at day 60"/>
          <p:cNvSpPr/>
          <p:nvPr/>
        </p:nvSpPr>
        <p:spPr>
          <a:xfrm>
            <a:off x="4338828" y="1628966"/>
            <a:ext cx="100584" cy="100584"/>
          </a:xfrm>
          <a:prstGeom prst="ellipse">
            <a:avLst/>
          </a:prstGeom>
          <a:solidFill>
            <a:srgbClr val="9AA5B1"/>
          </a:solidFill>
          <a:ln w="6350">
            <a:solidFill>
              <a:srgbClr val="FFFFFF"/>
            </a:solidFill>
            <a:prstDash val="solid"/>
          </a:ln>
        </p:spPr>
      </p:sp>
      <p:sp>
        <p:nvSpPr>
          <p:cNvPr id="38"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3A9CA6"/>
            </a:solidFill>
            <a:prstDash val="solid"/>
          </a:ln>
        </p:spPr>
      </p:sp>
      <p:sp>
        <p:nvSpPr>
          <p:cNvPr id="39" name="Inner thigh (hip adductors) at day 60"/>
          <p:cNvSpPr/>
          <p:nvPr/>
        </p:nvSpPr>
        <p:spPr>
          <a:xfrm>
            <a:off x="4338828" y="2195703"/>
            <a:ext cx="100584" cy="100584"/>
          </a:xfrm>
          <a:prstGeom prst="ellipse">
            <a:avLst/>
          </a:prstGeom>
          <a:solidFill>
            <a:srgbClr val="3A9CA6"/>
          </a:solidFill>
          <a:ln w="6350">
            <a:solidFill>
              <a:srgbClr val="FFFFFF"/>
            </a:solidFill>
            <a:prstDash val="solid"/>
          </a:ln>
        </p:spPr>
      </p:sp>
      <p:sp>
        <p:nvSpPr>
          <p:cNvPr id="40"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9C6B98"/>
            </a:solidFill>
            <a:prstDash val="solid"/>
          </a:ln>
        </p:spPr>
      </p:sp>
      <p:sp>
        <p:nvSpPr>
          <p:cNvPr id="41" name="Glutes (hip extensors) at day 60"/>
          <p:cNvSpPr/>
          <p:nvPr/>
        </p:nvSpPr>
        <p:spPr>
          <a:xfrm>
            <a:off x="4338828" y="2309050"/>
            <a:ext cx="100584" cy="100584"/>
          </a:xfrm>
          <a:prstGeom prst="ellipse">
            <a:avLst/>
          </a:prstGeom>
          <a:solidFill>
            <a:srgbClr val="9C6B98"/>
          </a:solidFill>
          <a:ln w="6350">
            <a:solidFill>
              <a:srgbClr val="FFFFFF"/>
            </a:solidFill>
            <a:prstDash val="solid"/>
          </a:ln>
        </p:spPr>
      </p:sp>
      <p:sp>
        <p:nvSpPr>
          <p:cNvPr id="42"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6A994E"/>
            </a:solidFill>
            <a:prstDash val="solid"/>
          </a:ln>
        </p:spPr>
      </p:sp>
      <p:sp>
        <p:nvSpPr>
          <p:cNvPr id="43" name="Hip flexors at day 60"/>
          <p:cNvSpPr/>
          <p:nvPr/>
        </p:nvSpPr>
        <p:spPr>
          <a:xfrm>
            <a:off x="4338828" y="2422398"/>
            <a:ext cx="100584" cy="100584"/>
          </a:xfrm>
          <a:prstGeom prst="ellipse">
            <a:avLst/>
          </a:prstGeom>
          <a:solidFill>
            <a:srgbClr val="6A994E"/>
          </a:solidFill>
          <a:ln w="6350">
            <a:solidFill>
              <a:srgbClr val="FFFFFF"/>
            </a:solidFill>
            <a:prstDash val="solid"/>
          </a:ln>
        </p:spPr>
      </p:sp>
      <p:sp>
        <p:nvSpPr>
          <p:cNvPr id="44"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FC4"/>
            </a:solidFill>
            <a:prstDash val="solid"/>
          </a:ln>
        </p:spPr>
      </p:sp>
      <p:sp>
        <p:nvSpPr>
          <p:cNvPr id="45" name="Outer hip (hip abductors) at day 60"/>
          <p:cNvSpPr/>
          <p:nvPr/>
        </p:nvSpPr>
        <p:spPr>
          <a:xfrm>
            <a:off x="4338828" y="2794825"/>
            <a:ext cx="100584" cy="100584"/>
          </a:xfrm>
          <a:prstGeom prst="ellipse">
            <a:avLst/>
          </a:prstGeom>
          <a:solidFill>
            <a:srgbClr val="7B6FC4"/>
          </a:solidFill>
          <a:ln w="6350">
            <a:solidFill>
              <a:srgbClr val="FFFFFF"/>
            </a:solidFill>
            <a:prstDash val="solid"/>
          </a:ln>
        </p:spPr>
      </p:sp>
      <p:sp>
        <p:nvSpPr>
          <p:cNvPr id="46"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F86C6"/>
            </a:solidFill>
            <a:prstDash val="solid"/>
          </a:ln>
        </p:spPr>
      </p:sp>
      <p:sp>
        <p:nvSpPr>
          <p:cNvPr id="47" name="Back thigh (knee flexors) at day 60"/>
          <p:cNvSpPr/>
          <p:nvPr/>
        </p:nvSpPr>
        <p:spPr>
          <a:xfrm>
            <a:off x="4338828" y="2908173"/>
            <a:ext cx="100584" cy="100584"/>
          </a:xfrm>
          <a:prstGeom prst="ellipse">
            <a:avLst/>
          </a:prstGeom>
          <a:solidFill>
            <a:srgbClr val="4F86C6"/>
          </a:solidFill>
          <a:ln w="6350">
            <a:solidFill>
              <a:srgbClr val="FFFFFF"/>
            </a:solidFill>
            <a:prstDash val="solid"/>
          </a:ln>
        </p:spPr>
      </p:sp>
      <p:sp>
        <p:nvSpPr>
          <p:cNvPr id="48"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0B2545"/>
            </a:solidFill>
            <a:prstDash val="solid"/>
          </a:ln>
        </p:spPr>
      </p:sp>
      <p:sp>
        <p:nvSpPr>
          <p:cNvPr id="49" name="Front thigh (knee extensors) at day 60"/>
          <p:cNvSpPr/>
          <p:nvPr/>
        </p:nvSpPr>
        <p:spPr>
          <a:xfrm>
            <a:off x="4338828" y="2956751"/>
            <a:ext cx="100584" cy="100584"/>
          </a:xfrm>
          <a:prstGeom prst="ellipse">
            <a:avLst/>
          </a:prstGeom>
          <a:solidFill>
            <a:srgbClr val="0B2545"/>
          </a:solidFill>
          <a:ln w="6350">
            <a:solidFill>
              <a:srgbClr val="FFFFFF"/>
            </a:solidFill>
            <a:prstDash val="solid"/>
          </a:ln>
        </p:spPr>
      </p:sp>
      <p:sp>
        <p:nvSpPr>
          <p:cNvPr id="50"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E0A030"/>
            </a:solidFill>
            <a:prstDash val="solid"/>
          </a:ln>
        </p:spPr>
      </p:sp>
      <p:sp>
        <p:nvSpPr>
          <p:cNvPr id="51" name="Shin (dorsiflexors) at day 60"/>
          <p:cNvSpPr/>
          <p:nvPr/>
        </p:nvSpPr>
        <p:spPr>
          <a:xfrm>
            <a:off x="4338828" y="2972943"/>
            <a:ext cx="100584" cy="100584"/>
          </a:xfrm>
          <a:prstGeom prst="ellipse">
            <a:avLst/>
          </a:prstGeom>
          <a:solidFill>
            <a:srgbClr val="E0A030"/>
          </a:solidFill>
          <a:ln w="6350">
            <a:solidFill>
              <a:srgbClr val="FFFFFF"/>
            </a:solidFill>
            <a:prstDash val="solid"/>
          </a:ln>
        </p:spPr>
      </p:sp>
      <p:sp>
        <p:nvSpPr>
          <p:cNvPr id="52"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C1440E"/>
            </a:solidFill>
            <a:prstDash val="solid"/>
          </a:ln>
        </p:spPr>
      </p:sp>
      <p:sp>
        <p:nvSpPr>
          <p:cNvPr id="53" name="Calf (plantar flexors) at day 60"/>
          <p:cNvSpPr/>
          <p:nvPr/>
        </p:nvSpPr>
        <p:spPr>
          <a:xfrm>
            <a:off x="4338828" y="3879723"/>
            <a:ext cx="100584" cy="100584"/>
          </a:xfrm>
          <a:prstGeom prst="ellipse">
            <a:avLst/>
          </a:prstGeom>
          <a:solidFill>
            <a:srgbClr val="C1440E"/>
          </a:solidFill>
          <a:ln w="6350">
            <a:solidFill>
              <a:srgbClr val="FFFFFF"/>
            </a:solidFill>
            <a:prstDash val="solid"/>
          </a:ln>
        </p:spPr>
      </p:sp>
      <p:sp>
        <p:nvSpPr>
          <p:cNvPr id="54"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5" name="Deep hip rotators leader"/>
          <p:cNvSpPr/>
          <p:nvPr/>
        </p:nvSpPr>
        <p:spPr>
          <a:xfrm flipV="1">
            <a:off x="7518654" y="1508760"/>
            <a:ext cx="646938" cy="282571"/>
          </a:xfrm>
          <a:prstGeom prst="line">
            <a:avLst/>
          </a:prstGeom>
          <a:noFill/>
          <a:ln w="9525">
            <a:solidFill>
              <a:srgbClr val="9AA5B1"/>
            </a:solidFill>
            <a:prstDash val="solid"/>
          </a:ln>
        </p:spPr>
      </p:sp>
      <p:pic>
        <p:nvPicPr>
          <p:cNvPr id="56" name="Image 2" descr="Deep hip rotators (highlighted on a leg outline)">    </p:cNvPr>
          <p:cNvPicPr>
            <a:picLocks noChangeAspect="1"/>
          </p:cNvPicPr>
          <p:nvPr/>
        </p:nvPicPr>
        <p:blipFill>
          <a:blip r:embed="rId3"/>
          <a:stretch>
            <a:fillRect/>
          </a:stretch>
        </p:blipFill>
        <p:spPr>
          <a:xfrm>
            <a:off x="8229600" y="1280160"/>
            <a:ext cx="304800" cy="457200"/>
          </a:xfrm>
          <a:prstGeom prst="rect">
            <a:avLst/>
          </a:prstGeom>
        </p:spPr>
      </p:pic>
      <p:sp>
        <p:nvSpPr>
          <p:cNvPr id="57"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8"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9AA5B1"/>
                </a:solidFill>
              </a:rPr>
              <a:t>−1.9%</a:t>
            </a:r>
            <a:endParaRPr lang="en-US" sz="1300" dirty="0"/>
          </a:p>
        </p:txBody>
      </p:sp>
      <p:sp>
        <p:nvSpPr>
          <p:cNvPr id="59" name="Inner thigh (hip adductors) leader"/>
          <p:cNvSpPr/>
          <p:nvPr/>
        </p:nvSpPr>
        <p:spPr>
          <a:xfrm flipV="1">
            <a:off x="7518654" y="2002536"/>
            <a:ext cx="646938" cy="561985"/>
          </a:xfrm>
          <a:prstGeom prst="line">
            <a:avLst/>
          </a:prstGeom>
          <a:noFill/>
          <a:ln w="9525">
            <a:solidFill>
              <a:srgbClr val="3A9CA6"/>
            </a:solidFill>
            <a:prstDash val="solid"/>
          </a:ln>
        </p:spPr>
      </p:sp>
      <p:pic>
        <p:nvPicPr>
          <p:cNvPr id="60" name="Image 3" descr="Inner thigh (hip adductors) (highlighted on a leg outline)">    </p:cNvPr>
          <p:cNvPicPr>
            <a:picLocks noChangeAspect="1"/>
          </p:cNvPicPr>
          <p:nvPr/>
        </p:nvPicPr>
        <p:blipFill>
          <a:blip r:embed="rId4"/>
          <a:stretch>
            <a:fillRect/>
          </a:stretch>
        </p:blipFill>
        <p:spPr>
          <a:xfrm>
            <a:off x="8229600" y="1773936"/>
            <a:ext cx="304800" cy="457200"/>
          </a:xfrm>
          <a:prstGeom prst="rect">
            <a:avLst/>
          </a:prstGeom>
        </p:spPr>
      </p:pic>
      <p:sp>
        <p:nvSpPr>
          <p:cNvPr id="61"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2"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3A9CA6"/>
                </a:solidFill>
              </a:rPr>
              <a:t>−5.4%</a:t>
            </a:r>
            <a:endParaRPr lang="en-US" sz="1300" dirty="0"/>
          </a:p>
        </p:txBody>
      </p:sp>
      <p:sp>
        <p:nvSpPr>
          <p:cNvPr id="63" name="Glutes (hip extensors) leader"/>
          <p:cNvSpPr/>
          <p:nvPr/>
        </p:nvSpPr>
        <p:spPr>
          <a:xfrm flipV="1">
            <a:off x="7518654" y="2496312"/>
            <a:ext cx="646938" cy="222847"/>
          </a:xfrm>
          <a:prstGeom prst="line">
            <a:avLst/>
          </a:prstGeom>
          <a:noFill/>
          <a:ln w="9525">
            <a:solidFill>
              <a:srgbClr val="9C6B98"/>
            </a:solidFill>
            <a:prstDash val="solid"/>
          </a:ln>
        </p:spPr>
      </p:sp>
      <p:pic>
        <p:nvPicPr>
          <p:cNvPr id="64" name="Image 4" descr="Glutes (hip extensors) (highlighted on a leg outline)">    </p:cNvPr>
          <p:cNvPicPr>
            <a:picLocks noChangeAspect="1"/>
          </p:cNvPicPr>
          <p:nvPr/>
        </p:nvPicPr>
        <p:blipFill>
          <a:blip r:embed="rId5"/>
          <a:stretch>
            <a:fillRect/>
          </a:stretch>
        </p:blipFill>
        <p:spPr>
          <a:xfrm>
            <a:off x="8229600" y="2267712"/>
            <a:ext cx="304800" cy="457200"/>
          </a:xfrm>
          <a:prstGeom prst="rect">
            <a:avLst/>
          </a:prstGeom>
        </p:spPr>
      </p:pic>
      <p:sp>
        <p:nvSpPr>
          <p:cNvPr id="65"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6"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9C6B98"/>
                </a:solidFill>
              </a:rPr>
              <a:t>−6.1%</a:t>
            </a:r>
            <a:endParaRPr lang="en-US" sz="1300" dirty="0"/>
          </a:p>
        </p:txBody>
      </p:sp>
      <p:sp>
        <p:nvSpPr>
          <p:cNvPr id="67" name="Hip flexors leader"/>
          <p:cNvSpPr/>
          <p:nvPr/>
        </p:nvSpPr>
        <p:spPr>
          <a:xfrm>
            <a:off x="7518654" y="2873796"/>
            <a:ext cx="646938" cy="116292"/>
          </a:xfrm>
          <a:prstGeom prst="line">
            <a:avLst/>
          </a:prstGeom>
          <a:noFill/>
          <a:ln w="9525">
            <a:solidFill>
              <a:srgbClr val="6A994E"/>
            </a:solidFill>
            <a:prstDash val="solid"/>
          </a:ln>
        </p:spPr>
      </p:sp>
      <p:pic>
        <p:nvPicPr>
          <p:cNvPr id="68" name="Image 5" descr="Hip flexors (highlighted on a leg outline)">    </p:cNvPr>
          <p:cNvPicPr>
            <a:picLocks noChangeAspect="1"/>
          </p:cNvPicPr>
          <p:nvPr/>
        </p:nvPicPr>
        <p:blipFill>
          <a:blip r:embed="rId6"/>
          <a:stretch>
            <a:fillRect/>
          </a:stretch>
        </p:blipFill>
        <p:spPr>
          <a:xfrm>
            <a:off x="8229600" y="2761488"/>
            <a:ext cx="304800" cy="457200"/>
          </a:xfrm>
          <a:prstGeom prst="rect">
            <a:avLst/>
          </a:prstGeom>
        </p:spPr>
      </p:pic>
      <p:sp>
        <p:nvSpPr>
          <p:cNvPr id="69"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70"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6A994E"/>
                </a:solidFill>
              </a:rPr>
              <a:t>−6.8%</a:t>
            </a:r>
            <a:endParaRPr lang="en-US" sz="1300" dirty="0"/>
          </a:p>
        </p:txBody>
      </p:sp>
      <p:sp>
        <p:nvSpPr>
          <p:cNvPr id="71" name="Outer hip (hip abductors) leader"/>
          <p:cNvSpPr/>
          <p:nvPr/>
        </p:nvSpPr>
        <p:spPr>
          <a:xfrm>
            <a:off x="7518654" y="3381892"/>
            <a:ext cx="646938" cy="101972"/>
          </a:xfrm>
          <a:prstGeom prst="line">
            <a:avLst/>
          </a:prstGeom>
          <a:noFill/>
          <a:ln w="9525">
            <a:solidFill>
              <a:srgbClr val="7B6FC4"/>
            </a:solidFill>
            <a:prstDash val="solid"/>
          </a:ln>
        </p:spPr>
      </p:sp>
      <p:pic>
        <p:nvPicPr>
          <p:cNvPr id="72" name="Image 6" descr="Outer hip (hip abductors) (highlighted on a leg outline)">    </p:cNvPr>
          <p:cNvPicPr>
            <a:picLocks noChangeAspect="1"/>
          </p:cNvPicPr>
          <p:nvPr/>
        </p:nvPicPr>
        <p:blipFill>
          <a:blip r:embed="rId7"/>
          <a:stretch>
            <a:fillRect/>
          </a:stretch>
        </p:blipFill>
        <p:spPr>
          <a:xfrm>
            <a:off x="8229600" y="3255264"/>
            <a:ext cx="304800" cy="457200"/>
          </a:xfrm>
          <a:prstGeom prst="rect">
            <a:avLst/>
          </a:prstGeom>
        </p:spPr>
      </p:pic>
      <p:sp>
        <p:nvSpPr>
          <p:cNvPr id="73"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4"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FC4"/>
                </a:solidFill>
              </a:rPr>
              <a:t>−9.1%</a:t>
            </a:r>
            <a:endParaRPr lang="en-US" sz="1300" dirty="0"/>
          </a:p>
        </p:txBody>
      </p:sp>
      <p:sp>
        <p:nvSpPr>
          <p:cNvPr id="75" name="Back thigh (knee flexors) leader"/>
          <p:cNvSpPr/>
          <p:nvPr/>
        </p:nvSpPr>
        <p:spPr>
          <a:xfrm>
            <a:off x="7518654" y="3536530"/>
            <a:ext cx="646938" cy="441110"/>
          </a:xfrm>
          <a:prstGeom prst="line">
            <a:avLst/>
          </a:prstGeom>
          <a:noFill/>
          <a:ln w="9525">
            <a:solidFill>
              <a:srgbClr val="4F86C6"/>
            </a:solidFill>
            <a:prstDash val="solid"/>
          </a:ln>
        </p:spPr>
      </p:sp>
      <p:pic>
        <p:nvPicPr>
          <p:cNvPr id="76" name="Image 7" descr="Back thigh (knee flexors) (highlighted on a leg outline)">    </p:cNvPr>
          <p:cNvPicPr>
            <a:picLocks noChangeAspect="1"/>
          </p:cNvPicPr>
          <p:nvPr/>
        </p:nvPicPr>
        <p:blipFill>
          <a:blip r:embed="rId8"/>
          <a:stretch>
            <a:fillRect/>
          </a:stretch>
        </p:blipFill>
        <p:spPr>
          <a:xfrm>
            <a:off x="8229600" y="3749040"/>
            <a:ext cx="304800" cy="457200"/>
          </a:xfrm>
          <a:prstGeom prst="rect">
            <a:avLst/>
          </a:prstGeom>
        </p:spPr>
      </p:pic>
      <p:sp>
        <p:nvSpPr>
          <p:cNvPr id="77"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8"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F86C6"/>
                </a:solidFill>
              </a:rPr>
              <a:t>−9.8%</a:t>
            </a:r>
            <a:endParaRPr lang="en-US" sz="1300" dirty="0"/>
          </a:p>
        </p:txBody>
      </p:sp>
      <p:sp>
        <p:nvSpPr>
          <p:cNvPr id="79" name="Front thigh (knee extensors) leader"/>
          <p:cNvSpPr/>
          <p:nvPr/>
        </p:nvSpPr>
        <p:spPr>
          <a:xfrm>
            <a:off x="7518654" y="3602804"/>
            <a:ext cx="646938" cy="868612"/>
          </a:xfrm>
          <a:prstGeom prst="line">
            <a:avLst/>
          </a:prstGeom>
          <a:noFill/>
          <a:ln w="9525">
            <a:solidFill>
              <a:srgbClr val="0B2545"/>
            </a:solidFill>
            <a:prstDash val="solid"/>
          </a:ln>
        </p:spPr>
      </p:sp>
      <p:pic>
        <p:nvPicPr>
          <p:cNvPr id="80" name="Image 8" descr="Front thigh (knee extensors) (highlighted on a leg outline)">    </p:cNvPr>
          <p:cNvPicPr>
            <a:picLocks noChangeAspect="1"/>
          </p:cNvPicPr>
          <p:nvPr/>
        </p:nvPicPr>
        <p:blipFill>
          <a:blip r:embed="rId9"/>
          <a:stretch>
            <a:fillRect/>
          </a:stretch>
        </p:blipFill>
        <p:spPr>
          <a:xfrm>
            <a:off x="8229600" y="4242816"/>
            <a:ext cx="304800" cy="457200"/>
          </a:xfrm>
          <a:prstGeom prst="rect">
            <a:avLst/>
          </a:prstGeom>
        </p:spPr>
      </p:pic>
      <p:sp>
        <p:nvSpPr>
          <p:cNvPr id="81"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2"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0B2545"/>
                </a:solidFill>
              </a:rPr>
              <a:t>−10.1%</a:t>
            </a:r>
            <a:endParaRPr lang="en-US" sz="1300" dirty="0"/>
          </a:p>
        </p:txBody>
      </p:sp>
      <p:sp>
        <p:nvSpPr>
          <p:cNvPr id="83" name="Shin (dorsiflexors) leader"/>
          <p:cNvSpPr/>
          <p:nvPr/>
        </p:nvSpPr>
        <p:spPr>
          <a:xfrm>
            <a:off x="7518654" y="3624895"/>
            <a:ext cx="646938" cy="1340297"/>
          </a:xfrm>
          <a:prstGeom prst="line">
            <a:avLst/>
          </a:prstGeom>
          <a:noFill/>
          <a:ln w="9525">
            <a:solidFill>
              <a:srgbClr val="E0A030"/>
            </a:solidFill>
            <a:prstDash val="solid"/>
          </a:ln>
        </p:spPr>
      </p:sp>
      <p:pic>
        <p:nvPicPr>
          <p:cNvPr id="84" name="Image 9" descr="Shin (dorsiflexors) (highlighted on a leg outline)">    </p:cNvPr>
          <p:cNvPicPr>
            <a:picLocks noChangeAspect="1"/>
          </p:cNvPicPr>
          <p:nvPr/>
        </p:nvPicPr>
        <p:blipFill>
          <a:blip r:embed="rId10"/>
          <a:stretch>
            <a:fillRect/>
          </a:stretch>
        </p:blipFill>
        <p:spPr>
          <a:xfrm>
            <a:off x="8229600" y="4736592"/>
            <a:ext cx="304800" cy="457200"/>
          </a:xfrm>
          <a:prstGeom prst="rect">
            <a:avLst/>
          </a:prstGeom>
        </p:spPr>
      </p:pic>
      <p:sp>
        <p:nvSpPr>
          <p:cNvPr id="85"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6"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E0A030"/>
                </a:solidFill>
              </a:rPr>
              <a:t>−10.2%</a:t>
            </a:r>
            <a:endParaRPr lang="en-US" sz="1300" dirty="0"/>
          </a:p>
        </p:txBody>
      </p:sp>
      <p:sp>
        <p:nvSpPr>
          <p:cNvPr id="87" name="Calf (plantar flexors) leader"/>
          <p:cNvSpPr/>
          <p:nvPr/>
        </p:nvSpPr>
        <p:spPr>
          <a:xfrm>
            <a:off x="7518654" y="4861998"/>
            <a:ext cx="646938" cy="596970"/>
          </a:xfrm>
          <a:prstGeom prst="line">
            <a:avLst/>
          </a:prstGeom>
          <a:noFill/>
          <a:ln w="9525">
            <a:solidFill>
              <a:srgbClr val="C1440E"/>
            </a:solidFill>
            <a:prstDash val="solid"/>
          </a:ln>
        </p:spPr>
      </p:sp>
      <p:pic>
        <p:nvPicPr>
          <p:cNvPr id="88" name="Image 10" descr="Calf (plantar flexors) (highlighted on a leg outline)">    </p:cNvPr>
          <p:cNvPicPr>
            <a:picLocks noChangeAspect="1"/>
          </p:cNvPicPr>
          <p:nvPr/>
        </p:nvPicPr>
        <p:blipFill>
          <a:blip r:embed="rId11"/>
          <a:stretch>
            <a:fillRect/>
          </a:stretch>
        </p:blipFill>
        <p:spPr>
          <a:xfrm>
            <a:off x="8229600" y="5230368"/>
            <a:ext cx="304800" cy="457200"/>
          </a:xfrm>
          <a:prstGeom prst="rect">
            <a:avLst/>
          </a:prstGeom>
        </p:spPr>
      </p:pic>
      <p:sp>
        <p:nvSpPr>
          <p:cNvPr id="89"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90"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C1440E"/>
                </a:solidFill>
              </a:rPr>
              <a:t>−15.8%</a:t>
            </a:r>
            <a:endParaRPr lang="en-US" sz="1300" dirty="0"/>
          </a:p>
        </p:txBody>
      </p:sp>
      <p:sp>
        <p:nvSpPr>
          <p:cNvPr id="91"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30968" y="6382512"/>
            <a:ext cx="219456" cy="219456"/>
          </a:xfrm>
          <a:prstGeom prst="ellipse">
            <a:avLst/>
          </a:prstGeom>
          <a:solidFill>
            <a:schemeClr val="accent1"/>
          </a:solidFill>
          <a:ln w="9525">
            <a:solidFill>
              <a:srgbClr val="C1440E"/>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3" name="Input box"/>
          <p:cNvSpPr/>
          <p:nvPr/>
        </p:nvSpPr>
        <p:spPr>
          <a:xfrm>
            <a:off x="548640" y="1325880"/>
            <a:ext cx="4206240" cy="2514600"/>
          </a:xfrm>
          <a:prstGeom prst="rect">
            <a:avLst/>
          </a:prstGeom>
          <a:solidFill>
            <a:schemeClr val="bg1"/>
          </a:solidFill>
          <a:ln w="12700">
            <a:solidFill>
              <a:srgbClr val="98A6B5"/>
            </a:solidFill>
            <a:prstDash val="solid"/>
          </a:ln>
        </p:spPr>
      </p:sp>
      <p:sp>
        <p:nvSpPr>
          <p:cNvPr id="14"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5" name="Arrow input to model"/>
          <p:cNvSpPr/>
          <p:nvPr/>
        </p:nvSpPr>
        <p:spPr>
          <a:xfrm>
            <a:off x="4800600" y="2583180"/>
            <a:ext cx="457200" cy="0"/>
          </a:xfrm>
          <a:prstGeom prst="line">
            <a:avLst/>
          </a:prstGeom>
          <a:noFill/>
          <a:ln w="15875">
            <a:solidFill>
              <a:srgbClr val="1B2533"/>
            </a:solidFill>
            <a:prstDash val="solid"/>
            <a:tailEnd type="triangle"/>
          </a:ln>
        </p:spPr>
      </p:sp>
      <p:sp>
        <p:nvSpPr>
          <p:cNvPr id="16" name="Model box"/>
          <p:cNvSpPr/>
          <p:nvPr/>
        </p:nvSpPr>
        <p:spPr>
          <a:xfrm>
            <a:off x="5303520" y="1325880"/>
            <a:ext cx="3108960" cy="2514600"/>
          </a:xfrm>
          <a:prstGeom prst="rect">
            <a:avLst/>
          </a:prstGeom>
          <a:solidFill>
            <a:schemeClr val="bg1"/>
          </a:solidFill>
          <a:ln w="12700">
            <a:solidFill>
              <a:srgbClr val="98A6B5"/>
            </a:solidFill>
            <a:prstDash val="solid"/>
          </a:ln>
        </p:spPr>
      </p:sp>
      <p:sp>
        <p:nvSpPr>
          <p:cNvPr id="17"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8" name="Arrow model to output"/>
          <p:cNvSpPr/>
          <p:nvPr/>
        </p:nvSpPr>
        <p:spPr>
          <a:xfrm>
            <a:off x="8458200" y="2583180"/>
            <a:ext cx="457200" cy="0"/>
          </a:xfrm>
          <a:prstGeom prst="line">
            <a:avLst/>
          </a:prstGeom>
          <a:noFill/>
          <a:ln w="15875">
            <a:solidFill>
              <a:srgbClr val="1B2533"/>
            </a:solidFill>
            <a:prstDash val="solid"/>
            <a:tailEnd type="triangle"/>
          </a:ln>
        </p:spPr>
      </p:sp>
      <p:sp>
        <p:nvSpPr>
          <p:cNvPr id="19" name="Output box"/>
          <p:cNvSpPr/>
          <p:nvPr/>
        </p:nvSpPr>
        <p:spPr>
          <a:xfrm>
            <a:off x="8961120" y="1325880"/>
            <a:ext cx="2679192" cy="2514600"/>
          </a:xfrm>
          <a:prstGeom prst="rect">
            <a:avLst/>
          </a:prstGeom>
          <a:solidFill>
            <a:schemeClr val="bg1"/>
          </a:solidFill>
          <a:ln w="12700">
            <a:solidFill>
              <a:srgbClr val="98A6B5"/>
            </a:solidFill>
            <a:prstDash val="solid"/>
          </a:ln>
        </p:spPr>
      </p:sp>
      <p:sp>
        <p:nvSpPr>
          <p:cNvPr id="20"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21"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2" name="Training campaign 1"/>
          <p:cNvSpPr/>
          <p:nvPr/>
        </p:nvSpPr>
        <p:spPr>
          <a:xfrm>
            <a:off x="548640" y="4343400"/>
            <a:ext cx="246888" cy="246888"/>
          </a:xfrm>
          <a:prstGeom prst="rect">
            <a:avLst/>
          </a:prstGeom>
          <a:solidFill>
            <a:schemeClr val="accent6"/>
          </a:solidFill>
          <a:ln w="6350">
            <a:solidFill>
              <a:srgbClr val="98A6B5"/>
            </a:solidFill>
            <a:prstDash val="solid"/>
          </a:ln>
        </p:spPr>
      </p:sp>
      <p:sp>
        <p:nvSpPr>
          <p:cNvPr id="23" name="Training campaign 2"/>
          <p:cNvSpPr/>
          <p:nvPr/>
        </p:nvSpPr>
        <p:spPr>
          <a:xfrm>
            <a:off x="841248" y="4343400"/>
            <a:ext cx="246888" cy="246888"/>
          </a:xfrm>
          <a:prstGeom prst="rect">
            <a:avLst/>
          </a:prstGeom>
          <a:solidFill>
            <a:schemeClr val="accent6"/>
          </a:solidFill>
          <a:ln w="6350">
            <a:solidFill>
              <a:srgbClr val="98A6B5"/>
            </a:solidFill>
            <a:prstDash val="solid"/>
          </a:ln>
        </p:spPr>
      </p:sp>
      <p:sp>
        <p:nvSpPr>
          <p:cNvPr id="24" name="Training campaign 3"/>
          <p:cNvSpPr/>
          <p:nvPr/>
        </p:nvSpPr>
        <p:spPr>
          <a:xfrm>
            <a:off x="1133856" y="4343400"/>
            <a:ext cx="246888" cy="246888"/>
          </a:xfrm>
          <a:prstGeom prst="rect">
            <a:avLst/>
          </a:prstGeom>
          <a:solidFill>
            <a:schemeClr val="accent6"/>
          </a:solidFill>
          <a:ln w="6350">
            <a:solidFill>
              <a:srgbClr val="98A6B5"/>
            </a:solidFill>
            <a:prstDash val="solid"/>
          </a:ln>
        </p:spPr>
      </p:sp>
      <p:sp>
        <p:nvSpPr>
          <p:cNvPr id="25" name="Training campaign 4"/>
          <p:cNvSpPr/>
          <p:nvPr/>
        </p:nvSpPr>
        <p:spPr>
          <a:xfrm>
            <a:off x="1426464" y="4343400"/>
            <a:ext cx="246888" cy="246888"/>
          </a:xfrm>
          <a:prstGeom prst="rect">
            <a:avLst/>
          </a:prstGeom>
          <a:solidFill>
            <a:schemeClr val="accent6"/>
          </a:solidFill>
          <a:ln w="6350">
            <a:solidFill>
              <a:srgbClr val="98A6B5"/>
            </a:solidFill>
            <a:prstDash val="solid"/>
          </a:ln>
        </p:spPr>
      </p:sp>
      <p:sp>
        <p:nvSpPr>
          <p:cNvPr id="26" name="Training campaign 5"/>
          <p:cNvSpPr/>
          <p:nvPr/>
        </p:nvSpPr>
        <p:spPr>
          <a:xfrm>
            <a:off x="1719072" y="4343400"/>
            <a:ext cx="246888" cy="246888"/>
          </a:xfrm>
          <a:prstGeom prst="rect">
            <a:avLst/>
          </a:prstGeom>
          <a:solidFill>
            <a:schemeClr val="accent6"/>
          </a:solidFill>
          <a:ln w="6350">
            <a:solidFill>
              <a:srgbClr val="98A6B5"/>
            </a:solidFill>
            <a:prstDash val="solid"/>
          </a:ln>
        </p:spPr>
      </p:sp>
      <p:sp>
        <p:nvSpPr>
          <p:cNvPr id="27" name="Training campaign 6"/>
          <p:cNvSpPr/>
          <p:nvPr/>
        </p:nvSpPr>
        <p:spPr>
          <a:xfrm>
            <a:off x="2011680" y="4343400"/>
            <a:ext cx="246888" cy="246888"/>
          </a:xfrm>
          <a:prstGeom prst="rect">
            <a:avLst/>
          </a:prstGeom>
          <a:solidFill>
            <a:schemeClr val="accent6"/>
          </a:solidFill>
          <a:ln w="6350">
            <a:solidFill>
              <a:srgbClr val="98A6B5"/>
            </a:solidFill>
            <a:prstDash val="solid"/>
          </a:ln>
        </p:spPr>
      </p:sp>
      <p:sp>
        <p:nvSpPr>
          <p:cNvPr id="28" name="Training campaign 7"/>
          <p:cNvSpPr/>
          <p:nvPr/>
        </p:nvSpPr>
        <p:spPr>
          <a:xfrm>
            <a:off x="2304288" y="4343400"/>
            <a:ext cx="246888" cy="246888"/>
          </a:xfrm>
          <a:prstGeom prst="rect">
            <a:avLst/>
          </a:prstGeom>
          <a:solidFill>
            <a:schemeClr val="accent6"/>
          </a:solidFill>
          <a:ln w="6350">
            <a:solidFill>
              <a:srgbClr val="98A6B5"/>
            </a:solidFill>
            <a:prstDash val="solid"/>
          </a:ln>
        </p:spPr>
      </p:sp>
      <p:sp>
        <p:nvSpPr>
          <p:cNvPr id="29" name="Training campaign 8"/>
          <p:cNvSpPr/>
          <p:nvPr/>
        </p:nvSpPr>
        <p:spPr>
          <a:xfrm>
            <a:off x="2596896" y="4343400"/>
            <a:ext cx="246888" cy="246888"/>
          </a:xfrm>
          <a:prstGeom prst="rect">
            <a:avLst/>
          </a:prstGeom>
          <a:solidFill>
            <a:schemeClr val="accent6"/>
          </a:solidFill>
          <a:ln w="6350">
            <a:solidFill>
              <a:srgbClr val="98A6B5"/>
            </a:solidFill>
            <a:prstDash val="solid"/>
          </a:ln>
        </p:spPr>
      </p:sp>
      <p:sp>
        <p:nvSpPr>
          <p:cNvPr id="30" name="Training campaign 9"/>
          <p:cNvSpPr/>
          <p:nvPr/>
        </p:nvSpPr>
        <p:spPr>
          <a:xfrm>
            <a:off x="2889504" y="4343400"/>
            <a:ext cx="246888" cy="246888"/>
          </a:xfrm>
          <a:prstGeom prst="rect">
            <a:avLst/>
          </a:prstGeom>
          <a:solidFill>
            <a:schemeClr val="accent6"/>
          </a:solidFill>
          <a:ln w="6350">
            <a:solidFill>
              <a:srgbClr val="98A6B5"/>
            </a:solidFill>
            <a:prstDash val="solid"/>
          </a:ln>
        </p:spPr>
      </p:sp>
      <p:sp>
        <p:nvSpPr>
          <p:cNvPr id="31" name="Training campaign 10"/>
          <p:cNvSpPr/>
          <p:nvPr/>
        </p:nvSpPr>
        <p:spPr>
          <a:xfrm>
            <a:off x="3182112" y="4343400"/>
            <a:ext cx="246888" cy="246888"/>
          </a:xfrm>
          <a:prstGeom prst="rect">
            <a:avLst/>
          </a:prstGeom>
          <a:solidFill>
            <a:schemeClr val="accent6"/>
          </a:solidFill>
          <a:ln w="6350">
            <a:solidFill>
              <a:srgbClr val="98A6B5"/>
            </a:solidFill>
            <a:prstDash val="solid"/>
          </a:ln>
        </p:spPr>
      </p:sp>
      <p:sp>
        <p:nvSpPr>
          <p:cNvPr id="32" name="Training campaign 11"/>
          <p:cNvSpPr/>
          <p:nvPr/>
        </p:nvSpPr>
        <p:spPr>
          <a:xfrm>
            <a:off x="3474720" y="4343400"/>
            <a:ext cx="246888" cy="246888"/>
          </a:xfrm>
          <a:prstGeom prst="rect">
            <a:avLst/>
          </a:prstGeom>
          <a:solidFill>
            <a:schemeClr val="accent6"/>
          </a:solidFill>
          <a:ln w="6350">
            <a:solidFill>
              <a:srgbClr val="98A6B5"/>
            </a:solidFill>
            <a:prstDash val="solid"/>
          </a:ln>
        </p:spPr>
      </p:sp>
      <p:sp>
        <p:nvSpPr>
          <p:cNvPr id="33" name="Training campaign 12"/>
          <p:cNvSpPr/>
          <p:nvPr/>
        </p:nvSpPr>
        <p:spPr>
          <a:xfrm>
            <a:off x="3767328" y="4343400"/>
            <a:ext cx="246888" cy="246888"/>
          </a:xfrm>
          <a:prstGeom prst="rect">
            <a:avLst/>
          </a:prstGeom>
          <a:solidFill>
            <a:schemeClr val="accent6"/>
          </a:solidFill>
          <a:ln w="6350">
            <a:solidFill>
              <a:srgbClr val="98A6B5"/>
            </a:solidFill>
            <a:prstDash val="solid"/>
          </a:ln>
        </p:spPr>
      </p:sp>
      <p:sp>
        <p:nvSpPr>
          <p:cNvPr id="34" name="Training campaign 13"/>
          <p:cNvSpPr/>
          <p:nvPr/>
        </p:nvSpPr>
        <p:spPr>
          <a:xfrm>
            <a:off x="4059936" y="4343400"/>
            <a:ext cx="246888" cy="246888"/>
          </a:xfrm>
          <a:prstGeom prst="rect">
            <a:avLst/>
          </a:prstGeom>
          <a:solidFill>
            <a:schemeClr val="accent6"/>
          </a:solidFill>
          <a:ln w="6350">
            <a:solidFill>
              <a:srgbClr val="98A6B5"/>
            </a:solidFill>
            <a:prstDash val="solid"/>
          </a:ln>
        </p:spPr>
      </p:sp>
      <p:sp>
        <p:nvSpPr>
          <p:cNvPr id="35" name="Test campaign"/>
          <p:cNvSpPr/>
          <p:nvPr/>
        </p:nvSpPr>
        <p:spPr>
          <a:xfrm>
            <a:off x="4352544" y="4343400"/>
            <a:ext cx="246888" cy="246888"/>
          </a:xfrm>
          <a:prstGeom prst="rect">
            <a:avLst/>
          </a:prstGeom>
          <a:solidFill>
            <a:schemeClr val="accent1"/>
          </a:solidFill>
          <a:ln w="6350">
            <a:solidFill>
              <a:srgbClr val="C1440E"/>
            </a:solidFill>
            <a:prstDash val="solid"/>
          </a:ln>
        </p:spPr>
      </p:sp>
      <p:sp>
        <p:nvSpPr>
          <p:cNvPr id="36" name="Training campaign 15"/>
          <p:cNvSpPr/>
          <p:nvPr/>
        </p:nvSpPr>
        <p:spPr>
          <a:xfrm>
            <a:off x="4645152" y="4343400"/>
            <a:ext cx="246888" cy="246888"/>
          </a:xfrm>
          <a:prstGeom prst="rect">
            <a:avLst/>
          </a:prstGeom>
          <a:solidFill>
            <a:schemeClr val="accent6"/>
          </a:solidFill>
          <a:ln w="6350">
            <a:solidFill>
              <a:srgbClr val="98A6B5"/>
            </a:solidFill>
            <a:prstDash val="solid"/>
          </a:ln>
        </p:spPr>
      </p:sp>
      <p:sp>
        <p:nvSpPr>
          <p:cNvPr id="37" name="Training campaign 16"/>
          <p:cNvSpPr/>
          <p:nvPr/>
        </p:nvSpPr>
        <p:spPr>
          <a:xfrm>
            <a:off x="4937760" y="4343400"/>
            <a:ext cx="246888" cy="246888"/>
          </a:xfrm>
          <a:prstGeom prst="rect">
            <a:avLst/>
          </a:prstGeom>
          <a:solidFill>
            <a:schemeClr val="accent6"/>
          </a:solidFill>
          <a:ln w="6350">
            <a:solidFill>
              <a:srgbClr val="98A6B5"/>
            </a:solidFill>
            <a:prstDash val="solid"/>
          </a:ln>
        </p:spPr>
      </p:sp>
      <p:sp>
        <p:nvSpPr>
          <p:cNvPr id="38" name="Training campaign 17"/>
          <p:cNvSpPr/>
          <p:nvPr/>
        </p:nvSpPr>
        <p:spPr>
          <a:xfrm>
            <a:off x="5230368" y="4343400"/>
            <a:ext cx="246888" cy="246888"/>
          </a:xfrm>
          <a:prstGeom prst="rect">
            <a:avLst/>
          </a:prstGeom>
          <a:solidFill>
            <a:schemeClr val="accent6"/>
          </a:solidFill>
          <a:ln w="6350">
            <a:solidFill>
              <a:srgbClr val="98A6B5"/>
            </a:solidFill>
            <a:prstDash val="solid"/>
          </a:ln>
        </p:spPr>
      </p:sp>
      <p:sp>
        <p:nvSpPr>
          <p:cNvPr id="39" name="Training campaign 18"/>
          <p:cNvSpPr/>
          <p:nvPr/>
        </p:nvSpPr>
        <p:spPr>
          <a:xfrm>
            <a:off x="5522976" y="4343400"/>
            <a:ext cx="246888" cy="246888"/>
          </a:xfrm>
          <a:prstGeom prst="rect">
            <a:avLst/>
          </a:prstGeom>
          <a:solidFill>
            <a:schemeClr val="accent6"/>
          </a:solidFill>
          <a:ln w="6350">
            <a:solidFill>
              <a:srgbClr val="98A6B5"/>
            </a:solidFill>
            <a:prstDash val="solid"/>
          </a:ln>
        </p:spPr>
      </p:sp>
      <p:sp>
        <p:nvSpPr>
          <p:cNvPr id="40" name="Training campaign 19"/>
          <p:cNvSpPr/>
          <p:nvPr/>
        </p:nvSpPr>
        <p:spPr>
          <a:xfrm>
            <a:off x="5815584" y="4343400"/>
            <a:ext cx="246888" cy="246888"/>
          </a:xfrm>
          <a:prstGeom prst="rect">
            <a:avLst/>
          </a:prstGeom>
          <a:solidFill>
            <a:schemeClr val="accent6"/>
          </a:solidFill>
          <a:ln w="6350">
            <a:solidFill>
              <a:srgbClr val="98A6B5"/>
            </a:solidFill>
            <a:prstDash val="solid"/>
          </a:ln>
        </p:spPr>
      </p:sp>
      <p:sp>
        <p:nvSpPr>
          <p:cNvPr id="41" name="Training campaign 20"/>
          <p:cNvSpPr/>
          <p:nvPr/>
        </p:nvSpPr>
        <p:spPr>
          <a:xfrm>
            <a:off x="6108192" y="4343400"/>
            <a:ext cx="246888" cy="246888"/>
          </a:xfrm>
          <a:prstGeom prst="rect">
            <a:avLst/>
          </a:prstGeom>
          <a:solidFill>
            <a:schemeClr val="accent6"/>
          </a:solidFill>
          <a:ln w="6350">
            <a:solidFill>
              <a:srgbClr val="98A6B5"/>
            </a:solidFill>
            <a:prstDash val="solid"/>
          </a:ln>
        </p:spPr>
      </p:sp>
      <p:sp>
        <p:nvSpPr>
          <p:cNvPr id="42" name="Training campaign 21"/>
          <p:cNvSpPr/>
          <p:nvPr/>
        </p:nvSpPr>
        <p:spPr>
          <a:xfrm>
            <a:off x="6400800" y="4343400"/>
            <a:ext cx="246888" cy="246888"/>
          </a:xfrm>
          <a:prstGeom prst="rect">
            <a:avLst/>
          </a:prstGeom>
          <a:solidFill>
            <a:schemeClr val="accent6"/>
          </a:solidFill>
          <a:ln w="6350">
            <a:solidFill>
              <a:srgbClr val="98A6B5"/>
            </a:solidFill>
            <a:prstDash val="solid"/>
          </a:ln>
        </p:spPr>
      </p:sp>
      <p:sp>
        <p:nvSpPr>
          <p:cNvPr id="43" name="Training campaign 22"/>
          <p:cNvSpPr/>
          <p:nvPr/>
        </p:nvSpPr>
        <p:spPr>
          <a:xfrm>
            <a:off x="6693408" y="4343400"/>
            <a:ext cx="246888" cy="246888"/>
          </a:xfrm>
          <a:prstGeom prst="rect">
            <a:avLst/>
          </a:prstGeom>
          <a:solidFill>
            <a:schemeClr val="accent6"/>
          </a:solidFill>
          <a:ln w="6350">
            <a:solidFill>
              <a:srgbClr val="98A6B5"/>
            </a:solidFill>
            <a:prstDash val="solid"/>
          </a:ln>
        </p:spPr>
      </p:sp>
      <p:sp>
        <p:nvSpPr>
          <p:cNvPr id="44" name="Training campaign 23"/>
          <p:cNvSpPr/>
          <p:nvPr/>
        </p:nvSpPr>
        <p:spPr>
          <a:xfrm>
            <a:off x="6986016" y="4343400"/>
            <a:ext cx="246888" cy="246888"/>
          </a:xfrm>
          <a:prstGeom prst="rect">
            <a:avLst/>
          </a:prstGeom>
          <a:solidFill>
            <a:schemeClr val="accent6"/>
          </a:solidFill>
          <a:ln w="6350">
            <a:solidFill>
              <a:srgbClr val="98A6B5"/>
            </a:solidFill>
            <a:prstDash val="solid"/>
          </a:ln>
        </p:spPr>
      </p:sp>
      <p:sp>
        <p:nvSpPr>
          <p:cNvPr id="45" name="Training campaign 24"/>
          <p:cNvSpPr/>
          <p:nvPr/>
        </p:nvSpPr>
        <p:spPr>
          <a:xfrm>
            <a:off x="7278624" y="4343400"/>
            <a:ext cx="246888" cy="246888"/>
          </a:xfrm>
          <a:prstGeom prst="rect">
            <a:avLst/>
          </a:prstGeom>
          <a:solidFill>
            <a:schemeClr val="accent6"/>
          </a:solidFill>
          <a:ln w="6350">
            <a:solidFill>
              <a:srgbClr val="98A6B5"/>
            </a:solidFill>
            <a:prstDash val="solid"/>
          </a:ln>
        </p:spPr>
      </p:sp>
      <p:sp>
        <p:nvSpPr>
          <p:cNvPr id="46" name="Training campaign 25"/>
          <p:cNvSpPr/>
          <p:nvPr/>
        </p:nvSpPr>
        <p:spPr>
          <a:xfrm>
            <a:off x="7571232" y="4343400"/>
            <a:ext cx="246888" cy="246888"/>
          </a:xfrm>
          <a:prstGeom prst="rect">
            <a:avLst/>
          </a:prstGeom>
          <a:solidFill>
            <a:schemeClr val="accent6"/>
          </a:solidFill>
          <a:ln w="6350">
            <a:solidFill>
              <a:srgbClr val="98A6B5"/>
            </a:solidFill>
            <a:prstDash val="solid"/>
          </a:ln>
        </p:spPr>
      </p:sp>
      <p:sp>
        <p:nvSpPr>
          <p:cNvPr id="47" name="Training campaign 26"/>
          <p:cNvSpPr/>
          <p:nvPr/>
        </p:nvSpPr>
        <p:spPr>
          <a:xfrm>
            <a:off x="7863840" y="4343400"/>
            <a:ext cx="246888" cy="246888"/>
          </a:xfrm>
          <a:prstGeom prst="rect">
            <a:avLst/>
          </a:prstGeom>
          <a:solidFill>
            <a:schemeClr val="accent6"/>
          </a:solidFill>
          <a:ln w="6350">
            <a:solidFill>
              <a:srgbClr val="98A6B5"/>
            </a:solidFill>
            <a:prstDash val="solid"/>
          </a:ln>
        </p:spPr>
      </p:sp>
      <p:sp>
        <p:nvSpPr>
          <p:cNvPr id="48" name="Training campaign 27"/>
          <p:cNvSpPr/>
          <p:nvPr/>
        </p:nvSpPr>
        <p:spPr>
          <a:xfrm>
            <a:off x="8156448" y="4343400"/>
            <a:ext cx="246888" cy="246888"/>
          </a:xfrm>
          <a:prstGeom prst="rect">
            <a:avLst/>
          </a:prstGeom>
          <a:solidFill>
            <a:schemeClr val="accent6"/>
          </a:solidFill>
          <a:ln w="6350">
            <a:solidFill>
              <a:srgbClr val="98A6B5"/>
            </a:solidFill>
            <a:prstDash val="solid"/>
          </a:ln>
        </p:spPr>
      </p:sp>
      <p:sp>
        <p:nvSpPr>
          <p:cNvPr id="49" name="Training campaign 28"/>
          <p:cNvSpPr/>
          <p:nvPr/>
        </p:nvSpPr>
        <p:spPr>
          <a:xfrm>
            <a:off x="8449056" y="4343400"/>
            <a:ext cx="246888" cy="246888"/>
          </a:xfrm>
          <a:prstGeom prst="rect">
            <a:avLst/>
          </a:prstGeom>
          <a:solidFill>
            <a:schemeClr val="accent6"/>
          </a:solidFill>
          <a:ln w="6350">
            <a:solidFill>
              <a:srgbClr val="98A6B5"/>
            </a:solidFill>
            <a:prstDash val="solid"/>
          </a:ln>
        </p:spPr>
      </p:sp>
      <p:sp>
        <p:nvSpPr>
          <p:cNvPr id="50" name="Training campaign 29"/>
          <p:cNvSpPr/>
          <p:nvPr/>
        </p:nvSpPr>
        <p:spPr>
          <a:xfrm>
            <a:off x="8741664" y="4343400"/>
            <a:ext cx="246888" cy="246888"/>
          </a:xfrm>
          <a:prstGeom prst="rect">
            <a:avLst/>
          </a:prstGeom>
          <a:solidFill>
            <a:schemeClr val="accent6"/>
          </a:solidFill>
          <a:ln w="6350">
            <a:solidFill>
              <a:srgbClr val="98A6B5"/>
            </a:solidFill>
            <a:prstDash val="solid"/>
          </a:ln>
        </p:spPr>
      </p:sp>
      <p:sp>
        <p:nvSpPr>
          <p:cNvPr id="51" name="Training campaign 30"/>
          <p:cNvSpPr/>
          <p:nvPr/>
        </p:nvSpPr>
        <p:spPr>
          <a:xfrm>
            <a:off x="9034272" y="4343400"/>
            <a:ext cx="246888" cy="246888"/>
          </a:xfrm>
          <a:prstGeom prst="rect">
            <a:avLst/>
          </a:prstGeom>
          <a:solidFill>
            <a:schemeClr val="accent6"/>
          </a:solidFill>
          <a:ln w="6350">
            <a:solidFill>
              <a:srgbClr val="98A6B5"/>
            </a:solidFill>
            <a:prstDash val="solid"/>
          </a:ln>
        </p:spPr>
      </p:sp>
      <p:sp>
        <p:nvSpPr>
          <p:cNvPr id="52" name="Training campaign 31"/>
          <p:cNvSpPr/>
          <p:nvPr/>
        </p:nvSpPr>
        <p:spPr>
          <a:xfrm>
            <a:off x="9326880" y="4343400"/>
            <a:ext cx="246888" cy="246888"/>
          </a:xfrm>
          <a:prstGeom prst="rect">
            <a:avLst/>
          </a:prstGeom>
          <a:solidFill>
            <a:schemeClr val="accent6"/>
          </a:solidFill>
          <a:ln w="6350">
            <a:solidFill>
              <a:srgbClr val="98A6B5"/>
            </a:solidFill>
            <a:prstDash val="solid"/>
          </a:ln>
        </p:spPr>
      </p:sp>
      <p:sp>
        <p:nvSpPr>
          <p:cNvPr id="53" name="Training campaign 32"/>
          <p:cNvSpPr/>
          <p:nvPr/>
        </p:nvSpPr>
        <p:spPr>
          <a:xfrm>
            <a:off x="9619488" y="4343400"/>
            <a:ext cx="246888" cy="246888"/>
          </a:xfrm>
          <a:prstGeom prst="rect">
            <a:avLst/>
          </a:prstGeom>
          <a:solidFill>
            <a:schemeClr val="accent6"/>
          </a:solidFill>
          <a:ln w="6350">
            <a:solidFill>
              <a:srgbClr val="98A6B5"/>
            </a:solidFill>
            <a:prstDash val="solid"/>
          </a:ln>
        </p:spPr>
      </p:sp>
      <p:sp>
        <p:nvSpPr>
          <p:cNvPr id="54"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Orange: the held-out test campaign.</a:t>
            </a:r>
            <a:pPr indent="0" marL="0">
              <a:buNone/>
            </a:pPr>
            <a:r>
              <a:rPr lang="en-US" sz="1400" dirty="0">
                <a:solidFill>
                  <a:schemeClr val="tx1"/>
                </a:solidFill>
              </a:rPr>
              <a:t>  Each campaign is held out once.</a:t>
            </a:r>
            <a:endParaRPr lang="en-US" sz="1400" dirty="0"/>
          </a:p>
        </p:txBody>
      </p:sp>
      <p:sp>
        <p:nvSpPr>
          <p:cNvPr id="55"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3" name="Request box"/>
          <p:cNvSpPr/>
          <p:nvPr/>
        </p:nvSpPr>
        <p:spPr>
          <a:xfrm>
            <a:off x="548640" y="1234440"/>
            <a:ext cx="4846320" cy="4160520"/>
          </a:xfrm>
          <a:prstGeom prst="rect">
            <a:avLst/>
          </a:prstGeom>
          <a:solidFill>
            <a:schemeClr val="bg1"/>
          </a:solidFill>
          <a:ln w="12700">
            <a:solidFill>
              <a:srgbClr val="98A6B5"/>
            </a:solidFill>
            <a:prstDash val="solid"/>
          </a:ln>
        </p:spPr>
      </p:sp>
      <p:sp>
        <p:nvSpPr>
          <p:cNvPr id="14"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5" name="Arrow request to LLM"/>
          <p:cNvSpPr/>
          <p:nvPr/>
        </p:nvSpPr>
        <p:spPr>
          <a:xfrm>
            <a:off x="5486400" y="3383280"/>
            <a:ext cx="457200" cy="0"/>
          </a:xfrm>
          <a:prstGeom prst="line">
            <a:avLst/>
          </a:prstGeom>
          <a:noFill/>
          <a:ln w="15875">
            <a:solidFill>
              <a:srgbClr val="1B2533"/>
            </a:solidFill>
            <a:prstDash val="solid"/>
            <a:tailEnd type="triangle"/>
          </a:ln>
        </p:spPr>
      </p:sp>
      <p:sp>
        <p:nvSpPr>
          <p:cNvPr id="16" name="LLM box"/>
          <p:cNvSpPr/>
          <p:nvPr/>
        </p:nvSpPr>
        <p:spPr>
          <a:xfrm>
            <a:off x="5989320" y="2788920"/>
            <a:ext cx="1234440" cy="1188720"/>
          </a:xfrm>
          <a:prstGeom prst="rect">
            <a:avLst/>
          </a:prstGeom>
          <a:solidFill>
            <a:schemeClr val="bg2"/>
          </a:solidFill>
          <a:ln w="12700">
            <a:solidFill>
              <a:srgbClr val="98A6B5"/>
            </a:solidFill>
            <a:prstDash val="solid"/>
          </a:ln>
        </p:spPr>
      </p:sp>
      <p:sp>
        <p:nvSpPr>
          <p:cNvPr id="17"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8" name="Arrow LLM to answer"/>
          <p:cNvSpPr/>
          <p:nvPr/>
        </p:nvSpPr>
        <p:spPr>
          <a:xfrm>
            <a:off x="7269480" y="3383280"/>
            <a:ext cx="457200" cy="0"/>
          </a:xfrm>
          <a:prstGeom prst="line">
            <a:avLst/>
          </a:prstGeom>
          <a:noFill/>
          <a:ln w="15875">
            <a:solidFill>
              <a:srgbClr val="1B2533"/>
            </a:solidFill>
            <a:prstDash val="solid"/>
            <a:tailEnd type="triangle"/>
          </a:ln>
        </p:spPr>
      </p:sp>
      <p:sp>
        <p:nvSpPr>
          <p:cNvPr id="19"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Not a chat model: it is built for classification and returns only a probability for each listed option, never free text.</a:t>
            </a:r>
            <a:endParaRPr lang="en-US" sz="1100" dirty="0"/>
          </a:p>
        </p:txBody>
      </p:sp>
      <p:graphicFrame>
        <p:nvGraphicFramePr>
          <p:cNvPr id="20"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prediction,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22"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3"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3"/>
          </a:graphicData>
        </a:graphic>
      </p:graphicFrame>
      <p:graphicFrame>
        <p:nvGraphicFramePr>
          <p:cNvPr id="14"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6"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of the LLM prediction</a:t>
            </a:r>
            <a:endParaRPr lang="en-US" sz="2800" dirty="0"/>
          </a:p>
        </p:txBody>
      </p:sp>
      <p:sp>
        <p:nvSpPr>
          <p:cNvPr id="13"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4"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5"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6"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428732" y="6432804"/>
            <a:ext cx="118872" cy="118872"/>
          </a:xfrm>
          <a:prstGeom prst="ellipse">
            <a:avLst/>
          </a:prstGeom>
          <a:solidFill>
            <a:schemeClr val="tx2"/>
          </a:solidFill>
          <a:ln w="9525">
            <a:solidFill>
              <a:srgbClr val="0B2545"/>
            </a:solidFill>
            <a:prstDash val="solid"/>
          </a:ln>
        </p:spPr>
      </p:sp>
      <p:sp>
        <p:nvSpPr>
          <p:cNvPr id="10" name="Tracker 6 Conclusion"/>
          <p:cNvSpPr/>
          <p:nvPr/>
        </p:nvSpPr>
        <p:spPr>
          <a:xfrm>
            <a:off x="10725912" y="6382512"/>
            <a:ext cx="219456" cy="219456"/>
          </a:xfrm>
          <a:prstGeom prst="ellipse">
            <a:avLst/>
          </a:prstGeom>
          <a:solidFill>
            <a:schemeClr val="accent1"/>
          </a:solidFill>
          <a:ln w="9525">
            <a:solidFill>
              <a:srgbClr val="C1440E"/>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3" name="Text 9"/>
          <p:cNvSpPr txBox="1"/>
          <p:nvPr/>
        </p:nvSpPr>
        <p:spPr>
          <a:xfrm>
            <a:off x="54864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ML models do not beat a duration-only curve (3.18 vs 3.16 pp)</a:t>
            </a:r>
            <a:endParaRPr lang="en-US" sz="2000" dirty="0"/>
          </a:p>
          <a:p>
            <a:pPr marL="342900" indent="-342900">
              <a:spcAft>
                <a:spcPts val="400"/>
              </a:spcAft>
              <a:buSzPct val="100000"/>
              <a:buChar char="•"/>
            </a:pPr>
            <a:r>
              <a:rPr lang="en-US" sz="1800" dirty="0">
                <a:solidFill>
                  <a:schemeClr val="tx1"/>
                </a:solidFill>
              </a:rPr>
              <a:t>The LLM classifier lowers the error to 2.71 pp (curve 3.13 pp)</a:t>
            </a:r>
            <a:endParaRPr lang="en-US" sz="2000" dirty="0"/>
          </a:p>
        </p:txBody>
      </p:sp>
      <p:sp>
        <p:nvSpPr>
          <p:cNvPr id="14" name="Text 10"/>
          <p:cNvSpPr txBox="1"/>
          <p:nvPr/>
        </p:nvSpPr>
        <p:spPr>
          <a:xfrm>
            <a:off x="630936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32 independent campaigns, mostly young men</a:t>
            </a:r>
            <a:endParaRPr lang="en-US" sz="2000" dirty="0"/>
          </a:p>
          <a:p>
            <a:pPr marL="342900" indent="-342900">
              <a:spcAft>
                <a:spcPts val="400"/>
              </a:spcAft>
              <a:buSzPct val="100000"/>
              <a:buChar char="•"/>
            </a:pPr>
            <a:r>
              <a:rPr lang="en-US" sz="1800" dirty="0">
                <a:solidFill>
                  <a:schemeClr val="tx1"/>
                </a:solidFill>
              </a:rPr>
              <a:t>No bed-rest data beyond day 119</a:t>
            </a:r>
            <a:endParaRPr lang="en-US" sz="2000" dirty="0"/>
          </a:p>
          <a:p>
            <a:pPr marL="342900" indent="-342900">
              <a:spcAft>
                <a:spcPts val="400"/>
              </a:spcAft>
              <a:buSzPct val="100000"/>
              <a:buChar char="•"/>
            </a:pPr>
            <a:r>
              <a:rPr lang="en-US" sz="1800" dirty="0">
                <a:solidFill>
                  <a:schemeClr val="tx1"/>
                </a:solidFill>
              </a:rPr>
              <a:t>Group averages; bed rest is not spaceflight</a:t>
            </a:r>
            <a:endParaRPr lang="en-US" sz="2000" dirty="0"/>
          </a:p>
        </p:txBody>
      </p:sp>
      <p:sp>
        <p:nvSpPr>
          <p:cNvPr id="15" name="Divider"/>
          <p:cNvSpPr/>
          <p:nvPr/>
        </p:nvSpPr>
        <p:spPr>
          <a:xfrm>
            <a:off x="548640" y="3840480"/>
            <a:ext cx="11064240" cy="0"/>
          </a:xfrm>
          <a:prstGeom prst="line">
            <a:avLst/>
          </a:prstGeom>
          <a:noFill/>
          <a:ln w="9525">
            <a:solidFill>
              <a:srgbClr val="98A6B5"/>
            </a:solidFill>
            <a:prstDash val="solid"/>
          </a:ln>
        </p:spPr>
      </p:sp>
      <p:sp>
        <p:nvSpPr>
          <p:cNvPr id="16" name="Text 12"/>
          <p:cNvSpPr txBox="1"/>
          <p:nvPr/>
        </p:nvSpPr>
        <p:spPr>
          <a:xfrm>
            <a:off x="548640" y="4023360"/>
            <a:ext cx="11064240" cy="20116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a:p>
            <a:pPr marL="342900" indent="-342900">
              <a:spcAft>
                <a:spcPts val="400"/>
              </a:spcAft>
              <a:buSzPct val="100000"/>
              <a:buChar char="•"/>
            </a:pPr>
            <a:r>
              <a:rPr lang="en-US" sz="1800" dirty="0">
                <a:solidFill>
                  <a:schemeClr val="tx1"/>
                </a:solidFill>
              </a:rPr>
              <a:t>A risk-assessment system based on a person's characteristics, such as age, sex and fitness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2"/>
          <a:stretch>
            <a:fillRect/>
          </a:stretch>
        </p:blipFill>
        <p:spPr>
          <a:xfrm>
            <a:off x="822960" y="548640"/>
            <a:ext cx="2926080" cy="786581"/>
          </a:xfrm>
          <a:prstGeom prst="rect">
            <a:avLst/>
          </a:prstGeom>
        </p:spPr>
      </p:pic>
      <p:sp>
        <p:nvSpPr>
          <p:cNvPr id="3" name="Text 0"/>
          <p:cNvSpPr txBox="1"/>
          <p:nvPr/>
        </p:nvSpPr>
        <p:spPr>
          <a:xfrm>
            <a:off x="822960" y="1737360"/>
            <a:ext cx="8961120" cy="1737360"/>
          </a:xfrm>
          <a:prstGeom prst="rect">
            <a:avLst/>
          </a:prstGeom>
          <a:noFill/>
          <a:ln/>
        </p:spPr>
        <p:txBody>
          <a:bodyPr wrap="square" lIns="0" tIns="0" rIns="0" bIns="0" rtlCol="0" anchor="b"/>
          <a:lstStyle/>
          <a:p>
            <a:pPr indent="0" marL="0">
              <a:spcAft>
                <a:spcPts val="1000"/>
              </a:spcAft>
              <a:buNone/>
            </a:pPr>
            <a:r>
              <a:rPr lang="en-US" sz="4600" b="1" dirty="0">
                <a:solidFill>
                  <a:srgbClr val="FFFFFF"/>
                </a:solidFill>
                <a:latin typeface="Cambria" pitchFamily="34" charset="0"/>
                <a:ea typeface="Cambria" pitchFamily="34" charset="-122"/>
                <a:cs typeface="Cambria" pitchFamily="34" charset="-120"/>
              </a:rPr>
              <a:t>Thank you for listening</a:t>
            </a:r>
            <a:endParaRPr lang="en-US" sz="4600" dirty="0"/>
          </a:p>
          <a:p>
            <a:pPr indent="0" marL="0">
              <a:spcAft>
                <a:spcPts val="1000"/>
              </a:spcAft>
              <a:buNone/>
            </a:pPr>
            <a:r>
              <a:rPr lang="en-US" sz="2600" b="1" dirty="0">
                <a:solidFill>
                  <a:srgbClr val="F2D0A9"/>
                </a:solidFill>
                <a:latin typeface="Cambria" pitchFamily="34" charset="0"/>
                <a:ea typeface="Cambria" pitchFamily="34" charset="-122"/>
                <a:cs typeface="Cambria" pitchFamily="34" charset="-120"/>
              </a:rPr>
              <a:t>Questions are welcome</a:t>
            </a:r>
            <a:endParaRPr lang="en-US" sz="4600" dirty="0"/>
          </a:p>
        </p:txBody>
      </p:sp>
      <p:sp>
        <p:nvSpPr>
          <p:cNvPr id="4" name="Text 1"/>
          <p:cNvSpPr txBox="1"/>
          <p:nvPr/>
        </p:nvSpPr>
        <p:spPr>
          <a:xfrm>
            <a:off x="822960" y="3840480"/>
            <a:ext cx="7680960" cy="365760"/>
          </a:xfrm>
          <a:prstGeom prst="rect">
            <a:avLst/>
          </a:prstGeom>
          <a:noFill/>
          <a:ln/>
        </p:spPr>
        <p:txBody>
          <a:bodyPr wrap="square" lIns="0" tIns="0" rIns="0" bIns="0" rtlCol="0" anchor="t"/>
          <a:lstStyle/>
          <a:p>
            <a:pPr indent="0" marL="0">
              <a:buNone/>
            </a:pPr>
            <a:r>
              <a:rPr lang="en-US" sz="1800" dirty="0">
                <a:solidFill>
                  <a:srgbClr val="FFFFFF"/>
                </a:solidFill>
              </a:rPr>
              <a:t>Niloufar Ahmadymarzdashty</a:t>
            </a:r>
            <a:pPr indent="0" marL="0">
              <a:buNone/>
            </a:pPr>
            <a:r>
              <a:rPr lang="en-US" sz="1800" baseline="30000" dirty="0">
                <a:solidFill>
                  <a:srgbClr val="FFFFFF"/>
                </a:solidFill>
              </a:rPr>
              <a:t>1</a:t>
            </a:r>
            <a:pPr indent="0" marL="0">
              <a:buNone/>
            </a:pPr>
            <a:r>
              <a:rPr lang="en-US" sz="1800" dirty="0">
                <a:solidFill>
                  <a:srgbClr val="FFFFFF"/>
                </a:solidFill>
              </a:rPr>
              <a:t>,  Milad Bahari Qaragoz</a:t>
            </a:r>
            <a:pPr indent="0" marL="0">
              <a:buNone/>
            </a:pPr>
            <a:r>
              <a:rPr lang="en-US" sz="1800" baseline="30000" dirty="0">
                <a:solidFill>
                  <a:srgbClr val="FFFFFF"/>
                </a:solidFill>
              </a:rPr>
              <a:t>2</a:t>
            </a:r>
            <a:endParaRPr lang="en-US" sz="1800" dirty="0"/>
          </a:p>
        </p:txBody>
      </p:sp>
      <p:sp>
        <p:nvSpPr>
          <p:cNvPr id="5" name="Text 2"/>
          <p:cNvSpPr txBox="1"/>
          <p:nvPr/>
        </p:nvSpPr>
        <p:spPr>
          <a:xfrm>
            <a:off x="822960" y="4251960"/>
            <a:ext cx="7680960" cy="548640"/>
          </a:xfrm>
          <a:prstGeom prst="rect">
            <a:avLst/>
          </a:prstGeom>
          <a:noFill/>
          <a:ln/>
        </p:spPr>
        <p:txBody>
          <a:bodyPr wrap="square" lIns="0" tIns="0" rIns="0" bIns="0" rtlCol="0" anchor="t"/>
          <a:lstStyle/>
          <a:p>
            <a:pPr indent="0" marL="0">
              <a:buNone/>
            </a:pPr>
            <a:r>
              <a:rPr lang="en-US" sz="1400" baseline="30000" dirty="0">
                <a:solidFill>
                  <a:srgbClr val="B7C3D3"/>
                </a:solidFill>
              </a:rPr>
              <a:t>1</a:t>
            </a:r>
            <a:pPr indent="0" marL="0">
              <a:buNone/>
            </a:pPr>
            <a:r>
              <a:rPr lang="en-US" sz="1400" dirty="0">
                <a:solidFill>
                  <a:srgbClr val="B7C3D3"/>
                </a:solidFill>
              </a:rPr>
              <a:t> Independent researcher</a:t>
            </a:r>
            <a:endParaRPr lang="en-US" sz="1400" dirty="0"/>
          </a:p>
          <a:p>
            <a:pPr indent="0" marL="0">
              <a:buNone/>
            </a:pPr>
            <a:r>
              <a:rPr lang="en-US" sz="1400" baseline="30000" dirty="0">
                <a:solidFill>
                  <a:srgbClr val="B7C3D3"/>
                </a:solidFill>
              </a:rPr>
              <a:t>2</a:t>
            </a:r>
            <a:pPr indent="0" marL="0">
              <a:buNone/>
            </a:pPr>
            <a:r>
              <a:rPr lang="en-US" sz="1400" dirty="0">
                <a:solidFill>
                  <a:srgbClr val="B7C3D3"/>
                </a:solidFill>
              </a:rPr>
              <a:t> Master's candidate, Friedrich-Alexander-Universität Erlangen-Nürnberg (FAU)</a:t>
            </a:r>
            <a:endParaRPr lang="en-US" sz="1400" dirty="0"/>
          </a:p>
        </p:txBody>
      </p:sp>
      <p:sp>
        <p:nvSpPr>
          <p:cNvPr id="6" name="Text 3"/>
          <p:cNvSpPr txBox="1"/>
          <p:nvPr/>
        </p:nvSpPr>
        <p:spPr>
          <a:xfrm>
            <a:off x="822960" y="4983480"/>
            <a:ext cx="7680960" cy="365760"/>
          </a:xfrm>
          <a:prstGeom prst="rect">
            <a:avLst/>
          </a:prstGeom>
          <a:noFill/>
          <a:ln/>
        </p:spPr>
        <p:txBody>
          <a:bodyPr wrap="square" lIns="0" tIns="0" rIns="0" bIns="0" rtlCol="0" anchor="t"/>
          <a:lstStyle/>
          <a:p>
            <a:pPr indent="0" marL="0">
              <a:buNone/>
            </a:pPr>
            <a:r>
              <a:rPr lang="en-US" sz="1600" b="1" dirty="0">
                <a:solidFill>
                  <a:srgbClr val="F2D0A9"/>
                </a:solidFill>
              </a:rPr>
              <a:t>From Bed Rest to Mars  |  64. Jahrestagung der DGLRM</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1,023 records not yet screened (screening backup)</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8A6B5"/>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8A6B5"/>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8A6B5"/>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screening and study selection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3,600 screened, 2,493 excluded: where are the other 1,107?</a:t>
            </a:r>
            <a:endParaRPr lang="en-US" sz="1500" dirty="0"/>
          </a:p>
          <a:p>
            <a:pPr marL="342900" indent="-342900">
              <a:spcAft>
                <a:spcPts val="400"/>
              </a:spcAft>
              <a:buSzPct val="100000"/>
              <a:buChar char="•"/>
            </a:pPr>
            <a:r>
              <a:rPr lang="en-US" sz="1400" dirty="0">
                <a:solidFill>
                  <a:schemeClr val="tx1"/>
                </a:solidFill>
              </a:rPr>
              <a:t>84 went on to full text: 74 from the search and 10 from other sources</a:t>
            </a:r>
            <a:endParaRPr lang="en-US" sz="1500" dirty="0"/>
          </a:p>
          <a:p>
            <a:pPr marL="342900" indent="-342900">
              <a:spcAft>
                <a:spcPts val="400"/>
              </a:spcAft>
              <a:buSzPct val="100000"/>
              <a:buChar char="•"/>
            </a:pPr>
            <a:r>
              <a:rPr lang="en-US" sz="1400" dirty="0">
                <a:solidFill>
                  <a:schemeClr val="tx1"/>
                </a:solidFill>
              </a:rPr>
              <a:t>1,023 were not screened in the time available: the rest of the "maybe" set and 80 records waiting for a full text</a:t>
            </a:r>
            <a:endParaRPr lang="en-US" sz="1500" dirty="0"/>
          </a:p>
          <a:p>
            <a:pPr marL="342900" indent="-342900">
              <a:spcAft>
                <a:spcPts val="400"/>
              </a:spcAft>
              <a:buSzPct val="100000"/>
              <a:buChar char="•"/>
            </a:pPr>
            <a:r>
              <a:rPr lang="en-US" sz="1400" dirty="0">
                <a:solidFill>
                  <a:schemeClr val="tx1"/>
                </a:solidFill>
              </a:rPr>
              <a:t>They are reported as unscreened, not as excluded</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Who screened, and was it done twice?</a:t>
            </a:r>
            <a:endParaRPr lang="en-US" sz="1500" dirty="0"/>
          </a:p>
          <a:p>
            <a:pPr marL="342900" indent="-342900">
              <a:spcAft>
                <a:spcPts val="400"/>
              </a:spcAft>
              <a:buSzPct val="100000"/>
              <a:buChar char="•"/>
            </a:pPr>
            <a:r>
              <a:rPr lang="en-US" sz="1400" dirty="0">
                <a:solidFill>
                  <a:schemeClr val="tx1"/>
                </a:solidFill>
              </a:rPr>
              <a:t>Eligibility criteria were written before screening began</a:t>
            </a:r>
            <a:endParaRPr lang="en-US" sz="1500" dirty="0"/>
          </a:p>
          <a:p>
            <a:pPr marL="342900" indent="-342900">
              <a:spcAft>
                <a:spcPts val="400"/>
              </a:spcAft>
              <a:buSzPct val="100000"/>
              <a:buChar char="•"/>
            </a:pPr>
            <a:r>
              <a:rPr lang="en-US" sz="1400" dirty="0">
                <a:solidFill>
                  <a:schemeClr val="tx1"/>
                </a:solidFill>
              </a:rPr>
              <a:t>A rule-based triage sorted the records; one person then read the priority set and the top of the "maybe" set</a:t>
            </a:r>
            <a:endParaRPr lang="en-US" sz="1500" dirty="0"/>
          </a:p>
          <a:p>
            <a:pPr marL="342900" indent="-342900">
              <a:spcAft>
                <a:spcPts val="400"/>
              </a:spcAft>
              <a:buSzPct val="100000"/>
              <a:buChar char="•"/>
            </a:pPr>
            <a:r>
              <a:rPr lang="en-US" sz="1400" dirty="0">
                <a:solidFill>
                  <a:schemeClr val="tx1"/>
                </a:solidFill>
              </a:rPr>
              <a:t>No second screener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84 full texts but 52 studies: why so few?</a:t>
            </a:r>
            <a:endParaRPr lang="en-US" sz="1500" dirty="0"/>
          </a:p>
          <a:p>
            <a:pPr marL="342900" indent="-342900">
              <a:spcAft>
                <a:spcPts val="400"/>
              </a:spcAft>
              <a:buSzPct val="100000"/>
              <a:buChar char="•"/>
            </a:pPr>
            <a:r>
              <a:rPr lang="en-US" sz="1400" dirty="0">
                <a:solidFill>
                  <a:schemeClr val="tx1"/>
                </a:solidFill>
              </a:rPr>
              <a:t>19 give muscle results only as charts, without a baseline value</a:t>
            </a:r>
            <a:endParaRPr lang="en-US" sz="1500" dirty="0"/>
          </a:p>
          <a:p>
            <a:pPr marL="342900" indent="-342900">
              <a:spcAft>
                <a:spcPts val="400"/>
              </a:spcAft>
              <a:buSzPct val="100000"/>
              <a:buChar char="•"/>
            </a:pPr>
            <a:r>
              <a:rPr lang="en-US" sz="1400" dirty="0">
                <a:solidFill>
                  <a:schemeClr val="tx1"/>
                </a:solidFill>
              </a:rPr>
              <a:t>4 full texts not available (one conference abstract still used); 11 excluded at full text</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search only from 2013?</a:t>
            </a:r>
            <a:endParaRPr lang="en-US" sz="1500" dirty="0"/>
          </a:p>
          <a:p>
            <a:pPr marL="342900" indent="-342900">
              <a:spcAft>
                <a:spcPts val="400"/>
              </a:spcAft>
              <a:buSzPct val="100000"/>
              <a:buChar char="•"/>
            </a:pPr>
            <a:r>
              <a:rPr lang="en-US" sz="1400" dirty="0">
                <a:solidFill>
                  <a:schemeClr val="tx1"/>
                </a:solidFill>
              </a:rPr>
              <a:t>The search was time-boxed to one week</a:t>
            </a:r>
            <a:endParaRPr lang="en-US" sz="1500" dirty="0"/>
          </a:p>
          <a:p>
            <a:pPr marL="342900" indent="-342900">
              <a:spcAft>
                <a:spcPts val="400"/>
              </a:spcAft>
              <a:buSzPct val="100000"/>
              <a:buChar char="•"/>
            </a:pPr>
            <a:r>
              <a:rPr lang="en-US" sz="1400" dirty="0">
                <a:solidFill>
                  <a:schemeClr val="tx1"/>
                </a:solidFill>
              </a:rPr>
              <a:t>Older work enters through 9 studies we held before the search; 6 of their campaigns would otherwise be missing</a:t>
            </a:r>
            <a:endParaRPr lang="en-US" sz="1500" dirty="0"/>
          </a:p>
          <a:p>
            <a:pPr marL="342900" indent="-342900">
              <a:spcAft>
                <a:spcPts val="400"/>
              </a:spcAft>
              <a:buSzPct val="100000"/>
              <a:buChar char="•"/>
            </a:pPr>
            <a:r>
              <a:rPr lang="en-US" sz="1400" dirty="0">
                <a:solidFill>
                  <a:schemeClr val="tx1"/>
                </a:solidFill>
              </a:rPr>
              <a:t>Both known modelling papers from after 2013 were found by all three journal databases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expansion and composition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abstract had 15 studies. Did adding 37 change the analysis after seeing data?</a:t>
            </a:r>
            <a:endParaRPr lang="en-US" sz="1500" dirty="0"/>
          </a:p>
          <a:p>
            <a:pPr marL="342900" indent="-342900">
              <a:spcAft>
                <a:spcPts val="400"/>
              </a:spcAft>
              <a:buSzPct val="100000"/>
              <a:buChar char="•"/>
            </a:pPr>
            <a:r>
              <a:rPr lang="en-US" sz="1400" dirty="0">
                <a:solidFill>
                  <a:schemeClr val="tx1"/>
                </a:solidFill>
              </a:rPr>
              <a:t>Eligibility criteria were fixed before screening; the dataset was frozen (14 and 19 September) before the final models</a:t>
            </a:r>
            <a:endParaRPr lang="en-US" sz="1500" dirty="0"/>
          </a:p>
          <a:p>
            <a:pPr marL="342900" indent="-342900">
              <a:spcAft>
                <a:spcPts val="400"/>
              </a:spcAft>
              <a:buSzPct val="100000"/>
              <a:buChar char="•"/>
            </a:pPr>
            <a:r>
              <a:rPr lang="en-US" sz="1400" dirty="0">
                <a:solidFill>
                  <a:schemeClr val="tx1"/>
                </a:solidFill>
              </a:rPr>
              <a:t>The curve shape was chosen by a rule declared before fitting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Slide 5 shows 180 days, but the model stops at day 119. Why?</a:t>
            </a:r>
            <a:endParaRPr lang="en-US" sz="1500" dirty="0"/>
          </a:p>
          <a:p>
            <a:pPr marL="342900" indent="-342900">
              <a:spcAft>
                <a:spcPts val="400"/>
              </a:spcAft>
              <a:buSzPct val="100000"/>
              <a:buChar char="•"/>
            </a:pPr>
            <a:r>
              <a:rPr lang="en-US" sz="1400" dirty="0">
                <a:solidFill>
                  <a:schemeClr val="tx1"/>
                </a:solidFill>
              </a:rPr>
              <a:t>The 14 spaceflight rows were measured after landing, so they leave the model with the 264 recovery rows</a:t>
            </a:r>
            <a:endParaRPr lang="en-US" sz="1500" dirty="0"/>
          </a:p>
          <a:p>
            <a:pPr marL="342900" indent="-342900">
              <a:spcAft>
                <a:spcPts val="400"/>
              </a:spcAft>
              <a:buSzPct val="100000"/>
              <a:buChar char="•"/>
            </a:pPr>
            <a:r>
              <a:rPr lang="en-US" sz="1400" dirty="0">
                <a:solidFill>
                  <a:schemeClr val="tx1"/>
                </a:solidFill>
              </a:rPr>
              <a:t>8 of the 14 are one back muscle (lumbar multifidus)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Mostly young men: does this apply to women and older crews?</a:t>
            </a:r>
            <a:endParaRPr lang="en-US" sz="1500" dirty="0"/>
          </a:p>
          <a:p>
            <a:pPr marL="342900" indent="-342900">
              <a:spcAft>
                <a:spcPts val="400"/>
              </a:spcAft>
              <a:buSzPct val="100000"/>
              <a:buChar char="•"/>
            </a:pPr>
            <a:r>
              <a:rPr lang="en-US" sz="1400" dirty="0">
                <a:solidFill>
                  <a:schemeClr val="tx1"/>
                </a:solidFill>
              </a:rPr>
              <a:t>Rows: men only 567, mixed 113, women only 40 (one campaign, WISE-2005)</a:t>
            </a:r>
            <a:endParaRPr lang="en-US" sz="1500" dirty="0"/>
          </a:p>
          <a:p>
            <a:pPr marL="342900" indent="-342900">
              <a:spcAft>
                <a:spcPts val="400"/>
              </a:spcAft>
              <a:buSzPct val="100000"/>
              <a:buChar char="•"/>
            </a:pPr>
            <a:r>
              <a:rPr lang="en-US" sz="1400" dirty="0">
                <a:solidFill>
                  <a:schemeClr val="tx1"/>
                </a:solidFill>
              </a:rPr>
              <a:t>Healthy young 692, older 42: the results describe young men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exactly is a row's percentage change?</a:t>
            </a:r>
            <a:endParaRPr lang="en-US" sz="1500" dirty="0"/>
          </a:p>
          <a:p>
            <a:pPr marL="342900" indent="-342900">
              <a:spcAft>
                <a:spcPts val="400"/>
              </a:spcAft>
              <a:buSzPct val="100000"/>
              <a:buChar char="•"/>
            </a:pPr>
            <a:r>
              <a:rPr lang="en-US" sz="1400" dirty="0">
                <a:solidFill>
                  <a:schemeClr val="tx1"/>
                </a:solidFill>
              </a:rPr>
              <a:t>Follow-up vs the same group's own baseline; negative means loss</a:t>
            </a:r>
            <a:endParaRPr lang="en-US" sz="1500" dirty="0"/>
          </a:p>
          <a:p>
            <a:pPr marL="342900" indent="-342900">
              <a:spcAft>
                <a:spcPts val="400"/>
              </a:spcAft>
              <a:buSzPct val="100000"/>
              <a:buChar char="•"/>
            </a:pPr>
            <a:r>
              <a:rPr lang="en-US" sz="1400" dirty="0">
                <a:solidFill>
                  <a:schemeClr val="tx1"/>
                </a:solidFill>
              </a:rPr>
              <a:t>Recomputed from the printed values; where a paper prints the mean of individual changes, that value is kept and labelled</a:t>
            </a:r>
            <a:endParaRPr lang="en-US" sz="1500" dirty="0"/>
          </a:p>
          <a:p>
            <a:pPr marL="342900" indent="-342900">
              <a:spcAft>
                <a:spcPts val="400"/>
              </a:spcAft>
              <a:buSzPct val="100000"/>
              <a:buChar char="•"/>
            </a:pPr>
            <a:r>
              <a:rPr lang="en-US" sz="1400" dirty="0">
                <a:solidFill>
                  <a:schemeClr val="tx1"/>
                </a:solidFill>
              </a:rPr>
              <a:t>Rows weighted by number of participants: only 8 of 32 campaigns report the spread of the change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certainty of the muscle-group curves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each line fitted to its own muscle?</a:t>
            </a:r>
            <a:endParaRPr lang="en-US" sz="1500" dirty="0"/>
          </a:p>
          <a:p>
            <a:pPr marL="342900" indent="-342900">
              <a:spcAft>
                <a:spcPts val="400"/>
              </a:spcAft>
              <a:buSzPct val="100000"/>
              <a:buChar char="•"/>
            </a:pPr>
            <a:r>
              <a:rPr lang="en-US" sz="1400" dirty="0">
                <a:solidFill>
                  <a:schemeClr val="tx1"/>
                </a:solidFill>
              </a:rPr>
              <a:t>No. The day-60 values are fitted per muscle group (named muscles, 25 campaigns); the lines share one time course (τ = 60 days)</a:t>
            </a:r>
            <a:endParaRPr lang="en-US" sz="1500" dirty="0"/>
          </a:p>
          <a:p>
            <a:pPr marL="342900" indent="-342900">
              <a:spcAft>
                <a:spcPts val="400"/>
              </a:spcAft>
              <a:buSzPct val="100000"/>
              <a:buChar char="•"/>
            </a:pPr>
            <a:r>
              <a:rPr lang="en-US" sz="1400" dirty="0">
                <a:solidFill>
                  <a:schemeClr val="tx1"/>
                </a:solidFill>
              </a:rPr>
              <a:t>Separate shapes cannot be estimated: six of nine groups rest on four campaigns or fewer</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a saturating curve?</a:t>
            </a:r>
            <a:endParaRPr lang="en-US" sz="1500" dirty="0"/>
          </a:p>
          <a:p>
            <a:pPr marL="342900" indent="-342900">
              <a:spcAft>
                <a:spcPts val="400"/>
              </a:spcAft>
              <a:buSzPct val="100000"/>
              <a:buChar char="•"/>
            </a:pPr>
            <a:r>
              <a:rPr lang="en-US" sz="1400" dirty="0">
                <a:solidFill>
                  <a:schemeClr val="tx1"/>
                </a:solidFill>
              </a:rPr>
              <a:t>Logarithmic, saturating and spline curves fit equally well (within 1.3 AIC points): the loss slows, but the data cannot say along which curve</a:t>
            </a:r>
            <a:endParaRPr lang="en-US" sz="1500" dirty="0"/>
          </a:p>
          <a:p>
            <a:pPr marL="342900" indent="-342900">
              <a:spcAft>
                <a:spcPts val="400"/>
              </a:spcAft>
              <a:buSzPct val="100000"/>
              <a:buChar char="•"/>
            </a:pPr>
            <a:r>
              <a:rPr lang="en-US" sz="1400" dirty="0">
                <a:solidFill>
                  <a:schemeClr val="tx1"/>
                </a:solidFill>
              </a:rPr>
              <a:t>By day 119 the curve reaches 86% of its plateau, −17.3% (95% CI −20.9 to −13.7)</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certain are the day-60 values?</a:t>
            </a:r>
            <a:endParaRPr lang="en-US" sz="1500" dirty="0"/>
          </a:p>
          <a:p>
            <a:pPr marL="342900" indent="-342900">
              <a:spcAft>
                <a:spcPts val="400"/>
              </a:spcAft>
              <a:buSzPct val="100000"/>
              <a:buChar char="•"/>
            </a:pPr>
            <a:r>
              <a:rPr lang="en-US" sz="1400" dirty="0">
                <a:solidFill>
                  <a:schemeClr val="tx1"/>
                </a:solidFill>
              </a:rPr>
              <a:t>Calf −15.8% (95% CI −18.9 to −12.7); front thigh −10.1% (−13.6 to −6.6); hip rotators −1.9% (−3.9 to 0.2)</a:t>
            </a:r>
            <a:endParaRPr lang="en-US" sz="1500" dirty="0"/>
          </a:p>
          <a:p>
            <a:pPr marL="342900" indent="-342900">
              <a:spcAft>
                <a:spcPts val="400"/>
              </a:spcAft>
              <a:buSzPct val="100000"/>
              <a:buChar char="•"/>
            </a:pPr>
            <a:r>
              <a:rPr lang="en-US" sz="1400" dirty="0">
                <a:solidFill>
                  <a:schemeClr val="tx1"/>
                </a:solidFill>
              </a:rPr>
              <a:t>Calf vs shin, the ankle's opposing pair: 5.6 pp more loss (2.1 to 9.1), p = 0.003</a:t>
            </a:r>
            <a:endParaRPr lang="en-US" sz="1500" dirty="0"/>
          </a:p>
          <a:p>
            <a:pPr marL="342900" indent="-342900">
              <a:spcAft>
                <a:spcPts val="400"/>
              </a:spcAft>
              <a:buSzPct val="100000"/>
              <a:buChar char="•"/>
            </a:pPr>
            <a:r>
              <a:rPr lang="en-US" sz="1400" dirty="0">
                <a:solidFill>
                  <a:schemeClr val="tx1"/>
                </a:solidFill>
              </a:rPr>
              <a:t>Hip rotators and outer hip: one campaign each</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calf result an artefact of how often it is scanned?</a:t>
            </a:r>
            <a:endParaRPr lang="en-US" sz="1500" dirty="0"/>
          </a:p>
          <a:p>
            <a:pPr marL="342900" indent="-342900">
              <a:spcAft>
                <a:spcPts val="400"/>
              </a:spcAft>
              <a:buSzPct val="100000"/>
              <a:buChar char="•"/>
            </a:pPr>
            <a:r>
              <a:rPr lang="en-US" sz="1400" dirty="0">
                <a:solidFill>
                  <a:schemeClr val="tx1"/>
                </a:solidFill>
              </a:rPr>
              <a:t>The order holds after adjusting for duration, countermeasure group and imaging method</a:t>
            </a:r>
            <a:endParaRPr lang="en-US" sz="1500" dirty="0"/>
          </a:p>
          <a:p>
            <a:pPr marL="342900" indent="-342900">
              <a:spcAft>
                <a:spcPts val="400"/>
              </a:spcAft>
              <a:buSzPct val="100000"/>
              <a:buChar char="•"/>
            </a:pPr>
            <a:r>
              <a:rPr lang="en-US" sz="1400" dirty="0">
                <a:solidFill>
                  <a:schemeClr val="tx1"/>
                </a:solidFill>
              </a:rPr>
              <a:t>Calf: 78 rows from 13 campaigns, the second best-covered group after the front thigh (86 rows, 22 campaigns)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B2533"/>
      </a:dk1>
      <a:lt1>
        <a:srgbClr val="FFFFFF"/>
      </a:lt1>
      <a:dk2>
        <a:srgbClr val="0B2545"/>
      </a:dk2>
      <a:lt2>
        <a:srgbClr val="F0F3F7"/>
      </a:lt2>
      <a:accent1>
        <a:srgbClr val="C1440E"/>
      </a:accent1>
      <a:accent2>
        <a:srgbClr val="2F6690"/>
      </a:accent2>
      <a:accent3>
        <a:srgbClr val="5D6B7B"/>
      </a:accent3>
      <a:accent4>
        <a:srgbClr val="B8C4D1"/>
      </a:accent4>
      <a:accent5>
        <a:srgbClr val="98A6B5"/>
      </a:accent5>
      <a:accent6>
        <a:srgbClr val="E2E7ED"/>
      </a:accent6>
      <a:hlink>
        <a:srgbClr val="2F6690"/>
      </a:hlink>
      <a:folHlink>
        <a:srgbClr val="5D6B7B"/>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2026-10-06T13:18:09Z</dcterms:created>
  <dcterms:modified xsi:type="dcterms:W3CDTF">2026-10-06T13:18:09Z</dcterms:modified>
</cp:coreProperties>
</file>