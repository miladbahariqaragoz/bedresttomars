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64c7714-1ae9-6779-9a26-79b48a73ce59}">
          <p14:sldIdLst>
            <p14:sldId id="256"/>
            <p14:sldId id="257"/>
          </p14:sldIdLst>
        </p14:section>
        <p14:section name="Part 1" id="{09defb29-c23f-4b7b-5297-e4317d9b7461}">
          <p14:sldIdLst>
            <p14:sldId id="258"/>
            <p14:sldId id="259"/>
            <p14:sldId id="260"/>
            <p14:sldId id="261"/>
            <p14:sldId id="262"/>
            <p14:sldId id="263"/>
          </p14:sldIdLst>
        </p14:section>
        <p14:section name="Part 2" id="{e968585d-0fb5-5be4-f74a-eb0747b98ee6}">
          <p14:sldIdLst>
            <p14:sldId id="264"/>
            <p14:sldId id="265"/>
            <p14:sldId id="266"/>
            <p14:sldId id="267"/>
            <p14:sldId id="268"/>
            <p14:sldId id="269"/>
            <p14:sldId id="270"/>
          </p14:sldIdLst>
        </p14:section>
        <p14:section name="Backup" id="{e1bbd095-6869-d80b-ab9f-1c6f1fd95206}">
          <p14:sldIdLst>
            <p14:sldId id="271"/>
            <p14:sldId id="272"/>
            <p14:sldId id="273"/>
            <p14:sldId id="274"/>
          </p14:sldIdLst>
        </p14:section>
        <p14:section name="Backup" id="{c3b3503e-cc54-a33e-1f39-5eec48d9e61d}">
          <p14:sldIdLst/>
        </p14:section>
        <p14:section name="Backup" id="{c8c271af-9c67-d898-6cd3-457cb527eaed}">
          <p14:sldIdLst/>
        </p14:section>
        <p14:section name="Backup" id="{218de06a-a305-7cc8-8f23-4267909b03c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 (years without studies omitted)</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for the co-author's slide. The suggested points are from the final report on branch feat/report; replace them with the final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did we build the dataset?</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does the dataset look like?</a:t>
            </a:r>
            <a:endParaRPr lang="en-US" sz="2800" dirty="0"/>
          </a:p>
        </p:txBody>
      </p:sp>
      <p:sp>
        <p:nvSpPr>
          <p:cNvPr id="11"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Observations (rows)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Studies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Independent campaigns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13" name="Text 10"/>
          <p:cNvSpPr txBox="1"/>
          <p:nvPr/>
        </p:nvSpPr>
        <p:spPr>
          <a:xfrm>
            <a:off x="548640" y="534924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4"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No. Calf muscles (plantar flexors) lose most: −15.8% at day 60, 5.7 pp more than the front thigh</a:t>
            </a:r>
            <a:endParaRPr lang="en-US" sz="1400" dirty="0"/>
          </a:p>
          <a:p>
            <a:pPr marL="342900" indent="-342900">
              <a:spcAft>
                <a:spcPts val="400"/>
              </a:spcAft>
              <a:buSzPct val="100000"/>
              <a:buChar char="•"/>
            </a:pPr>
            <a:r>
              <a:rPr lang="en-US" sz="1600" dirty="0">
                <a:solidFill>
                  <a:schemeClr val="tx1"/>
                </a:solidFill>
              </a:rPr>
              <a:t>Front thigh, back thigh and shin muscles lose around 10%; hip muscles least</a:t>
            </a:r>
            <a:endParaRPr lang="en-US" sz="1400" dirty="0"/>
          </a:p>
          <a:p>
            <a:pPr marL="342900" indent="-342900">
              <a:spcAft>
                <a:spcPts val="400"/>
              </a:spcAft>
              <a:buSzPct val="100000"/>
              <a:buChar char="•"/>
            </a:pPr>
            <a:r>
              <a:rPr lang="en-US" sz="1600" dirty="0">
                <a:solidFill>
                  <a:schemeClr val="tx1"/>
                </a:solidFill>
              </a:rPr>
              <a:t>30% of the differences between measurements lie between muscles within the same study</a:t>
            </a:r>
            <a:endParaRPr lang="en-US" sz="1400" dirty="0"/>
          </a:p>
          <a:p>
            <a:pPr marL="342900" indent="-342900">
              <a:spcAft>
                <a:spcPts val="400"/>
              </a:spcAft>
              <a:buSzPct val="100000"/>
              <a:buChar char="•"/>
            </a:pPr>
            <a:r>
              <a:rPr lang="en-US" sz="1600" dirty="0">
                <a:solidFill>
                  <a:schemeClr val="tx1"/>
                </a:solidFill>
              </a:rPr>
              <a:t>Groups with countermeasures lose 3.7 pp less than controls</a:t>
            </a:r>
            <a:endParaRPr lang="en-US" sz="1400" dirty="0"/>
          </a:p>
          <a:p>
            <a:pPr indent="0" marL="0">
              <a:buNone/>
            </a:pPr>
            <a:r>
              <a:rPr lang="en-US" sz="1400" i="1" dirty="0">
                <a:solidFill>
                  <a:schemeClr val="accent3"/>
                </a:solidFill>
              </a:rPr>
              <a:t>Possible figure: muscle ranking (figures/F3_muscles)</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data to forecasts</a:t>
            </a:r>
            <a:endParaRPr lang="en-US" sz="2800" dirty="0"/>
          </a:p>
        </p:txBody>
      </p:sp>
      <p:sp>
        <p:nvSpPr>
          <p:cNvPr id="11" name="Placeholder frame"/>
          <p:cNvSpPr/>
          <p:nvPr/>
        </p:nvSpPr>
        <p:spPr>
          <a:xfrm>
            <a:off x="548640" y="1234440"/>
            <a:ext cx="11064240" cy="4846320"/>
          </a:xfrm>
          <a:prstGeom prst="rect">
            <a:avLst/>
          </a:prstGeom>
          <a:solidFill>
            <a:schemeClr val="bg1"/>
          </a:solidFill>
          <a:ln w="12700">
            <a:solidFill>
              <a:srgbClr val="9AA3AE"/>
            </a:solidFill>
            <a:prstDash val="dash"/>
          </a:ln>
        </p:spPr>
      </p:sp>
      <p:sp>
        <p:nvSpPr>
          <p:cNvPr id="12" name="Text 10"/>
          <p:cNvSpPr txBox="1"/>
          <p:nvPr/>
        </p:nvSpPr>
        <p:spPr>
          <a:xfrm>
            <a:off x="822960" y="1463040"/>
            <a:ext cx="10515600" cy="4480560"/>
          </a:xfrm>
          <a:prstGeom prst="rect">
            <a:avLst/>
          </a:prstGeom>
          <a:noFill/>
          <a:ln/>
        </p:spPr>
        <p:txBody>
          <a:bodyPr wrap="square" lIns="0" tIns="0" rIns="0" bIns="0" rtlCol="0" anchor="t"/>
          <a:lstStyle/>
          <a:p>
            <a:pPr indent="0" marL="0">
              <a:buNone/>
            </a:pPr>
            <a:r>
              <a:rPr lang="en-US" sz="1400" b="1" dirty="0">
                <a:solidFill>
                  <a:schemeClr val="accent3"/>
                </a:solidFill>
              </a:rPr>
              <a:t>PLACEHOLDER: content by Niloufar</a:t>
            </a:r>
            <a:endParaRPr lang="en-US" sz="1400" dirty="0"/>
          </a:p>
          <a:p>
            <a:pPr indent="0" marL="0">
              <a:spcAft>
                <a:spcPts val="600"/>
              </a:spcAft>
              <a:buNone/>
            </a:pPr>
            <a:r>
              <a:rPr lang="en-US" sz="1400" i="1" dirty="0">
                <a:solidFill>
                  <a:schemeClr val="accent3"/>
                </a:solidFill>
              </a:rPr>
              <a:t>Suggested points from the final report:</a:t>
            </a:r>
            <a:endParaRPr lang="en-US" sz="1400" dirty="0"/>
          </a:p>
          <a:p>
            <a:pPr marL="342900" indent="-342900">
              <a:spcAft>
                <a:spcPts val="400"/>
              </a:spcAft>
              <a:buSzPct val="100000"/>
              <a:buChar char="•"/>
            </a:pPr>
            <a:r>
              <a:rPr lang="en-US" sz="1600" dirty="0">
                <a:solidFill>
                  <a:schemeClr val="tx1"/>
                </a:solidFill>
              </a:rPr>
              <a:t>Bridge to part 2: the data show that loss depends on time and on the muscle</a:t>
            </a:r>
            <a:endParaRPr lang="en-US" sz="1400" dirty="0"/>
          </a:p>
          <a:p>
            <a:pPr marL="342900" indent="-342900">
              <a:spcAft>
                <a:spcPts val="400"/>
              </a:spcAft>
              <a:buSzPct val="100000"/>
              <a:buChar char="•"/>
            </a:pPr>
            <a:r>
              <a:rPr lang="en-US" sz="1600" dirty="0">
                <a:solidFill>
                  <a:schemeClr val="tx1"/>
                </a:solidFill>
              </a:rPr>
              <a:t>Next question: can a model forecast the loss in a study it has never seen?</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2026-10-06T11:59:45Z</dcterms:created>
  <dcterms:modified xsi:type="dcterms:W3CDTF">2026-10-06T11:59:45Z</dcterms:modified>
</cp:coreProperties>
</file>