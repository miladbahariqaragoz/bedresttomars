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0d8ac7-087d-9d72-fc33-b9fc1bea7bc2}">
          <p14:sldIdLst>
            <p14:sldId id="256"/>
            <p14:sldId id="257"/>
            <p14:sldId id="269"/>
          </p14:sldIdLst>
        </p14:section>
        <p14:section name="Part 1" id="{022c844c-2615-0571-eb1a-489593743407}">
          <p14:sldIdLst>
            <p14:sldId id="258"/>
            <p14:sldId id="259"/>
            <p14:sldId id="260"/>
            <p14:sldId id="261"/>
            <p14:sldId id="262"/>
            <p14:sldId id="263"/>
          </p14:sldIdLst>
        </p14:section>
        <p14:section name="Part 2" id="{fcff2c66-65e2-f4ff-61ab-7b99cc8661e4}">
          <p14:sldIdLst>
            <p14:sldId id="264"/>
            <p14:sldId id="265"/>
            <p14:sldId id="266"/>
            <p14:sldId id="267"/>
            <p14:sldId id="268"/>
          </p14:sldIdLst>
        </p14:section>
        <p14:section name="Opening" id="{f7ef3c27-ad9e-efbb-8952-7d5d98bebb66}">
          <p14:sldIdLst/>
        </p14:section>
        <p14:section name="Backup" id="{4105db39-c31b-7c93-ad84-be013cf0e9e6}">
          <p14:sldIdLst>
            <p14:sldId id="270"/>
            <p14:sldId id="271"/>
            <p14:sldId id="272"/>
            <p14:sldId id="273"/>
            <p14:sldId id="274"/>
            <p14:sldId id="275"/>
            <p14:sldId id="276"/>
            <p14:sldId id="277"/>
          </p14:sldIdLst>
        </p14:section>
        <p14:section name="Backup" id="{e3fd860f-0f16-7570-1d88-d6d68928e29f}">
          <p14:sldIdLst/>
        </p14:section>
        <p14:section name="Backup" id="{4d16a653-dee3-5fe2-8d6b-3b6889299544}">
          <p14:sldIdLst/>
        </p14:section>
        <p14:section name="Backup" id="{e707f2e8-d809-855f-2477-7e864c18ff3b}">
          <p14:sldIdLst/>
        </p14:section>
        <p14:section name="Backup" id="{679561d3-e0fb-0756-590b-bc10285cc9d1}">
          <p14:sldIdLst/>
        </p14:section>
        <p14:section name="Backup" id="{a906f4a9-bb4c-06b8-55a9-bbedf9b2ca4e}">
          <p14:sldIdLst/>
        </p14:section>
        <p14:section name="Backup" id="{376792cc-3014-87a1-f780-9492a123eb2f}">
          <p14:sldIdLst/>
        </p14:section>
        <p14:section name="Backup" id="{b6431136-e220-e592-b664-dea504471f8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Next, we want to link the muscles, so that one muscle's loss predicts another's and a weighted sum estimates strength loss, and to build a risk-assessment system based on a person's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(Milad). Thank the audience and invite questions. The backup slides that follow answer the questions we expect: part 1 on slides 17 to 19, data and search on 15 and 16, part 2 on 20 to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The arithmetic question is the most likely one: 3,600 minus 2,493 is 1,107, of which 84 reached full text and 1,023 were not screened in time. Say so plainly: they are open work, not exclusions. If pressed on the full-text stage: the report's own full-text counts are still being reconciled with the final extraction (it says so in a draft note), so do not claim the full-text numbers add up exactly. Known-item test: of the ten modelling papers we knew before the search, only two were published after 2013, and every journal database returned both. The test without the date limit was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8"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0116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a:p>
            <a:pPr marL="342900" indent="-342900">
              <a:spcAft>
                <a:spcPts val="400"/>
              </a:spcAft>
              <a:buSzPct val="100000"/>
              <a:buChar char="•"/>
            </a:pPr>
            <a:r>
              <a:rPr lang="en-US" sz="1800" dirty="0">
                <a:solidFill>
                  <a:schemeClr val="tx1"/>
                </a:solidFill>
              </a:rPr>
              <a:t>A risk-assessment system based on a person's characteristics, such as age, sex and fitness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92024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93192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1,023 records not yet screened (screening backup)</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screening and study selection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3,600 screened, 2,493 excluded: where are the other 1,107?</a:t>
            </a:r>
            <a:endParaRPr lang="en-US" sz="1500" dirty="0"/>
          </a:p>
          <a:p>
            <a:pPr marL="342900" indent="-342900">
              <a:spcAft>
                <a:spcPts val="400"/>
              </a:spcAft>
              <a:buSzPct val="100000"/>
              <a:buChar char="•"/>
            </a:pPr>
            <a:r>
              <a:rPr lang="en-US" sz="1400" dirty="0">
                <a:solidFill>
                  <a:schemeClr val="tx1"/>
                </a:solidFill>
              </a:rPr>
              <a:t>84 went on to full text: 74 from the search and 10 from other sources</a:t>
            </a:r>
            <a:endParaRPr lang="en-US" sz="1500" dirty="0"/>
          </a:p>
          <a:p>
            <a:pPr marL="342900" indent="-342900">
              <a:spcAft>
                <a:spcPts val="400"/>
              </a:spcAft>
              <a:buSzPct val="100000"/>
              <a:buChar char="•"/>
            </a:pPr>
            <a:r>
              <a:rPr lang="en-US" sz="1400" dirty="0">
                <a:solidFill>
                  <a:schemeClr val="tx1"/>
                </a:solidFill>
              </a:rPr>
              <a:t>1,023 were not screened in the time available: the rest of the "maybe" set and 80 records waiting for a full text</a:t>
            </a:r>
            <a:endParaRPr lang="en-US" sz="1500" dirty="0"/>
          </a:p>
          <a:p>
            <a:pPr marL="342900" indent="-342900">
              <a:spcAft>
                <a:spcPts val="400"/>
              </a:spcAft>
              <a:buSzPct val="100000"/>
              <a:buChar char="•"/>
            </a:pPr>
            <a:r>
              <a:rPr lang="en-US" sz="1400" dirty="0">
                <a:solidFill>
                  <a:schemeClr val="tx1"/>
                </a:solidFill>
              </a:rPr>
              <a:t>They are reported as unscreened, not as excluded</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Who screened, and was it done twice?</a:t>
            </a:r>
            <a:endParaRPr lang="en-US" sz="1500" dirty="0"/>
          </a:p>
          <a:p>
            <a:pPr marL="342900" indent="-342900">
              <a:spcAft>
                <a:spcPts val="400"/>
              </a:spcAft>
              <a:buSzPct val="100000"/>
              <a:buChar char="•"/>
            </a:pPr>
            <a:r>
              <a:rPr lang="en-US" sz="1400" dirty="0">
                <a:solidFill>
                  <a:schemeClr val="tx1"/>
                </a:solidFill>
              </a:rPr>
              <a:t>Eligibility criteria were written before screening began</a:t>
            </a:r>
            <a:endParaRPr lang="en-US" sz="1500" dirty="0"/>
          </a:p>
          <a:p>
            <a:pPr marL="342900" indent="-342900">
              <a:spcAft>
                <a:spcPts val="400"/>
              </a:spcAft>
              <a:buSzPct val="100000"/>
              <a:buChar char="•"/>
            </a:pPr>
            <a:r>
              <a:rPr lang="en-US" sz="1400" dirty="0">
                <a:solidFill>
                  <a:schemeClr val="tx1"/>
                </a:solidFill>
              </a:rPr>
              <a:t>A rule-based triage sorted the records; one person then read the priority set and the top of the "maybe" set</a:t>
            </a:r>
            <a:endParaRPr lang="en-US" sz="1500" dirty="0"/>
          </a:p>
          <a:p>
            <a:pPr marL="342900" indent="-342900">
              <a:spcAft>
                <a:spcPts val="400"/>
              </a:spcAft>
              <a:buSzPct val="100000"/>
              <a:buChar char="•"/>
            </a:pPr>
            <a:r>
              <a:rPr lang="en-US" sz="1400" dirty="0">
                <a:solidFill>
                  <a:schemeClr val="tx1"/>
                </a:solidFill>
              </a:rPr>
              <a:t>No second screener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84 full texts but 52 studies: why so few?</a:t>
            </a:r>
            <a:endParaRPr lang="en-US" sz="1500" dirty="0"/>
          </a:p>
          <a:p>
            <a:pPr marL="342900" indent="-342900">
              <a:spcAft>
                <a:spcPts val="400"/>
              </a:spcAft>
              <a:buSzPct val="100000"/>
              <a:buChar char="•"/>
            </a:pPr>
            <a:r>
              <a:rPr lang="en-US" sz="1400" dirty="0">
                <a:solidFill>
                  <a:schemeClr val="tx1"/>
                </a:solidFill>
              </a:rPr>
              <a:t>19 give muscle results only as charts, without a baseline value</a:t>
            </a:r>
            <a:endParaRPr lang="en-US" sz="1500" dirty="0"/>
          </a:p>
          <a:p>
            <a:pPr marL="342900" indent="-342900">
              <a:spcAft>
                <a:spcPts val="400"/>
              </a:spcAft>
              <a:buSzPct val="100000"/>
              <a:buChar char="•"/>
            </a:pPr>
            <a:r>
              <a:rPr lang="en-US" sz="1400" dirty="0">
                <a:solidFill>
                  <a:schemeClr val="tx1"/>
                </a:solidFill>
              </a:rPr>
              <a:t>4 full texts not available (one conference abstract still used); 11 excluded at full text</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search only from 2013?</a:t>
            </a:r>
            <a:endParaRPr lang="en-US" sz="1500" dirty="0"/>
          </a:p>
          <a:p>
            <a:pPr marL="342900" indent="-342900">
              <a:spcAft>
                <a:spcPts val="400"/>
              </a:spcAft>
              <a:buSzPct val="100000"/>
              <a:buChar char="•"/>
            </a:pPr>
            <a:r>
              <a:rPr lang="en-US" sz="1400" dirty="0">
                <a:solidFill>
                  <a:schemeClr val="tx1"/>
                </a:solidFill>
              </a:rPr>
              <a:t>The search was time-boxed to one week</a:t>
            </a:r>
            <a:endParaRPr lang="en-US" sz="1500" dirty="0"/>
          </a:p>
          <a:p>
            <a:pPr marL="342900" indent="-342900">
              <a:spcAft>
                <a:spcPts val="400"/>
              </a:spcAft>
              <a:buSzPct val="100000"/>
              <a:buChar char="•"/>
            </a:pPr>
            <a:r>
              <a:rPr lang="en-US" sz="1400" dirty="0">
                <a:solidFill>
                  <a:schemeClr val="tx1"/>
                </a:solidFill>
              </a:rPr>
              <a:t>Older work enters through 9 studies we held before the search; 6 of their campaigns would otherwise be missing</a:t>
            </a:r>
            <a:endParaRPr lang="en-US" sz="1500" dirty="0"/>
          </a:p>
          <a:p>
            <a:pPr marL="342900" indent="-342900">
              <a:spcAft>
                <a:spcPts val="400"/>
              </a:spcAft>
              <a:buSzPct val="100000"/>
              <a:buChar char="•"/>
            </a:pPr>
            <a:r>
              <a:rPr lang="en-US" sz="1400" dirty="0">
                <a:solidFill>
                  <a:schemeClr val="tx1"/>
                </a:solidFill>
              </a:rPr>
              <a:t>Both known modelling papers from after 2013 were found by all three journal databases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men only 567, mixed 113, women only 40 (one campaign, WISE-2005)</a:t>
            </a:r>
            <a:endParaRPr lang="en-US" sz="1500" dirty="0"/>
          </a:p>
          <a:p>
            <a:pPr marL="342900" indent="-342900">
              <a:spcAft>
                <a:spcPts val="400"/>
              </a:spcAft>
              <a:buSzPct val="100000"/>
              <a:buChar char="•"/>
            </a:pPr>
            <a:r>
              <a:rPr lang="en-US" sz="1400" dirty="0">
                <a:solidFill>
                  <a:schemeClr val="tx1"/>
                </a:solidFill>
              </a:rPr>
              <a:t>Healthy young 692,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2026-10-06T13:20:34Z</dcterms:created>
  <dcterms:modified xsi:type="dcterms:W3CDTF">2026-10-06T13:20:34Z</dcterms:modified>
</cp:coreProperties>
</file>