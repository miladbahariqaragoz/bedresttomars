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fa73704-5a31-3ad0-92da-bd5c63575813}">
          <p14:sldIdLst>
            <p14:sldId id="256"/>
            <p14:sldId id="257"/>
          </p14:sldIdLst>
        </p14:section>
        <p14:section name="Part 1" id="{9fbb8818-4e1f-57ca-0508-5e7dc4c4733f}">
          <p14:sldIdLst>
            <p14:sldId id="258"/>
            <p14:sldId id="259"/>
            <p14:sldId id="260"/>
            <p14:sldId id="261"/>
            <p14:sldId id="262"/>
            <p14:sldId id="263"/>
            <p14:sldId id="264"/>
          </p14:sldIdLst>
        </p14:section>
        <p14:section name="Part 2" id="{968db5b1-769b-debb-9e99-2532e7e53dc0}">
          <p14:sldIdLst>
            <p14:sldId id="265"/>
            <p14:sldId id="266"/>
            <p14:sldId id="267"/>
            <p14:sldId id="268"/>
            <p14:sldId id="269"/>
            <p14:sldId id="270"/>
            <p14:sldId id="271"/>
          </p14:sldIdLst>
        </p14:section>
        <p14:section name="Backup" id="{f19e346b-f869-41ea-cf5c-750c41d0ab0c}">
          <p14:sldIdLst>
            <p14:sldId id="272"/>
            <p14:sldId id="273"/>
            <p14:sldId id="274"/>
            <p14:sldId id="275"/>
          </p14:sldIdLst>
        </p14:section>
        <p14:section name="Backup" id="{2e9b795d-9649-8cca-de2b-e8a4ce180743}">
          <p14:sldIdLst/>
        </p14:section>
        <p14:section name="Backup" id="{5ce81784-33b0-7937-861b-a6ded380ddc6}">
          <p14:sldIdLst/>
        </p14:section>
        <p14:section name="Backup" id="{0fa2da9c-de04-995d-be3a-2846bf6ccde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Error on held-out study (pp, lower = better)</a:t>
            </a:r>
          </a:p>
        </c:rich>
      </c:tx>
      <c:layout/>
      <c:overlay val="0"/>
    </c:title>
    <c:autoTitleDeleted val="0"/>
    <c:plotArea>
      <c:layout/>
      <c:barChart>
        <c:barDir val="bar"/>
        <c:grouping val="clustered"/>
        <c:varyColors val="0"/>
        <c:ser>
          <c:idx val="0"/>
          <c:order val="0"/>
          <c:tx>
            <c:strRef>
              <c:f>Sheet1!$B$1</c:f>
              <c:strCache>
                <c:ptCount val="1"/>
                <c:pt idx="0">
                  <c:v>MAE</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cat>
            <c:multiLvlStrRef>
              <c:f>Sheet1!$A$2:$A$7</c:f>
              <c:multiLvlStrCache>
                <c:ptCount val="6"/>
                <c:lvl>
                  <c:pt idx="0">
                    <c:v>Gradient boosting</c:v>
                  </c:pt>
                  <c:pt idx="1">
                    <c:v>Ridge</c:v>
                  </c:pt>
                  <c:pt idx="2">
                    <c:v>SVR</c:v>
                  </c:pt>
                  <c:pt idx="3">
                    <c:v>TabPFN</c:v>
                  </c:pt>
                  <c:pt idx="4">
                    <c:v>Random forest</c:v>
                  </c:pt>
                  <c:pt idx="5">
                    <c:v>Duration curve</c:v>
                  </c:pt>
                </c:lvl>
              </c:multiLvlStrCache>
            </c:multiLvlStrRef>
          </c:cat>
          <c:val>
            <c:numRef>
              <c:f>Sheet1!$B$2:$B$7</c:f>
              <c:numCache>
                <c:formatCode>General</c:formatCode>
                <c:ptCount val="6"/>
                <c:pt idx="0">
                  <c:v>3.34</c:v>
                </c:pt>
                <c:pt idx="1">
                  <c:v>3.28</c:v>
                </c:pt>
                <c:pt idx="2">
                  <c:v>3.28</c:v>
                </c:pt>
                <c:pt idx="3">
                  <c:v>3.22</c:v>
                </c:pt>
                <c:pt idx="4">
                  <c:v>3.18</c:v>
                </c:pt>
                <c:pt idx="5">
                  <c:v>3.16</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b"/>
        <c:majorGridlines>
          <c:spPr>
            <a:ln w="9525" cap="flat">
              <a:solidFill>
                <a:srgbClr val="E5E7EB"/>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Differences explained (R², higher = better)</a:t>
            </a:r>
          </a:p>
        </c:rich>
      </c:tx>
      <c:layout/>
      <c:overlay val="0"/>
    </c:title>
    <c:autoTitleDeleted val="0"/>
    <c:plotArea>
      <c:layout/>
      <c:barChart>
        <c:barDir val="bar"/>
        <c:grouping val="clustered"/>
        <c:varyColors val="0"/>
        <c:ser>
          <c:idx val="0"/>
          <c:order val="0"/>
          <c:tx>
            <c:strRef>
              <c:f>Sheet1!$B$1</c:f>
              <c:strCache>
                <c:ptCount val="1"/>
                <c:pt idx="0">
                  <c:v>R2</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cat>
            <c:multiLvlStrRef>
              <c:f>Sheet1!$A$2:$A$7</c:f>
              <c:multiLvlStrCache>
                <c:ptCount val="6"/>
                <c:lvl>
                  <c:pt idx="0">
                    <c:v>Gradient boosting</c:v>
                  </c:pt>
                  <c:pt idx="1">
                    <c:v>Ridge</c:v>
                  </c:pt>
                  <c:pt idx="2">
                    <c:v>SVR</c:v>
                  </c:pt>
                  <c:pt idx="3">
                    <c:v>TabPFN</c:v>
                  </c:pt>
                  <c:pt idx="4">
                    <c:v>Random forest</c:v>
                  </c:pt>
                  <c:pt idx="5">
                    <c:v>Duration curve</c:v>
                  </c:pt>
                </c:lvl>
              </c:multiLvlStrCache>
            </c:multiLvlStrRef>
          </c:cat>
          <c:val>
            <c:numRef>
              <c:f>Sheet1!$B$2:$B$7</c:f>
              <c:numCache>
                <c:formatCode>General</c:formatCode>
                <c:ptCount val="6"/>
                <c:pt idx="0">
                  <c:v>0.3</c:v>
                </c:pt>
                <c:pt idx="1">
                  <c:v>0.27</c:v>
                </c:pt>
                <c:pt idx="2">
                  <c:v>0.36</c:v>
                </c:pt>
                <c:pt idx="3">
                  <c:v>0.39</c:v>
                </c:pt>
                <c:pt idx="4">
                  <c:v>0.34</c:v>
                </c:pt>
                <c:pt idx="5">
                  <c:v>0.14</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0"/>
        <c:axPos val="b"/>
        <c:majorGridlines>
          <c:spPr>
            <a:ln w="9525" cap="flat">
              <a:solidFill>
                <a:srgbClr val="E5E7EB"/>
              </a:solidFill>
              <a:prstDash val="solid"/>
              <a:round/>
            </a:ln>
          </c:spPr>
        </c:majorGridlines>
        <c:numFmt formatCode="0.0"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Answer: probability per range</a:t>
            </a:r>
          </a:p>
        </c:rich>
      </c:tx>
      <c:layout/>
      <c:overlay val="0"/>
    </c:title>
    <c:autoTitleDeleted val="0"/>
    <c:plotArea>
      <c:layout/>
      <c:barChart>
        <c:barDir val="col"/>
        <c:grouping val="clustered"/>
        <c:varyColors val="0"/>
        <c:ser>
          <c:idx val="0"/>
          <c:order val="0"/>
          <c:tx>
            <c:strRef>
              <c:f>Sheet1!$B$1</c:f>
              <c:strCache>
                <c:ptCount val="1"/>
                <c:pt idx="0">
                  <c:v>LLM</c:v>
                </c:pt>
              </c:strCache>
            </c:strRef>
          </c:tx>
          <c:spPr>
            <a:solidFill>
              <a:srgbClr val="A23B2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Sheet1!$B$2:$B$13</c:f>
              <c:numCache>
                <c:formatCode>General</c:formatCode>
                <c:ptCount val="12"/>
                <c:pt idx="0">
                  <c:v>0</c:v>
                </c:pt>
                <c:pt idx="1">
                  <c:v>0</c:v>
                </c:pt>
                <c:pt idx="2">
                  <c:v>0</c:v>
                </c:pt>
                <c:pt idx="3">
                  <c:v>0</c:v>
                </c:pt>
                <c:pt idx="4">
                  <c:v>0.02</c:v>
                </c:pt>
                <c:pt idx="5">
                  <c:v>0.06</c:v>
                </c:pt>
                <c:pt idx="6">
                  <c:v>0.64</c:v>
                </c:pt>
                <c:pt idx="7">
                  <c:v>0.26</c:v>
                </c:pt>
                <c:pt idx="8">
                  <c:v>0.02</c:v>
                </c:pt>
                <c:pt idx="9">
                  <c:v>0</c:v>
                </c:pt>
                <c:pt idx="10">
                  <c:v>0</c:v>
                </c:pt>
                <c:pt idx="11">
                  <c:v>0</c:v>
                </c:pt>
              </c:numCache>
            </c:numRef>
          </c:val>
        </c:ser>
        <c:ser>
          <c:idx val="1"/>
          <c:order val="1"/>
          <c:tx>
            <c:strRef>
              <c:f>Sheet1!$C$1</c:f>
              <c:strCache>
                <c:ptCount val="1"/>
                <c:pt idx="0">
                  <c:v>Duration curve</c:v>
                </c:pt>
              </c:strCache>
            </c:strRef>
          </c:tx>
          <c:spPr>
            <a:solidFill>
              <a:srgbClr val="A7AEB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Sheet1!$C$2:$C$13</c:f>
              <c:numCache>
                <c:formatCode>General</c:formatCode>
                <c:ptCount val="12"/>
                <c:pt idx="0">
                  <c:v>0.015</c:v>
                </c:pt>
                <c:pt idx="1">
                  <c:v>0.028</c:v>
                </c:pt>
                <c:pt idx="2">
                  <c:v>0.049</c:v>
                </c:pt>
                <c:pt idx="3">
                  <c:v>0.04</c:v>
                </c:pt>
                <c:pt idx="4">
                  <c:v>0.046</c:v>
                </c:pt>
                <c:pt idx="5">
                  <c:v>0.126</c:v>
                </c:pt>
                <c:pt idx="6">
                  <c:v>0.178</c:v>
                </c:pt>
                <c:pt idx="7">
                  <c:v>0.141</c:v>
                </c:pt>
                <c:pt idx="8">
                  <c:v>0.101</c:v>
                </c:pt>
                <c:pt idx="9">
                  <c:v>0.117</c:v>
                </c:pt>
                <c:pt idx="10">
                  <c:v>0.061</c:v>
                </c:pt>
                <c:pt idx="11">
                  <c:v>0.021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6B7280"/>
                    </a:solidFill>
                    <a:latin typeface="Arial"/>
                  </a:defRPr>
                </a:pPr>
                <a:r>
                  <a:rPr sz="1000" b="0" i="0" u="none" strike="noStrike">
                    <a:solidFill>
                      <a:srgbClr val="6B7280"/>
                    </a:solidFill>
                    <a:latin typeface="Arial"/>
                  </a:rPr>
                  <a:t>Change in muscle size (%, centre of each 2-point range)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tickLblSkip val="2"/>
      </c:catAx>
      <c:valAx>
        <c:axId val="2094734552"/>
        <c:scaling>
          <c:orientation val="minMax"/>
          <c:max val="0.7"/>
          <c:min val="0"/>
        </c:scaling>
        <c:delete val="0"/>
        <c:axPos val="l"/>
        <c:majorGridlines>
          <c:spPr>
            <a:ln w="9525" cap="flat">
              <a:solidFill>
                <a:srgbClr val="E5E7EB"/>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Error on held-out study (pp, lower = better)</a:t>
            </a:r>
          </a:p>
        </c:rich>
      </c:tx>
      <c:layout/>
      <c:overlay val="0"/>
    </c:title>
    <c:autoTitleDeleted val="0"/>
    <c:plotArea>
      <c:layout/>
      <c:barChart>
        <c:barDir val="bar"/>
        <c:grouping val="clustered"/>
        <c:varyColors val="0"/>
        <c:ser>
          <c:idx val="0"/>
          <c:order val="0"/>
          <c:tx>
            <c:strRef>
              <c:f>Sheet1!$B$1</c:f>
              <c:strCache>
                <c:ptCount val="1"/>
                <c:pt idx="0">
                  <c:v>MAE</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dPt>
            <c:idx val="6"/>
            <c:invertIfNegative val="0"/>
            <c:bubble3D val="0"/>
            <c:spPr>
              <a:solidFill>
                <a:srgbClr val="A23B2A"/>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forecast</c:v>
                  </c:pt>
                </c:lvl>
              </c:multiLvlStrCache>
            </c:multiLvlStrRef>
          </c:cat>
          <c:val>
            <c:numRef>
              <c:f>Sheet1!$B$2:$B$8</c:f>
              <c:numCache>
                <c:formatCode>General</c:formatCode>
                <c:ptCount val="7"/>
                <c:pt idx="0">
                  <c:v>3.34</c:v>
                </c:pt>
                <c:pt idx="1">
                  <c:v>3.28</c:v>
                </c:pt>
                <c:pt idx="2">
                  <c:v>3.28</c:v>
                </c:pt>
                <c:pt idx="3">
                  <c:v>3.22</c:v>
                </c:pt>
                <c:pt idx="4">
                  <c:v>3.18</c:v>
                </c:pt>
                <c:pt idx="5">
                  <c:v>3.16</c:v>
                </c:pt>
                <c:pt idx="6">
                  <c:v>2.71</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b"/>
        <c:majorGridlines>
          <c:spPr>
            <a:ln w="9525" cap="flat">
              <a:solidFill>
                <a:srgbClr val="E5E7EB"/>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Differences explained (R², higher = better)</a:t>
            </a:r>
          </a:p>
        </c:rich>
      </c:tx>
      <c:layout/>
      <c:overlay val="0"/>
    </c:title>
    <c:autoTitleDeleted val="0"/>
    <c:plotArea>
      <c:layout/>
      <c:barChart>
        <c:barDir val="bar"/>
        <c:grouping val="clustered"/>
        <c:varyColors val="0"/>
        <c:ser>
          <c:idx val="0"/>
          <c:order val="0"/>
          <c:tx>
            <c:strRef>
              <c:f>Sheet1!$B$1</c:f>
              <c:strCache>
                <c:ptCount val="1"/>
                <c:pt idx="0">
                  <c:v>R2</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dPt>
            <c:idx val="6"/>
            <c:invertIfNegative val="0"/>
            <c:bubble3D val="0"/>
            <c:spPr>
              <a:solidFill>
                <a:srgbClr val="A23B2A"/>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forecast</c:v>
                  </c:pt>
                </c:lvl>
              </c:multiLvlStrCache>
            </c:multiLvlStrRef>
          </c:cat>
          <c:val>
            <c:numRef>
              <c:f>Sheet1!$B$2:$B$8</c:f>
              <c:numCache>
                <c:formatCode>General</c:formatCode>
                <c:ptCount val="7"/>
                <c:pt idx="0">
                  <c:v>0.3</c:v>
                </c:pt>
                <c:pt idx="1">
                  <c:v>0.27</c:v>
                </c:pt>
                <c:pt idx="2">
                  <c:v>0.36</c:v>
                </c:pt>
                <c:pt idx="3">
                  <c:v>0.39</c:v>
                </c:pt>
                <c:pt idx="4">
                  <c:v>0.34</c:v>
                </c:pt>
                <c:pt idx="5">
                  <c:v>0.14</c:v>
                </c:pt>
                <c:pt idx="6">
                  <c:v>0.43</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0"/>
        <c:axPos val="b"/>
        <c:majorGridlines>
          <c:spPr>
            <a:ln w="9525" cap="flat">
              <a:solidFill>
                <a:srgbClr val="E5E7EB"/>
              </a:solidFill>
              <a:prstDash val="solid"/>
              <a:round/>
            </a:ln>
          </c:spPr>
        </c:majorGridlines>
        <c:numFmt formatCode="0.0"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(Niloufar). Placeholder: add the opening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Part 1 (co-author): why this matters, why bed rest, the dataset, and which muscles lose most. Part 2: how we tested models, the LLM forecast, and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of part 1 (Niloufar), about forty-five seconds.
Muscle atrophy, especially in the legs, is one of the main problems of long-duration spaceflight. Our question was whether the amount of atrophy can be predicted. To answer it, we built a dataset from the published literature and a machine-learning framework on top of it.
Why it matters: a prediction lets crews and planners act early, match exercise and nutrition to the expected loss, focus monitoring on the muscles that lose most, protect strength and function, and plan long missions where exercise equipment is limited.
On the right is the ground model we rely on: volunteers lie in bed tilted six degrees head-down for weeks to months. The circles show a calf cross-section drawn to scale: after 60 days of bed rest, control groups lose about 16 percent of calf muscle in our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forty-five seconds.
Direct spaceflight data on muscle are scarce, so we use head-down bed rest, the standard ground analogue: volunteers lie tilted six degrees head-down and their legs carry no weight, under controlled conditions. Bed rest is not the same as spaceflight, but it is a sound starting point to build and test prediction models.
Mars in our title stands for the long-term application. The panel compares the two missions on one time scale. A Moon mission lasted about twelve days, and the crew could be home in three. A Mars mission takes about two and a half years: six months to get there, about five hundred days on the surface, six months back. There is no early return in an emergency, and after six months in weightlessness the crew must leave the spacecraft and work on the surface. Mission figures: Apollo 17, and NASA's Mars Design Reference Architecture 5.0.
The bottom row is the idea: atrophy prediction, together with strength and power testing, could one day help keep the crew ready for work on arrival. The dashed steps are future use, and applying the model on a real mission needs validation with spaceflight data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minute.
Each row in our data is one measurement: a group of volunteers, one muscle, one day of bed rest. The inputs are the day of the scan, the muscle family, whether the group did a countermeasure, how the muscle was imaged, and whether the value covers a group of muscles. The output is the percentage change in muscle size from before bed rest.
We have 346 rows, but they come from 32 independent studies, because several papers report the same volunteers. So we test by holding out one whole study, training on the other 31 and predicting the held-out one, 32 times. The code checks that no study appears on both sides of a split.
The score is the mean absolute error in percentage points, averaged so that each study counts once. Every model is compared with a duration-only curve, which uses the number of days and nothing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minute.
We compared four standard models, ridge regression, random forest, support vector regression and gradient boosting, tuned inside each training fold. We later added TabPFN, a neural network pretrained for small tables.
On the left is the error on the held-out study. The duration curve scores 3.16 percentage points and the best model, the random forest, 3.18. None of them is lower than the curve.
On the right, the ML models explain two to three times more variance. R squared is computed over all rows together, so it rewards getting the differences between muscles right, and the models do learn that the calf loses more than the hip. The error is averaged per study, and most of what remains is a shift that applies to a whole study, from its scanner, its volunteers or its protocol. None of our columns describes that, so 32 studies give the models nothing to learn it from. We had committed in advance to report this result whichever way it came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half.
The ML models only saw coded columns. Here we gave each measurement, written out in words, to a newly released language model built for probabilistic classification. You give it a described situation and a fixed list of options, and it returns a probability for each option.
On the left is a real request from our cache. It describes the volunteers, the protocol, the muscle and how it was scanned, and the day. It also contains the duration curve fitted on the other 31 studies and as many rows from those studies as fit, most similar first. The question asks which of 19 ranges the change will fall in.
On the right is what came back for this row: a probability for each range. We never ask the model for a number. Our code turns the probabilities into a forecast, here minus 6.6 percent against an observed minus 9.4. We chose this row because its error is the model's median error.
The request never contains the held-out study's own data or any name that could identify a paper, and the code checks that on every request. Every answer is cached, so all our numbers can be rebuilt without calling the model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forty-five seconds.
These are the same two charts with the language model added at the bottom. Its error is 2.71 percentage points, the lowest of all models, and it explains the most variance, 0.43.
Compared with the curve on the same rows and scored the same way, the error falls from 3.13 to 2.71, a gain of 0.42 points. The 95 percent confidence interval runs from 0.13 to 0.73, so even the most pessimistic estimate is an improvement. It is closer than the curve in 20 of the 32 studies. No other method has a gain whose interval stays above zero.
If asked about a target: we had set a 15 percent improvement target. The error improvement is 13.3 percent and the probabilistic score improvement 17.7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quarter.
We wrote down each check and its pass rule, and committed them to the repository, before running it.
Language models have read many papers, so the model might recognise a published study and recall its result. With every identifying detail removed, the gain is 0.30 points and its interval stays above zero. When we asked the model to choose the study's name from a list of options, it was right 19 percent of the time, where guessing gives 8 percent. If asked: of the three studies behind most of the gain, it named only one.
When we shuffle the other studies' values, the gain turns into a loss of 1.25 points, and with no reference data the error rises to 5.85. The gain comes from reading those data.
Reordering the rows or shifting the range edges changes the error by 1 to 3 percent. Repeating 20 requests moves the forecasts by 0.17 points on average, well under the 0.42 gain.
Three limitations: we added this model after the ML result; its 80 percent ranges contain the truth only 62 percent of the time, so we quote only point forecasts; and when given a study's own earlier scans, it does not 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thirty seconds.
With 32 independent studies, standard ML models and TabPFN do not beat a curve that only knows the number of days. A language model that reads each study's description and the other studies' data reduces the error from 3.13 to 2.71 points. The limitations and next steps are on the slide; the main one is that 32 studies is a small sample.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Be direct that the three must-show sensitivity analyses (composite-first, without MEDES, MRI only) have not been run yet. Only the weighting check has, and it changed little.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two starred numbers are our own calculation from results/forecast_predictions.csv, not in the report. Without the three studies that carry most of the gain, the interval touches zero; say so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honest gap here is the nearest-neighbour control: we cannot yet say whether a simple similarity method would match the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supported planning statements, within 5 to 119 days and for groups: most loss happens in the first weeks, calf muscles need protecting first, and countermeasure groups lose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algn="l" indent="0" marL="0">
              <a:buNone/>
              <a:defRPr lang="en-US" sz="28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2800" dirty="0"/>
          </a:p>
        </p:txBody>
      </p:sp>
      <p:pic>
        <p:nvPicPr>
          <p:cNvPr id="3" name="Image 0" descr="DGLRM logo">    </p:cNvPr>
          <p:cNvPicPr>
            <a:picLocks noChangeAspect="1"/>
          </p:cNvPicPr>
          <p:nvPr/>
        </p:nvPicPr>
        <p:blipFill>
          <a:blip r:embed="rId1"/>
          <a:stretch>
            <a:fillRect/>
          </a:stretch>
        </p:blipFill>
        <p:spPr>
          <a:xfrm>
            <a:off x="548640" y="6336792"/>
            <a:ext cx="1143000" cy="307258"/>
          </a:xfrm>
          <a:prstGeom prst="rect">
            <a:avLst/>
          </a:prstGeom>
        </p:spPr>
      </p:pic>
      <p:sp>
        <p:nvSpPr>
          <p:cNvPr id="4" name="Text 0"/>
          <p:cNvSpPr/>
          <p:nvPr/>
        </p:nvSpPr>
        <p:spPr>
          <a:xfrm>
            <a:off x="1828800" y="6355080"/>
            <a:ext cx="4572000" cy="274320"/>
          </a:xfrm>
          <a:prstGeom prst="rect">
            <a:avLst/>
          </a:prstGeom>
          <a:noFill/>
          <a:ln/>
        </p:spPr>
        <p:txBody>
          <a:bodyPr wrap="square" lIns="0" tIns="0" rIns="0" bIns="0" rtlCol="0" anchor="ctr"/>
          <a:lstStyle/>
          <a:p>
            <a:pPr indent="0" marL="0">
              <a:buNone/>
            </a:pPr>
            <a:r>
              <a:rPr lang="en-US" sz="1000" dirty="0">
                <a:solidFill>
                  <a:schemeClr val="accent3"/>
                </a:solidFill>
              </a:rPr>
              <a:t>From Bed Rest to Mars  |  64. Jahrestagung der DGLRM</a:t>
            </a:r>
            <a:endParaRPr lang="en-US" sz="1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DGLRM logo">    </p:cNvPr>
          <p:cNvPicPr>
            <a:picLocks noChangeAspect="1"/>
          </p:cNvPicPr>
          <p:nvPr/>
        </p:nvPicPr>
        <p:blipFill>
          <a:blip r:embed="rId1"/>
          <a:stretch>
            <a:fillRect/>
          </a:stretch>
        </p:blipFill>
        <p:spPr>
          <a:xfrm>
            <a:off x="822960" y="548640"/>
            <a:ext cx="2926080" cy="786581"/>
          </a:xfrm>
          <a:prstGeom prst="rect">
            <a:avLst/>
          </a:prstGeom>
        </p:spPr>
      </p:pic>
      <p:sp>
        <p:nvSpPr>
          <p:cNvPr id="3" name="Text 0"/>
          <p:cNvSpPr txBox="1"/>
          <p:nvPr/>
        </p:nvSpPr>
        <p:spPr>
          <a:xfrm>
            <a:off x="822960" y="1371600"/>
            <a:ext cx="10515600" cy="2651760"/>
          </a:xfrm>
          <a:prstGeom prst="rect">
            <a:avLst/>
          </a:prstGeom>
          <a:noFill/>
          <a:ln/>
        </p:spPr>
        <p:txBody>
          <a:bodyPr wrap="square" lIns="0" tIns="0" rIns="0" bIns="0" rtlCol="0" anchor="b"/>
          <a:lstStyle/>
          <a:p>
            <a:pPr indent="0" marL="0">
              <a:spcAft>
                <a:spcPts val="800"/>
              </a:spcAft>
              <a:buNone/>
            </a:pPr>
            <a:r>
              <a:rPr lang="en-US" sz="4400" b="1" dirty="0">
                <a:solidFill>
                  <a:schemeClr val="tx2"/>
                </a:solidFill>
                <a:latin typeface="Cambria" pitchFamily="34" charset="0"/>
                <a:ea typeface="Cambria" pitchFamily="34" charset="-122"/>
                <a:cs typeface="Cambria" pitchFamily="34" charset="-120"/>
              </a:rPr>
              <a:t>From Bed Rest to Mars:</a:t>
            </a:r>
            <a:endParaRPr lang="en-US" sz="4400" dirty="0"/>
          </a:p>
          <a:p>
            <a:pPr indent="0" marL="0">
              <a:spcAft>
                <a:spcPts val="800"/>
              </a:spcAft>
              <a:buNone/>
            </a:pPr>
            <a:r>
              <a:rPr lang="en-US" sz="2800" b="1" dirty="0">
                <a:solidFill>
                  <a:schemeClr val="tx2"/>
                </a:solidFill>
                <a:latin typeface="Cambria" pitchFamily="34" charset="0"/>
                <a:ea typeface="Cambria" pitchFamily="34" charset="-122"/>
                <a:cs typeface="Cambria" pitchFamily="34" charset="-120"/>
              </a:rPr>
              <a:t>Development of a Literature-Derived Machine Learning Framework for Predicting Lower-Limb Muscle Atrophy in Spaceflight Analogues</a:t>
            </a:r>
            <a:endParaRPr lang="en-US" sz="4400" dirty="0"/>
          </a:p>
        </p:txBody>
      </p:sp>
      <p:sp>
        <p:nvSpPr>
          <p:cNvPr id="4" name="Text 1"/>
          <p:cNvSpPr txBox="1"/>
          <p:nvPr/>
        </p:nvSpPr>
        <p:spPr>
          <a:xfrm>
            <a:off x="822960" y="4297680"/>
            <a:ext cx="10515600" cy="365760"/>
          </a:xfrm>
          <a:prstGeom prst="rect">
            <a:avLst/>
          </a:prstGeom>
          <a:noFill/>
          <a:ln/>
        </p:spPr>
        <p:txBody>
          <a:bodyPr wrap="square" lIns="0" tIns="0" rIns="0" bIns="0" rtlCol="0" anchor="t"/>
          <a:lstStyle/>
          <a:p>
            <a:pPr indent="0" marL="0">
              <a:buNone/>
            </a:pPr>
            <a:r>
              <a:rPr lang="en-US" sz="1800" dirty="0">
                <a:solidFill>
                  <a:schemeClr val="tx1"/>
                </a:solidFill>
              </a:rPr>
              <a:t>Niloufar Ahmadymarzdashty</a:t>
            </a:r>
            <a:pPr indent="0" marL="0">
              <a:buNone/>
            </a:pPr>
            <a:r>
              <a:rPr lang="en-US" sz="1800" baseline="30000" dirty="0">
                <a:solidFill>
                  <a:schemeClr val="tx1"/>
                </a:solidFill>
              </a:rPr>
              <a:t>1</a:t>
            </a:r>
            <a:pPr indent="0" marL="0">
              <a:buNone/>
            </a:pPr>
            <a:r>
              <a:rPr lang="en-US" sz="1800" dirty="0">
                <a:solidFill>
                  <a:schemeClr val="tx1"/>
                </a:solidFill>
              </a:rPr>
              <a:t>,  Milad Bahari Qaragoz</a:t>
            </a:r>
            <a:pPr indent="0" marL="0">
              <a:buNone/>
            </a:pPr>
            <a:r>
              <a:rPr lang="en-US" sz="1800" baseline="30000" dirty="0">
                <a:solidFill>
                  <a:schemeClr val="tx1"/>
                </a:solidFill>
              </a:rPr>
              <a:t>2</a:t>
            </a:r>
            <a:endParaRPr lang="en-US" sz="1800" dirty="0"/>
          </a:p>
        </p:txBody>
      </p:sp>
      <p:sp>
        <p:nvSpPr>
          <p:cNvPr id="5" name="Text 2"/>
          <p:cNvSpPr txBox="1"/>
          <p:nvPr/>
        </p:nvSpPr>
        <p:spPr>
          <a:xfrm>
            <a:off x="822960" y="4709160"/>
            <a:ext cx="10515600" cy="548640"/>
          </a:xfrm>
          <a:prstGeom prst="rect">
            <a:avLst/>
          </a:prstGeom>
          <a:noFill/>
          <a:ln/>
        </p:spPr>
        <p:txBody>
          <a:bodyPr wrap="square" lIns="0" tIns="0" rIns="0" bIns="0" rtlCol="0" anchor="t"/>
          <a:lstStyle/>
          <a:p>
            <a:pPr indent="0" marL="0">
              <a:buNone/>
            </a:pPr>
            <a:r>
              <a:rPr lang="en-US" sz="1400" baseline="30000" dirty="0">
                <a:solidFill>
                  <a:schemeClr val="accent3"/>
                </a:solidFill>
              </a:rPr>
              <a:t>1</a:t>
            </a:r>
            <a:pPr indent="0" marL="0">
              <a:buNone/>
            </a:pPr>
            <a:r>
              <a:rPr lang="en-US" sz="1400" dirty="0">
                <a:solidFill>
                  <a:schemeClr val="accent3"/>
                </a:solidFill>
              </a:rPr>
              <a:t> Independent researcher</a:t>
            </a:r>
            <a:endParaRPr lang="en-US" sz="1400" dirty="0"/>
          </a:p>
          <a:p>
            <a:pPr indent="0" marL="0">
              <a:buNone/>
            </a:pPr>
            <a:r>
              <a:rPr lang="en-US" sz="1400" baseline="30000" dirty="0">
                <a:solidFill>
                  <a:schemeClr val="accent3"/>
                </a:solidFill>
              </a:rPr>
              <a:t>2</a:t>
            </a:r>
            <a:pPr indent="0" marL="0">
              <a:buNone/>
            </a:pPr>
            <a:r>
              <a:rPr lang="en-US" sz="1400" dirty="0">
                <a:solidFill>
                  <a:schemeClr val="accent3"/>
                </a:solidFill>
              </a:rPr>
              <a:t> Master's candidate, Friedrich-Alexander-Universität Erlangen-Nürnberg (FAU)</a:t>
            </a:r>
            <a:endParaRPr lang="en-US" sz="1400" dirty="0"/>
          </a:p>
        </p:txBody>
      </p:sp>
      <p:sp>
        <p:nvSpPr>
          <p:cNvPr id="6" name="Text 3"/>
          <p:cNvSpPr txBox="1"/>
          <p:nvPr/>
        </p:nvSpPr>
        <p:spPr>
          <a:xfrm>
            <a:off x="822960" y="5394960"/>
            <a:ext cx="10515600" cy="365760"/>
          </a:xfrm>
          <a:prstGeom prst="rect">
            <a:avLst/>
          </a:prstGeom>
          <a:noFill/>
          <a:ln/>
        </p:spPr>
        <p:txBody>
          <a:bodyPr wrap="square" lIns="0" tIns="0" rIns="0" bIns="0" rtlCol="0" anchor="t"/>
          <a:lstStyle/>
          <a:p>
            <a:pPr indent="0" marL="0">
              <a:buNone/>
            </a:pPr>
            <a:r>
              <a:rPr lang="en-US" sz="1600" b="1" dirty="0">
                <a:solidFill>
                  <a:schemeClr val="tx2"/>
                </a:solidFill>
              </a:rPr>
              <a:t>64. Jahrestagung der DGLRM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Agenda</a:t>
            </a:r>
            <a:endParaRPr lang="en-US" sz="2800" dirty="0"/>
          </a:p>
        </p:txBody>
      </p:sp>
      <p:sp>
        <p:nvSpPr>
          <p:cNvPr id="3" name="Agenda line"/>
          <p:cNvSpPr/>
          <p:nvPr/>
        </p:nvSpPr>
        <p:spPr>
          <a:xfrm>
            <a:off x="1325880" y="3429000"/>
            <a:ext cx="9509760" cy="0"/>
          </a:xfrm>
          <a:prstGeom prst="line">
            <a:avLst/>
          </a:prstGeom>
          <a:noFill/>
          <a:ln w="19050">
            <a:solidFill>
              <a:srgbClr val="9AA3AE"/>
            </a:solidFill>
            <a:prstDash val="solid"/>
          </a:ln>
        </p:spPr>
      </p:sp>
      <p:sp>
        <p:nvSpPr>
          <p:cNvPr id="4" name="Part 1 bracket"/>
          <p:cNvSpPr/>
          <p:nvPr/>
        </p:nvSpPr>
        <p:spPr>
          <a:xfrm>
            <a:off x="1005840" y="2834640"/>
            <a:ext cx="4443984" cy="0"/>
          </a:xfrm>
          <a:prstGeom prst="line">
            <a:avLst/>
          </a:prstGeom>
          <a:noFill/>
          <a:ln w="12700">
            <a:solidFill>
              <a:srgbClr val="1F3A5F"/>
            </a:solidFill>
            <a:prstDash val="solid"/>
          </a:ln>
        </p:spPr>
      </p:sp>
      <p:sp>
        <p:nvSpPr>
          <p:cNvPr id="5" name="Part 1 bracket left"/>
          <p:cNvSpPr/>
          <p:nvPr/>
        </p:nvSpPr>
        <p:spPr>
          <a:xfrm>
            <a:off x="1005840" y="2834640"/>
            <a:ext cx="0" cy="137160"/>
          </a:xfrm>
          <a:prstGeom prst="line">
            <a:avLst/>
          </a:prstGeom>
          <a:noFill/>
          <a:ln w="12700">
            <a:solidFill>
              <a:srgbClr val="1F3A5F"/>
            </a:solidFill>
            <a:prstDash val="solid"/>
          </a:ln>
        </p:spPr>
      </p:sp>
      <p:sp>
        <p:nvSpPr>
          <p:cNvPr id="6" name="Part 1 bracket right"/>
          <p:cNvSpPr/>
          <p:nvPr/>
        </p:nvSpPr>
        <p:spPr>
          <a:xfrm>
            <a:off x="5449824" y="2834640"/>
            <a:ext cx="0" cy="137160"/>
          </a:xfrm>
          <a:prstGeom prst="line">
            <a:avLst/>
          </a:prstGeom>
          <a:noFill/>
          <a:ln w="12700">
            <a:solidFill>
              <a:srgbClr val="1F3A5F"/>
            </a:solidFill>
            <a:prstDash val="solid"/>
          </a:ln>
        </p:spPr>
      </p:sp>
      <p:sp>
        <p:nvSpPr>
          <p:cNvPr id="7" name="Text 5"/>
          <p:cNvSpPr txBox="1"/>
          <p:nvPr/>
        </p:nvSpPr>
        <p:spPr>
          <a:xfrm>
            <a:off x="1005840"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1: background and data</a:t>
            </a:r>
            <a:endParaRPr lang="en-US" sz="1600" dirty="0"/>
          </a:p>
          <a:p>
            <a:pPr algn="ctr" indent="0" marL="0">
              <a:buNone/>
            </a:pPr>
            <a:r>
              <a:rPr lang="en-US" sz="1400" dirty="0">
                <a:solidFill>
                  <a:schemeClr val="accent3"/>
                </a:solidFill>
              </a:rPr>
              <a:t>Niloufar Ahmadymarzdashty</a:t>
            </a:r>
            <a:endParaRPr lang="en-US" sz="1600" dirty="0"/>
          </a:p>
        </p:txBody>
      </p:sp>
      <p:sp>
        <p:nvSpPr>
          <p:cNvPr id="8" name="Part 2 bracket"/>
          <p:cNvSpPr/>
          <p:nvPr/>
        </p:nvSpPr>
        <p:spPr>
          <a:xfrm>
            <a:off x="6711696" y="2834640"/>
            <a:ext cx="4443984" cy="0"/>
          </a:xfrm>
          <a:prstGeom prst="line">
            <a:avLst/>
          </a:prstGeom>
          <a:noFill/>
          <a:ln w="12700">
            <a:solidFill>
              <a:srgbClr val="1F3A5F"/>
            </a:solidFill>
            <a:prstDash val="solid"/>
          </a:ln>
        </p:spPr>
      </p:sp>
      <p:sp>
        <p:nvSpPr>
          <p:cNvPr id="9" name="Part 2 bracket left"/>
          <p:cNvSpPr/>
          <p:nvPr/>
        </p:nvSpPr>
        <p:spPr>
          <a:xfrm>
            <a:off x="6711696" y="2834640"/>
            <a:ext cx="0" cy="137160"/>
          </a:xfrm>
          <a:prstGeom prst="line">
            <a:avLst/>
          </a:prstGeom>
          <a:noFill/>
          <a:ln w="12700">
            <a:solidFill>
              <a:srgbClr val="1F3A5F"/>
            </a:solidFill>
            <a:prstDash val="solid"/>
          </a:ln>
        </p:spPr>
      </p:sp>
      <p:sp>
        <p:nvSpPr>
          <p:cNvPr id="10" name="Part 2 bracket right"/>
          <p:cNvSpPr/>
          <p:nvPr/>
        </p:nvSpPr>
        <p:spPr>
          <a:xfrm>
            <a:off x="11155680" y="2834640"/>
            <a:ext cx="0" cy="137160"/>
          </a:xfrm>
          <a:prstGeom prst="line">
            <a:avLst/>
          </a:prstGeom>
          <a:noFill/>
          <a:ln w="12700">
            <a:solidFill>
              <a:srgbClr val="1F3A5F"/>
            </a:solidFill>
            <a:prstDash val="solid"/>
          </a:ln>
        </p:spPr>
      </p:sp>
      <p:sp>
        <p:nvSpPr>
          <p:cNvPr id="11" name="Text 9"/>
          <p:cNvSpPr txBox="1"/>
          <p:nvPr/>
        </p:nvSpPr>
        <p:spPr>
          <a:xfrm>
            <a:off x="6711696"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2: modelling and forecasting</a:t>
            </a:r>
            <a:endParaRPr lang="en-US" sz="1600" dirty="0"/>
          </a:p>
          <a:p>
            <a:pPr algn="ctr" indent="0" marL="0">
              <a:buNone/>
            </a:pPr>
            <a:r>
              <a:rPr lang="en-US" sz="1400" dirty="0">
                <a:solidFill>
                  <a:schemeClr val="accent3"/>
                </a:solidFill>
              </a:rPr>
              <a:t>Milad Bahari Qaragoz</a:t>
            </a:r>
            <a:endParaRPr lang="en-US" sz="1600" dirty="0"/>
          </a:p>
        </p:txBody>
      </p:sp>
      <p:sp>
        <p:nvSpPr>
          <p:cNvPr id="12" name="Agenda 1"/>
          <p:cNvSpPr/>
          <p:nvPr/>
        </p:nvSpPr>
        <p:spPr>
          <a:xfrm>
            <a:off x="1005840" y="3108960"/>
            <a:ext cx="640080" cy="640080"/>
          </a:xfrm>
          <a:prstGeom prst="ellipse">
            <a:avLst/>
          </a:prstGeom>
          <a:solidFill>
            <a:schemeClr val="tx2"/>
          </a:solidFill>
          <a:ln/>
        </p:spPr>
      </p:sp>
      <p:sp>
        <p:nvSpPr>
          <p:cNvPr id="13" name="Text 11"/>
          <p:cNvSpPr txBox="1"/>
          <p:nvPr/>
        </p:nvSpPr>
        <p:spPr>
          <a:xfrm>
            <a:off x="100584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14" name="Text 12"/>
          <p:cNvSpPr txBox="1"/>
          <p:nvPr/>
        </p:nvSpPr>
        <p:spPr>
          <a:xfrm>
            <a:off x="457200"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Motivation</a:t>
            </a:r>
            <a:endParaRPr lang="en-US" sz="1600" dirty="0"/>
          </a:p>
          <a:p>
            <a:pPr algn="ctr" indent="0" marL="0">
              <a:buNone/>
            </a:pPr>
            <a:r>
              <a:rPr lang="en-US" sz="1400" dirty="0">
                <a:solidFill>
                  <a:schemeClr val="tx1"/>
                </a:solidFill>
              </a:rPr>
              <a:t>Why forecast muscle loss, and why bed rest</a:t>
            </a:r>
            <a:endParaRPr lang="en-US" sz="1600" dirty="0"/>
          </a:p>
        </p:txBody>
      </p:sp>
      <p:sp>
        <p:nvSpPr>
          <p:cNvPr id="15" name="Agenda 2"/>
          <p:cNvSpPr/>
          <p:nvPr/>
        </p:nvSpPr>
        <p:spPr>
          <a:xfrm>
            <a:off x="2907792" y="3108960"/>
            <a:ext cx="640080" cy="640080"/>
          </a:xfrm>
          <a:prstGeom prst="ellipse">
            <a:avLst/>
          </a:prstGeom>
          <a:solidFill>
            <a:schemeClr val="tx2"/>
          </a:solidFill>
          <a:ln/>
        </p:spPr>
      </p:sp>
      <p:sp>
        <p:nvSpPr>
          <p:cNvPr id="16" name="Text 14"/>
          <p:cNvSpPr txBox="1"/>
          <p:nvPr/>
        </p:nvSpPr>
        <p:spPr>
          <a:xfrm>
            <a:off x="2907792"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7" name="Text 15"/>
          <p:cNvSpPr txBox="1"/>
          <p:nvPr/>
        </p:nvSpPr>
        <p:spPr>
          <a:xfrm>
            <a:off x="2359152"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Data</a:t>
            </a:r>
            <a:endParaRPr lang="en-US" sz="1600" dirty="0"/>
          </a:p>
          <a:p>
            <a:pPr algn="ctr" indent="0" marL="0">
              <a:buNone/>
            </a:pPr>
            <a:r>
              <a:rPr lang="en-US" sz="1400" dirty="0">
                <a:solidFill>
                  <a:schemeClr val="tx1"/>
                </a:solidFill>
              </a:rPr>
              <a:t>Range of unloading, search and dataset</a:t>
            </a:r>
            <a:endParaRPr lang="en-US" sz="1600" dirty="0"/>
          </a:p>
        </p:txBody>
      </p:sp>
      <p:sp>
        <p:nvSpPr>
          <p:cNvPr id="18" name="Agenda 3"/>
          <p:cNvSpPr/>
          <p:nvPr/>
        </p:nvSpPr>
        <p:spPr>
          <a:xfrm>
            <a:off x="4809744" y="3108960"/>
            <a:ext cx="640080" cy="640080"/>
          </a:xfrm>
          <a:prstGeom prst="ellipse">
            <a:avLst/>
          </a:prstGeom>
          <a:solidFill>
            <a:schemeClr val="tx2"/>
          </a:solidFill>
          <a:ln/>
        </p:spPr>
      </p:sp>
      <p:sp>
        <p:nvSpPr>
          <p:cNvPr id="19" name="Text 17"/>
          <p:cNvSpPr txBox="1"/>
          <p:nvPr/>
        </p:nvSpPr>
        <p:spPr>
          <a:xfrm>
            <a:off x="4809744"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0" name="Text 18"/>
          <p:cNvSpPr txBox="1"/>
          <p:nvPr/>
        </p:nvSpPr>
        <p:spPr>
          <a:xfrm>
            <a:off x="4261104"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Muscles</a:t>
            </a:r>
            <a:endParaRPr lang="en-US" sz="1600" dirty="0"/>
          </a:p>
          <a:p>
            <a:pPr algn="ctr" indent="0" marL="0">
              <a:buNone/>
            </a:pPr>
            <a:r>
              <a:rPr lang="en-US" sz="1400" dirty="0">
                <a:solidFill>
                  <a:schemeClr val="tx1"/>
                </a:solidFill>
              </a:rPr>
              <a:t>Which muscles lose most</a:t>
            </a:r>
            <a:endParaRPr lang="en-US" sz="1600" dirty="0"/>
          </a:p>
        </p:txBody>
      </p:sp>
      <p:sp>
        <p:nvSpPr>
          <p:cNvPr id="21" name="Agenda 4"/>
          <p:cNvSpPr/>
          <p:nvPr/>
        </p:nvSpPr>
        <p:spPr>
          <a:xfrm>
            <a:off x="6711696" y="3108960"/>
            <a:ext cx="640080" cy="640080"/>
          </a:xfrm>
          <a:prstGeom prst="ellipse">
            <a:avLst/>
          </a:prstGeom>
          <a:solidFill>
            <a:schemeClr val="accent1"/>
          </a:solidFill>
          <a:ln/>
        </p:spPr>
      </p:sp>
      <p:sp>
        <p:nvSpPr>
          <p:cNvPr id="22" name="Text 20"/>
          <p:cNvSpPr txBox="1"/>
          <p:nvPr/>
        </p:nvSpPr>
        <p:spPr>
          <a:xfrm>
            <a:off x="6711696"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3" name="Text 21"/>
          <p:cNvSpPr txBox="1"/>
          <p:nvPr/>
        </p:nvSpPr>
        <p:spPr>
          <a:xfrm>
            <a:off x="6163056"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Models</a:t>
            </a:r>
            <a:endParaRPr lang="en-US" sz="1600" dirty="0"/>
          </a:p>
          <a:p>
            <a:pPr algn="ctr" indent="0" marL="0">
              <a:buNone/>
            </a:pPr>
            <a:r>
              <a:rPr lang="en-US" sz="1400" dirty="0">
                <a:solidFill>
                  <a:schemeClr val="tx1"/>
                </a:solidFill>
              </a:rPr>
              <a:t>Testing setup; ML vs the duration curve</a:t>
            </a:r>
            <a:endParaRPr lang="en-US" sz="1600" dirty="0"/>
          </a:p>
        </p:txBody>
      </p:sp>
      <p:sp>
        <p:nvSpPr>
          <p:cNvPr id="24" name="Agenda 5"/>
          <p:cNvSpPr/>
          <p:nvPr/>
        </p:nvSpPr>
        <p:spPr>
          <a:xfrm>
            <a:off x="8613648" y="3108960"/>
            <a:ext cx="640080" cy="640080"/>
          </a:xfrm>
          <a:prstGeom prst="ellipse">
            <a:avLst/>
          </a:prstGeom>
          <a:solidFill>
            <a:schemeClr val="accent1"/>
          </a:solidFill>
          <a:ln/>
        </p:spPr>
      </p:sp>
      <p:sp>
        <p:nvSpPr>
          <p:cNvPr id="25" name="Text 23"/>
          <p:cNvSpPr txBox="1"/>
          <p:nvPr/>
        </p:nvSpPr>
        <p:spPr>
          <a:xfrm>
            <a:off x="8613648"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6" name="Text 24"/>
          <p:cNvSpPr txBox="1"/>
          <p:nvPr/>
        </p:nvSpPr>
        <p:spPr>
          <a:xfrm>
            <a:off x="8065008"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LLM forecast</a:t>
            </a:r>
            <a:endParaRPr lang="en-US" sz="1600" dirty="0"/>
          </a:p>
          <a:p>
            <a:pPr algn="ctr" indent="0" marL="0">
              <a:buNone/>
            </a:pPr>
            <a:r>
              <a:rPr lang="en-US" sz="1400" dirty="0">
                <a:solidFill>
                  <a:schemeClr val="tx1"/>
                </a:solidFill>
              </a:rPr>
              <a:t>What it sees, results, checks</a:t>
            </a:r>
            <a:endParaRPr lang="en-US" sz="1600" dirty="0"/>
          </a:p>
        </p:txBody>
      </p:sp>
      <p:sp>
        <p:nvSpPr>
          <p:cNvPr id="27" name="Agenda 6"/>
          <p:cNvSpPr/>
          <p:nvPr/>
        </p:nvSpPr>
        <p:spPr>
          <a:xfrm>
            <a:off x="10515600" y="3108960"/>
            <a:ext cx="640080" cy="640080"/>
          </a:xfrm>
          <a:prstGeom prst="ellipse">
            <a:avLst/>
          </a:prstGeom>
          <a:solidFill>
            <a:schemeClr val="accent1"/>
          </a:solidFill>
          <a:ln/>
        </p:spPr>
      </p:sp>
      <p:sp>
        <p:nvSpPr>
          <p:cNvPr id="28" name="Text 26"/>
          <p:cNvSpPr txBox="1"/>
          <p:nvPr/>
        </p:nvSpPr>
        <p:spPr>
          <a:xfrm>
            <a:off x="1051560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6</a:t>
            </a:r>
            <a:endParaRPr lang="en-US" sz="2000" dirty="0"/>
          </a:p>
        </p:txBody>
      </p:sp>
      <p:sp>
        <p:nvSpPr>
          <p:cNvPr id="29" name="Text 27"/>
          <p:cNvSpPr txBox="1"/>
          <p:nvPr/>
        </p:nvSpPr>
        <p:spPr>
          <a:xfrm>
            <a:off x="9966960"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Conclusions</a:t>
            </a:r>
            <a:endParaRPr lang="en-US" sz="1600" dirty="0"/>
          </a:p>
          <a:p>
            <a:pPr algn="ctr" indent="0" marL="0">
              <a:buNone/>
            </a:pPr>
            <a:r>
              <a:rPr lang="en-US" sz="1400" dirty="0">
                <a:solidFill>
                  <a:schemeClr val="tx1"/>
                </a:solidFill>
              </a:rPr>
              <a:t>Findings, limits, next steps</a:t>
            </a:r>
            <a:endParaRPr lang="en-US" sz="1600" dirty="0"/>
          </a:p>
        </p:txBody>
      </p:sp>
      <p:sp>
        <p:nvSpPr>
          <p:cNvPr id="30" name="Text 28"/>
          <p:cNvSpPr txBox="1"/>
          <p:nvPr/>
        </p:nvSpPr>
        <p:spPr>
          <a:xfrm>
            <a:off x="548640" y="557784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The marker in the bottom-right corner of each slide shows where we are.</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8988552" y="6382512"/>
            <a:ext cx="219456" cy="219456"/>
          </a:xfrm>
          <a:prstGeom prst="ellipse">
            <a:avLst/>
          </a:prstGeom>
          <a:solidFill>
            <a:schemeClr val="accent1"/>
          </a:solidFill>
          <a:ln w="9525">
            <a:solidFill>
              <a:srgbClr val="A23B2A"/>
            </a:solidFill>
            <a:prstDash val="solid"/>
          </a:ln>
        </p:spPr>
      </p:sp>
      <p:sp>
        <p:nvSpPr>
          <p:cNvPr id="4" name="Tracker 2 Data"/>
          <p:cNvSpPr/>
          <p:nvPr/>
        </p:nvSpPr>
        <p:spPr>
          <a:xfrm>
            <a:off x="9386316" y="6432804"/>
            <a:ext cx="118872" cy="118872"/>
          </a:xfrm>
          <a:prstGeom prst="ellipse">
            <a:avLst/>
          </a:prstGeom>
          <a:solidFill>
            <a:schemeClr val="bg1"/>
          </a:solidFill>
          <a:ln w="9525">
            <a:solidFill>
              <a:srgbClr val="9AA3AE"/>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1  Motivation</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Motivation: can we predict muscle atrophy?</a:t>
            </a:r>
            <a:endParaRPr lang="en-US" sz="2800" dirty="0"/>
          </a:p>
        </p:txBody>
      </p:sp>
      <p:sp>
        <p:nvSpPr>
          <p:cNvPr id="11" name="Text 9"/>
          <p:cNvSpPr txBox="1"/>
          <p:nvPr/>
        </p:nvSpPr>
        <p:spPr>
          <a:xfrm>
            <a:off x="548640" y="1234440"/>
            <a:ext cx="6035040" cy="4892040"/>
          </a:xfrm>
          <a:prstGeom prst="rect">
            <a:avLst/>
          </a:prstGeom>
          <a:noFill/>
          <a:ln/>
        </p:spPr>
        <p:txBody>
          <a:bodyPr wrap="square" lIns="0" tIns="0" rIns="0" bIns="0" rtlCol="0" anchor="t"/>
          <a:lstStyle/>
          <a:p>
            <a:pPr indent="0" marL="0">
              <a:spcAft>
                <a:spcPts val="400"/>
              </a:spcAft>
              <a:buNone/>
            </a:pPr>
            <a:r>
              <a:rPr lang="en-US" sz="1800" b="1" dirty="0">
                <a:solidFill>
                  <a:schemeClr val="tx2"/>
                </a:solidFill>
              </a:rPr>
              <a:t>What are we doing?</a:t>
            </a:r>
            <a:endParaRPr lang="en-US" sz="1800" dirty="0"/>
          </a:p>
          <a:p>
            <a:pPr marL="342900" indent="-342900">
              <a:spcAft>
                <a:spcPts val="400"/>
              </a:spcAft>
              <a:buSzPct val="100000"/>
              <a:buChar char="•"/>
            </a:pPr>
            <a:r>
              <a:rPr lang="en-US" sz="1500" dirty="0">
                <a:solidFill>
                  <a:schemeClr val="tx1"/>
                </a:solidFill>
              </a:rPr>
              <a:t>Lower-limb muscle atrophy is a major challenge in long-duration spaceflight</a:t>
            </a:r>
            <a:endParaRPr lang="en-US" sz="1800" dirty="0"/>
          </a:p>
          <a:p>
            <a:pPr marL="342900" indent="-342900">
              <a:spcAft>
                <a:spcPts val="400"/>
              </a:spcAft>
              <a:buSzPct val="100000"/>
              <a:buChar char="•"/>
            </a:pPr>
            <a:r>
              <a:rPr lang="en-US" sz="1500" dirty="0">
                <a:solidFill>
                  <a:schemeClr val="tx1"/>
                </a:solidFill>
              </a:rPr>
              <a:t>Research question: can the extent of muscle atrophy be predicted?</a:t>
            </a:r>
            <a:endParaRPr lang="en-US" sz="1800" dirty="0"/>
          </a:p>
          <a:p>
            <a:pPr marL="342900" indent="-342900">
              <a:spcAft>
                <a:spcPts val="400"/>
              </a:spcAft>
              <a:buSzPct val="100000"/>
              <a:buChar char="•"/>
            </a:pPr>
            <a:r>
              <a:rPr lang="en-US" sz="1500" dirty="0">
                <a:solidFill>
                  <a:schemeClr val="tx1"/>
                </a:solidFill>
              </a:rPr>
              <a:t>Aim: a literature-derived dataset and a machine-learning framework for this prediction</a:t>
            </a:r>
            <a:endParaRPr lang="en-US" sz="1800" dirty="0"/>
          </a:p>
          <a:p>
            <a:pPr indent="0" marL="0">
              <a:spcBef>
                <a:spcPts val="1400"/>
              </a:spcBef>
              <a:spcAft>
                <a:spcPts val="400"/>
              </a:spcAft>
              <a:buNone/>
            </a:pPr>
            <a:r>
              <a:rPr lang="en-US" sz="1800" b="1" dirty="0">
                <a:solidFill>
                  <a:schemeClr val="tx2"/>
                </a:solidFill>
              </a:rPr>
              <a:t>Why is this important?</a:t>
            </a:r>
            <a:endParaRPr lang="en-US" sz="1800" dirty="0"/>
          </a:p>
          <a:p>
            <a:pPr marL="342900" indent="-342900">
              <a:spcAft>
                <a:spcPts val="400"/>
              </a:spcAft>
              <a:buSzPct val="100000"/>
              <a:buChar char="•"/>
            </a:pPr>
            <a:r>
              <a:rPr lang="en-US" sz="1500" dirty="0">
                <a:solidFill>
                  <a:schemeClr val="tx1"/>
                </a:solidFill>
              </a:rPr>
              <a:t>Prevention: identify risk early and leave time to intervene</a:t>
            </a:r>
            <a:endParaRPr lang="en-US" sz="1800" dirty="0"/>
          </a:p>
          <a:p>
            <a:pPr marL="342900" indent="-342900">
              <a:spcAft>
                <a:spcPts val="400"/>
              </a:spcAft>
              <a:buSzPct val="100000"/>
              <a:buChar char="•"/>
            </a:pPr>
            <a:r>
              <a:rPr lang="en-US" sz="1500" dirty="0">
                <a:solidFill>
                  <a:schemeClr val="tx1"/>
                </a:solidFill>
              </a:rPr>
              <a:t>Countermeasures: match exercise and nutrition to the predicted risk</a:t>
            </a:r>
            <a:endParaRPr lang="en-US" sz="1800" dirty="0"/>
          </a:p>
          <a:p>
            <a:pPr marL="342900" indent="-342900">
              <a:spcAft>
                <a:spcPts val="400"/>
              </a:spcAft>
              <a:buSzPct val="100000"/>
              <a:buChar char="•"/>
            </a:pPr>
            <a:r>
              <a:rPr lang="en-US" sz="1500" dirty="0">
                <a:solidFill>
                  <a:schemeClr val="tx1"/>
                </a:solidFill>
              </a:rPr>
              <a:t>Vulnerable muscles: show which muscles need closer monitoring</a:t>
            </a:r>
            <a:endParaRPr lang="en-US" sz="1800" dirty="0"/>
          </a:p>
          <a:p>
            <a:pPr marL="342900" indent="-342900">
              <a:spcAft>
                <a:spcPts val="400"/>
              </a:spcAft>
              <a:buSzPct val="100000"/>
              <a:buChar char="•"/>
            </a:pPr>
            <a:r>
              <a:rPr lang="en-US" sz="1500" dirty="0">
                <a:solidFill>
                  <a:schemeClr val="tx1"/>
                </a:solidFill>
              </a:rPr>
              <a:t>Function: less muscle loss helps preserve strength and power</a:t>
            </a:r>
            <a:endParaRPr lang="en-US" sz="1800" dirty="0"/>
          </a:p>
          <a:p>
            <a:pPr marL="342900" indent="-342900">
              <a:spcAft>
                <a:spcPts val="400"/>
              </a:spcAft>
              <a:buSzPct val="100000"/>
              <a:buChar char="•"/>
            </a:pPr>
            <a:r>
              <a:rPr lang="en-US" sz="1500" dirty="0">
                <a:solidFill>
                  <a:schemeClr val="tx1"/>
                </a:solidFill>
              </a:rPr>
              <a:t>Mission planning: estimate muscle loss on long missions with limited exercise equipment</a:t>
            </a:r>
            <a:endParaRPr lang="en-US" sz="1800" dirty="0"/>
          </a:p>
        </p:txBody>
      </p:sp>
      <p:sp>
        <p:nvSpPr>
          <p:cNvPr id="12" name="Illustration panel"/>
          <p:cNvSpPr/>
          <p:nvPr/>
        </p:nvSpPr>
        <p:spPr>
          <a:xfrm>
            <a:off x="6903720" y="1234440"/>
            <a:ext cx="4736592" cy="4892040"/>
          </a:xfrm>
          <a:prstGeom prst="rect">
            <a:avLst/>
          </a:prstGeom>
          <a:solidFill>
            <a:schemeClr val="bg2"/>
          </a:solidFill>
          <a:ln/>
        </p:spPr>
      </p:sp>
      <p:sp>
        <p:nvSpPr>
          <p:cNvPr id="13" name="Text 11"/>
          <p:cNvSpPr txBox="1"/>
          <p:nvPr/>
        </p:nvSpPr>
        <p:spPr>
          <a:xfrm>
            <a:off x="7132320" y="1371600"/>
            <a:ext cx="4279392" cy="320040"/>
          </a:xfrm>
          <a:prstGeom prst="rect">
            <a:avLst/>
          </a:prstGeom>
          <a:noFill/>
          <a:ln/>
        </p:spPr>
        <p:txBody>
          <a:bodyPr wrap="square" lIns="0" tIns="0" rIns="0" bIns="0" rtlCol="0" anchor="t"/>
          <a:lstStyle/>
          <a:p>
            <a:pPr indent="0" marL="0">
              <a:buNone/>
            </a:pPr>
            <a:r>
              <a:rPr lang="en-US" sz="1400" b="1" dirty="0">
                <a:solidFill>
                  <a:schemeClr val="tx2"/>
                </a:solidFill>
              </a:rPr>
              <a:t>Ground analogue: 6° head-down bed rest</a:t>
            </a:r>
            <a:endParaRPr lang="en-US" sz="1400" dirty="0"/>
          </a:p>
        </p:txBody>
      </p:sp>
      <p:sp>
        <p:nvSpPr>
          <p:cNvPr id="14" name="Bed"/>
          <p:cNvSpPr/>
          <p:nvPr/>
        </p:nvSpPr>
        <p:spPr>
          <a:xfrm rot="360000">
            <a:off x="7315200" y="2377440"/>
            <a:ext cx="3931920" cy="128016"/>
          </a:xfrm>
          <a:prstGeom prst="rect">
            <a:avLst/>
          </a:prstGeom>
          <a:solidFill>
            <a:schemeClr val="accent3"/>
          </a:solidFill>
          <a:ln/>
        </p:spPr>
      </p:sp>
      <p:sp>
        <p:nvSpPr>
          <p:cNvPr id="15" name="Body"/>
          <p:cNvSpPr/>
          <p:nvPr/>
        </p:nvSpPr>
        <p:spPr>
          <a:xfrm rot="360000">
            <a:off x="7863840" y="2093976"/>
            <a:ext cx="2606040" cy="329184"/>
          </a:xfrm>
          <a:prstGeom prst="roundRect">
            <a:avLst>
              <a:gd name="adj" fmla="val 41667"/>
            </a:avLst>
          </a:prstGeom>
          <a:solidFill>
            <a:schemeClr val="tx2"/>
          </a:solidFill>
          <a:ln/>
        </p:spPr>
      </p:sp>
      <p:sp>
        <p:nvSpPr>
          <p:cNvPr id="16" name="Head"/>
          <p:cNvSpPr/>
          <p:nvPr/>
        </p:nvSpPr>
        <p:spPr>
          <a:xfrm>
            <a:off x="10469880" y="2167128"/>
            <a:ext cx="384048" cy="384048"/>
          </a:xfrm>
          <a:prstGeom prst="ellipse">
            <a:avLst/>
          </a:prstGeom>
          <a:solidFill>
            <a:schemeClr val="tx2"/>
          </a:solidFill>
          <a:ln/>
        </p:spPr>
      </p:sp>
      <p:sp>
        <p:nvSpPr>
          <p:cNvPr id="17" name="Text 15"/>
          <p:cNvSpPr txBox="1"/>
          <p:nvPr/>
        </p:nvSpPr>
        <p:spPr>
          <a:xfrm>
            <a:off x="7132320" y="2788920"/>
            <a:ext cx="4279392" cy="274320"/>
          </a:xfrm>
          <a:prstGeom prst="rect">
            <a:avLst/>
          </a:prstGeom>
          <a:noFill/>
          <a:ln/>
        </p:spPr>
        <p:txBody>
          <a:bodyPr wrap="square" lIns="0" tIns="0" rIns="0" bIns="0" rtlCol="0" anchor="t"/>
          <a:lstStyle/>
          <a:p>
            <a:pPr indent="0" marL="0">
              <a:buNone/>
            </a:pPr>
            <a:r>
              <a:rPr lang="en-US" sz="1200" i="1" dirty="0">
                <a:solidFill>
                  <a:schemeClr val="accent3"/>
                </a:solidFill>
              </a:rPr>
              <a:t>Weeks to months in bed; legs carry no body weight</a:t>
            </a:r>
            <a:endParaRPr lang="en-US" sz="1200" dirty="0"/>
          </a:p>
        </p:txBody>
      </p:sp>
      <p:sp>
        <p:nvSpPr>
          <p:cNvPr id="18" name="Muscle before"/>
          <p:cNvSpPr/>
          <p:nvPr/>
        </p:nvSpPr>
        <p:spPr>
          <a:xfrm>
            <a:off x="7223760" y="3337560"/>
            <a:ext cx="1737360" cy="1737360"/>
          </a:xfrm>
          <a:prstGeom prst="ellipse">
            <a:avLst/>
          </a:prstGeom>
          <a:solidFill>
            <a:schemeClr val="accent1">
              <a:alpha val="75000"/>
            </a:schemeClr>
          </a:solidFill>
          <a:ln w="12700">
            <a:solidFill>
              <a:srgbClr val="A23B2A"/>
            </a:solidFill>
            <a:prstDash val="solid"/>
          </a:ln>
        </p:spPr>
      </p:sp>
      <p:sp>
        <p:nvSpPr>
          <p:cNvPr id="19" name="Muscle before bone"/>
          <p:cNvSpPr/>
          <p:nvPr/>
        </p:nvSpPr>
        <p:spPr>
          <a:xfrm>
            <a:off x="7717536" y="4151376"/>
            <a:ext cx="384048" cy="384048"/>
          </a:xfrm>
          <a:prstGeom prst="ellipse">
            <a:avLst/>
          </a:prstGeom>
          <a:solidFill>
            <a:schemeClr val="bg1"/>
          </a:solidFill>
          <a:ln w="12700">
            <a:solidFill>
              <a:srgbClr val="9AA3AE"/>
            </a:solidFill>
            <a:prstDash val="solid"/>
          </a:ln>
        </p:spPr>
      </p:sp>
      <p:sp>
        <p:nvSpPr>
          <p:cNvPr id="20" name="Arrow"/>
          <p:cNvSpPr/>
          <p:nvPr/>
        </p:nvSpPr>
        <p:spPr>
          <a:xfrm>
            <a:off x="9098280" y="4206240"/>
            <a:ext cx="548640" cy="0"/>
          </a:xfrm>
          <a:prstGeom prst="line">
            <a:avLst/>
          </a:prstGeom>
          <a:noFill/>
          <a:ln w="15875">
            <a:solidFill>
              <a:srgbClr val="1A1A1A"/>
            </a:solidFill>
            <a:prstDash val="solid"/>
            <a:tailEnd type="triangle"/>
          </a:ln>
        </p:spPr>
      </p:sp>
      <p:sp>
        <p:nvSpPr>
          <p:cNvPr id="21" name="Muscle after"/>
          <p:cNvSpPr/>
          <p:nvPr/>
        </p:nvSpPr>
        <p:spPr>
          <a:xfrm>
            <a:off x="9764214" y="3409134"/>
            <a:ext cx="1594211" cy="1594211"/>
          </a:xfrm>
          <a:prstGeom prst="ellipse">
            <a:avLst/>
          </a:prstGeom>
          <a:solidFill>
            <a:schemeClr val="accent1">
              <a:alpha val="75000"/>
            </a:schemeClr>
          </a:solidFill>
          <a:ln w="12700">
            <a:solidFill>
              <a:srgbClr val="A23B2A"/>
            </a:solidFill>
            <a:prstDash val="solid"/>
          </a:ln>
        </p:spPr>
      </p:sp>
      <p:sp>
        <p:nvSpPr>
          <p:cNvPr id="22" name="Muscle after bone"/>
          <p:cNvSpPr/>
          <p:nvPr/>
        </p:nvSpPr>
        <p:spPr>
          <a:xfrm>
            <a:off x="10186416" y="4151376"/>
            <a:ext cx="384048" cy="384048"/>
          </a:xfrm>
          <a:prstGeom prst="ellipse">
            <a:avLst/>
          </a:prstGeom>
          <a:solidFill>
            <a:schemeClr val="bg1"/>
          </a:solidFill>
          <a:ln w="12700">
            <a:solidFill>
              <a:srgbClr val="9AA3AE"/>
            </a:solidFill>
            <a:prstDash val="solid"/>
          </a:ln>
        </p:spPr>
      </p:sp>
      <p:sp>
        <p:nvSpPr>
          <p:cNvPr id="23" name="Original outline"/>
          <p:cNvSpPr/>
          <p:nvPr/>
        </p:nvSpPr>
        <p:spPr>
          <a:xfrm>
            <a:off x="9692640" y="3337560"/>
            <a:ext cx="1737360" cy="1737360"/>
          </a:xfrm>
          <a:prstGeom prst="ellipse">
            <a:avLst/>
          </a:prstGeom>
          <a:ln w="12700">
            <a:solidFill>
              <a:srgbClr val="1A1A1A"/>
            </a:solidFill>
            <a:prstDash val="dash"/>
          </a:ln>
        </p:spPr>
      </p:sp>
      <p:sp>
        <p:nvSpPr>
          <p:cNvPr id="24" name="Text 22"/>
          <p:cNvSpPr txBox="1"/>
          <p:nvPr/>
        </p:nvSpPr>
        <p:spPr>
          <a:xfrm>
            <a:off x="7178040" y="5166360"/>
            <a:ext cx="1828800" cy="274320"/>
          </a:xfrm>
          <a:prstGeom prst="rect">
            <a:avLst/>
          </a:prstGeom>
          <a:noFill/>
          <a:ln/>
        </p:spPr>
        <p:txBody>
          <a:bodyPr wrap="square" lIns="0" tIns="0" rIns="0" bIns="0" rtlCol="0" anchor="t"/>
          <a:lstStyle/>
          <a:p>
            <a:pPr algn="ctr" indent="0" marL="0">
              <a:buNone/>
            </a:pPr>
            <a:r>
              <a:rPr lang="en-US" sz="1300" b="1" dirty="0">
                <a:solidFill>
                  <a:schemeClr val="tx1"/>
                </a:solidFill>
              </a:rPr>
              <a:t>Before bed rest</a:t>
            </a:r>
            <a:endParaRPr lang="en-US" sz="1300" dirty="0"/>
          </a:p>
        </p:txBody>
      </p:sp>
      <p:sp>
        <p:nvSpPr>
          <p:cNvPr id="25" name="Text 23"/>
          <p:cNvSpPr txBox="1"/>
          <p:nvPr/>
        </p:nvSpPr>
        <p:spPr>
          <a:xfrm>
            <a:off x="9646920" y="5166360"/>
            <a:ext cx="1828800" cy="274320"/>
          </a:xfrm>
          <a:prstGeom prst="rect">
            <a:avLst/>
          </a:prstGeom>
          <a:noFill/>
          <a:ln/>
        </p:spPr>
        <p:txBody>
          <a:bodyPr wrap="square" lIns="0" tIns="0" rIns="0" bIns="0" rtlCol="0" anchor="t"/>
          <a:lstStyle/>
          <a:p>
            <a:pPr algn="ctr" indent="0" marL="0">
              <a:buNone/>
            </a:pPr>
            <a:r>
              <a:rPr lang="en-US" sz="1300" b="1" dirty="0">
                <a:solidFill>
                  <a:schemeClr val="accent1"/>
                </a:solidFill>
              </a:rPr>
              <a:t>Day 60: −16%</a:t>
            </a:r>
            <a:endParaRPr lang="en-US" sz="1300" dirty="0"/>
          </a:p>
        </p:txBody>
      </p:sp>
      <p:sp>
        <p:nvSpPr>
          <p:cNvPr id="26" name="Text 24"/>
          <p:cNvSpPr txBox="1"/>
          <p:nvPr/>
        </p:nvSpPr>
        <p:spPr>
          <a:xfrm>
            <a:off x="7132320" y="5532120"/>
            <a:ext cx="4279392" cy="457200"/>
          </a:xfrm>
          <a:prstGeom prst="rect">
            <a:avLst/>
          </a:prstGeom>
          <a:noFill/>
          <a:ln/>
        </p:spPr>
        <p:txBody>
          <a:bodyPr wrap="square" lIns="0" tIns="0" rIns="0" bIns="0" rtlCol="0" anchor="t"/>
          <a:lstStyle/>
          <a:p>
            <a:pPr indent="0" marL="0">
              <a:buNone/>
            </a:pPr>
            <a:r>
              <a:rPr lang="en-US" sz="1100" i="1" dirty="0">
                <a:solidFill>
                  <a:schemeClr val="accent3"/>
                </a:solidFill>
              </a:rPr>
              <a:t>Calf cross-section to scale; dashed line = size before. Model estimate for control groups (plantar flexors, −15.8% at day 60).</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8988552" y="6382512"/>
            <a:ext cx="219456" cy="219456"/>
          </a:xfrm>
          <a:prstGeom prst="ellipse">
            <a:avLst/>
          </a:prstGeom>
          <a:solidFill>
            <a:schemeClr val="accent1"/>
          </a:solidFill>
          <a:ln w="9525">
            <a:solidFill>
              <a:srgbClr val="A23B2A"/>
            </a:solidFill>
            <a:prstDash val="solid"/>
          </a:ln>
        </p:spPr>
      </p:sp>
      <p:sp>
        <p:nvSpPr>
          <p:cNvPr id="4" name="Tracker 2 Data"/>
          <p:cNvSpPr/>
          <p:nvPr/>
        </p:nvSpPr>
        <p:spPr>
          <a:xfrm>
            <a:off x="9386316" y="6432804"/>
            <a:ext cx="118872" cy="118872"/>
          </a:xfrm>
          <a:prstGeom prst="ellipse">
            <a:avLst/>
          </a:prstGeom>
          <a:solidFill>
            <a:schemeClr val="bg1"/>
          </a:solidFill>
          <a:ln w="9525">
            <a:solidFill>
              <a:srgbClr val="9AA3AE"/>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1  Motivation</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Why from bed rest to Mars?</a:t>
            </a:r>
            <a:endParaRPr lang="en-US" sz="2800" dirty="0"/>
          </a:p>
        </p:txBody>
      </p:sp>
      <p:sp>
        <p:nvSpPr>
          <p:cNvPr id="11" name="Text 9"/>
          <p:cNvSpPr txBox="1"/>
          <p:nvPr/>
        </p:nvSpPr>
        <p:spPr>
          <a:xfrm>
            <a:off x="548640" y="1188720"/>
            <a:ext cx="5577840" cy="3520440"/>
          </a:xfrm>
          <a:prstGeom prst="rect">
            <a:avLst/>
          </a:prstGeom>
          <a:noFill/>
          <a:ln/>
        </p:spPr>
        <p:txBody>
          <a:bodyPr wrap="square" lIns="0" tIns="0" rIns="0" bIns="0" rtlCol="0" anchor="t"/>
          <a:lstStyle/>
          <a:p>
            <a:pPr indent="0" marL="0">
              <a:spcAft>
                <a:spcPts val="300"/>
              </a:spcAft>
              <a:buNone/>
            </a:pPr>
            <a:r>
              <a:rPr lang="en-US" sz="1700" b="1" dirty="0">
                <a:solidFill>
                  <a:schemeClr val="tx2"/>
                </a:solidFill>
              </a:rPr>
              <a:t>Bed rest: the ground analogue</a:t>
            </a:r>
            <a:endParaRPr lang="en-US" sz="1700" dirty="0"/>
          </a:p>
          <a:p>
            <a:pPr marL="342900" indent="-342900">
              <a:spcAft>
                <a:spcPts val="400"/>
              </a:spcAft>
              <a:buSzPct val="100000"/>
              <a:buChar char="•"/>
            </a:pPr>
            <a:r>
              <a:rPr lang="en-US" sz="1400" dirty="0">
                <a:solidFill>
                  <a:schemeClr val="tx1"/>
                </a:solidFill>
              </a:rPr>
              <a:t>Direct spaceflight data on muscle are scarce</a:t>
            </a:r>
            <a:endParaRPr lang="en-US" sz="1700" dirty="0"/>
          </a:p>
          <a:p>
            <a:pPr marL="342900" indent="-342900">
              <a:spcAft>
                <a:spcPts val="400"/>
              </a:spcAft>
              <a:buSzPct val="100000"/>
              <a:buChar char="•"/>
            </a:pPr>
            <a:r>
              <a:rPr lang="en-US" sz="1400" dirty="0">
                <a:solidFill>
                  <a:schemeClr val="tx1"/>
                </a:solidFill>
              </a:rPr>
              <a:t>Head-down bed rest is the established ground analogue: it unloads the legs under controlled conditions</a:t>
            </a:r>
            <a:endParaRPr lang="en-US" sz="1700" dirty="0"/>
          </a:p>
          <a:p>
            <a:pPr marL="342900" indent="-342900">
              <a:spcAft>
                <a:spcPts val="400"/>
              </a:spcAft>
              <a:buSzPct val="100000"/>
              <a:buChar char="•"/>
            </a:pPr>
            <a:r>
              <a:rPr lang="en-US" sz="1400" dirty="0">
                <a:solidFill>
                  <a:schemeClr val="tx1"/>
                </a:solidFill>
              </a:rPr>
              <a:t>Not equivalent to spaceflight, but a sound basis to build and test prediction models</a:t>
            </a:r>
            <a:endParaRPr lang="en-US" sz="1700" dirty="0"/>
          </a:p>
          <a:p>
            <a:pPr indent="0" marL="0">
              <a:spcBef>
                <a:spcPts val="1000"/>
              </a:spcBef>
              <a:spcAft>
                <a:spcPts val="300"/>
              </a:spcAft>
              <a:buNone/>
            </a:pPr>
            <a:r>
              <a:rPr lang="en-US" sz="1700" b="1" dirty="0">
                <a:solidFill>
                  <a:schemeClr val="tx2"/>
                </a:solidFill>
              </a:rPr>
              <a:t>Mars: the long-term application</a:t>
            </a:r>
            <a:endParaRPr lang="en-US" sz="1700" dirty="0"/>
          </a:p>
          <a:p>
            <a:pPr marL="342900" indent="-342900">
              <a:spcAft>
                <a:spcPts val="400"/>
              </a:spcAft>
              <a:buSzPct val="100000"/>
              <a:buChar char="•"/>
            </a:pPr>
            <a:r>
              <a:rPr lang="en-US" sz="1400" dirty="0">
                <a:solidFill>
                  <a:schemeClr val="tx1"/>
                </a:solidFill>
              </a:rPr>
              <a:t>A Mars mission lasts years, not days: about 6 months of transit each way</a:t>
            </a:r>
            <a:endParaRPr lang="en-US" sz="1700" dirty="0"/>
          </a:p>
          <a:p>
            <a:pPr marL="342900" indent="-342900">
              <a:spcAft>
                <a:spcPts val="400"/>
              </a:spcAft>
              <a:buSzPct val="100000"/>
              <a:buChar char="•"/>
            </a:pPr>
            <a:r>
              <a:rPr lang="en-US" sz="1400" dirty="0">
                <a:solidFill>
                  <a:schemeClr val="tx1"/>
                </a:solidFill>
              </a:rPr>
              <a:t>No early return in an emergency: the crew depends on its own fitness</a:t>
            </a:r>
            <a:endParaRPr lang="en-US" sz="1700" dirty="0"/>
          </a:p>
          <a:p>
            <a:pPr marL="342900" indent="-342900">
              <a:spcAft>
                <a:spcPts val="400"/>
              </a:spcAft>
              <a:buSzPct val="100000"/>
              <a:buChar char="•"/>
            </a:pPr>
            <a:r>
              <a:rPr lang="en-US" sz="1400" dirty="0">
                <a:solidFill>
                  <a:schemeClr val="tx1"/>
                </a:solidFill>
              </a:rPr>
              <a:t>After months in weightlessness, the crew must leave the spacecraft and work on the surface</a:t>
            </a:r>
            <a:endParaRPr lang="en-US" sz="1700" dirty="0"/>
          </a:p>
        </p:txBody>
      </p:sp>
      <p:sp>
        <p:nvSpPr>
          <p:cNvPr id="12" name="Mission panel"/>
          <p:cNvSpPr/>
          <p:nvPr/>
        </p:nvSpPr>
        <p:spPr>
          <a:xfrm>
            <a:off x="6492240" y="1188720"/>
            <a:ext cx="5148072" cy="3520440"/>
          </a:xfrm>
          <a:prstGeom prst="rect">
            <a:avLst/>
          </a:prstGeom>
          <a:solidFill>
            <a:schemeClr val="bg2"/>
          </a:solidFill>
          <a:ln/>
        </p:spPr>
      </p:sp>
      <p:sp>
        <p:nvSpPr>
          <p:cNvPr id="13" name="Text 11"/>
          <p:cNvSpPr txBox="1"/>
          <p:nvPr/>
        </p:nvSpPr>
        <p:spPr>
          <a:xfrm>
            <a:off x="6675120" y="1280160"/>
            <a:ext cx="4782312" cy="274320"/>
          </a:xfrm>
          <a:prstGeom prst="rect">
            <a:avLst/>
          </a:prstGeom>
          <a:noFill/>
          <a:ln/>
        </p:spPr>
        <p:txBody>
          <a:bodyPr wrap="square" lIns="0" tIns="0" rIns="0" bIns="0" rtlCol="0" anchor="t"/>
          <a:lstStyle/>
          <a:p>
            <a:pPr indent="0" marL="0">
              <a:buNone/>
            </a:pPr>
            <a:r>
              <a:rPr lang="en-US" sz="1400" b="1" dirty="0">
                <a:solidFill>
                  <a:schemeClr val="tx2"/>
                </a:solidFill>
              </a:rPr>
              <a:t>Moon mission vs Mars mission</a:t>
            </a:r>
            <a:endParaRPr lang="en-US" sz="1400" dirty="0"/>
          </a:p>
        </p:txBody>
      </p:sp>
      <p:sp>
        <p:nvSpPr>
          <p:cNvPr id="14" name="Earth"/>
          <p:cNvSpPr/>
          <p:nvPr/>
        </p:nvSpPr>
        <p:spPr>
          <a:xfrm>
            <a:off x="6675120" y="1828800"/>
            <a:ext cx="548640" cy="548640"/>
          </a:xfrm>
          <a:prstGeom prst="ellipse">
            <a:avLst/>
          </a:prstGeom>
          <a:solidFill>
            <a:srgbClr val="1F3A5F"/>
          </a:solidFill>
          <a:ln/>
        </p:spPr>
      </p:sp>
      <p:pic>
        <p:nvPicPr>
          <p:cNvPr id="15" name="Image 0" descr="Earth (photo map, semi-transparent)">    </p:cNvPr>
          <p:cNvPicPr>
            <a:picLocks noChangeAspect="1"/>
          </p:cNvPicPr>
          <p:nvPr/>
        </p:nvPicPr>
        <p:blipFill>
          <a:blip r:embed="rId1"/>
          <a:stretch>
            <a:fillRect/>
          </a:stretch>
        </p:blipFill>
        <p:spPr>
          <a:xfrm>
            <a:off x="6675120" y="1828800"/>
            <a:ext cx="548640" cy="548640"/>
          </a:xfrm>
          <a:prstGeom prst="rect">
            <a:avLst/>
          </a:prstGeom>
        </p:spPr>
      </p:pic>
      <p:sp>
        <p:nvSpPr>
          <p:cNvPr id="16" name="Text 13"/>
          <p:cNvSpPr txBox="1"/>
          <p:nvPr/>
        </p:nvSpPr>
        <p:spPr>
          <a:xfrm>
            <a:off x="640080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Earth</a:t>
            </a:r>
            <a:endParaRPr lang="en-US" sz="1100" dirty="0"/>
          </a:p>
        </p:txBody>
      </p:sp>
      <p:sp>
        <p:nvSpPr>
          <p:cNvPr id="17" name="Moon"/>
          <p:cNvSpPr/>
          <p:nvPr/>
        </p:nvSpPr>
        <p:spPr>
          <a:xfrm>
            <a:off x="7863840" y="1965960"/>
            <a:ext cx="274320" cy="274320"/>
          </a:xfrm>
          <a:prstGeom prst="ellipse">
            <a:avLst/>
          </a:prstGeom>
          <a:solidFill>
            <a:srgbClr val="A7AEB8"/>
          </a:solidFill>
          <a:ln/>
        </p:spPr>
      </p:sp>
      <p:pic>
        <p:nvPicPr>
          <p:cNvPr id="18" name="Image 1" descr="Moon (photo map, semi-transparent)">    </p:cNvPr>
          <p:cNvPicPr>
            <a:picLocks noChangeAspect="1"/>
          </p:cNvPicPr>
          <p:nvPr/>
        </p:nvPicPr>
        <p:blipFill>
          <a:blip r:embed="rId2"/>
          <a:stretch>
            <a:fillRect/>
          </a:stretch>
        </p:blipFill>
        <p:spPr>
          <a:xfrm>
            <a:off x="7863840" y="1965960"/>
            <a:ext cx="274320" cy="274320"/>
          </a:xfrm>
          <a:prstGeom prst="rect">
            <a:avLst/>
          </a:prstGeom>
        </p:spPr>
      </p:pic>
      <p:sp>
        <p:nvSpPr>
          <p:cNvPr id="19" name="Text 15"/>
          <p:cNvSpPr txBox="1"/>
          <p:nvPr/>
        </p:nvSpPr>
        <p:spPr>
          <a:xfrm>
            <a:off x="745236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Moon</a:t>
            </a:r>
            <a:endParaRPr lang="en-US" sz="1100" dirty="0"/>
          </a:p>
        </p:txBody>
      </p:sp>
      <p:sp>
        <p:nvSpPr>
          <p:cNvPr id="20" name="Mars"/>
          <p:cNvSpPr/>
          <p:nvPr/>
        </p:nvSpPr>
        <p:spPr>
          <a:xfrm>
            <a:off x="10927080" y="1874520"/>
            <a:ext cx="457200" cy="457200"/>
          </a:xfrm>
          <a:prstGeom prst="ellipse">
            <a:avLst/>
          </a:prstGeom>
          <a:solidFill>
            <a:srgbClr val="A23B2A"/>
          </a:solidFill>
          <a:ln/>
        </p:spPr>
      </p:sp>
      <p:pic>
        <p:nvPicPr>
          <p:cNvPr id="21" name="Image 2" descr="Mars (photo map, semi-transparent)">    </p:cNvPr>
          <p:cNvPicPr>
            <a:picLocks noChangeAspect="1"/>
          </p:cNvPicPr>
          <p:nvPr/>
        </p:nvPicPr>
        <p:blipFill>
          <a:blip r:embed="rId3"/>
          <a:stretch>
            <a:fillRect/>
          </a:stretch>
        </p:blipFill>
        <p:spPr>
          <a:xfrm>
            <a:off x="10927080" y="1874520"/>
            <a:ext cx="457200" cy="457200"/>
          </a:xfrm>
          <a:prstGeom prst="rect">
            <a:avLst/>
          </a:prstGeom>
        </p:spPr>
      </p:pic>
      <p:sp>
        <p:nvSpPr>
          <p:cNvPr id="22" name="Text 17"/>
          <p:cNvSpPr txBox="1"/>
          <p:nvPr/>
        </p:nvSpPr>
        <p:spPr>
          <a:xfrm>
            <a:off x="1060704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Mars</a:t>
            </a:r>
            <a:endParaRPr lang="en-US" sz="1100" dirty="0"/>
          </a:p>
        </p:txBody>
      </p:sp>
      <p:sp>
        <p:nvSpPr>
          <p:cNvPr id="23" name="Route to Moon"/>
          <p:cNvSpPr/>
          <p:nvPr/>
        </p:nvSpPr>
        <p:spPr>
          <a:xfrm>
            <a:off x="7251192" y="2103120"/>
            <a:ext cx="594360" cy="0"/>
          </a:xfrm>
          <a:prstGeom prst="line">
            <a:avLst/>
          </a:prstGeom>
          <a:noFill/>
          <a:ln w="12700">
            <a:solidFill>
              <a:srgbClr val="6B7280"/>
            </a:solidFill>
            <a:prstDash val="dash"/>
            <a:tailEnd type="triangle"/>
          </a:ln>
        </p:spPr>
      </p:sp>
      <p:sp>
        <p:nvSpPr>
          <p:cNvPr id="24" name="Text 19"/>
          <p:cNvSpPr txBox="1"/>
          <p:nvPr/>
        </p:nvSpPr>
        <p:spPr>
          <a:xfrm>
            <a:off x="7251192" y="1810512"/>
            <a:ext cx="594360" cy="228600"/>
          </a:xfrm>
          <a:prstGeom prst="rect">
            <a:avLst/>
          </a:prstGeom>
          <a:noFill/>
          <a:ln/>
        </p:spPr>
        <p:txBody>
          <a:bodyPr wrap="square" lIns="0" tIns="0" rIns="0" bIns="0" rtlCol="0" anchor="t"/>
          <a:lstStyle/>
          <a:p>
            <a:pPr algn="ctr" indent="0" marL="0">
              <a:buNone/>
            </a:pPr>
            <a:r>
              <a:rPr lang="en-US" sz="1100" i="1" dirty="0">
                <a:solidFill>
                  <a:schemeClr val="tx2"/>
                </a:solidFill>
              </a:rPr>
              <a:t>3 days</a:t>
            </a:r>
            <a:endParaRPr lang="en-US" sz="1100" dirty="0"/>
          </a:p>
        </p:txBody>
      </p:sp>
      <p:sp>
        <p:nvSpPr>
          <p:cNvPr id="25" name="Route to Mars"/>
          <p:cNvSpPr/>
          <p:nvPr/>
        </p:nvSpPr>
        <p:spPr>
          <a:xfrm>
            <a:off x="8183880" y="2103120"/>
            <a:ext cx="2724912" cy="0"/>
          </a:xfrm>
          <a:prstGeom prst="line">
            <a:avLst/>
          </a:prstGeom>
          <a:noFill/>
          <a:ln w="12700">
            <a:solidFill>
              <a:srgbClr val="6B7280"/>
            </a:solidFill>
            <a:prstDash val="dash"/>
            <a:tailEnd type="triangle"/>
          </a:ln>
        </p:spPr>
      </p:sp>
      <p:sp>
        <p:nvSpPr>
          <p:cNvPr id="26" name="Text 21"/>
          <p:cNvSpPr txBox="1"/>
          <p:nvPr/>
        </p:nvSpPr>
        <p:spPr>
          <a:xfrm>
            <a:off x="8183880" y="1810512"/>
            <a:ext cx="2724912" cy="228600"/>
          </a:xfrm>
          <a:prstGeom prst="rect">
            <a:avLst/>
          </a:prstGeom>
          <a:noFill/>
          <a:ln/>
        </p:spPr>
        <p:txBody>
          <a:bodyPr wrap="square" lIns="0" tIns="0" rIns="0" bIns="0" rtlCol="0" anchor="t"/>
          <a:lstStyle/>
          <a:p>
            <a:pPr algn="ctr" indent="0" marL="0">
              <a:buNone/>
            </a:pPr>
            <a:r>
              <a:rPr lang="en-US" sz="1100" i="1" dirty="0">
                <a:solidFill>
                  <a:schemeClr val="tx2"/>
                </a:solidFill>
              </a:rPr>
              <a:t>about 6 months, one way</a:t>
            </a:r>
            <a:endParaRPr lang="en-US" sz="1100" dirty="0"/>
          </a:p>
        </p:txBody>
      </p:sp>
      <p:sp>
        <p:nvSpPr>
          <p:cNvPr id="27" name="Text 22"/>
          <p:cNvSpPr txBox="1"/>
          <p:nvPr/>
        </p:nvSpPr>
        <p:spPr>
          <a:xfrm>
            <a:off x="6675120" y="2788920"/>
            <a:ext cx="1691640" cy="502920"/>
          </a:xfrm>
          <a:prstGeom prst="rect">
            <a:avLst/>
          </a:prstGeom>
          <a:noFill/>
          <a:ln/>
        </p:spPr>
        <p:txBody>
          <a:bodyPr wrap="square" lIns="0" tIns="0" rIns="0" bIns="0" rtlCol="0" anchor="t"/>
          <a:lstStyle/>
          <a:p>
            <a:pPr indent="0" marL="0">
              <a:buNone/>
            </a:pPr>
            <a:r>
              <a:rPr lang="en-US" sz="1300" b="1" dirty="0">
                <a:solidFill>
                  <a:schemeClr val="tx1"/>
                </a:solidFill>
              </a:rPr>
              <a:t>Moon mission</a:t>
            </a:r>
            <a:endParaRPr lang="en-US" sz="1300" dirty="0"/>
          </a:p>
          <a:p>
            <a:pPr indent="0" marL="0">
              <a:buNone/>
            </a:pPr>
            <a:r>
              <a:rPr lang="en-US" sz="1050" i="1" dirty="0">
                <a:solidFill>
                  <a:schemeClr val="accent3"/>
                </a:solidFill>
              </a:rPr>
              <a:t>about 12 days</a:t>
            </a:r>
            <a:endParaRPr lang="en-US" sz="1300" dirty="0"/>
          </a:p>
        </p:txBody>
      </p:sp>
      <p:sp>
        <p:nvSpPr>
          <p:cNvPr id="28" name="Moon mission bar"/>
          <p:cNvSpPr/>
          <p:nvPr/>
        </p:nvSpPr>
        <p:spPr>
          <a:xfrm>
            <a:off x="8229600" y="2880360"/>
            <a:ext cx="42672" cy="292608"/>
          </a:xfrm>
          <a:prstGeom prst="rect">
            <a:avLst/>
          </a:prstGeom>
          <a:solidFill>
            <a:srgbClr val="6B7280"/>
          </a:solidFill>
          <a:ln/>
        </p:spPr>
      </p:sp>
      <p:sp>
        <p:nvSpPr>
          <p:cNvPr id="29" name="Text 24"/>
          <p:cNvSpPr txBox="1"/>
          <p:nvPr/>
        </p:nvSpPr>
        <p:spPr>
          <a:xfrm>
            <a:off x="8327136" y="2880360"/>
            <a:ext cx="1828800" cy="292608"/>
          </a:xfrm>
          <a:prstGeom prst="rect">
            <a:avLst/>
          </a:prstGeom>
          <a:noFill/>
          <a:ln/>
        </p:spPr>
        <p:txBody>
          <a:bodyPr wrap="square" lIns="0" tIns="0" rIns="0" bIns="0" rtlCol="0" anchor="ctr"/>
          <a:lstStyle/>
          <a:p>
            <a:pPr indent="0" marL="0">
              <a:buNone/>
            </a:pPr>
            <a:r>
              <a:rPr lang="en-US" sz="1050" i="1" dirty="0">
                <a:solidFill>
                  <a:schemeClr val="accent3"/>
                </a:solidFill>
              </a:rPr>
              <a:t>◄ the whole mission</a:t>
            </a:r>
            <a:endParaRPr lang="en-US" sz="1050" dirty="0"/>
          </a:p>
        </p:txBody>
      </p:sp>
      <p:sp>
        <p:nvSpPr>
          <p:cNvPr id="30" name="Text 25"/>
          <p:cNvSpPr txBox="1"/>
          <p:nvPr/>
        </p:nvSpPr>
        <p:spPr>
          <a:xfrm>
            <a:off x="6675120" y="3474720"/>
            <a:ext cx="1691640" cy="502920"/>
          </a:xfrm>
          <a:prstGeom prst="rect">
            <a:avLst/>
          </a:prstGeom>
          <a:noFill/>
          <a:ln/>
        </p:spPr>
        <p:txBody>
          <a:bodyPr wrap="square" lIns="0" tIns="0" rIns="0" bIns="0" rtlCol="0" anchor="t"/>
          <a:lstStyle/>
          <a:p>
            <a:pPr indent="0" marL="0">
              <a:buNone/>
            </a:pPr>
            <a:r>
              <a:rPr lang="en-US" sz="1300" b="1" dirty="0">
                <a:solidFill>
                  <a:schemeClr val="tx1"/>
                </a:solidFill>
              </a:rPr>
              <a:t>Mars mission</a:t>
            </a:r>
            <a:endParaRPr lang="en-US" sz="1300" dirty="0"/>
          </a:p>
          <a:p>
            <a:pPr indent="0" marL="0">
              <a:buNone/>
            </a:pPr>
            <a:r>
              <a:rPr lang="en-US" sz="1050" i="1" dirty="0">
                <a:solidFill>
                  <a:schemeClr val="accent3"/>
                </a:solidFill>
              </a:rPr>
              <a:t>about 2.5 years</a:t>
            </a:r>
            <a:endParaRPr lang="en-US" sz="1300" dirty="0"/>
          </a:p>
        </p:txBody>
      </p:sp>
      <p:sp>
        <p:nvSpPr>
          <p:cNvPr id="31" name="Mars to Mars"/>
          <p:cNvSpPr/>
          <p:nvPr/>
        </p:nvSpPr>
        <p:spPr>
          <a:xfrm>
            <a:off x="8229600" y="3566160"/>
            <a:ext cx="640080" cy="292608"/>
          </a:xfrm>
          <a:prstGeom prst="rect">
            <a:avLst/>
          </a:prstGeom>
          <a:solidFill>
            <a:srgbClr val="A23B2A"/>
          </a:solidFill>
          <a:ln w="12700">
            <a:solidFill>
              <a:srgbClr val="FFFFFF"/>
            </a:solidFill>
            <a:prstDash val="solid"/>
          </a:ln>
        </p:spPr>
      </p:sp>
      <p:sp>
        <p:nvSpPr>
          <p:cNvPr id="32" name="Text 27"/>
          <p:cNvSpPr txBox="1"/>
          <p:nvPr/>
        </p:nvSpPr>
        <p:spPr>
          <a:xfrm>
            <a:off x="8229600" y="3566160"/>
            <a:ext cx="640080" cy="292608"/>
          </a:xfrm>
          <a:prstGeom prst="rect">
            <a:avLst/>
          </a:prstGeom>
          <a:noFill/>
          <a:ln/>
        </p:spPr>
        <p:txBody>
          <a:bodyPr wrap="square" lIns="0" tIns="0" rIns="0" bIns="0" rtlCol="0" anchor="ctr"/>
          <a:lstStyle/>
          <a:p>
            <a:pPr algn="ctr" indent="0" marL="0">
              <a:buNone/>
            </a:pPr>
            <a:r>
              <a:rPr lang="en-US" sz="1000" b="1" dirty="0">
                <a:solidFill>
                  <a:schemeClr val="bg1"/>
                </a:solidFill>
              </a:rPr>
              <a:t>to Mars</a:t>
            </a:r>
            <a:endParaRPr lang="en-US" sz="1000" dirty="0"/>
          </a:p>
        </p:txBody>
      </p:sp>
      <p:sp>
        <p:nvSpPr>
          <p:cNvPr id="33" name="Mars on Mars, about 500 days"/>
          <p:cNvSpPr/>
          <p:nvPr/>
        </p:nvSpPr>
        <p:spPr>
          <a:xfrm>
            <a:off x="8869680" y="3566160"/>
            <a:ext cx="1778000" cy="292608"/>
          </a:xfrm>
          <a:prstGeom prst="rect">
            <a:avLst/>
          </a:prstGeom>
          <a:solidFill>
            <a:srgbClr val="A23B2A">
              <a:alpha val="55000"/>
            </a:srgbClr>
          </a:solidFill>
          <a:ln w="12700">
            <a:solidFill>
              <a:srgbClr val="FFFFFF"/>
            </a:solidFill>
            <a:prstDash val="solid"/>
          </a:ln>
        </p:spPr>
      </p:sp>
      <p:sp>
        <p:nvSpPr>
          <p:cNvPr id="34" name="Text 29"/>
          <p:cNvSpPr txBox="1"/>
          <p:nvPr/>
        </p:nvSpPr>
        <p:spPr>
          <a:xfrm>
            <a:off x="8869680" y="3566160"/>
            <a:ext cx="1778000" cy="292608"/>
          </a:xfrm>
          <a:prstGeom prst="rect">
            <a:avLst/>
          </a:prstGeom>
          <a:noFill/>
          <a:ln/>
        </p:spPr>
        <p:txBody>
          <a:bodyPr wrap="square" lIns="0" tIns="0" rIns="0" bIns="0" rtlCol="0" anchor="ctr"/>
          <a:lstStyle/>
          <a:p>
            <a:pPr algn="ctr" indent="0" marL="0">
              <a:buNone/>
            </a:pPr>
            <a:r>
              <a:rPr lang="en-US" sz="1000" b="1" dirty="0">
                <a:solidFill>
                  <a:schemeClr val="tx1"/>
                </a:solidFill>
              </a:rPr>
              <a:t>on Mars, about 500 days</a:t>
            </a:r>
            <a:endParaRPr lang="en-US" sz="1000" dirty="0"/>
          </a:p>
        </p:txBody>
      </p:sp>
      <p:sp>
        <p:nvSpPr>
          <p:cNvPr id="35" name="Mars home"/>
          <p:cNvSpPr/>
          <p:nvPr/>
        </p:nvSpPr>
        <p:spPr>
          <a:xfrm>
            <a:off x="10647680" y="3566160"/>
            <a:ext cx="640080" cy="292608"/>
          </a:xfrm>
          <a:prstGeom prst="rect">
            <a:avLst/>
          </a:prstGeom>
          <a:solidFill>
            <a:srgbClr val="A23B2A"/>
          </a:solidFill>
          <a:ln w="12700">
            <a:solidFill>
              <a:srgbClr val="FFFFFF"/>
            </a:solidFill>
            <a:prstDash val="solid"/>
          </a:ln>
        </p:spPr>
      </p:sp>
      <p:sp>
        <p:nvSpPr>
          <p:cNvPr id="36" name="Text 31"/>
          <p:cNvSpPr txBox="1"/>
          <p:nvPr/>
        </p:nvSpPr>
        <p:spPr>
          <a:xfrm>
            <a:off x="10647680" y="3566160"/>
            <a:ext cx="640080" cy="292608"/>
          </a:xfrm>
          <a:prstGeom prst="rect">
            <a:avLst/>
          </a:prstGeom>
          <a:noFill/>
          <a:ln/>
        </p:spPr>
        <p:txBody>
          <a:bodyPr wrap="square" lIns="0" tIns="0" rIns="0" bIns="0" rtlCol="0" anchor="ctr"/>
          <a:lstStyle/>
          <a:p>
            <a:pPr algn="ctr" indent="0" marL="0">
              <a:buNone/>
            </a:pPr>
            <a:r>
              <a:rPr lang="en-US" sz="1000" b="1" dirty="0">
                <a:solidFill>
                  <a:schemeClr val="bg1"/>
                </a:solidFill>
              </a:rPr>
              <a:t>home</a:t>
            </a:r>
            <a:endParaRPr lang="en-US" sz="1000" dirty="0"/>
          </a:p>
        </p:txBody>
      </p:sp>
      <p:sp>
        <p:nvSpPr>
          <p:cNvPr id="37" name="Arrival marker"/>
          <p:cNvSpPr/>
          <p:nvPr/>
        </p:nvSpPr>
        <p:spPr>
          <a:xfrm>
            <a:off x="8869680" y="3886200"/>
            <a:ext cx="0" cy="182880"/>
          </a:xfrm>
          <a:prstGeom prst="line">
            <a:avLst/>
          </a:prstGeom>
          <a:noFill/>
          <a:ln w="12700">
            <a:solidFill>
              <a:srgbClr val="1A1A1A"/>
            </a:solidFill>
            <a:prstDash val="solid"/>
            <a:headEnd type="triangle"/>
          </a:ln>
        </p:spPr>
      </p:sp>
      <p:sp>
        <p:nvSpPr>
          <p:cNvPr id="38" name="Text 33"/>
          <p:cNvSpPr txBox="1"/>
          <p:nvPr/>
        </p:nvSpPr>
        <p:spPr>
          <a:xfrm>
            <a:off x="8321040" y="4087368"/>
            <a:ext cx="3749040" cy="228600"/>
          </a:xfrm>
          <a:prstGeom prst="rect">
            <a:avLst/>
          </a:prstGeom>
          <a:noFill/>
          <a:ln/>
        </p:spPr>
        <p:txBody>
          <a:bodyPr wrap="square" lIns="0" tIns="0" rIns="0" bIns="0" rtlCol="0" anchor="t"/>
          <a:lstStyle/>
          <a:p>
            <a:pPr algn="l" indent="0" marL="0">
              <a:buNone/>
            </a:pPr>
            <a:r>
              <a:rPr lang="en-US" sz="1050" i="1" dirty="0">
                <a:solidFill>
                  <a:schemeClr val="tx2"/>
                </a:solidFill>
              </a:rPr>
              <a:t>arrival: 6 months weightless, then surface work</a:t>
            </a:r>
            <a:endParaRPr lang="en-US" sz="1050" dirty="0"/>
          </a:p>
        </p:txBody>
      </p:sp>
      <p:sp>
        <p:nvSpPr>
          <p:cNvPr id="39" name="Time axis"/>
          <p:cNvSpPr/>
          <p:nvPr/>
        </p:nvSpPr>
        <p:spPr>
          <a:xfrm>
            <a:off x="8229600" y="4434840"/>
            <a:ext cx="3200400" cy="0"/>
          </a:xfrm>
          <a:prstGeom prst="line">
            <a:avLst/>
          </a:prstGeom>
          <a:noFill/>
          <a:ln w="9525">
            <a:solidFill>
              <a:srgbClr val="6B7280"/>
            </a:solidFill>
            <a:prstDash val="solid"/>
          </a:ln>
        </p:spPr>
      </p:sp>
      <p:sp>
        <p:nvSpPr>
          <p:cNvPr id="40" name="Tick 0"/>
          <p:cNvSpPr/>
          <p:nvPr/>
        </p:nvSpPr>
        <p:spPr>
          <a:xfrm>
            <a:off x="8229600" y="4434840"/>
            <a:ext cx="0" cy="54864"/>
          </a:xfrm>
          <a:prstGeom prst="line">
            <a:avLst/>
          </a:prstGeom>
          <a:noFill/>
          <a:ln w="9525">
            <a:solidFill>
              <a:srgbClr val="6B7280"/>
            </a:solidFill>
            <a:prstDash val="solid"/>
          </a:ln>
        </p:spPr>
      </p:sp>
      <p:sp>
        <p:nvSpPr>
          <p:cNvPr id="41" name="Text 36"/>
          <p:cNvSpPr txBox="1"/>
          <p:nvPr/>
        </p:nvSpPr>
        <p:spPr>
          <a:xfrm>
            <a:off x="786384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42" name="Tick 1 year"/>
          <p:cNvSpPr/>
          <p:nvPr/>
        </p:nvSpPr>
        <p:spPr>
          <a:xfrm>
            <a:off x="9527540" y="4434840"/>
            <a:ext cx="0" cy="54864"/>
          </a:xfrm>
          <a:prstGeom prst="line">
            <a:avLst/>
          </a:prstGeom>
          <a:noFill/>
          <a:ln w="9525">
            <a:solidFill>
              <a:srgbClr val="6B7280"/>
            </a:solidFill>
            <a:prstDash val="solid"/>
          </a:ln>
        </p:spPr>
      </p:sp>
      <p:sp>
        <p:nvSpPr>
          <p:cNvPr id="43" name="Text 38"/>
          <p:cNvSpPr txBox="1"/>
          <p:nvPr/>
        </p:nvSpPr>
        <p:spPr>
          <a:xfrm>
            <a:off x="916178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1 year</a:t>
            </a:r>
            <a:endParaRPr lang="en-US" sz="1000" dirty="0"/>
          </a:p>
        </p:txBody>
      </p:sp>
      <p:sp>
        <p:nvSpPr>
          <p:cNvPr id="44" name="Tick 2 years"/>
          <p:cNvSpPr/>
          <p:nvPr/>
        </p:nvSpPr>
        <p:spPr>
          <a:xfrm>
            <a:off x="10825480" y="4434840"/>
            <a:ext cx="0" cy="54864"/>
          </a:xfrm>
          <a:prstGeom prst="line">
            <a:avLst/>
          </a:prstGeom>
          <a:noFill/>
          <a:ln w="9525">
            <a:solidFill>
              <a:srgbClr val="6B7280"/>
            </a:solidFill>
            <a:prstDash val="solid"/>
          </a:ln>
        </p:spPr>
      </p:sp>
      <p:sp>
        <p:nvSpPr>
          <p:cNvPr id="45" name="Text 40"/>
          <p:cNvSpPr txBox="1"/>
          <p:nvPr/>
        </p:nvSpPr>
        <p:spPr>
          <a:xfrm>
            <a:off x="1045972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2 years</a:t>
            </a:r>
            <a:endParaRPr lang="en-US" sz="1000" dirty="0"/>
          </a:p>
        </p:txBody>
      </p:sp>
      <p:sp>
        <p:nvSpPr>
          <p:cNvPr id="46" name="Step 1"/>
          <p:cNvSpPr/>
          <p:nvPr/>
        </p:nvSpPr>
        <p:spPr>
          <a:xfrm>
            <a:off x="548640" y="4983480"/>
            <a:ext cx="2423160" cy="685800"/>
          </a:xfrm>
          <a:prstGeom prst="rect">
            <a:avLst/>
          </a:prstGeom>
          <a:solidFill>
            <a:srgbClr val="FFFFFF"/>
          </a:solidFill>
          <a:ln w="12700">
            <a:solidFill>
              <a:srgbClr val="9AA3AE"/>
            </a:solidFill>
            <a:prstDash val="solid"/>
          </a:ln>
        </p:spPr>
      </p:sp>
      <p:sp>
        <p:nvSpPr>
          <p:cNvPr id="47" name="Text 42"/>
          <p:cNvSpPr txBox="1"/>
          <p:nvPr/>
        </p:nvSpPr>
        <p:spPr>
          <a:xfrm>
            <a:off x="64008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Bed-rest studies</a:t>
            </a:r>
            <a:endParaRPr lang="en-US" sz="1400" dirty="0"/>
          </a:p>
          <a:p>
            <a:pPr algn="ctr" indent="0" marL="0">
              <a:buNone/>
            </a:pPr>
            <a:r>
              <a:rPr lang="en-US" sz="1100" i="1" dirty="0">
                <a:solidFill>
                  <a:schemeClr val="tx1"/>
                </a:solidFill>
              </a:rPr>
              <a:t>ground analogue</a:t>
            </a:r>
            <a:endParaRPr lang="en-US" sz="1400" dirty="0"/>
          </a:p>
        </p:txBody>
      </p:sp>
      <p:sp>
        <p:nvSpPr>
          <p:cNvPr id="48" name="Step 2"/>
          <p:cNvSpPr/>
          <p:nvPr/>
        </p:nvSpPr>
        <p:spPr>
          <a:xfrm>
            <a:off x="3429000" y="4983480"/>
            <a:ext cx="2423160" cy="685800"/>
          </a:xfrm>
          <a:prstGeom prst="rect">
            <a:avLst/>
          </a:prstGeom>
          <a:solidFill>
            <a:srgbClr val="1F3A5F"/>
          </a:solidFill>
          <a:ln w="12700">
            <a:solidFill>
              <a:srgbClr val="1F3A5F"/>
            </a:solidFill>
            <a:prstDash val="solid"/>
          </a:ln>
        </p:spPr>
      </p:sp>
      <p:sp>
        <p:nvSpPr>
          <p:cNvPr id="49" name="Text 44"/>
          <p:cNvSpPr txBox="1"/>
          <p:nvPr/>
        </p:nvSpPr>
        <p:spPr>
          <a:xfrm>
            <a:off x="3520440" y="4983480"/>
            <a:ext cx="2240280" cy="685800"/>
          </a:xfrm>
          <a:prstGeom prst="rect">
            <a:avLst/>
          </a:prstGeom>
          <a:noFill/>
          <a:ln/>
        </p:spPr>
        <p:txBody>
          <a:bodyPr wrap="square" lIns="0" tIns="0" rIns="0" bIns="0" rtlCol="0" anchor="ctr"/>
          <a:lstStyle/>
          <a:p>
            <a:pPr algn="ctr" indent="0" marL="0">
              <a:buNone/>
            </a:pPr>
            <a:r>
              <a:rPr lang="en-US" sz="1400" b="1" dirty="0">
                <a:solidFill>
                  <a:schemeClr val="bg1"/>
                </a:solidFill>
              </a:rPr>
              <a:t>Atrophy prediction</a:t>
            </a:r>
            <a:endParaRPr lang="en-US" sz="1400" dirty="0"/>
          </a:p>
          <a:p>
            <a:pPr algn="ctr" indent="0" marL="0">
              <a:buNone/>
            </a:pPr>
            <a:r>
              <a:rPr lang="en-US" sz="1100" i="1" dirty="0">
                <a:solidFill>
                  <a:schemeClr val="bg1"/>
                </a:solidFill>
              </a:rPr>
              <a:t>this work</a:t>
            </a:r>
            <a:endParaRPr lang="en-US" sz="1400" dirty="0"/>
          </a:p>
        </p:txBody>
      </p:sp>
      <p:sp>
        <p:nvSpPr>
          <p:cNvPr id="50" name="Step 3"/>
          <p:cNvSpPr/>
          <p:nvPr/>
        </p:nvSpPr>
        <p:spPr>
          <a:xfrm>
            <a:off x="6309360" y="4983480"/>
            <a:ext cx="2423160" cy="685800"/>
          </a:xfrm>
          <a:prstGeom prst="rect">
            <a:avLst/>
          </a:prstGeom>
          <a:solidFill>
            <a:srgbClr val="FFFFFF"/>
          </a:solidFill>
          <a:ln w="12700">
            <a:solidFill>
              <a:srgbClr val="9AA3AE"/>
            </a:solidFill>
            <a:prstDash val="dash"/>
          </a:ln>
        </p:spPr>
      </p:sp>
      <p:sp>
        <p:nvSpPr>
          <p:cNvPr id="51" name="Text 46"/>
          <p:cNvSpPr txBox="1"/>
          <p:nvPr/>
        </p:nvSpPr>
        <p:spPr>
          <a:xfrm>
            <a:off x="640080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Strength and power assessment</a:t>
            </a:r>
            <a:endParaRPr lang="en-US" sz="1400" dirty="0"/>
          </a:p>
        </p:txBody>
      </p:sp>
      <p:sp>
        <p:nvSpPr>
          <p:cNvPr id="52" name="Step 4"/>
          <p:cNvSpPr/>
          <p:nvPr/>
        </p:nvSpPr>
        <p:spPr>
          <a:xfrm>
            <a:off x="9189720" y="4983480"/>
            <a:ext cx="2423160" cy="685800"/>
          </a:xfrm>
          <a:prstGeom prst="rect">
            <a:avLst/>
          </a:prstGeom>
          <a:solidFill>
            <a:srgbClr val="FFFFFF"/>
          </a:solidFill>
          <a:ln w="12700">
            <a:solidFill>
              <a:srgbClr val="9AA3AE"/>
            </a:solidFill>
            <a:prstDash val="dash"/>
          </a:ln>
        </p:spPr>
      </p:sp>
      <p:sp>
        <p:nvSpPr>
          <p:cNvPr id="53" name="Text 48"/>
          <p:cNvSpPr txBox="1"/>
          <p:nvPr/>
        </p:nvSpPr>
        <p:spPr>
          <a:xfrm>
            <a:off x="928116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Operational readiness on arrival</a:t>
            </a:r>
            <a:endParaRPr lang="en-US" sz="1400" dirty="0"/>
          </a:p>
        </p:txBody>
      </p:sp>
      <p:sp>
        <p:nvSpPr>
          <p:cNvPr id="54" name="Arrow 1"/>
          <p:cNvSpPr/>
          <p:nvPr/>
        </p:nvSpPr>
        <p:spPr>
          <a:xfrm>
            <a:off x="3017520" y="5326380"/>
            <a:ext cx="365760" cy="0"/>
          </a:xfrm>
          <a:prstGeom prst="line">
            <a:avLst/>
          </a:prstGeom>
          <a:noFill/>
          <a:ln w="15875">
            <a:solidFill>
              <a:srgbClr val="1A1A1A"/>
            </a:solidFill>
            <a:prstDash val="solid"/>
            <a:tailEnd type="triangle"/>
          </a:ln>
        </p:spPr>
      </p:sp>
      <p:sp>
        <p:nvSpPr>
          <p:cNvPr id="55" name="Text 50"/>
          <p:cNvSpPr txBox="1"/>
          <p:nvPr/>
        </p:nvSpPr>
        <p:spPr>
          <a:xfrm>
            <a:off x="5852160" y="4983480"/>
            <a:ext cx="457200" cy="685800"/>
          </a:xfrm>
          <a:prstGeom prst="rect">
            <a:avLst/>
          </a:prstGeom>
          <a:noFill/>
          <a:ln/>
        </p:spPr>
        <p:txBody>
          <a:bodyPr wrap="square" lIns="0" tIns="0" rIns="0" bIns="0" rtlCol="0" anchor="ctr"/>
          <a:lstStyle/>
          <a:p>
            <a:pPr algn="ctr" indent="0" marL="0">
              <a:buNone/>
            </a:pPr>
            <a:r>
              <a:rPr lang="en-US" sz="2400" b="1" dirty="0">
                <a:solidFill>
                  <a:schemeClr val="tx2"/>
                </a:solidFill>
              </a:rPr>
              <a:t>+</a:t>
            </a:r>
            <a:endParaRPr lang="en-US" sz="2400" dirty="0"/>
          </a:p>
        </p:txBody>
      </p:sp>
      <p:sp>
        <p:nvSpPr>
          <p:cNvPr id="56" name="Arrow 3"/>
          <p:cNvSpPr/>
          <p:nvPr/>
        </p:nvSpPr>
        <p:spPr>
          <a:xfrm>
            <a:off x="8778240" y="5326380"/>
            <a:ext cx="365760" cy="0"/>
          </a:xfrm>
          <a:prstGeom prst="line">
            <a:avLst/>
          </a:prstGeom>
          <a:noFill/>
          <a:ln w="15875">
            <a:solidFill>
              <a:srgbClr val="1A1A1A"/>
            </a:solidFill>
            <a:prstDash val="solid"/>
            <a:tailEnd type="triangle"/>
          </a:ln>
        </p:spPr>
      </p:sp>
      <p:sp>
        <p:nvSpPr>
          <p:cNvPr id="57" name="Text 52"/>
          <p:cNvSpPr txBox="1"/>
          <p:nvPr/>
        </p:nvSpPr>
        <p:spPr>
          <a:xfrm>
            <a:off x="6309360" y="5733288"/>
            <a:ext cx="5303520" cy="228600"/>
          </a:xfrm>
          <a:prstGeom prst="rect">
            <a:avLst/>
          </a:prstGeom>
          <a:noFill/>
          <a:ln/>
        </p:spPr>
        <p:txBody>
          <a:bodyPr wrap="square" lIns="0" tIns="0" rIns="0" bIns="0" rtlCol="0" anchor="t"/>
          <a:lstStyle/>
          <a:p>
            <a:pPr indent="0" marL="0">
              <a:buNone/>
            </a:pPr>
            <a:r>
              <a:rPr lang="en-US" sz="1100" i="1" dirty="0">
                <a:solidFill>
                  <a:schemeClr val="accent3"/>
                </a:solidFill>
              </a:rPr>
              <a:t>Dashed: future use, which needs validation with spaceflight data</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What range of unloading did we study?</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Unloading models: head-down and horizontal bed rest, dry immersion, one-leg suspension; spaceflight kept separate</a:t>
            </a:r>
            <a:endParaRPr lang="en-US" sz="1400" dirty="0"/>
          </a:p>
          <a:p>
            <a:pPr marL="342900" indent="-342900">
              <a:spcAft>
                <a:spcPts val="400"/>
              </a:spcAft>
              <a:buSzPct val="100000"/>
              <a:buChar char="•"/>
            </a:pPr>
            <a:r>
              <a:rPr lang="en-US" sz="1600" dirty="0">
                <a:solidFill>
                  <a:schemeClr val="tx1"/>
                </a:solidFill>
              </a:rPr>
              <a:t>At least 5 days of continuous unloading; scans from day 5 to day 119</a:t>
            </a:r>
            <a:endParaRPr lang="en-US" sz="1400" dirty="0"/>
          </a:p>
          <a:p>
            <a:pPr marL="342900" indent="-342900">
              <a:spcAft>
                <a:spcPts val="400"/>
              </a:spcAft>
              <a:buSzPct val="100000"/>
              <a:buChar char="•"/>
            </a:pPr>
            <a:r>
              <a:rPr lang="en-US" sz="1600" dirty="0">
                <a:solidFill>
                  <a:schemeClr val="tx1"/>
                </a:solidFill>
              </a:rPr>
              <a:t>Leg muscle size measured as volume, cross-sectional area, thickness or lean mass, by MRI, CT, DXA, pQCT or ultrasound</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How the dataset was built</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Systematic search of PubMed, Scopus, Web of Science and NASA's technical reports, 2013 onwards: 5,731 records</a:t>
            </a:r>
            <a:endParaRPr lang="en-US" sz="1400" dirty="0"/>
          </a:p>
          <a:p>
            <a:pPr marL="342900" indent="-342900">
              <a:spcAft>
                <a:spcPts val="400"/>
              </a:spcAft>
              <a:buSzPct val="100000"/>
              <a:buChar char="•"/>
            </a:pPr>
            <a:r>
              <a:rPr lang="en-US" sz="1600" dirty="0">
                <a:solidFill>
                  <a:schemeClr val="tx1"/>
                </a:solidFill>
              </a:rPr>
              <a:t>Plus 9 older studies and one campaign from NASA's open bed-rest archive</a:t>
            </a:r>
            <a:endParaRPr lang="en-US" sz="1400" dirty="0"/>
          </a:p>
          <a:p>
            <a:pPr marL="342900" indent="-342900">
              <a:spcAft>
                <a:spcPts val="400"/>
              </a:spcAft>
              <a:buSzPct val="100000"/>
              <a:buChar char="•"/>
            </a:pPr>
            <a:r>
              <a:rPr lang="en-US" sz="1600" dirty="0">
                <a:solidFill>
                  <a:schemeClr val="tx1"/>
                </a:solidFill>
              </a:rPr>
              <a:t>Extraction form fixed before extraction: one row per study, group, muscle and scan day</a:t>
            </a:r>
            <a:endParaRPr lang="en-US" sz="1400" dirty="0"/>
          </a:p>
          <a:p>
            <a:pPr marL="342900" indent="-342900">
              <a:spcAft>
                <a:spcPts val="400"/>
              </a:spcAft>
              <a:buSzPct val="100000"/>
              <a:buChar char="•"/>
            </a:pPr>
            <a:r>
              <a:rPr lang="en-US" sz="1600" dirty="0">
                <a:solidFill>
                  <a:schemeClr val="tx1"/>
                </a:solidFill>
              </a:rPr>
              <a:t>Papers that report the same volunteers merged into one campaign</a:t>
            </a:r>
            <a:endParaRPr lang="en-US" sz="1400" dirty="0"/>
          </a:p>
          <a:p>
            <a:pPr indent="0" marL="0">
              <a:buNone/>
            </a:pPr>
            <a:r>
              <a:rPr lang="en-US" sz="1400" i="1" dirty="0">
                <a:solidFill>
                  <a:schemeClr val="accent3"/>
                </a:solidFill>
              </a:rPr>
              <a:t>Possible figure: search flow diagram (figures/F1_corpus)</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The final dataset</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742 measurements from 52 studies (1992 to 2026) and 36 independent campaigns</a:t>
            </a:r>
            <a:endParaRPr lang="en-US" sz="1400" dirty="0"/>
          </a:p>
          <a:p>
            <a:pPr marL="342900" indent="-342900">
              <a:spcAft>
                <a:spcPts val="400"/>
              </a:spcAft>
              <a:buSzPct val="100000"/>
              <a:buChar char="•"/>
            </a:pPr>
            <a:r>
              <a:rPr lang="en-US" sz="1600" dirty="0">
                <a:solidFill>
                  <a:schemeClr val="tx1"/>
                </a:solidFill>
              </a:rPr>
              <a:t>Mostly MRI volumes of named muscles in young men during head-down bed rest</a:t>
            </a:r>
            <a:endParaRPr lang="en-US" sz="1400" dirty="0"/>
          </a:p>
          <a:p>
            <a:pPr marL="342900" indent="-342900">
              <a:spcAft>
                <a:spcPts val="400"/>
              </a:spcAft>
              <a:buSzPct val="100000"/>
              <a:buChar char="•"/>
            </a:pPr>
            <a:r>
              <a:rPr lang="en-US" sz="1600" dirty="0">
                <a:solidFill>
                  <a:schemeClr val="tx1"/>
                </a:solidFill>
              </a:rPr>
              <a:t>Uneven: the MEDES 90-day campaign gives 40% of rows; 15 campaigns give 5 rows or fewer</a:t>
            </a:r>
            <a:endParaRPr lang="en-US" sz="1400" dirty="0"/>
          </a:p>
          <a:p>
            <a:pPr marL="342900" indent="-342900">
              <a:spcAft>
                <a:spcPts val="400"/>
              </a:spcAft>
              <a:buSzPct val="100000"/>
              <a:buChar char="•"/>
            </a:pPr>
            <a:r>
              <a:rPr lang="en-US" sz="1600" dirty="0">
                <a:solidFill>
                  <a:schemeClr val="tx1"/>
                </a:solidFill>
              </a:rPr>
              <a:t>Used for modelling: 346 measurements from 32 campaigns</a:t>
            </a:r>
            <a:endParaRPr lang="en-US" sz="1400" dirty="0"/>
          </a:p>
          <a:p>
            <a:pPr indent="0" marL="0">
              <a:buNone/>
            </a:pPr>
            <a:r>
              <a:rPr lang="en-US" sz="1400" i="1" dirty="0">
                <a:solidFill>
                  <a:schemeClr val="accent3"/>
                </a:solidFill>
              </a:rPr>
              <a:t>Possible figure: campaign timeline (figures/F1b_campaigns)</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What was extracted from each study</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Muscle, day of the scan, planned length of bed rest, % change from before bed rest</a:t>
            </a:r>
            <a:endParaRPr lang="en-US" sz="1400" dirty="0"/>
          </a:p>
          <a:p>
            <a:pPr marL="342900" indent="-342900">
              <a:spcAft>
                <a:spcPts val="400"/>
              </a:spcAft>
              <a:buSzPct val="100000"/>
              <a:buChar char="•"/>
            </a:pPr>
            <a:r>
              <a:rPr lang="en-US" sz="1600" dirty="0">
                <a:solidFill>
                  <a:schemeClr val="tx1"/>
                </a:solidFill>
              </a:rPr>
              <a:t>Group: control or countermeasure, group size, sex, age</a:t>
            </a:r>
            <a:endParaRPr lang="en-US" sz="1400" dirty="0"/>
          </a:p>
          <a:p>
            <a:pPr marL="342900" indent="-342900">
              <a:spcAft>
                <a:spcPts val="400"/>
              </a:spcAft>
              <a:buSzPct val="100000"/>
              <a:buChar char="•"/>
            </a:pPr>
            <a:r>
              <a:rPr lang="en-US" sz="1600" dirty="0">
                <a:solidFill>
                  <a:schemeClr val="tx1"/>
                </a:solidFill>
              </a:rPr>
              <a:t>Measurement: imaging method, quantity, position along the muscle</a:t>
            </a:r>
            <a:endParaRPr lang="en-US" sz="1400" dirty="0"/>
          </a:p>
          <a:p>
            <a:pPr marL="342900" indent="-342900">
              <a:spcAft>
                <a:spcPts val="400"/>
              </a:spcAft>
              <a:buSzPct val="100000"/>
              <a:buChar char="•"/>
            </a:pPr>
            <a:r>
              <a:rPr lang="en-US" sz="1600" dirty="0">
                <a:solidFill>
                  <a:schemeClr val="tx1"/>
                </a:solidFill>
              </a:rPr>
              <a:t>Source of every value: DOI and page, table or figure</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683496" y="6382512"/>
            <a:ext cx="219456" cy="219456"/>
          </a:xfrm>
          <a:prstGeom prst="ellipse">
            <a:avLst/>
          </a:prstGeom>
          <a:solidFill>
            <a:schemeClr val="accent1"/>
          </a:solidFill>
          <a:ln w="9525">
            <a:solidFill>
              <a:srgbClr val="A23B2A"/>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3  Muscles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Are all muscles affected the same?</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No. Calf muscles (plantar flexors) lose most: −15.8% at day 60, 5.7 pp more than the front thigh</a:t>
            </a:r>
            <a:endParaRPr lang="en-US" sz="1400" dirty="0"/>
          </a:p>
          <a:p>
            <a:pPr marL="342900" indent="-342900">
              <a:spcAft>
                <a:spcPts val="400"/>
              </a:spcAft>
              <a:buSzPct val="100000"/>
              <a:buChar char="•"/>
            </a:pPr>
            <a:r>
              <a:rPr lang="en-US" sz="1600" dirty="0">
                <a:solidFill>
                  <a:schemeClr val="tx1"/>
                </a:solidFill>
              </a:rPr>
              <a:t>Front thigh, back thigh and shin muscles lose around 10%; hip muscles least</a:t>
            </a:r>
            <a:endParaRPr lang="en-US" sz="1400" dirty="0"/>
          </a:p>
          <a:p>
            <a:pPr marL="342900" indent="-342900">
              <a:spcAft>
                <a:spcPts val="400"/>
              </a:spcAft>
              <a:buSzPct val="100000"/>
              <a:buChar char="•"/>
            </a:pPr>
            <a:r>
              <a:rPr lang="en-US" sz="1600" dirty="0">
                <a:solidFill>
                  <a:schemeClr val="tx1"/>
                </a:solidFill>
              </a:rPr>
              <a:t>30% of the differences between measurements lie between muscles within the same study</a:t>
            </a:r>
            <a:endParaRPr lang="en-US" sz="1400" dirty="0"/>
          </a:p>
          <a:p>
            <a:pPr marL="342900" indent="-342900">
              <a:spcAft>
                <a:spcPts val="400"/>
              </a:spcAft>
              <a:buSzPct val="100000"/>
              <a:buChar char="•"/>
            </a:pPr>
            <a:r>
              <a:rPr lang="en-US" sz="1600" dirty="0">
                <a:solidFill>
                  <a:schemeClr val="tx1"/>
                </a:solidFill>
              </a:rPr>
              <a:t>Groups with countermeasures lose 3.7 pp less than controls</a:t>
            </a:r>
            <a:endParaRPr lang="en-US" sz="1400" dirty="0"/>
          </a:p>
          <a:p>
            <a:pPr indent="0" marL="0">
              <a:buNone/>
            </a:pPr>
            <a:r>
              <a:rPr lang="en-US" sz="1400" i="1" dirty="0">
                <a:solidFill>
                  <a:schemeClr val="accent3"/>
                </a:solidFill>
              </a:rPr>
              <a:t>Possible figure: muscle ranking (figures/F3_muscles)</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From data to forecasts</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Bridge to part 2: the data show that loss depends on time and on the muscle</a:t>
            </a:r>
            <a:endParaRPr lang="en-US" sz="1400" dirty="0"/>
          </a:p>
          <a:p>
            <a:pPr marL="342900" indent="-342900">
              <a:spcAft>
                <a:spcPts val="400"/>
              </a:spcAft>
              <a:buSzPct val="100000"/>
              <a:buChar char="•"/>
            </a:pPr>
            <a:r>
              <a:rPr lang="en-US" sz="1600" dirty="0">
                <a:solidFill>
                  <a:schemeClr val="tx1"/>
                </a:solidFill>
              </a:rPr>
              <a:t>Next question: can a model forecast the loss in a study it has never seen?</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Every model is tested on a study it has not seen</a:t>
            </a:r>
            <a:endParaRPr lang="en-US" sz="2800" dirty="0"/>
          </a:p>
        </p:txBody>
      </p:sp>
      <p:sp>
        <p:nvSpPr>
          <p:cNvPr id="11" name="Input box"/>
          <p:cNvSpPr/>
          <p:nvPr/>
        </p:nvSpPr>
        <p:spPr>
          <a:xfrm>
            <a:off x="548640" y="1325880"/>
            <a:ext cx="4206240" cy="2514600"/>
          </a:xfrm>
          <a:prstGeom prst="rect">
            <a:avLst/>
          </a:prstGeom>
          <a:solidFill>
            <a:schemeClr val="bg1"/>
          </a:solidFill>
          <a:ln w="12700">
            <a:solidFill>
              <a:srgbClr val="9AA3AE"/>
            </a:solidFill>
            <a:prstDash val="solid"/>
          </a:ln>
        </p:spPr>
      </p:sp>
      <p:sp>
        <p:nvSpPr>
          <p:cNvPr id="12" name="Text 10"/>
          <p:cNvSpPr txBox="1"/>
          <p:nvPr/>
        </p:nvSpPr>
        <p:spPr>
          <a:xfrm>
            <a:off x="731520" y="1463040"/>
            <a:ext cx="3886200" cy="2240280"/>
          </a:xfrm>
          <a:prstGeom prst="rect">
            <a:avLst/>
          </a:prstGeom>
          <a:noFill/>
          <a:ln/>
        </p:spPr>
        <p:txBody>
          <a:bodyPr wrap="square" lIns="0" tIns="0" rIns="0" bIns="0" rtlCol="0" anchor="t"/>
          <a:lstStyle/>
          <a:p>
            <a:pPr indent="0" marL="0">
              <a:buNone/>
            </a:pPr>
            <a:r>
              <a:rPr lang="en-US" sz="1600" b="1" dirty="0">
                <a:solidFill>
                  <a:schemeClr val="tx2"/>
                </a:solidFill>
              </a:rPr>
              <a:t>Input: one measurement</a:t>
            </a:r>
            <a:endParaRPr lang="en-US" sz="1600" dirty="0"/>
          </a:p>
          <a:p>
            <a:pPr marL="342900" indent="-342900">
              <a:spcAft>
                <a:spcPts val="400"/>
              </a:spcAft>
              <a:buSzPct val="100000"/>
              <a:buChar char="•"/>
            </a:pPr>
            <a:r>
              <a:rPr lang="en-US" sz="1500" dirty="0">
                <a:solidFill>
                  <a:schemeClr val="tx1"/>
                </a:solidFill>
              </a:rPr>
              <a:t>Day of bed rest when the scan was taken</a:t>
            </a:r>
            <a:endParaRPr lang="en-US" sz="1600" dirty="0"/>
          </a:p>
          <a:p>
            <a:pPr marL="342900" indent="-342900">
              <a:spcAft>
                <a:spcPts val="400"/>
              </a:spcAft>
              <a:buSzPct val="100000"/>
              <a:buChar char="•"/>
            </a:pPr>
            <a:r>
              <a:rPr lang="en-US" sz="1500" dirty="0">
                <a:solidFill>
                  <a:schemeClr val="tx1"/>
                </a:solidFill>
              </a:rPr>
              <a:t>Which muscle group (9, e.g. calf, front thigh)</a:t>
            </a:r>
            <a:endParaRPr lang="en-US" sz="1600" dirty="0"/>
          </a:p>
          <a:p>
            <a:pPr marL="342900" indent="-342900">
              <a:spcAft>
                <a:spcPts val="400"/>
              </a:spcAft>
              <a:buSzPct val="100000"/>
              <a:buChar char="•"/>
            </a:pPr>
            <a:r>
              <a:rPr lang="en-US" sz="1500" dirty="0">
                <a:solidFill>
                  <a:schemeClr val="tx1"/>
                </a:solidFill>
              </a:rPr>
              <a:t>Exercise group or no-exercise control</a:t>
            </a:r>
            <a:endParaRPr lang="en-US" sz="1600" dirty="0"/>
          </a:p>
          <a:p>
            <a:pPr marL="342900" indent="-342900">
              <a:spcAft>
                <a:spcPts val="400"/>
              </a:spcAft>
              <a:buSzPct val="100000"/>
              <a:buChar char="•"/>
            </a:pPr>
            <a:r>
              <a:rPr lang="en-US" sz="1500" dirty="0">
                <a:solidFill>
                  <a:schemeClr val="tx1"/>
                </a:solidFill>
              </a:rPr>
              <a:t>How it was scanned (MRI, CT, DXA, ultrasound)</a:t>
            </a:r>
            <a:endParaRPr lang="en-US" sz="1600" dirty="0"/>
          </a:p>
          <a:p>
            <a:pPr marL="342900" indent="-342900">
              <a:spcAft>
                <a:spcPts val="400"/>
              </a:spcAft>
              <a:buSzPct val="100000"/>
              <a:buChar char="•"/>
            </a:pPr>
            <a:r>
              <a:rPr lang="en-US" sz="1500" dirty="0">
                <a:solidFill>
                  <a:schemeClr val="tx1"/>
                </a:solidFill>
              </a:rPr>
              <a:t>One muscle or several combined</a:t>
            </a:r>
            <a:endParaRPr lang="en-US" sz="1600" dirty="0"/>
          </a:p>
        </p:txBody>
      </p:sp>
      <p:sp>
        <p:nvSpPr>
          <p:cNvPr id="13" name="Arrow input to model"/>
          <p:cNvSpPr/>
          <p:nvPr/>
        </p:nvSpPr>
        <p:spPr>
          <a:xfrm>
            <a:off x="4800600" y="2583180"/>
            <a:ext cx="457200" cy="0"/>
          </a:xfrm>
          <a:prstGeom prst="line">
            <a:avLst/>
          </a:prstGeom>
          <a:noFill/>
          <a:ln w="15875">
            <a:solidFill>
              <a:srgbClr val="1A1A1A"/>
            </a:solidFill>
            <a:prstDash val="solid"/>
            <a:tailEnd type="triangle"/>
          </a:ln>
        </p:spPr>
      </p:sp>
      <p:sp>
        <p:nvSpPr>
          <p:cNvPr id="14" name="Model box"/>
          <p:cNvSpPr/>
          <p:nvPr/>
        </p:nvSpPr>
        <p:spPr>
          <a:xfrm>
            <a:off x="5303520" y="1325880"/>
            <a:ext cx="3108960" cy="2514600"/>
          </a:xfrm>
          <a:prstGeom prst="rect">
            <a:avLst/>
          </a:prstGeom>
          <a:solidFill>
            <a:schemeClr val="bg1"/>
          </a:solidFill>
          <a:ln w="12700">
            <a:solidFill>
              <a:srgbClr val="9AA3AE"/>
            </a:solidFill>
            <a:prstDash val="solid"/>
          </a:ln>
        </p:spPr>
      </p:sp>
      <p:sp>
        <p:nvSpPr>
          <p:cNvPr id="15" name="Text 13"/>
          <p:cNvSpPr txBox="1"/>
          <p:nvPr/>
        </p:nvSpPr>
        <p:spPr>
          <a:xfrm>
            <a:off x="5486400" y="1463040"/>
            <a:ext cx="2788920" cy="2240280"/>
          </a:xfrm>
          <a:prstGeom prst="rect">
            <a:avLst/>
          </a:prstGeom>
          <a:noFill/>
          <a:ln/>
        </p:spPr>
        <p:txBody>
          <a:bodyPr wrap="square" lIns="0" tIns="0" rIns="0" bIns="0" rtlCol="0" anchor="t"/>
          <a:lstStyle/>
          <a:p>
            <a:pPr indent="0" marL="0">
              <a:buNone/>
            </a:pPr>
            <a:r>
              <a:rPr lang="en-US" sz="1600" b="1" dirty="0">
                <a:solidFill>
                  <a:schemeClr val="tx2"/>
                </a:solidFill>
              </a:rPr>
              <a:t>Model</a:t>
            </a:r>
            <a:endParaRPr lang="en-US" sz="1600" dirty="0"/>
          </a:p>
          <a:p>
            <a:pPr marL="342900" indent="-342900">
              <a:spcAft>
                <a:spcPts val="400"/>
              </a:spcAft>
              <a:buSzPct val="100000"/>
              <a:buChar char="•"/>
            </a:pPr>
            <a:r>
              <a:rPr lang="en-US" sz="1500" dirty="0">
                <a:solidFill>
                  <a:schemeClr val="tx1"/>
                </a:solidFill>
              </a:rPr>
              <a:t>Duration curve: uses the number of days only (the baseline)</a:t>
            </a:r>
            <a:endParaRPr lang="en-US" sz="1600" dirty="0"/>
          </a:p>
          <a:p>
            <a:pPr marL="342900" indent="-342900">
              <a:spcAft>
                <a:spcPts val="400"/>
              </a:spcAft>
              <a:buSzPct val="100000"/>
              <a:buChar char="•"/>
            </a:pPr>
            <a:r>
              <a:rPr lang="en-US" sz="1500" dirty="0">
                <a:solidFill>
                  <a:schemeClr val="tx1"/>
                </a:solidFill>
              </a:rPr>
              <a:t>4 standard ML models</a:t>
            </a:r>
            <a:endParaRPr lang="en-US" sz="1600" dirty="0"/>
          </a:p>
          <a:p>
            <a:pPr marL="342900" indent="-342900">
              <a:spcAft>
                <a:spcPts val="400"/>
              </a:spcAft>
              <a:buSzPct val="100000"/>
              <a:buChar char="•"/>
            </a:pPr>
            <a:r>
              <a:rPr lang="en-US" sz="1500" dirty="0">
                <a:solidFill>
                  <a:schemeClr val="tx1"/>
                </a:solidFill>
              </a:rPr>
              <a:t>TabPFN (pretrained network)</a:t>
            </a:r>
            <a:endParaRPr lang="en-US" sz="1600" dirty="0"/>
          </a:p>
          <a:p>
            <a:pPr marL="342900" indent="-342900">
              <a:spcAft>
                <a:spcPts val="400"/>
              </a:spcAft>
              <a:buSzPct val="100000"/>
              <a:buChar char="•"/>
            </a:pPr>
            <a:r>
              <a:rPr lang="en-US" sz="1500" dirty="0">
                <a:solidFill>
                  <a:schemeClr val="tx1"/>
                </a:solidFill>
              </a:rPr>
              <a:t>LLM forecast</a:t>
            </a:r>
            <a:endParaRPr lang="en-US" sz="1600" dirty="0"/>
          </a:p>
        </p:txBody>
      </p:sp>
      <p:sp>
        <p:nvSpPr>
          <p:cNvPr id="16" name="Arrow model to output"/>
          <p:cNvSpPr/>
          <p:nvPr/>
        </p:nvSpPr>
        <p:spPr>
          <a:xfrm>
            <a:off x="8458200" y="2583180"/>
            <a:ext cx="457200" cy="0"/>
          </a:xfrm>
          <a:prstGeom prst="line">
            <a:avLst/>
          </a:prstGeom>
          <a:noFill/>
          <a:ln w="15875">
            <a:solidFill>
              <a:srgbClr val="1A1A1A"/>
            </a:solidFill>
            <a:prstDash val="solid"/>
            <a:tailEnd type="triangle"/>
          </a:ln>
        </p:spPr>
      </p:sp>
      <p:sp>
        <p:nvSpPr>
          <p:cNvPr id="17" name="Output box"/>
          <p:cNvSpPr/>
          <p:nvPr/>
        </p:nvSpPr>
        <p:spPr>
          <a:xfrm>
            <a:off x="8961120" y="1325880"/>
            <a:ext cx="2679192" cy="2514600"/>
          </a:xfrm>
          <a:prstGeom prst="rect">
            <a:avLst/>
          </a:prstGeom>
          <a:solidFill>
            <a:schemeClr val="bg1"/>
          </a:solidFill>
          <a:ln w="12700">
            <a:solidFill>
              <a:srgbClr val="9AA3AE"/>
            </a:solidFill>
            <a:prstDash val="solid"/>
          </a:ln>
        </p:spPr>
      </p:sp>
      <p:sp>
        <p:nvSpPr>
          <p:cNvPr id="18" name="Text 16"/>
          <p:cNvSpPr txBox="1"/>
          <p:nvPr/>
        </p:nvSpPr>
        <p:spPr>
          <a:xfrm>
            <a:off x="9144000" y="1463040"/>
            <a:ext cx="2377440" cy="2240280"/>
          </a:xfrm>
          <a:prstGeom prst="rect">
            <a:avLst/>
          </a:prstGeom>
          <a:noFill/>
          <a:ln/>
        </p:spPr>
        <p:txBody>
          <a:bodyPr wrap="square" lIns="0" tIns="0" rIns="0" bIns="0" rtlCol="0" anchor="t"/>
          <a:lstStyle/>
          <a:p>
            <a:pPr indent="0" marL="0">
              <a:buNone/>
            </a:pPr>
            <a:r>
              <a:rPr lang="en-US" sz="1600" b="1" dirty="0">
                <a:solidFill>
                  <a:schemeClr val="tx2"/>
                </a:solidFill>
              </a:rPr>
              <a:t>Output</a:t>
            </a:r>
            <a:endParaRPr lang="en-US" sz="1600" dirty="0"/>
          </a:p>
          <a:p>
            <a:pPr indent="0" marL="0">
              <a:buNone/>
            </a:pPr>
            <a:r>
              <a:rPr lang="en-US" sz="1500" dirty="0">
                <a:solidFill>
                  <a:schemeClr val="tx1"/>
                </a:solidFill>
              </a:rPr>
              <a:t>How much the muscle has shrunk, in % of its size before bed rest</a:t>
            </a:r>
            <a:endParaRPr lang="en-US" sz="1600" dirty="0"/>
          </a:p>
          <a:p>
            <a:pPr indent="0" marL="0">
              <a:buNone/>
            </a:pPr>
            <a:r>
              <a:rPr lang="en-US" sz="1400" dirty="0">
                <a:solidFill>
                  <a:schemeClr val="accent3"/>
                </a:solidFill>
              </a:rPr>
              <a:t>Average over the group of volunteers, e.g. −10%</a:t>
            </a:r>
            <a:endParaRPr lang="en-US" sz="1600" dirty="0"/>
          </a:p>
        </p:txBody>
      </p:sp>
      <p:sp>
        <p:nvSpPr>
          <p:cNvPr id="19" name="Text 17"/>
          <p:cNvSpPr txBox="1"/>
          <p:nvPr/>
        </p:nvSpPr>
        <p:spPr>
          <a:xfrm>
            <a:off x="548640" y="4023360"/>
            <a:ext cx="7315200" cy="274320"/>
          </a:xfrm>
          <a:prstGeom prst="rect">
            <a:avLst/>
          </a:prstGeom>
          <a:noFill/>
          <a:ln/>
        </p:spPr>
        <p:txBody>
          <a:bodyPr wrap="square" lIns="0" tIns="0" rIns="0" bIns="0" rtlCol="0" anchor="t"/>
          <a:lstStyle/>
          <a:p>
            <a:pPr indent="0" marL="0">
              <a:buNone/>
            </a:pPr>
            <a:r>
              <a:rPr lang="en-US" sz="1500" b="1" dirty="0">
                <a:solidFill>
                  <a:schemeClr val="tx2"/>
                </a:solidFill>
              </a:rPr>
              <a:t>Testing: hold out one study, train on the rest, repeat 32 times</a:t>
            </a:r>
            <a:endParaRPr lang="en-US" sz="1500" dirty="0"/>
          </a:p>
        </p:txBody>
      </p:sp>
      <p:sp>
        <p:nvSpPr>
          <p:cNvPr id="20" name="Training study 1"/>
          <p:cNvSpPr/>
          <p:nvPr/>
        </p:nvSpPr>
        <p:spPr>
          <a:xfrm>
            <a:off x="548640" y="4343400"/>
            <a:ext cx="246888" cy="246888"/>
          </a:xfrm>
          <a:prstGeom prst="rect">
            <a:avLst/>
          </a:prstGeom>
          <a:solidFill>
            <a:schemeClr val="accent6"/>
          </a:solidFill>
          <a:ln w="6350">
            <a:solidFill>
              <a:srgbClr val="9AA3AE"/>
            </a:solidFill>
            <a:prstDash val="solid"/>
          </a:ln>
        </p:spPr>
      </p:sp>
      <p:sp>
        <p:nvSpPr>
          <p:cNvPr id="21" name="Training study 2"/>
          <p:cNvSpPr/>
          <p:nvPr/>
        </p:nvSpPr>
        <p:spPr>
          <a:xfrm>
            <a:off x="841248" y="4343400"/>
            <a:ext cx="246888" cy="246888"/>
          </a:xfrm>
          <a:prstGeom prst="rect">
            <a:avLst/>
          </a:prstGeom>
          <a:solidFill>
            <a:schemeClr val="accent6"/>
          </a:solidFill>
          <a:ln w="6350">
            <a:solidFill>
              <a:srgbClr val="9AA3AE"/>
            </a:solidFill>
            <a:prstDash val="solid"/>
          </a:ln>
        </p:spPr>
      </p:sp>
      <p:sp>
        <p:nvSpPr>
          <p:cNvPr id="22" name="Training study 3"/>
          <p:cNvSpPr/>
          <p:nvPr/>
        </p:nvSpPr>
        <p:spPr>
          <a:xfrm>
            <a:off x="1133856" y="4343400"/>
            <a:ext cx="246888" cy="246888"/>
          </a:xfrm>
          <a:prstGeom prst="rect">
            <a:avLst/>
          </a:prstGeom>
          <a:solidFill>
            <a:schemeClr val="accent6"/>
          </a:solidFill>
          <a:ln w="6350">
            <a:solidFill>
              <a:srgbClr val="9AA3AE"/>
            </a:solidFill>
            <a:prstDash val="solid"/>
          </a:ln>
        </p:spPr>
      </p:sp>
      <p:sp>
        <p:nvSpPr>
          <p:cNvPr id="23" name="Training study 4"/>
          <p:cNvSpPr/>
          <p:nvPr/>
        </p:nvSpPr>
        <p:spPr>
          <a:xfrm>
            <a:off x="1426464" y="4343400"/>
            <a:ext cx="246888" cy="246888"/>
          </a:xfrm>
          <a:prstGeom prst="rect">
            <a:avLst/>
          </a:prstGeom>
          <a:solidFill>
            <a:schemeClr val="accent6"/>
          </a:solidFill>
          <a:ln w="6350">
            <a:solidFill>
              <a:srgbClr val="9AA3AE"/>
            </a:solidFill>
            <a:prstDash val="solid"/>
          </a:ln>
        </p:spPr>
      </p:sp>
      <p:sp>
        <p:nvSpPr>
          <p:cNvPr id="24" name="Training study 5"/>
          <p:cNvSpPr/>
          <p:nvPr/>
        </p:nvSpPr>
        <p:spPr>
          <a:xfrm>
            <a:off x="1719072" y="4343400"/>
            <a:ext cx="246888" cy="246888"/>
          </a:xfrm>
          <a:prstGeom prst="rect">
            <a:avLst/>
          </a:prstGeom>
          <a:solidFill>
            <a:schemeClr val="accent6"/>
          </a:solidFill>
          <a:ln w="6350">
            <a:solidFill>
              <a:srgbClr val="9AA3AE"/>
            </a:solidFill>
            <a:prstDash val="solid"/>
          </a:ln>
        </p:spPr>
      </p:sp>
      <p:sp>
        <p:nvSpPr>
          <p:cNvPr id="25" name="Training study 6"/>
          <p:cNvSpPr/>
          <p:nvPr/>
        </p:nvSpPr>
        <p:spPr>
          <a:xfrm>
            <a:off x="2011680" y="4343400"/>
            <a:ext cx="246888" cy="246888"/>
          </a:xfrm>
          <a:prstGeom prst="rect">
            <a:avLst/>
          </a:prstGeom>
          <a:solidFill>
            <a:schemeClr val="accent6"/>
          </a:solidFill>
          <a:ln w="6350">
            <a:solidFill>
              <a:srgbClr val="9AA3AE"/>
            </a:solidFill>
            <a:prstDash val="solid"/>
          </a:ln>
        </p:spPr>
      </p:sp>
      <p:sp>
        <p:nvSpPr>
          <p:cNvPr id="26" name="Training study 7"/>
          <p:cNvSpPr/>
          <p:nvPr/>
        </p:nvSpPr>
        <p:spPr>
          <a:xfrm>
            <a:off x="2304288" y="4343400"/>
            <a:ext cx="246888" cy="246888"/>
          </a:xfrm>
          <a:prstGeom prst="rect">
            <a:avLst/>
          </a:prstGeom>
          <a:solidFill>
            <a:schemeClr val="accent6"/>
          </a:solidFill>
          <a:ln w="6350">
            <a:solidFill>
              <a:srgbClr val="9AA3AE"/>
            </a:solidFill>
            <a:prstDash val="solid"/>
          </a:ln>
        </p:spPr>
      </p:sp>
      <p:sp>
        <p:nvSpPr>
          <p:cNvPr id="27" name="Training study 8"/>
          <p:cNvSpPr/>
          <p:nvPr/>
        </p:nvSpPr>
        <p:spPr>
          <a:xfrm>
            <a:off x="2596896" y="4343400"/>
            <a:ext cx="246888" cy="246888"/>
          </a:xfrm>
          <a:prstGeom prst="rect">
            <a:avLst/>
          </a:prstGeom>
          <a:solidFill>
            <a:schemeClr val="accent6"/>
          </a:solidFill>
          <a:ln w="6350">
            <a:solidFill>
              <a:srgbClr val="9AA3AE"/>
            </a:solidFill>
            <a:prstDash val="solid"/>
          </a:ln>
        </p:spPr>
      </p:sp>
      <p:sp>
        <p:nvSpPr>
          <p:cNvPr id="28" name="Training study 9"/>
          <p:cNvSpPr/>
          <p:nvPr/>
        </p:nvSpPr>
        <p:spPr>
          <a:xfrm>
            <a:off x="2889504" y="4343400"/>
            <a:ext cx="246888" cy="246888"/>
          </a:xfrm>
          <a:prstGeom prst="rect">
            <a:avLst/>
          </a:prstGeom>
          <a:solidFill>
            <a:schemeClr val="accent6"/>
          </a:solidFill>
          <a:ln w="6350">
            <a:solidFill>
              <a:srgbClr val="9AA3AE"/>
            </a:solidFill>
            <a:prstDash val="solid"/>
          </a:ln>
        </p:spPr>
      </p:sp>
      <p:sp>
        <p:nvSpPr>
          <p:cNvPr id="29" name="Training study 10"/>
          <p:cNvSpPr/>
          <p:nvPr/>
        </p:nvSpPr>
        <p:spPr>
          <a:xfrm>
            <a:off x="3182112" y="4343400"/>
            <a:ext cx="246888" cy="246888"/>
          </a:xfrm>
          <a:prstGeom prst="rect">
            <a:avLst/>
          </a:prstGeom>
          <a:solidFill>
            <a:schemeClr val="accent6"/>
          </a:solidFill>
          <a:ln w="6350">
            <a:solidFill>
              <a:srgbClr val="9AA3AE"/>
            </a:solidFill>
            <a:prstDash val="solid"/>
          </a:ln>
        </p:spPr>
      </p:sp>
      <p:sp>
        <p:nvSpPr>
          <p:cNvPr id="30" name="Training study 11"/>
          <p:cNvSpPr/>
          <p:nvPr/>
        </p:nvSpPr>
        <p:spPr>
          <a:xfrm>
            <a:off x="3474720" y="4343400"/>
            <a:ext cx="246888" cy="246888"/>
          </a:xfrm>
          <a:prstGeom prst="rect">
            <a:avLst/>
          </a:prstGeom>
          <a:solidFill>
            <a:schemeClr val="accent6"/>
          </a:solidFill>
          <a:ln w="6350">
            <a:solidFill>
              <a:srgbClr val="9AA3AE"/>
            </a:solidFill>
            <a:prstDash val="solid"/>
          </a:ln>
        </p:spPr>
      </p:sp>
      <p:sp>
        <p:nvSpPr>
          <p:cNvPr id="31" name="Training study 12"/>
          <p:cNvSpPr/>
          <p:nvPr/>
        </p:nvSpPr>
        <p:spPr>
          <a:xfrm>
            <a:off x="3767328" y="4343400"/>
            <a:ext cx="246888" cy="246888"/>
          </a:xfrm>
          <a:prstGeom prst="rect">
            <a:avLst/>
          </a:prstGeom>
          <a:solidFill>
            <a:schemeClr val="accent6"/>
          </a:solidFill>
          <a:ln w="6350">
            <a:solidFill>
              <a:srgbClr val="9AA3AE"/>
            </a:solidFill>
            <a:prstDash val="solid"/>
          </a:ln>
        </p:spPr>
      </p:sp>
      <p:sp>
        <p:nvSpPr>
          <p:cNvPr id="32" name="Training study 13"/>
          <p:cNvSpPr/>
          <p:nvPr/>
        </p:nvSpPr>
        <p:spPr>
          <a:xfrm>
            <a:off x="4059936" y="4343400"/>
            <a:ext cx="246888" cy="246888"/>
          </a:xfrm>
          <a:prstGeom prst="rect">
            <a:avLst/>
          </a:prstGeom>
          <a:solidFill>
            <a:schemeClr val="accent6"/>
          </a:solidFill>
          <a:ln w="6350">
            <a:solidFill>
              <a:srgbClr val="9AA3AE"/>
            </a:solidFill>
            <a:prstDash val="solid"/>
          </a:ln>
        </p:spPr>
      </p:sp>
      <p:sp>
        <p:nvSpPr>
          <p:cNvPr id="33" name="Test study"/>
          <p:cNvSpPr/>
          <p:nvPr/>
        </p:nvSpPr>
        <p:spPr>
          <a:xfrm>
            <a:off x="4352544" y="4343400"/>
            <a:ext cx="246888" cy="246888"/>
          </a:xfrm>
          <a:prstGeom prst="rect">
            <a:avLst/>
          </a:prstGeom>
          <a:solidFill>
            <a:schemeClr val="accent1"/>
          </a:solidFill>
          <a:ln w="6350">
            <a:solidFill>
              <a:srgbClr val="A23B2A"/>
            </a:solidFill>
            <a:prstDash val="solid"/>
          </a:ln>
        </p:spPr>
      </p:sp>
      <p:sp>
        <p:nvSpPr>
          <p:cNvPr id="34" name="Training study 15"/>
          <p:cNvSpPr/>
          <p:nvPr/>
        </p:nvSpPr>
        <p:spPr>
          <a:xfrm>
            <a:off x="4645152" y="4343400"/>
            <a:ext cx="246888" cy="246888"/>
          </a:xfrm>
          <a:prstGeom prst="rect">
            <a:avLst/>
          </a:prstGeom>
          <a:solidFill>
            <a:schemeClr val="accent6"/>
          </a:solidFill>
          <a:ln w="6350">
            <a:solidFill>
              <a:srgbClr val="9AA3AE"/>
            </a:solidFill>
            <a:prstDash val="solid"/>
          </a:ln>
        </p:spPr>
      </p:sp>
      <p:sp>
        <p:nvSpPr>
          <p:cNvPr id="35" name="Training study 16"/>
          <p:cNvSpPr/>
          <p:nvPr/>
        </p:nvSpPr>
        <p:spPr>
          <a:xfrm>
            <a:off x="4937760" y="4343400"/>
            <a:ext cx="246888" cy="246888"/>
          </a:xfrm>
          <a:prstGeom prst="rect">
            <a:avLst/>
          </a:prstGeom>
          <a:solidFill>
            <a:schemeClr val="accent6"/>
          </a:solidFill>
          <a:ln w="6350">
            <a:solidFill>
              <a:srgbClr val="9AA3AE"/>
            </a:solidFill>
            <a:prstDash val="solid"/>
          </a:ln>
        </p:spPr>
      </p:sp>
      <p:sp>
        <p:nvSpPr>
          <p:cNvPr id="36" name="Training study 17"/>
          <p:cNvSpPr/>
          <p:nvPr/>
        </p:nvSpPr>
        <p:spPr>
          <a:xfrm>
            <a:off x="5230368" y="4343400"/>
            <a:ext cx="246888" cy="246888"/>
          </a:xfrm>
          <a:prstGeom prst="rect">
            <a:avLst/>
          </a:prstGeom>
          <a:solidFill>
            <a:schemeClr val="accent6"/>
          </a:solidFill>
          <a:ln w="6350">
            <a:solidFill>
              <a:srgbClr val="9AA3AE"/>
            </a:solidFill>
            <a:prstDash val="solid"/>
          </a:ln>
        </p:spPr>
      </p:sp>
      <p:sp>
        <p:nvSpPr>
          <p:cNvPr id="37" name="Training study 18"/>
          <p:cNvSpPr/>
          <p:nvPr/>
        </p:nvSpPr>
        <p:spPr>
          <a:xfrm>
            <a:off x="5522976" y="4343400"/>
            <a:ext cx="246888" cy="246888"/>
          </a:xfrm>
          <a:prstGeom prst="rect">
            <a:avLst/>
          </a:prstGeom>
          <a:solidFill>
            <a:schemeClr val="accent6"/>
          </a:solidFill>
          <a:ln w="6350">
            <a:solidFill>
              <a:srgbClr val="9AA3AE"/>
            </a:solidFill>
            <a:prstDash val="solid"/>
          </a:ln>
        </p:spPr>
      </p:sp>
      <p:sp>
        <p:nvSpPr>
          <p:cNvPr id="38" name="Training study 19"/>
          <p:cNvSpPr/>
          <p:nvPr/>
        </p:nvSpPr>
        <p:spPr>
          <a:xfrm>
            <a:off x="5815584" y="4343400"/>
            <a:ext cx="246888" cy="246888"/>
          </a:xfrm>
          <a:prstGeom prst="rect">
            <a:avLst/>
          </a:prstGeom>
          <a:solidFill>
            <a:schemeClr val="accent6"/>
          </a:solidFill>
          <a:ln w="6350">
            <a:solidFill>
              <a:srgbClr val="9AA3AE"/>
            </a:solidFill>
            <a:prstDash val="solid"/>
          </a:ln>
        </p:spPr>
      </p:sp>
      <p:sp>
        <p:nvSpPr>
          <p:cNvPr id="39" name="Training study 20"/>
          <p:cNvSpPr/>
          <p:nvPr/>
        </p:nvSpPr>
        <p:spPr>
          <a:xfrm>
            <a:off x="6108192" y="4343400"/>
            <a:ext cx="246888" cy="246888"/>
          </a:xfrm>
          <a:prstGeom prst="rect">
            <a:avLst/>
          </a:prstGeom>
          <a:solidFill>
            <a:schemeClr val="accent6"/>
          </a:solidFill>
          <a:ln w="6350">
            <a:solidFill>
              <a:srgbClr val="9AA3AE"/>
            </a:solidFill>
            <a:prstDash val="solid"/>
          </a:ln>
        </p:spPr>
      </p:sp>
      <p:sp>
        <p:nvSpPr>
          <p:cNvPr id="40" name="Training study 21"/>
          <p:cNvSpPr/>
          <p:nvPr/>
        </p:nvSpPr>
        <p:spPr>
          <a:xfrm>
            <a:off x="6400800" y="4343400"/>
            <a:ext cx="246888" cy="246888"/>
          </a:xfrm>
          <a:prstGeom prst="rect">
            <a:avLst/>
          </a:prstGeom>
          <a:solidFill>
            <a:schemeClr val="accent6"/>
          </a:solidFill>
          <a:ln w="6350">
            <a:solidFill>
              <a:srgbClr val="9AA3AE"/>
            </a:solidFill>
            <a:prstDash val="solid"/>
          </a:ln>
        </p:spPr>
      </p:sp>
      <p:sp>
        <p:nvSpPr>
          <p:cNvPr id="41" name="Training study 22"/>
          <p:cNvSpPr/>
          <p:nvPr/>
        </p:nvSpPr>
        <p:spPr>
          <a:xfrm>
            <a:off x="6693408" y="4343400"/>
            <a:ext cx="246888" cy="246888"/>
          </a:xfrm>
          <a:prstGeom prst="rect">
            <a:avLst/>
          </a:prstGeom>
          <a:solidFill>
            <a:schemeClr val="accent6"/>
          </a:solidFill>
          <a:ln w="6350">
            <a:solidFill>
              <a:srgbClr val="9AA3AE"/>
            </a:solidFill>
            <a:prstDash val="solid"/>
          </a:ln>
        </p:spPr>
      </p:sp>
      <p:sp>
        <p:nvSpPr>
          <p:cNvPr id="42" name="Training study 23"/>
          <p:cNvSpPr/>
          <p:nvPr/>
        </p:nvSpPr>
        <p:spPr>
          <a:xfrm>
            <a:off x="6986016" y="4343400"/>
            <a:ext cx="246888" cy="246888"/>
          </a:xfrm>
          <a:prstGeom prst="rect">
            <a:avLst/>
          </a:prstGeom>
          <a:solidFill>
            <a:schemeClr val="accent6"/>
          </a:solidFill>
          <a:ln w="6350">
            <a:solidFill>
              <a:srgbClr val="9AA3AE"/>
            </a:solidFill>
            <a:prstDash val="solid"/>
          </a:ln>
        </p:spPr>
      </p:sp>
      <p:sp>
        <p:nvSpPr>
          <p:cNvPr id="43" name="Training study 24"/>
          <p:cNvSpPr/>
          <p:nvPr/>
        </p:nvSpPr>
        <p:spPr>
          <a:xfrm>
            <a:off x="7278624" y="4343400"/>
            <a:ext cx="246888" cy="246888"/>
          </a:xfrm>
          <a:prstGeom prst="rect">
            <a:avLst/>
          </a:prstGeom>
          <a:solidFill>
            <a:schemeClr val="accent6"/>
          </a:solidFill>
          <a:ln w="6350">
            <a:solidFill>
              <a:srgbClr val="9AA3AE"/>
            </a:solidFill>
            <a:prstDash val="solid"/>
          </a:ln>
        </p:spPr>
      </p:sp>
      <p:sp>
        <p:nvSpPr>
          <p:cNvPr id="44" name="Training study 25"/>
          <p:cNvSpPr/>
          <p:nvPr/>
        </p:nvSpPr>
        <p:spPr>
          <a:xfrm>
            <a:off x="7571232" y="4343400"/>
            <a:ext cx="246888" cy="246888"/>
          </a:xfrm>
          <a:prstGeom prst="rect">
            <a:avLst/>
          </a:prstGeom>
          <a:solidFill>
            <a:schemeClr val="accent6"/>
          </a:solidFill>
          <a:ln w="6350">
            <a:solidFill>
              <a:srgbClr val="9AA3AE"/>
            </a:solidFill>
            <a:prstDash val="solid"/>
          </a:ln>
        </p:spPr>
      </p:sp>
      <p:sp>
        <p:nvSpPr>
          <p:cNvPr id="45" name="Training study 26"/>
          <p:cNvSpPr/>
          <p:nvPr/>
        </p:nvSpPr>
        <p:spPr>
          <a:xfrm>
            <a:off x="7863840" y="4343400"/>
            <a:ext cx="246888" cy="246888"/>
          </a:xfrm>
          <a:prstGeom prst="rect">
            <a:avLst/>
          </a:prstGeom>
          <a:solidFill>
            <a:schemeClr val="accent6"/>
          </a:solidFill>
          <a:ln w="6350">
            <a:solidFill>
              <a:srgbClr val="9AA3AE"/>
            </a:solidFill>
            <a:prstDash val="solid"/>
          </a:ln>
        </p:spPr>
      </p:sp>
      <p:sp>
        <p:nvSpPr>
          <p:cNvPr id="46" name="Training study 27"/>
          <p:cNvSpPr/>
          <p:nvPr/>
        </p:nvSpPr>
        <p:spPr>
          <a:xfrm>
            <a:off x="8156448" y="4343400"/>
            <a:ext cx="246888" cy="246888"/>
          </a:xfrm>
          <a:prstGeom prst="rect">
            <a:avLst/>
          </a:prstGeom>
          <a:solidFill>
            <a:schemeClr val="accent6"/>
          </a:solidFill>
          <a:ln w="6350">
            <a:solidFill>
              <a:srgbClr val="9AA3AE"/>
            </a:solidFill>
            <a:prstDash val="solid"/>
          </a:ln>
        </p:spPr>
      </p:sp>
      <p:sp>
        <p:nvSpPr>
          <p:cNvPr id="47" name="Training study 28"/>
          <p:cNvSpPr/>
          <p:nvPr/>
        </p:nvSpPr>
        <p:spPr>
          <a:xfrm>
            <a:off x="8449056" y="4343400"/>
            <a:ext cx="246888" cy="246888"/>
          </a:xfrm>
          <a:prstGeom prst="rect">
            <a:avLst/>
          </a:prstGeom>
          <a:solidFill>
            <a:schemeClr val="accent6"/>
          </a:solidFill>
          <a:ln w="6350">
            <a:solidFill>
              <a:srgbClr val="9AA3AE"/>
            </a:solidFill>
            <a:prstDash val="solid"/>
          </a:ln>
        </p:spPr>
      </p:sp>
      <p:sp>
        <p:nvSpPr>
          <p:cNvPr id="48" name="Training study 29"/>
          <p:cNvSpPr/>
          <p:nvPr/>
        </p:nvSpPr>
        <p:spPr>
          <a:xfrm>
            <a:off x="8741664" y="4343400"/>
            <a:ext cx="246888" cy="246888"/>
          </a:xfrm>
          <a:prstGeom prst="rect">
            <a:avLst/>
          </a:prstGeom>
          <a:solidFill>
            <a:schemeClr val="accent6"/>
          </a:solidFill>
          <a:ln w="6350">
            <a:solidFill>
              <a:srgbClr val="9AA3AE"/>
            </a:solidFill>
            <a:prstDash val="solid"/>
          </a:ln>
        </p:spPr>
      </p:sp>
      <p:sp>
        <p:nvSpPr>
          <p:cNvPr id="49" name="Training study 30"/>
          <p:cNvSpPr/>
          <p:nvPr/>
        </p:nvSpPr>
        <p:spPr>
          <a:xfrm>
            <a:off x="9034272" y="4343400"/>
            <a:ext cx="246888" cy="246888"/>
          </a:xfrm>
          <a:prstGeom prst="rect">
            <a:avLst/>
          </a:prstGeom>
          <a:solidFill>
            <a:schemeClr val="accent6"/>
          </a:solidFill>
          <a:ln w="6350">
            <a:solidFill>
              <a:srgbClr val="9AA3AE"/>
            </a:solidFill>
            <a:prstDash val="solid"/>
          </a:ln>
        </p:spPr>
      </p:sp>
      <p:sp>
        <p:nvSpPr>
          <p:cNvPr id="50" name="Training study 31"/>
          <p:cNvSpPr/>
          <p:nvPr/>
        </p:nvSpPr>
        <p:spPr>
          <a:xfrm>
            <a:off x="9326880" y="4343400"/>
            <a:ext cx="246888" cy="246888"/>
          </a:xfrm>
          <a:prstGeom prst="rect">
            <a:avLst/>
          </a:prstGeom>
          <a:solidFill>
            <a:schemeClr val="accent6"/>
          </a:solidFill>
          <a:ln w="6350">
            <a:solidFill>
              <a:srgbClr val="9AA3AE"/>
            </a:solidFill>
            <a:prstDash val="solid"/>
          </a:ln>
        </p:spPr>
      </p:sp>
      <p:sp>
        <p:nvSpPr>
          <p:cNvPr id="51" name="Training study 32"/>
          <p:cNvSpPr/>
          <p:nvPr/>
        </p:nvSpPr>
        <p:spPr>
          <a:xfrm>
            <a:off x="9619488" y="4343400"/>
            <a:ext cx="246888" cy="246888"/>
          </a:xfrm>
          <a:prstGeom prst="rect">
            <a:avLst/>
          </a:prstGeom>
          <a:solidFill>
            <a:schemeClr val="accent6"/>
          </a:solidFill>
          <a:ln w="6350">
            <a:solidFill>
              <a:srgbClr val="9AA3AE"/>
            </a:solidFill>
            <a:prstDash val="solid"/>
          </a:ln>
        </p:spPr>
      </p:sp>
      <p:sp>
        <p:nvSpPr>
          <p:cNvPr id="52" name="Text 50"/>
          <p:cNvSpPr txBox="1"/>
          <p:nvPr/>
        </p:nvSpPr>
        <p:spPr>
          <a:xfrm>
            <a:off x="548640" y="4709160"/>
            <a:ext cx="10058400" cy="274320"/>
          </a:xfrm>
          <a:prstGeom prst="rect">
            <a:avLst/>
          </a:prstGeom>
          <a:noFill/>
          <a:ln/>
        </p:spPr>
        <p:txBody>
          <a:bodyPr wrap="square" lIns="0" tIns="0" rIns="0" bIns="0" rtlCol="0" anchor="t"/>
          <a:lstStyle/>
          <a:p>
            <a:pPr indent="0" marL="0">
              <a:buNone/>
            </a:pPr>
            <a:r>
              <a:rPr lang="en-US" sz="1400" dirty="0">
                <a:solidFill>
                  <a:schemeClr val="tx1"/>
                </a:solidFill>
              </a:rPr>
              <a:t>Grey: 31 training studies.  </a:t>
            </a:r>
            <a:pPr indent="0" marL="0">
              <a:buNone/>
            </a:pPr>
            <a:r>
              <a:rPr lang="en-US" sz="1400" dirty="0">
                <a:solidFill>
                  <a:schemeClr val="accent1"/>
                </a:solidFill>
              </a:rPr>
              <a:t>Red: the held-out test study.</a:t>
            </a:r>
            <a:pPr indent="0" marL="0">
              <a:buNone/>
            </a:pPr>
            <a:r>
              <a:rPr lang="en-US" sz="1400" dirty="0">
                <a:solidFill>
                  <a:schemeClr val="tx1"/>
                </a:solidFill>
              </a:rPr>
              <a:t>  Each study is held out once.</a:t>
            </a:r>
            <a:endParaRPr lang="en-US" sz="1400" dirty="0"/>
          </a:p>
        </p:txBody>
      </p:sp>
      <p:sp>
        <p:nvSpPr>
          <p:cNvPr id="53" name="Text 51"/>
          <p:cNvSpPr txBox="1"/>
          <p:nvPr/>
        </p:nvSpPr>
        <p:spPr>
          <a:xfrm>
            <a:off x="548640" y="5120640"/>
            <a:ext cx="1106424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Why studies, not measurements: the 346 measurements come from only 32 independent studies, because several papers report the same volunteers.</a:t>
            </a:r>
            <a:endParaRPr lang="en-US" sz="1400" dirty="0"/>
          </a:p>
          <a:p>
            <a:pPr marL="342900" indent="-342900">
              <a:spcAft>
                <a:spcPts val="400"/>
              </a:spcAft>
              <a:buSzPct val="100000"/>
              <a:buChar char="•"/>
            </a:pPr>
            <a:r>
              <a:rPr lang="en-US" sz="1400" dirty="0">
                <a:solidFill>
                  <a:schemeClr val="tx1"/>
                </a:solidFill>
              </a:rPr>
              <a:t>Score: average error in percentage points (pp). Forecast −10%, measured −13%: error 3 pp. Each study counts once.</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No ML model has lower error than the duration curve</a:t>
            </a:r>
            <a:endParaRPr lang="en-US" sz="2800" dirty="0"/>
          </a:p>
        </p:txBody>
      </p:sp>
      <p:graphicFrame>
        <p:nvGraphicFramePr>
          <p:cNvPr id="11" name="MAE chart" descr=""/>
          <p:cNvGraphicFramePr/>
          <p:nvPr/>
        </p:nvGraphicFramePr>
        <p:xfrm>
          <a:off x="457200" y="1188720"/>
          <a:ext cx="5669280" cy="379476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R2 chart" descr=""/>
          <p:cNvGraphicFramePr/>
          <p:nvPr/>
        </p:nvGraphicFramePr>
        <p:xfrm>
          <a:off x="6309360" y="1188720"/>
          <a:ext cx="5394960" cy="379476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548640" y="5074920"/>
            <a:ext cx="11064240" cy="11887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R² is the share of the differences between measurements that a model explains: 0 is none, 1 is all. The ML models explain more (0.27 to 0.39 vs 0.14) because they learn which muscles shrink more.</a:t>
            </a:r>
            <a:endParaRPr lang="en-US" sz="1400" dirty="0"/>
          </a:p>
          <a:p>
            <a:pPr marL="342900" indent="-342900">
              <a:spcAft>
                <a:spcPts val="400"/>
              </a:spcAft>
              <a:buSzPct val="100000"/>
              <a:buChar char="•"/>
            </a:pPr>
            <a:r>
              <a:rPr lang="en-US" sz="1400" dirty="0">
                <a:solidFill>
                  <a:schemeClr val="tx1"/>
                </a:solidFill>
              </a:rPr>
              <a:t>Their error on a new study is still no lower. Most of the error left is a shift that affects a whole study (its scanner, volunteers, protocol), and none of our inputs describe it.</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LLM forecast: what is sent and what comes back</a:t>
            </a:r>
            <a:endParaRPr lang="en-US" sz="2800" dirty="0"/>
          </a:p>
        </p:txBody>
      </p:sp>
      <p:sp>
        <p:nvSpPr>
          <p:cNvPr id="11" name="Request box"/>
          <p:cNvSpPr/>
          <p:nvPr/>
        </p:nvSpPr>
        <p:spPr>
          <a:xfrm>
            <a:off x="548640" y="1234440"/>
            <a:ext cx="4846320" cy="4160520"/>
          </a:xfrm>
          <a:prstGeom prst="rect">
            <a:avLst/>
          </a:prstGeom>
          <a:solidFill>
            <a:schemeClr val="bg1"/>
          </a:solidFill>
          <a:ln w="12700">
            <a:solidFill>
              <a:srgbClr val="9AA3AE"/>
            </a:solidFill>
            <a:prstDash val="solid"/>
          </a:ln>
        </p:spPr>
      </p:sp>
      <p:sp>
        <p:nvSpPr>
          <p:cNvPr id="12" name="Text 10"/>
          <p:cNvSpPr txBox="1"/>
          <p:nvPr/>
        </p:nvSpPr>
        <p:spPr>
          <a:xfrm>
            <a:off x="731520" y="1371600"/>
            <a:ext cx="4480560" cy="3886200"/>
          </a:xfrm>
          <a:prstGeom prst="rect">
            <a:avLst/>
          </a:prstGeom>
          <a:noFill/>
          <a:ln/>
        </p:spPr>
        <p:txBody>
          <a:bodyPr wrap="square" lIns="0" tIns="0" rIns="0" bIns="0" rtlCol="0" anchor="t"/>
          <a:lstStyle/>
          <a:p>
            <a:pPr indent="0" marL="0">
              <a:spcAft>
                <a:spcPts val="100"/>
              </a:spcAft>
              <a:buNone/>
            </a:pPr>
            <a:r>
              <a:rPr lang="en-US" sz="1600" b="1" dirty="0">
                <a:solidFill>
                  <a:schemeClr val="tx2"/>
                </a:solidFill>
              </a:rPr>
              <a:t>Request (one per measurement)</a:t>
            </a:r>
            <a:endParaRPr lang="en-US" sz="1600" dirty="0"/>
          </a:p>
          <a:p>
            <a:pPr indent="0" marL="0">
              <a:spcAft>
                <a:spcPts val="100"/>
              </a:spcAft>
              <a:buNone/>
            </a:pPr>
            <a:r>
              <a:rPr lang="en-US" sz="400" dirty="0">
                <a:solidFill>
                  <a:schemeClr val="tx1"/>
                </a:solidFill>
              </a:rPr>
              <a:t> </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participants</a:t>
            </a:r>
            <a:endParaRPr lang="en-US" sz="1600" dirty="0"/>
          </a:p>
          <a:p>
            <a:pPr indent="0" marL="0">
              <a:spcAft>
                <a:spcPts val="100"/>
              </a:spcAft>
              <a:buNone/>
            </a:pPr>
            <a:r>
              <a:rPr lang="en-US" sz="1300" dirty="0">
                <a:solidFill>
                  <a:schemeClr val="tx1"/>
                </a:solidFill>
              </a:rPr>
              <a:t>men only, mean age 35, n = 11</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protocol</a:t>
            </a:r>
            <a:endParaRPr lang="en-US" sz="1600" dirty="0"/>
          </a:p>
          <a:p>
            <a:pPr indent="0" marL="0">
              <a:spcAft>
                <a:spcPts val="100"/>
              </a:spcAft>
              <a:buNone/>
            </a:pPr>
            <a:r>
              <a:rPr lang="en-US" sz="1300" dirty="0">
                <a:solidFill>
                  <a:schemeClr val="tx1"/>
                </a:solidFill>
              </a:rPr>
              <a:t>head-down tilt bed rest, 21 days, control group</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measurement</a:t>
            </a:r>
            <a:endParaRPr lang="en-US" sz="1600" dirty="0"/>
          </a:p>
          <a:p>
            <a:pPr indent="0" marL="0">
              <a:spcAft>
                <a:spcPts val="100"/>
              </a:spcAft>
              <a:buNone/>
            </a:pPr>
            <a:r>
              <a:rPr lang="en-US" sz="1300" dirty="0">
                <a:solidFill>
                  <a:schemeClr val="tx1"/>
                </a:solidFill>
              </a:rPr>
              <a:t>vastus lateralis, MRI cross-sectional area</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target</a:t>
            </a:r>
            <a:endParaRPr lang="en-US" sz="1600" dirty="0"/>
          </a:p>
          <a:p>
            <a:pPr indent="0" marL="0">
              <a:spcAft>
                <a:spcPts val="100"/>
              </a:spcAft>
              <a:buNone/>
            </a:pPr>
            <a:r>
              <a:rPr lang="en-US" sz="1300" dirty="0">
                <a:solidFill>
                  <a:schemeClr val="tx1"/>
                </a:solidFill>
              </a:rPr>
              <a:t>day 21 of bed rest</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typical_curve_other_campaigns</a:t>
            </a:r>
            <a:endParaRPr lang="en-US" sz="1600" dirty="0"/>
          </a:p>
          <a:p>
            <a:pPr indent="0" marL="0">
              <a:spcAft>
                <a:spcPts val="100"/>
              </a:spcAft>
              <a:buNone/>
            </a:pPr>
            <a:r>
              <a:rPr lang="en-US" sz="1300" dirty="0">
                <a:solidFill>
                  <a:schemeClr val="tx1"/>
                </a:solidFill>
              </a:rPr>
              <a:t>duration curve fitted on the other 31 studies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observations_other_campaigns</a:t>
            </a:r>
            <a:endParaRPr lang="en-US" sz="1600" dirty="0"/>
          </a:p>
          <a:p>
            <a:pPr indent="0" marL="0">
              <a:spcAft>
                <a:spcPts val="100"/>
              </a:spcAft>
              <a:buNone/>
            </a:pPr>
            <a:r>
              <a:rPr lang="en-US" sz="1300" dirty="0">
                <a:solidFill>
                  <a:schemeClr val="tx1"/>
                </a:solidFill>
              </a:rPr>
              <a:t>rows from the other 31 studies, most similar first, up to about 26,000 tokens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question</a:t>
            </a:r>
            <a:endParaRPr lang="en-US" sz="1600" dirty="0"/>
          </a:p>
          <a:p>
            <a:pPr indent="0" marL="0">
              <a:spcAft>
                <a:spcPts val="100"/>
              </a:spcAft>
              <a:buNone/>
            </a:pPr>
            <a:r>
              <a:rPr lang="en-US" sz="1300" dirty="0">
                <a:solidFill>
                  <a:schemeClr val="tx1"/>
                </a:solidFill>
              </a:rPr>
              <a:t>Which range will the change fall in? 19 options: below −30%, 2-point ranges up to +4%, +4% and above</a:t>
            </a:r>
            <a:endParaRPr lang="en-US" sz="1600" dirty="0"/>
          </a:p>
          <a:p>
            <a:pPr indent="0" marL="0">
              <a:spcAft>
                <a:spcPts val="100"/>
              </a:spcAft>
              <a:buNone/>
            </a:pPr>
            <a:r>
              <a:rPr lang="en-US" sz="1100" i="1" dirty="0">
                <a:solidFill>
                  <a:schemeClr val="accent3"/>
                </a:solidFill>
              </a:rPr>
              <a:t>Field names as sent; "campaign" means study.</a:t>
            </a:r>
            <a:endParaRPr lang="en-US" sz="1600" dirty="0"/>
          </a:p>
        </p:txBody>
      </p:sp>
      <p:sp>
        <p:nvSpPr>
          <p:cNvPr id="13" name="Arrow request to LLM"/>
          <p:cNvSpPr/>
          <p:nvPr/>
        </p:nvSpPr>
        <p:spPr>
          <a:xfrm>
            <a:off x="5486400" y="3383280"/>
            <a:ext cx="457200" cy="0"/>
          </a:xfrm>
          <a:prstGeom prst="line">
            <a:avLst/>
          </a:prstGeom>
          <a:noFill/>
          <a:ln w="15875">
            <a:solidFill>
              <a:srgbClr val="1A1A1A"/>
            </a:solidFill>
            <a:prstDash val="solid"/>
            <a:tailEnd type="triangle"/>
          </a:ln>
        </p:spPr>
      </p:sp>
      <p:sp>
        <p:nvSpPr>
          <p:cNvPr id="14" name="LLM box"/>
          <p:cNvSpPr/>
          <p:nvPr/>
        </p:nvSpPr>
        <p:spPr>
          <a:xfrm>
            <a:off x="5989320" y="2788920"/>
            <a:ext cx="1234440" cy="1188720"/>
          </a:xfrm>
          <a:prstGeom prst="rect">
            <a:avLst/>
          </a:prstGeom>
          <a:solidFill>
            <a:schemeClr val="bg2"/>
          </a:solidFill>
          <a:ln w="12700">
            <a:solidFill>
              <a:srgbClr val="9AA3AE"/>
            </a:solidFill>
            <a:prstDash val="solid"/>
          </a:ln>
        </p:spPr>
      </p:sp>
      <p:sp>
        <p:nvSpPr>
          <p:cNvPr id="15" name="Text 13"/>
          <p:cNvSpPr txBox="1"/>
          <p:nvPr/>
        </p:nvSpPr>
        <p:spPr>
          <a:xfrm>
            <a:off x="5989320" y="2788920"/>
            <a:ext cx="1234440" cy="1188720"/>
          </a:xfrm>
          <a:prstGeom prst="rect">
            <a:avLst/>
          </a:prstGeom>
          <a:noFill/>
          <a:ln/>
        </p:spPr>
        <p:txBody>
          <a:bodyPr wrap="square" lIns="0" tIns="0" rIns="0" bIns="0" rtlCol="0" anchor="ctr"/>
          <a:lstStyle/>
          <a:p>
            <a:pPr algn="ctr" indent="0" marL="0">
              <a:buNone/>
            </a:pPr>
            <a:r>
              <a:rPr lang="en-US" sz="1600" b="1" dirty="0">
                <a:solidFill>
                  <a:schemeClr val="tx2"/>
                </a:solidFill>
              </a:rPr>
              <a:t>LLM</a:t>
            </a:r>
            <a:endParaRPr lang="en-US" sz="1600" dirty="0"/>
          </a:p>
          <a:p>
            <a:pPr algn="ctr" indent="0" marL="0">
              <a:buNone/>
            </a:pPr>
            <a:r>
              <a:rPr lang="en-US" sz="1200" dirty="0">
                <a:solidFill>
                  <a:schemeClr val="accent3"/>
                </a:solidFill>
              </a:rPr>
              <a:t>fixed version</a:t>
            </a:r>
            <a:endParaRPr lang="en-US" sz="1600" dirty="0"/>
          </a:p>
        </p:txBody>
      </p:sp>
      <p:sp>
        <p:nvSpPr>
          <p:cNvPr id="16" name="Arrow LLM to answer"/>
          <p:cNvSpPr/>
          <p:nvPr/>
        </p:nvSpPr>
        <p:spPr>
          <a:xfrm>
            <a:off x="7269480" y="3383280"/>
            <a:ext cx="457200" cy="0"/>
          </a:xfrm>
          <a:prstGeom prst="line">
            <a:avLst/>
          </a:prstGeom>
          <a:noFill/>
          <a:ln w="15875">
            <a:solidFill>
              <a:srgbClr val="1A1A1A"/>
            </a:solidFill>
            <a:prstDash val="solid"/>
            <a:tailEnd type="triangle"/>
          </a:ln>
        </p:spPr>
      </p:sp>
      <p:graphicFrame>
        <p:nvGraphicFramePr>
          <p:cNvPr id="17" name="Example answer chart" descr=""/>
          <p:cNvGraphicFramePr/>
          <p:nvPr/>
        </p:nvGraphicFramePr>
        <p:xfrm>
          <a:off x="7772400" y="1234440"/>
          <a:ext cx="3931920" cy="310896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7863840" y="4434840"/>
            <a:ext cx="3794760" cy="10972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Our code turns the probabilities into one forecast, their weighted average: −6.6%</a:t>
            </a:r>
            <a:endParaRPr lang="en-US" sz="1300" dirty="0"/>
          </a:p>
          <a:p>
            <a:pPr marL="342900" indent="-342900">
              <a:spcAft>
                <a:spcPts val="400"/>
              </a:spcAft>
              <a:buSzPct val="100000"/>
              <a:buChar char="•"/>
            </a:pPr>
            <a:r>
              <a:rPr lang="en-US" sz="1300" dirty="0">
                <a:solidFill>
                  <a:schemeClr val="tx1"/>
                </a:solidFill>
              </a:rPr>
              <a:t>Measured: −9.4%, an error of 2.8 pp. This is a typical row: half of the LLM's errors are smaller.</a:t>
            </a:r>
            <a:endParaRPr lang="en-US" sz="1300" dirty="0"/>
          </a:p>
        </p:txBody>
      </p:sp>
      <p:sp>
        <p:nvSpPr>
          <p:cNvPr id="19" name="Text 16"/>
          <p:cNvSpPr txBox="1"/>
          <p:nvPr/>
        </p:nvSpPr>
        <p:spPr>
          <a:xfrm>
            <a:off x="548640" y="5715000"/>
            <a:ext cx="11064240" cy="548640"/>
          </a:xfrm>
          <a:prstGeom prst="rect">
            <a:avLst/>
          </a:prstGeom>
          <a:noFill/>
          <a:ln/>
        </p:spPr>
        <p:txBody>
          <a:bodyPr wrap="square" lIns="0" tIns="0" rIns="0" bIns="0" rtlCol="0" anchor="t"/>
          <a:lstStyle/>
          <a:p>
            <a:pPr indent="0" marL="0">
              <a:buNone/>
            </a:pPr>
            <a:r>
              <a:rPr lang="en-US" sz="1300" b="1" dirty="0">
                <a:solidFill>
                  <a:schemeClr val="tx1"/>
                </a:solidFill>
              </a:rPr>
              <a:t>Never sent (checked on every request): </a:t>
            </a:r>
            <a:pPr indent="0" marL="0">
              <a:buNone/>
            </a:pPr>
            <a:r>
              <a:rPr lang="en-US" sz="1300" dirty="0">
                <a:solidFill>
                  <a:schemeClr val="tx1"/>
                </a:solidFill>
              </a:rPr>
              <a:t>the held-out study's measurements, and any paper, author or study name. All 430 answers are saved, so every result can be rebuilt without calling the model again.</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The LLM forecast has the lowest error of all models</a:t>
            </a:r>
            <a:endParaRPr lang="en-US" sz="2800" dirty="0"/>
          </a:p>
        </p:txBody>
      </p:sp>
      <p:graphicFrame>
        <p:nvGraphicFramePr>
          <p:cNvPr id="11" name="MAE chart with LLM" descr=""/>
          <p:cNvGraphicFramePr/>
          <p:nvPr/>
        </p:nvGraphicFramePr>
        <p:xfrm>
          <a:off x="457200" y="1188720"/>
          <a:ext cx="5669280" cy="361188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R2 chart with LLM" descr=""/>
          <p:cNvGraphicFramePr/>
          <p:nvPr/>
        </p:nvGraphicFramePr>
        <p:xfrm>
          <a:off x="6309360" y="1188720"/>
          <a:ext cx="5394960" cy="361188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548640" y="4892040"/>
            <a:ext cx="1106424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Same measurements, scored the same way: error 2.71 vs 3.13 pp, so 0.42 pp smaller. Closer than the curve in 20 of 32 studies.</a:t>
            </a:r>
            <a:endParaRPr lang="en-US" sz="1400" dirty="0"/>
          </a:p>
          <a:p>
            <a:pPr marL="342900" indent="-342900">
              <a:spcAft>
                <a:spcPts val="400"/>
              </a:spcAft>
              <a:buSzPct val="100000"/>
              <a:buChar char="•"/>
            </a:pPr>
            <a:r>
              <a:rPr lang="en-US" sz="1400" dirty="0">
                <a:solidFill>
                  <a:schemeClr val="tx1"/>
                </a:solidFill>
              </a:rPr>
              <a:t>95% confidence interval of that difference: 0.13 to 0.73 pp. The whole range is above zero, so it is unlikely to be luck. No other model achieves this.</a:t>
            </a:r>
            <a:endParaRPr lang="en-US" sz="1400" dirty="0"/>
          </a:p>
        </p:txBody>
      </p:sp>
      <p:sp>
        <p:nvSpPr>
          <p:cNvPr id="14" name="Text 10"/>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100" i="1" dirty="0">
                <a:solidFill>
                  <a:schemeClr val="accent3"/>
                </a:solidFill>
              </a:rPr>
              <a:t>The curve shows 3.13 pp here, not 3.16, because the comparison scores it exactly as it scores the LLM.</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Validity checks on the LLM forecast</a:t>
            </a:r>
            <a:endParaRPr lang="en-US" sz="2800" dirty="0"/>
          </a:p>
        </p:txBody>
      </p:sp>
      <p:sp>
        <p:nvSpPr>
          <p:cNvPr id="11" name="Text 9"/>
          <p:cNvSpPr txBox="1"/>
          <p:nvPr/>
        </p:nvSpPr>
        <p:spPr>
          <a:xfrm>
            <a:off x="548640" y="109728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Gain = how much smaller the LLM's error is than the curve's, in pp (full result: 0.42). Each check and its pass rule were fixed before running it.</a:t>
            </a:r>
            <a:endParaRPr lang="en-US" sz="1300" dirty="0"/>
          </a:p>
        </p:txBody>
      </p:sp>
      <p:sp>
        <p:nvSpPr>
          <p:cNvPr id="12" name="Text 10"/>
          <p:cNvSpPr txBox="1"/>
          <p:nvPr/>
        </p:nvSpPr>
        <p:spPr>
          <a:xfrm>
            <a:off x="548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Does it recognise published studies?</a:t>
            </a:r>
            <a:endParaRPr lang="en-US" sz="1600" dirty="0"/>
          </a:p>
          <a:p>
            <a:pPr marL="342900" indent="-342900">
              <a:spcAft>
                <a:spcPts val="400"/>
              </a:spcAft>
              <a:buSzPct val="100000"/>
              <a:buChar char="•"/>
            </a:pPr>
            <a:r>
              <a:rPr lang="en-US" sz="1400" dirty="0">
                <a:solidFill>
                  <a:schemeClr val="tx1"/>
                </a:solidFill>
              </a:rPr>
              <a:t>Everything identifying a study removed: gain still 0.30 pp, interval above zero</a:t>
            </a:r>
            <a:endParaRPr lang="en-US" sz="1600" dirty="0"/>
          </a:p>
          <a:p>
            <a:pPr marL="342900" indent="-342900">
              <a:spcAft>
                <a:spcPts val="400"/>
              </a:spcAft>
              <a:buSzPct val="100000"/>
              <a:buChar char="•"/>
            </a:pPr>
            <a:r>
              <a:rPr lang="en-US" sz="1400" dirty="0">
                <a:solidFill>
                  <a:schemeClr val="tx1"/>
                </a:solidFill>
              </a:rPr>
              <a:t>Asked to choose the study's name from a list of options: right 19% of the time, where guessing gives 8%</a:t>
            </a:r>
            <a:endParaRPr lang="en-US" sz="1600" dirty="0"/>
          </a:p>
          <a:p>
            <a:pPr indent="0" marL="0">
              <a:spcBef>
                <a:spcPts val="1000"/>
              </a:spcBef>
              <a:buNone/>
            </a:pPr>
            <a:r>
              <a:rPr lang="en-US" sz="1600" b="1" dirty="0">
                <a:solidFill>
                  <a:schemeClr val="tx2"/>
                </a:solidFill>
              </a:rPr>
              <a:t>Does it use the other studies' data?</a:t>
            </a:r>
            <a:endParaRPr lang="en-US" sz="1600" dirty="0"/>
          </a:p>
          <a:p>
            <a:pPr marL="342900" indent="-342900">
              <a:spcAft>
                <a:spcPts val="400"/>
              </a:spcAft>
              <a:buSzPct val="100000"/>
              <a:buChar char="•"/>
            </a:pPr>
            <a:r>
              <a:rPr lang="en-US" sz="1400" dirty="0">
                <a:solidFill>
                  <a:schemeClr val="tx1"/>
                </a:solidFill>
              </a:rPr>
              <a:t>Their values shuffled: worse than the curve (gain −1.25 pp)</a:t>
            </a:r>
            <a:endParaRPr lang="en-US" sz="1600" dirty="0"/>
          </a:p>
          <a:p>
            <a:pPr marL="342900" indent="-342900">
              <a:spcAft>
                <a:spcPts val="400"/>
              </a:spcAft>
              <a:buSzPct val="100000"/>
              <a:buChar char="•"/>
            </a:pPr>
            <a:r>
              <a:rPr lang="en-US" sz="1400" dirty="0">
                <a:solidFill>
                  <a:schemeClr val="tx1"/>
                </a:solidFill>
              </a:rPr>
              <a:t>None of their data given: error 5.85 vs 3.13 pp</a:t>
            </a:r>
            <a:endParaRPr lang="en-US" sz="1600" dirty="0"/>
          </a:p>
        </p:txBody>
      </p:sp>
      <p:sp>
        <p:nvSpPr>
          <p:cNvPr id="13" name="Text 11"/>
          <p:cNvSpPr txBox="1"/>
          <p:nvPr/>
        </p:nvSpPr>
        <p:spPr>
          <a:xfrm>
            <a:off x="6263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Is it sensitive to presentation?</a:t>
            </a:r>
            <a:endParaRPr lang="en-US" sz="1600" dirty="0"/>
          </a:p>
          <a:p>
            <a:pPr marL="342900" indent="-342900">
              <a:spcAft>
                <a:spcPts val="400"/>
              </a:spcAft>
              <a:buSzPct val="100000"/>
              <a:buChar char="•"/>
            </a:pPr>
            <a:r>
              <a:rPr lang="en-US" sz="1400" dirty="0">
                <a:solidFill>
                  <a:schemeClr val="tx1"/>
                </a:solidFill>
              </a:rPr>
              <a:t>Other studies' rows in a different order: error changes 3%</a:t>
            </a:r>
            <a:endParaRPr lang="en-US" sz="1600" dirty="0"/>
          </a:p>
          <a:p>
            <a:pPr marL="342900" indent="-342900">
              <a:spcAft>
                <a:spcPts val="400"/>
              </a:spcAft>
              <a:buSzPct val="100000"/>
              <a:buChar char="•"/>
            </a:pPr>
            <a:r>
              <a:rPr lang="en-US" sz="1400" dirty="0">
                <a:solidFill>
                  <a:schemeClr val="tx1"/>
                </a:solidFill>
              </a:rPr>
              <a:t>Answer ranges moved by 1 point: error changes 1%</a:t>
            </a:r>
            <a:endParaRPr lang="en-US" sz="1600" dirty="0"/>
          </a:p>
          <a:p>
            <a:pPr indent="0" marL="0">
              <a:spcBef>
                <a:spcPts val="1000"/>
              </a:spcBef>
              <a:buNone/>
            </a:pPr>
            <a:r>
              <a:rPr lang="en-US" sz="1600" b="1" dirty="0">
                <a:solidFill>
                  <a:schemeClr val="tx2"/>
                </a:solidFill>
              </a:rPr>
              <a:t>Is it reproducible?</a:t>
            </a:r>
            <a:endParaRPr lang="en-US" sz="1600" dirty="0"/>
          </a:p>
          <a:p>
            <a:pPr marL="342900" indent="-342900">
              <a:spcAft>
                <a:spcPts val="400"/>
              </a:spcAft>
              <a:buSzPct val="100000"/>
              <a:buChar char="•"/>
            </a:pPr>
            <a:r>
              <a:rPr lang="en-US" sz="1400" dirty="0">
                <a:solidFill>
                  <a:schemeClr val="tx1"/>
                </a:solidFill>
              </a:rPr>
              <a:t>20 identical requests resent: forecasts differ by 0.17 pp on average, well below the 0.42 pp gain</a:t>
            </a:r>
            <a:endParaRPr lang="en-US" sz="1600" dirty="0"/>
          </a:p>
        </p:txBody>
      </p:sp>
      <p:sp>
        <p:nvSpPr>
          <p:cNvPr id="14" name="Text 12"/>
          <p:cNvSpPr txBox="1"/>
          <p:nvPr/>
        </p:nvSpPr>
        <p:spPr>
          <a:xfrm>
            <a:off x="548640" y="4572000"/>
            <a:ext cx="11064240" cy="1463040"/>
          </a:xfrm>
          <a:prstGeom prst="rect">
            <a:avLst/>
          </a:prstGeom>
          <a:noFill/>
          <a:ln/>
        </p:spPr>
        <p:txBody>
          <a:bodyPr wrap="square" lIns="0" tIns="0" rIns="0" bIns="0" rtlCol="0" anchor="t"/>
          <a:lstStyle/>
          <a:p>
            <a:pPr indent="0" marL="0">
              <a:buNone/>
            </a:pPr>
            <a:r>
              <a:rPr lang="en-US" sz="1600" b="1" dirty="0">
                <a:solidFill>
                  <a:schemeClr val="tx2"/>
                </a:solidFill>
              </a:rPr>
              <a:t>Limitations of this result</a:t>
            </a:r>
            <a:endParaRPr lang="en-US" sz="1600" dirty="0"/>
          </a:p>
          <a:p>
            <a:pPr marL="342900" indent="-342900">
              <a:spcAft>
                <a:spcPts val="400"/>
              </a:spcAft>
              <a:buSzPct val="100000"/>
              <a:buChar char="•"/>
            </a:pPr>
            <a:r>
              <a:rPr lang="en-US" sz="1400" dirty="0">
                <a:solidFill>
                  <a:schemeClr val="tx1"/>
                </a:solidFill>
              </a:rPr>
              <a:t>Added after the ML result was known, so it was not part of the original plan</a:t>
            </a:r>
            <a:endParaRPr lang="en-US" sz="1600" dirty="0"/>
          </a:p>
          <a:p>
            <a:pPr marL="342900" indent="-342900">
              <a:spcAft>
                <a:spcPts val="400"/>
              </a:spcAft>
              <a:buSzPct val="100000"/>
              <a:buChar char="•"/>
            </a:pPr>
            <a:r>
              <a:rPr lang="en-US" sz="1400" dirty="0">
                <a:solidFill>
                  <a:schemeClr val="tx1"/>
                </a:solidFill>
              </a:rPr>
              <a:t>Overconfident: when it is 80% sure the value is in a range, it is there only 62% of the time. We therefore report only its single-number forecast.</a:t>
            </a:r>
            <a:endParaRPr lang="en-US" sz="1600" dirty="0"/>
          </a:p>
          <a:p>
            <a:pPr marL="342900" indent="-342900">
              <a:spcAft>
                <a:spcPts val="400"/>
              </a:spcAft>
              <a:buSzPct val="100000"/>
              <a:buChar char="•"/>
            </a:pPr>
            <a:r>
              <a:rPr lang="en-US" sz="1400" dirty="0">
                <a:solidFill>
                  <a:schemeClr val="tx1"/>
                </a:solidFill>
              </a:rPr>
              <a:t>When also given a study's own earlier scans, it does not make use of them</a:t>
            </a:r>
            <a:endParaRPr lang="en-US" sz="16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428732" y="6432804"/>
            <a:ext cx="118872" cy="118872"/>
          </a:xfrm>
          <a:prstGeom prst="ellipse">
            <a:avLst/>
          </a:prstGeom>
          <a:solidFill>
            <a:schemeClr val="tx2"/>
          </a:solidFill>
          <a:ln w="9525">
            <a:solidFill>
              <a:srgbClr val="1F3A5F"/>
            </a:solidFill>
            <a:prstDash val="solid"/>
          </a:ln>
        </p:spPr>
      </p:sp>
      <p:sp>
        <p:nvSpPr>
          <p:cNvPr id="8" name="Tracker 6 Conclusions"/>
          <p:cNvSpPr/>
          <p:nvPr/>
        </p:nvSpPr>
        <p:spPr>
          <a:xfrm>
            <a:off x="10725912" y="6382512"/>
            <a:ext cx="219456" cy="219456"/>
          </a:xfrm>
          <a:prstGeom prst="ellipse">
            <a:avLst/>
          </a:prstGeom>
          <a:solidFill>
            <a:schemeClr val="accent1"/>
          </a:solidFill>
          <a:ln w="9525">
            <a:solidFill>
              <a:srgbClr val="A23B2A"/>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6  Conclusions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Conclusions, limitations and further work</a:t>
            </a:r>
            <a:endParaRPr lang="en-US" sz="2800" dirty="0"/>
          </a:p>
        </p:txBody>
      </p:sp>
      <p:sp>
        <p:nvSpPr>
          <p:cNvPr id="11" name="Text 9"/>
          <p:cNvSpPr txBox="1"/>
          <p:nvPr/>
        </p:nvSpPr>
        <p:spPr>
          <a:xfrm>
            <a:off x="54864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Conclusions</a:t>
            </a:r>
            <a:endParaRPr lang="en-US" sz="2000" dirty="0"/>
          </a:p>
          <a:p>
            <a:pPr marL="342900" indent="-342900">
              <a:spcAft>
                <a:spcPts val="400"/>
              </a:spcAft>
              <a:buSzPct val="100000"/>
              <a:buChar char="•"/>
            </a:pPr>
            <a:r>
              <a:rPr lang="en-US" sz="1800" dirty="0">
                <a:solidFill>
                  <a:schemeClr val="tx1"/>
                </a:solidFill>
              </a:rPr>
              <a:t>With 32 independent studies, no ML model forecasts better than a curve based on days alone (best 3.18 vs 3.16 pp error).</a:t>
            </a:r>
            <a:endParaRPr lang="en-US" sz="2000" dirty="0"/>
          </a:p>
          <a:p>
            <a:pPr marL="342900" indent="-342900">
              <a:spcAft>
                <a:spcPts val="400"/>
              </a:spcAft>
              <a:buSzPct val="100000"/>
              <a:buChar char="•"/>
            </a:pPr>
            <a:r>
              <a:rPr lang="en-US" sz="1800" dirty="0">
                <a:solidFill>
                  <a:schemeClr val="tx1"/>
                </a:solidFill>
              </a:rPr>
              <a:t>An LLM that reads each study's description and the other studies' data cuts the error to 2.71 pp (curve 3.13 pp), and this holds under every check.</a:t>
            </a:r>
            <a:endParaRPr lang="en-US" sz="2000" dirty="0"/>
          </a:p>
        </p:txBody>
      </p:sp>
      <p:sp>
        <p:nvSpPr>
          <p:cNvPr id="12" name="Text 10"/>
          <p:cNvSpPr txBox="1"/>
          <p:nvPr/>
        </p:nvSpPr>
        <p:spPr>
          <a:xfrm>
            <a:off x="434340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Limitations</a:t>
            </a:r>
            <a:endParaRPr lang="en-US" sz="2000" dirty="0"/>
          </a:p>
          <a:p>
            <a:pPr marL="342900" indent="-342900">
              <a:spcAft>
                <a:spcPts val="400"/>
              </a:spcAft>
              <a:buSzPct val="100000"/>
              <a:buChar char="•"/>
            </a:pPr>
            <a:r>
              <a:rPr lang="en-US" sz="1800" dirty="0">
                <a:solidFill>
                  <a:schemeClr val="tx1"/>
                </a:solidFill>
              </a:rPr>
              <a:t>Only 32 independent studies</a:t>
            </a:r>
            <a:endParaRPr lang="en-US" sz="2000" dirty="0"/>
          </a:p>
          <a:p>
            <a:pPr marL="342900" indent="-342900">
              <a:spcAft>
                <a:spcPts val="400"/>
              </a:spcAft>
              <a:buSzPct val="100000"/>
              <a:buChar char="•"/>
            </a:pPr>
            <a:r>
              <a:rPr lang="en-US" sz="1800" dirty="0">
                <a:solidFill>
                  <a:schemeClr val="tx1"/>
                </a:solidFill>
              </a:rPr>
              <a:t>No data beyond day 119</a:t>
            </a:r>
            <a:endParaRPr lang="en-US" sz="2000" dirty="0"/>
          </a:p>
          <a:p>
            <a:pPr marL="342900" indent="-342900">
              <a:spcAft>
                <a:spcPts val="400"/>
              </a:spcAft>
              <a:buSzPct val="100000"/>
              <a:buChar char="•"/>
            </a:pPr>
            <a:r>
              <a:rPr lang="en-US" sz="1800" dirty="0">
                <a:solidFill>
                  <a:schemeClr val="tx1"/>
                </a:solidFill>
              </a:rPr>
              <a:t>Mostly young men (347 of 425 measurements)</a:t>
            </a:r>
            <a:endParaRPr lang="en-US" sz="2000" dirty="0"/>
          </a:p>
          <a:p>
            <a:pPr marL="342900" indent="-342900">
              <a:spcAft>
                <a:spcPts val="400"/>
              </a:spcAft>
              <a:buSzPct val="100000"/>
              <a:buChar char="•"/>
            </a:pPr>
            <a:r>
              <a:rPr lang="en-US" sz="1800" dirty="0">
                <a:solidFill>
                  <a:schemeClr val="tx1"/>
                </a:solidFill>
              </a:rPr>
              <a:t>Group averages, not individual people</a:t>
            </a:r>
            <a:endParaRPr lang="en-US" sz="2000" dirty="0"/>
          </a:p>
          <a:p>
            <a:pPr marL="342900" indent="-342900">
              <a:spcAft>
                <a:spcPts val="400"/>
              </a:spcAft>
              <a:buSzPct val="100000"/>
              <a:buChar char="•"/>
            </a:pPr>
            <a:r>
              <a:rPr lang="en-US" sz="1800" dirty="0">
                <a:solidFill>
                  <a:schemeClr val="tx1"/>
                </a:solidFill>
              </a:rPr>
              <a:t>Bed rest imitates spaceflight but is not the same</a:t>
            </a:r>
            <a:endParaRPr lang="en-US" sz="2000" dirty="0"/>
          </a:p>
        </p:txBody>
      </p:sp>
      <p:sp>
        <p:nvSpPr>
          <p:cNvPr id="13" name="Text 11"/>
          <p:cNvSpPr txBox="1"/>
          <p:nvPr/>
        </p:nvSpPr>
        <p:spPr>
          <a:xfrm>
            <a:off x="813816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Further work</a:t>
            </a:r>
            <a:endParaRPr lang="en-US" sz="2000" dirty="0"/>
          </a:p>
          <a:p>
            <a:pPr marL="342900" indent="-342900">
              <a:spcAft>
                <a:spcPts val="400"/>
              </a:spcAft>
              <a:buSzPct val="100000"/>
              <a:buChar char="•"/>
            </a:pPr>
            <a:r>
              <a:rPr lang="en-US" sz="1800" dirty="0">
                <a:solidFill>
                  <a:schemeClr val="tx1"/>
                </a:solidFill>
              </a:rPr>
              <a:t>Fix the LLM's overconfident ranges</a:t>
            </a:r>
            <a:endParaRPr lang="en-US" sz="2000" dirty="0"/>
          </a:p>
          <a:p>
            <a:pPr marL="342900" indent="-342900">
              <a:spcAft>
                <a:spcPts val="400"/>
              </a:spcAft>
              <a:buSzPct val="100000"/>
              <a:buChar char="•"/>
            </a:pPr>
            <a:r>
              <a:rPr lang="en-US" sz="1800" dirty="0">
                <a:solidFill>
                  <a:schemeClr val="tx1"/>
                </a:solidFill>
              </a:rPr>
              <a:t>Check results without the largest study, and with MRI scans only</a:t>
            </a:r>
            <a:endParaRPr lang="en-US" sz="2000" dirty="0"/>
          </a:p>
          <a:p>
            <a:pPr marL="342900" indent="-342900">
              <a:spcAft>
                <a:spcPts val="400"/>
              </a:spcAft>
              <a:buSzPct val="100000"/>
              <a:buChar char="•"/>
            </a:pPr>
            <a:r>
              <a:rPr lang="en-US" sz="1800" dirty="0">
                <a:solidFill>
                  <a:schemeClr val="tx1"/>
                </a:solidFill>
              </a:rPr>
              <a:t>Extend the forecast to a 180-day mission, with an uncertainty range</a:t>
            </a:r>
            <a:endParaRPr lang="en-US" sz="2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is the dataset good enough?</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you miss studies?</a:t>
            </a:r>
            <a:endParaRPr lang="en-US" sz="1500" dirty="0"/>
          </a:p>
          <a:p>
            <a:pPr marL="342900" indent="-342900">
              <a:spcAft>
                <a:spcPts val="400"/>
              </a:spcAft>
              <a:buSzPct val="100000"/>
              <a:buChar char="•"/>
            </a:pPr>
            <a:r>
              <a:rPr lang="en-US" sz="1400" dirty="0">
                <a:solidFill>
                  <a:schemeClr val="tx1"/>
                </a:solidFill>
              </a:rPr>
              <a:t>Searched PubMed, Scopus, Web of Science and NASA reports from 2013 on (5,731 records), plus 9 older studies</a:t>
            </a:r>
            <a:endParaRPr lang="en-US" sz="1500" dirty="0"/>
          </a:p>
          <a:p>
            <a:pPr marL="342900" indent="-342900">
              <a:spcAft>
                <a:spcPts val="400"/>
              </a:spcAft>
              <a:buSzPct val="100000"/>
              <a:buChar char="•"/>
            </a:pPr>
            <a:r>
              <a:rPr lang="en-US" sz="1400" dirty="0">
                <a:solidFill>
                  <a:schemeClr val="tx1"/>
                </a:solidFill>
              </a:rPr>
              <a:t>Not covered: Embase (no access) and 1,023 records not screened in time</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One study dominates the data</a:t>
            </a:r>
            <a:endParaRPr lang="en-US" sz="1500" dirty="0"/>
          </a:p>
          <a:p>
            <a:pPr marL="342900" indent="-342900">
              <a:spcAft>
                <a:spcPts val="400"/>
              </a:spcAft>
              <a:buSzPct val="100000"/>
              <a:buChar char="•"/>
            </a:pPr>
            <a:r>
              <a:rPr lang="en-US" sz="1400" dirty="0">
                <a:solidFill>
                  <a:schemeClr val="tx1"/>
                </a:solidFill>
              </a:rPr>
              <a:t>MEDES 90-day: 40% of all rows, a quarter of the modelling data</a:t>
            </a:r>
            <a:endParaRPr lang="en-US" sz="1500" dirty="0"/>
          </a:p>
          <a:p>
            <a:pPr marL="342900" indent="-342900">
              <a:spcAft>
                <a:spcPts val="400"/>
              </a:spcAft>
              <a:buSzPct val="100000"/>
              <a:buChar char="•"/>
            </a:pPr>
            <a:r>
              <a:rPr lang="en-US" sz="1400" dirty="0">
                <a:solidFill>
                  <a:schemeClr val="tx1"/>
                </a:solidFill>
              </a:rPr>
              <a:t>Scoring gives each study one vote; the re-run without it is still to do</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MRI, CT, DXA and ultrasound be mixed?</a:t>
            </a:r>
            <a:endParaRPr lang="en-US" sz="1500" dirty="0"/>
          </a:p>
          <a:p>
            <a:pPr marL="342900" indent="-342900">
              <a:spcAft>
                <a:spcPts val="400"/>
              </a:spcAft>
              <a:buSzPct val="100000"/>
              <a:buChar char="•"/>
            </a:pPr>
            <a:r>
              <a:rPr lang="en-US" sz="1400" dirty="0">
                <a:solidFill>
                  <a:schemeClr val="tx1"/>
                </a:solidFill>
              </a:rPr>
              <a:t>Each method gets its own term: DXA and ultrasound thickness show 5 to 6 pp less loss than CT; MRI volume is within 0.5 pp</a:t>
            </a:r>
            <a:endParaRPr lang="en-US" sz="1500" dirty="0"/>
          </a:p>
          <a:p>
            <a:pPr marL="342900" indent="-342900">
              <a:spcAft>
                <a:spcPts val="400"/>
              </a:spcAft>
              <a:buSzPct val="100000"/>
              <a:buChar char="•"/>
            </a:pPr>
            <a:r>
              <a:rPr lang="en-US" sz="1400" dirty="0">
                <a:solidFill>
                  <a:schemeClr val="tx1"/>
                </a:solidFill>
              </a:rPr>
              <a:t>The MRI-only re-run is still to do</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How reliable is the extraction?</a:t>
            </a:r>
            <a:endParaRPr lang="en-US" sz="1500" dirty="0"/>
          </a:p>
          <a:p>
            <a:pPr marL="342900" indent="-342900">
              <a:spcAft>
                <a:spcPts val="400"/>
              </a:spcAft>
              <a:buSzPct val="100000"/>
              <a:buChar char="•"/>
            </a:pPr>
            <a:r>
              <a:rPr lang="en-US" sz="1400" dirty="0">
                <a:solidFill>
                  <a:schemeClr val="tx1"/>
                </a:solidFill>
              </a:rPr>
              <a:t>Every value is traced to its paper and page, table or figure</a:t>
            </a:r>
            <a:endParaRPr lang="en-US" sz="1500" dirty="0"/>
          </a:p>
          <a:p>
            <a:pPr marL="342900" indent="-342900">
              <a:spcAft>
                <a:spcPts val="400"/>
              </a:spcAft>
              <a:buSzPct val="100000"/>
              <a:buChar char="•"/>
            </a:pPr>
            <a:r>
              <a:rPr lang="en-US" sz="1400" dirty="0">
                <a:solidFill>
                  <a:schemeClr val="tx1"/>
                </a:solidFill>
              </a:rPr>
              <a:t>674 of 742 rows high confidence; 19 read off figures; no independent second extraction</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is the LLM gain real, and does it matter?</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0.42 pp worth anything?</a:t>
            </a:r>
            <a:endParaRPr lang="en-US" sz="1500" dirty="0"/>
          </a:p>
          <a:p>
            <a:pPr marL="342900" indent="-342900">
              <a:spcAft>
                <a:spcPts val="400"/>
              </a:spcAft>
              <a:buSzPct val="100000"/>
              <a:buChar char="•"/>
            </a:pPr>
            <a:r>
              <a:rPr lang="en-US" sz="1400" dirty="0">
                <a:solidFill>
                  <a:schemeClr val="tx1"/>
                </a:solidFill>
              </a:rPr>
              <a:t>It is 13% lower error than the curve (3.13 to 2.71 pp)</a:t>
            </a:r>
            <a:endParaRPr lang="en-US" sz="1500" dirty="0"/>
          </a:p>
          <a:p>
            <a:pPr marL="342900" indent="-342900">
              <a:spcAft>
                <a:spcPts val="400"/>
              </a:spcAft>
              <a:buSzPct val="100000"/>
              <a:buChar char="•"/>
            </a:pPr>
            <a:r>
              <a:rPr lang="en-US" sz="1400" dirty="0">
                <a:solidFill>
                  <a:schemeClr val="tx1"/>
                </a:solidFill>
              </a:rPr>
              <a:t>Small: we report it as a finding, not the headline</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20 of 32 studies is close to a coin flip</a:t>
            </a:r>
            <a:endParaRPr lang="en-US" sz="1500" dirty="0"/>
          </a:p>
          <a:p>
            <a:pPr marL="342900" indent="-342900">
              <a:spcAft>
                <a:spcPts val="400"/>
              </a:spcAft>
              <a:buSzPct val="100000"/>
              <a:buChar char="•"/>
            </a:pPr>
            <a:r>
              <a:rPr lang="en-US" sz="1400" dirty="0">
                <a:solidFill>
                  <a:schemeClr val="tx1"/>
                </a:solidFill>
              </a:rPr>
              <a:t>Counting wins only: p = 0.22 (sign test)*</a:t>
            </a:r>
            <a:endParaRPr lang="en-US" sz="1500" dirty="0"/>
          </a:p>
          <a:p>
            <a:pPr marL="342900" indent="-342900">
              <a:spcAft>
                <a:spcPts val="400"/>
              </a:spcAft>
              <a:buSzPct val="100000"/>
              <a:buChar char="•"/>
            </a:pPr>
            <a:r>
              <a:rPr lang="en-US" sz="1400" dirty="0">
                <a:solidFill>
                  <a:schemeClr val="tx1"/>
                </a:solidFill>
              </a:rPr>
              <a:t>The size of the wins matters: mean gain 0.42 pp, 95% CI 0.13 to 0.73</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Does it rest on a few studies?</a:t>
            </a:r>
            <a:endParaRPr lang="en-US" sz="1500" dirty="0"/>
          </a:p>
          <a:p>
            <a:pPr marL="342900" indent="-342900">
              <a:spcAft>
                <a:spcPts val="400"/>
              </a:spcAft>
              <a:buSzPct val="100000"/>
              <a:buChar char="•"/>
            </a:pPr>
            <a:r>
              <a:rPr lang="en-US" sz="1400" dirty="0">
                <a:solidFill>
                  <a:schemeClr val="tx1"/>
                </a:solidFill>
              </a:rPr>
              <a:t>3 long MRI studies (NASA SPRINT, Berlin BBR2-2, MEDES LTBR) give 56% of the gain; without them 0.20 pp, CI −0.01 to 0.43*</a:t>
            </a:r>
            <a:endParaRPr lang="en-US" sz="1500" dirty="0"/>
          </a:p>
          <a:p>
            <a:pPr marL="342900" indent="-342900">
              <a:spcAft>
                <a:spcPts val="400"/>
              </a:spcAft>
              <a:buSzPct val="100000"/>
              <a:buChar char="•"/>
            </a:pPr>
            <a:r>
              <a:rPr lang="en-US" sz="1400" dirty="0">
                <a:solidFill>
                  <a:schemeClr val="tx1"/>
                </a:solidFill>
              </a:rPr>
              <a:t>Only SPRINT is recognised, and with study details removed the LLM still wins there (3.79 vs 5.92 pp)</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it read these papers in training? Was it added after the fact?</a:t>
            </a:r>
            <a:endParaRPr lang="en-US" sz="1500" dirty="0"/>
          </a:p>
          <a:p>
            <a:pPr marL="342900" indent="-342900">
              <a:spcAft>
                <a:spcPts val="400"/>
              </a:spcAft>
              <a:buSzPct val="100000"/>
              <a:buChar char="•"/>
            </a:pPr>
            <a:r>
              <a:rPr lang="en-US" sz="1400" dirty="0">
                <a:solidFill>
                  <a:schemeClr val="tx1"/>
                </a:solidFill>
              </a:rPr>
              <a:t>Training exposure cannot be ruled out by any test; hiding study details and the naming test are the strongest checks available</a:t>
            </a:r>
            <a:endParaRPr lang="en-US" sz="1500" dirty="0"/>
          </a:p>
          <a:p>
            <a:pPr marL="342900" indent="-342900">
              <a:spcAft>
                <a:spcPts val="400"/>
              </a:spcAft>
              <a:buSzPct val="100000"/>
              <a:buChar char="•"/>
            </a:pPr>
            <a:r>
              <a:rPr lang="en-US" sz="1400" dirty="0">
                <a:solidFill>
                  <a:schemeClr val="tx1"/>
                </a:solidFill>
              </a:rPr>
              <a:t>Added after the ML result, but every check and target was committed before the first answer</a:t>
            </a:r>
            <a:endParaRPr lang="en-US" sz="1500" dirty="0"/>
          </a:p>
        </p:txBody>
      </p:sp>
      <p:sp>
        <p:nvSpPr>
          <p:cNvPr id="8" name="Text 6"/>
          <p:cNvSpPr txBox="1"/>
          <p:nvPr/>
        </p:nvSpPr>
        <p:spPr>
          <a:xfrm>
            <a:off x="548640" y="6035040"/>
            <a:ext cx="9144000" cy="274320"/>
          </a:xfrm>
          <a:prstGeom prst="rect">
            <a:avLst/>
          </a:prstGeom>
          <a:noFill/>
          <a:ln/>
        </p:spPr>
        <p:txBody>
          <a:bodyPr wrap="square" lIns="0" tIns="0" rIns="0" bIns="0" rtlCol="0" anchor="t"/>
          <a:lstStyle/>
          <a:p>
            <a:pPr indent="0" marL="0">
              <a:buNone/>
            </a:pPr>
            <a:r>
              <a:rPr lang="en-US" sz="1100" i="1" dirty="0">
                <a:solidFill>
                  <a:schemeClr val="accent3"/>
                </a:solidFill>
              </a:rPr>
              <a:t>* Our calculation from results/forecast_predictions.csv; not in the report.</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why did ML fail, and was the comparison fair?</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the ML models get a fair chance?</a:t>
            </a:r>
            <a:endParaRPr lang="en-US" sz="1500" dirty="0"/>
          </a:p>
          <a:p>
            <a:pPr marL="342900" indent="-342900">
              <a:spcAft>
                <a:spcPts val="400"/>
              </a:spcAft>
              <a:buSzPct val="100000"/>
              <a:buChar char="•"/>
            </a:pPr>
            <a:r>
              <a:rPr lang="en-US" sz="1400" dirty="0">
                <a:solidFill>
                  <a:schemeClr val="tx1"/>
                </a:solidFill>
              </a:rPr>
              <a:t>Tuned inside each training fold, grouped by study; TabPFN needs no tuning</a:t>
            </a:r>
            <a:endParaRPr lang="en-US" sz="1500" dirty="0"/>
          </a:p>
          <a:p>
            <a:pPr marL="342900" indent="-342900">
              <a:spcAft>
                <a:spcPts val="400"/>
              </a:spcAft>
              <a:buSzPct val="100000"/>
              <a:buChar char="•"/>
            </a:pPr>
            <a:r>
              <a:rPr lang="en-US" sz="1400" dirty="0">
                <a:solidFill>
                  <a:schemeClr val="tx1"/>
                </a:solidFill>
              </a:rPr>
              <a:t>All models saw the same inputs, folds and scoring</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Why not add age, sex or countermeasure type?</a:t>
            </a:r>
            <a:endParaRPr lang="en-US" sz="1500" dirty="0"/>
          </a:p>
          <a:p>
            <a:pPr marL="342900" indent="-342900">
              <a:spcAft>
                <a:spcPts val="400"/>
              </a:spcAft>
              <a:buSzPct val="100000"/>
              <a:buChar char="•"/>
            </a:pPr>
            <a:r>
              <a:rPr lang="en-US" sz="1400" dirty="0">
                <a:solidFill>
                  <a:schemeClr val="tx1"/>
                </a:solidFill>
              </a:rPr>
              <a:t>32 studies leave room for about 3 study-level inputs (about 10 studies per input)</a:t>
            </a:r>
            <a:endParaRPr lang="en-US" sz="1500" dirty="0"/>
          </a:p>
          <a:p>
            <a:pPr marL="342900" indent="-342900">
              <a:spcAft>
                <a:spcPts val="400"/>
              </a:spcAft>
              <a:buSzPct val="100000"/>
              <a:buChar char="•"/>
            </a:pPr>
            <a:r>
              <a:rPr lang="en-US" sz="1400" dirty="0">
                <a:solidFill>
                  <a:schemeClr val="tx1"/>
                </a:solidFill>
              </a:rPr>
              <a:t>Age and sex are fixed within a study (347 of 425 rows men-only), so they act as a study label; 126 countermeasure rows spread over 9 types</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the duration curve a straw man?</a:t>
            </a:r>
            <a:endParaRPr lang="en-US" sz="1500" dirty="0"/>
          </a:p>
          <a:p>
            <a:pPr marL="342900" indent="-342900">
              <a:spcAft>
                <a:spcPts val="400"/>
              </a:spcAft>
              <a:buSzPct val="100000"/>
              <a:buChar char="•"/>
            </a:pPr>
            <a:r>
              <a:rPr lang="en-US" sz="1400" dirty="0">
                <a:solidFill>
                  <a:schemeClr val="tx1"/>
                </a:solidFill>
              </a:rPr>
              <a:t>Ridge regression uses days, muscle and every other input: 3.28 vs 3.16 pp</a:t>
            </a:r>
            <a:endParaRPr lang="en-US" sz="1500" dirty="0"/>
          </a:p>
          <a:p>
            <a:pPr marL="342900" indent="-342900">
              <a:spcAft>
                <a:spcPts val="400"/>
              </a:spcAft>
              <a:buSzPct val="100000"/>
              <a:buChar char="•"/>
            </a:pPr>
            <a:r>
              <a:rPr lang="en-US" sz="1400" dirty="0">
                <a:solidFill>
                  <a:schemeClr val="tx1"/>
                </a:solidFill>
              </a:rPr>
              <a:t>Knowing the muscle raises R² but not the error on a new study</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Would a nearest-neighbour method match the LLM?</a:t>
            </a:r>
            <a:endParaRPr lang="en-US" sz="1500" dirty="0"/>
          </a:p>
          <a:p>
            <a:pPr marL="342900" indent="-342900">
              <a:spcAft>
                <a:spcPts val="400"/>
              </a:spcAft>
              <a:buSzPct val="100000"/>
              <a:buChar char="•"/>
            </a:pPr>
            <a:r>
              <a:rPr lang="en-US" sz="1400" dirty="0">
                <a:solidFill>
                  <a:schemeClr val="tx1"/>
                </a:solidFill>
              </a:rPr>
              <a:t>Not tested. If the gain comes from picking similar rows, this is the obvious next control</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can this be used to plan a Mars mission?</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A Mars transit is about 180 days; the data stop at 119</a:t>
            </a:r>
            <a:endParaRPr lang="en-US" sz="1500" dirty="0"/>
          </a:p>
          <a:p>
            <a:pPr marL="342900" indent="-342900">
              <a:spcAft>
                <a:spcPts val="400"/>
              </a:spcAft>
              <a:buSzPct val="100000"/>
              <a:buChar char="•"/>
            </a:pPr>
            <a:r>
              <a:rPr lang="en-US" sz="1400" dirty="0">
                <a:solidFill>
                  <a:schemeClr val="tx1"/>
                </a:solidFill>
              </a:rPr>
              <a:t>Only one study reaches 119 days</a:t>
            </a:r>
            <a:endParaRPr lang="en-US" sz="1500" dirty="0"/>
          </a:p>
          <a:p>
            <a:pPr marL="342900" indent="-342900">
              <a:spcAft>
                <a:spcPts val="400"/>
              </a:spcAft>
              <a:buSzPct val="100000"/>
              <a:buChar char="•"/>
            </a:pPr>
            <a:r>
              <a:rPr lang="en-US" sz="1400" dirty="0">
                <a:solidFill>
                  <a:schemeClr val="tx1"/>
                </a:solidFill>
              </a:rPr>
              <a:t>A 180-day estimate is planned from the duration curve only, with an uncertainty range, labelled as an assumption</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Bed rest is not spaceflight</a:t>
            </a:r>
            <a:endParaRPr lang="en-US" sz="1500" dirty="0"/>
          </a:p>
          <a:p>
            <a:pPr marL="342900" indent="-342900">
              <a:spcAft>
                <a:spcPts val="400"/>
              </a:spcAft>
              <a:buSzPct val="100000"/>
              <a:buChar char="•"/>
            </a:pPr>
            <a:r>
              <a:rPr lang="en-US" sz="1400" dirty="0">
                <a:solidFill>
                  <a:schemeClr val="tx1"/>
                </a:solidFill>
              </a:rPr>
              <a:t>Only 14 spaceflight rows, 8 of them one back muscle: too few to test transfer</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Which countermeasure works? What about individuals?</a:t>
            </a:r>
            <a:endParaRPr lang="en-US" sz="1500" dirty="0"/>
          </a:p>
          <a:p>
            <a:pPr marL="342900" indent="-342900">
              <a:spcAft>
                <a:spcPts val="400"/>
              </a:spcAft>
              <a:buSzPct val="100000"/>
              <a:buChar char="•"/>
            </a:pPr>
            <a:r>
              <a:rPr lang="en-US" sz="1400" dirty="0">
                <a:solidFill>
                  <a:schemeClr val="tx1"/>
                </a:solidFill>
              </a:rPr>
              <a:t>Countermeasure groups lose 3.7 pp less (95% CI 1.5 to 5.9), all types pooled</a:t>
            </a:r>
            <a:endParaRPr lang="en-US" sz="1500" dirty="0"/>
          </a:p>
          <a:p>
            <a:pPr marL="342900" indent="-342900">
              <a:spcAft>
                <a:spcPts val="400"/>
              </a:spcAft>
              <a:buSzPct val="100000"/>
              <a:buChar char="•"/>
            </a:pPr>
            <a:r>
              <a:rPr lang="en-US" sz="1400" dirty="0">
                <a:solidFill>
                  <a:schemeClr val="tx1"/>
                </a:solidFill>
              </a:rPr>
              <a:t>Every row is a group average; nothing about individual risk</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anyone reproduce an LLM result?</a:t>
            </a:r>
            <a:endParaRPr lang="en-US" sz="1500" dirty="0"/>
          </a:p>
          <a:p>
            <a:pPr marL="342900" indent="-342900">
              <a:spcAft>
                <a:spcPts val="400"/>
              </a:spcAft>
              <a:buSzPct val="100000"/>
              <a:buChar char="•"/>
            </a:pPr>
            <a:r>
              <a:rPr lang="en-US" sz="1400" dirty="0">
                <a:solidFill>
                  <a:schemeClr val="tx1"/>
                </a:solidFill>
              </a:rPr>
              <a:t>Fixed model version; all 430 answers saved, so every number rebuilds without the model</a:t>
            </a:r>
            <a:endParaRPr lang="en-US" sz="1500" dirty="0"/>
          </a:p>
          <a:p>
            <a:pPr marL="342900" indent="-342900">
              <a:spcAft>
                <a:spcPts val="400"/>
              </a:spcAft>
              <a:buSzPct val="100000"/>
              <a:buChar char="•"/>
            </a:pPr>
            <a:r>
              <a:rPr lang="en-US" sz="1400" dirty="0">
                <a:solidFill>
                  <a:schemeClr val="tx1"/>
                </a:solidFill>
              </a:rPr>
              <a:t>Identical requests differ by 0.17 pp on average</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Bed Rest to Mars academic">
  <a:themeElements>
    <a:clrScheme name="Bed Rest to Mars academic">
      <a:dk1>
        <a:srgbClr val="1A1A1A"/>
      </a:dk1>
      <a:lt1>
        <a:srgbClr val="FFFFFF"/>
      </a:lt1>
      <a:dk2>
        <a:srgbClr val="1F3A5F"/>
      </a:dk2>
      <a:lt2>
        <a:srgbClr val="F4F5F7"/>
      </a:lt2>
      <a:accent1>
        <a:srgbClr val="A23B2A"/>
      </a:accent1>
      <a:accent2>
        <a:srgbClr val="1F3A5F"/>
      </a:accent2>
      <a:accent3>
        <a:srgbClr val="6B7280"/>
      </a:accent3>
      <a:accent4>
        <a:srgbClr val="A7AEB8"/>
      </a:accent4>
      <a:accent5>
        <a:srgbClr val="9AA3AE"/>
      </a:accent5>
      <a:accent6>
        <a:srgbClr val="E5E7EB"/>
      </a:accent6>
      <a:hlink>
        <a:srgbClr val="1F3A5F"/>
      </a:hlink>
      <a:folHlink>
        <a:srgbClr val="6B7280"/>
      </a:folHlink>
    </a:clrScheme>
    <a:fontScheme name="Bed Rest to Mars academic">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Bed Rest to Mars: Development of a Literature-Derived Machine Learning Framework for Predicting Lower-Limb Muscle Atrophy in Spaceflight Analogues</dc:title>
  <dc:subject>PptxGenJS Presentation</dc:subject>
  <dc:creator>PptxGenJS</dc:creator>
  <cp:lastModifiedBy>PptxGenJS</cp:lastModifiedBy>
  <cp:revision>1</cp:revision>
  <dcterms:created xsi:type="dcterms:W3CDTF">2026-10-06T11:06:11Z</dcterms:created>
  <dcterms:modified xsi:type="dcterms:W3CDTF">2026-10-06T11:06:11Z</dcterms:modified>
</cp:coreProperties>
</file>