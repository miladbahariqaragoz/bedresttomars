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205b08f-4ad4-94d9-a8af-69e1d76c73a4}">
          <p14:sldIdLst>
            <p14:sldId id="256"/>
            <p14:sldId id="257"/>
            <p14:sldId id="269"/>
          </p14:sldIdLst>
        </p14:section>
        <p14:section name="Part 1" id="{ad4ffea1-6501-465b-31c4-863d29f17a3d}">
          <p14:sldIdLst>
            <p14:sldId id="258"/>
            <p14:sldId id="259"/>
            <p14:sldId id="260"/>
            <p14:sldId id="261"/>
            <p14:sldId id="262"/>
            <p14:sldId id="263"/>
          </p14:sldIdLst>
        </p14:section>
        <p14:section name="Part 2" id="{7940ae97-8207-d7a5-651d-461feaa577ef}">
          <p14:sldIdLst>
            <p14:sldId id="264"/>
            <p14:sldId id="265"/>
            <p14:sldId id="266"/>
            <p14:sldId id="267"/>
            <p14:sldId id="268"/>
          </p14:sldIdLst>
        </p14:section>
        <p14:section name="Opening" id="{11aa2f7b-e2ab-bb97-6314-5702067d0878}">
          <p14:sldIdLst/>
        </p14:section>
        <p14:section name="Backup" id="{27889b14-fde7-e57f-9d61-b87db006cab9}">
          <p14:sldIdLst>
            <p14:sldId id="270"/>
            <p14:sldId id="271"/>
            <p14:sldId id="272"/>
            <p14:sldId id="273"/>
            <p14:sldId id="274"/>
            <p14:sldId id="275"/>
            <p14:sldId id="276"/>
          </p14:sldIdLst>
        </p14:section>
        <p14:section name="Backup" id="{107e6259-972c-05b7-8b09-a018452c7e73}">
          <p14:sldIdLst/>
        </p14:section>
        <p14:section name="Backup" id="{1d0e1d56-69a4-70a8-992d-3986b97ce3bb}">
          <p14:sldIdLst/>
        </p14:section>
        <p14:section name="Backup" id="{12d1af59-5442-8806-8d61-ad98929b6aa2}">
          <p14:sldIdLst/>
        </p14:section>
        <p14:section name="Backup" id="{f4250f32-de82-f639-1ff4-4f3fd3f44ee7}">
          <p14:sldIdLst/>
        </p14:section>
        <p14:section name="Backup" id="{fb631ca6-2d3d-c600-3dfa-6d8220401e0f}">
          <p14:sldIdLst/>
        </p14:section>
        <p14:section name="Backup" id="{0795748e-97fb-a6b4-518d-624058b4198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6382978723404256"/>
          <c:y val="0.04"/>
          <c:w val="0.8936170212765957"/>
          <c:h val="0.82"/>
        </c:manualLayout>
      </c:layout>
      <c:barChart>
        <c:barDir val="col"/>
        <c:grouping val="stacked"/>
        <c:varyColors val="0"/>
        <c:ser>
          <c:idx val="0"/>
          <c:order val="0"/>
          <c:tx>
            <c:strRef>
              <c:f>Sheet1!$B$1</c:f>
              <c:strCache>
                <c:ptCount val="1"/>
                <c:pt idx="0">
                  <c:v>5 to 14 days</c:v>
                </c:pt>
              </c:strCache>
            </c:strRef>
          </c:tx>
          <c:spPr>
            <a:solidFill>
              <a:srgbClr val="D3DCE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9AB0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B80A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0B254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8A6B5"/>
            </a:solidFill>
            <a:prstDash val="solid"/>
            <a:round/>
          </a:ln>
        </c:spPr>
        <c:txPr>
          <a:bodyPr/>
          <a:lstStyle/>
          <a:p>
            <a:pPr>
              <a:defRPr sz="1000" b="0" i="0" u="none" strike="noStrike">
                <a:solidFill>
                  <a:srgbClr val="5D6B7B"/>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2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D6B7B"/>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9.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B8C4D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D6B7B"/>
                    </a:solidFill>
                    <a:latin typeface="Arial"/>
                  </a:defRPr>
                </a:pPr>
                <a:r>
                  <a:rPr sz="1000" b="0" i="0" u="none" strike="noStrike">
                    <a:solidFill>
                      <a:srgbClr val="5D6B7B"/>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533"/>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2E7E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10. Error,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2E7E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11.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2E7ED"/>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(Niloufar): why this matters and why bed rest, how we searched the literature, and what the dataset contains, including which muscles lose most. Part 2 (Milad): how we tested the models, the models and their results with the validity checks of the LLM,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in the title, is whether the amount of atrophy can be predicted.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In the bottom row,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orange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3,600 records remained, and 3,516 were excluded at this stage. If asked: 2,493 were excluded on title and abstract, mostly for no unloading model or no muscle outcome; the other 1,023 were not screened in the time available and did not go further.
We sought 84 full texts. Most were lost because 19 studies show their muscle results only as charts, without a baseline value, so we could not extract them; 4 full texts were not available and 11 were excluded. These full-text counts are as recorded in our screening log and are still being reconciled with the dataset, so do not claim they add up exactly.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Muscles do not lose size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the dataset is one measurement: the mean change of one muscle, in one group of volunteers, on one day of bed rest. The inputs are the day of the scan, the muscle group, whether the group received a countermeasure, the imaging method, and whether the value refers to one muscle or several combined. The output is the percentage change in muscle size from baseline.
The 346 modelling rows come from 32 independent campaigns. Rows from the same campaign share volunteers, so they are not independent. We therefore used leave-one-campaign-out validation. We trained on 31 campaigns, predicted the held-out campaign, and repeated this 32 times. The code verifies that no campaign appears in both the training and the test set.
The metric is the mean absolute error in percentage points, with each campaign weighted equally. The reference is a duration curve that uses only the number of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standard models receive coded columns. For the LLM, we described each measurement in text and passed it to an LLM-based probabilistic classifier. This model does not generate text. It receives a description and a fixed list of options and returns a probability for each option.
The left panel shows an actual request. It contains the participants, the protocol, the muscle, the imaging method and the target day. It also contains the duration curve fitted on the other 31 campaigns and the most similar rows from those campaigns. The model is asked in which of 19 ranges the change will fall.
The right panel shows the returned probabilities. We do not ask the model for a number. The prediction is the probability-weighted mean of the range midpoints, here −6.6 percent. The measured value was −9.4 percent. The error of this example equals the median error of the model.
The request never contains data from the held-out campaign or any paper, author or campaign name. This is checked automatically for every request. All 430 responses are stored, so every result can be reproduced without querying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We compared four standard models, ridge regression, random forest, support vector regression and gradient boosting, each tuned within the training folds. We also tested TabPFN, a network pretrained for small tabular data.
The left figure shows the error on the held-out campaigns. The duration curve has an error of 3.16 percentage points. The best machine learning model, the random forest, has 3.18. No machine learning model has a lower error than the curve. The right figure shows that these models explain two to three times more variance, because they learn the differences between muscles. Most of the remaining error is a shift that affects a whole campaign, for example through the scanner, the volunteers or the protocol. None of our inputs describes this shift. We had committed in advance to report this result regardless of the outcome.
The LLM has an error of 2.71 percentage points and the highest R², 0.43. In a paired comparison on the same rows, the error decreases from 3.13 to 2.71, a reduction of 0.42 percentage points. The 95 percent confidence interval is 0.13 to 0.73, so it excludes zero. The LLM is closer than the curve in 20 of 32 campaigns. No other model has an improvement with a confidence interval that excludes zero.
If asked about the target: we had set a 15 percent improvement in advance. The error improved by 13.3 percent and the probabilistic score by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Each check and its pass criterion were defined and committed to the repository before the check was run.
First, recognition. The model may have seen the published studies during training. With all identifying details removed, the improvement is 0.30 percentage points, and the confidence interval still excludes zero. When asked to select the campaign name from a list, the model was correct in 19 percent of cases, against 8 percent by chance.
If asked about recognition: of the three campaigns that contribute most of the improvement, the model identified only one.
Second, use of the reference data. When the values of the other campaigns are shuffled, the model is 1.25 percentage points worse than the curve. Without reference data, the error rises to 5.85. The improvement therefore depends on these data.
Third, presentation. Changing the row order or shifting the range boundaries changes the error by 1 to 3 percent. Fourth, reproducibility. Repeating 20 requests changes the predictions by 0.17 percentage points on average, less than the 0.42 improvement.
There are three limitations. The model was added after the machine learning results were known. Its 80 percent ranges contain the measured value in only 62 percent of cases, so we report only point predictions. It also ignores a campaign's own earlier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With 32 independent campaigns, standard machine learning models and TabPFN do not outperform a curve based on duration alone. The LLM-based classifier uses the description of each campaign and the data of the other campaigns, and it reduces the error from 3.13 to 2.71 percentage points.
The main limitations are the small number of campaigns, mostly with young men, and the lack of bed-rest data beyond day 119. Each row is a group mean. The model therefore predicts the average loss of a group, not the risk of an individual astronaut.
Further work has three steps. First, we will estimate the relative susceptibility of each muscle and combine it with baseline volumes to estimate the total volume loss of the lower limb. Second, we will use individual participant data over time and relate muscle loss to strength and function. Third, we will validate the model on independent campaigns and spaceflight data before developing an individual risk assessment.
If asked about the first step: the dataset contains 30 group time points with three or more muscles measured together, across 14 campaigns.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Thank you for your attention. We are happy to take your questions.
Backup slides: 15 and 16 on the data and the search, 17 and 18 on part 1, 19 to 21 on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sensitivity analyses: three planned analyses have not been run yet. These are the composite-first analysis, the analysis without the MEDES campaign, and the MRI-only analysis. Only the weighting check has been run, and it changed the results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search strings are in the appendix of the report and in docs/literature-review/search_log.md. PubMed uses the same two blocks with MeSH terms and a humans filter. Scopus and Web of Science exclude animal studies in the query.
The main weakness is the limit to publications from 2013 onwards. Only two of ten known modelling papers fall inside this window, and the search without the limit was not tested. Embase was not searched because we had no access. It indexes conference abstracts that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The eligibility criteria in Table 2 of the report were defined before screening. Dataset version 1.0 was frozen on 14 September and version 1.1 on 19 September. All results use version 1.1.
The saturating curve is used unless another form is better by at least 4 AIC points.
The spaceflight rows remain in the dataset and are flagged. They were measured after landing, so the filter for measurements during unloading removes them.
Inverse-variance weighting would need the variance of the change, which most papers do not report. Comparing both weightings changed the duration effect by less than 1 percentage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The dots at day 60 on slide 8 are the meta-regression estimates for each muscle group, with the intervals shown here. The lines use one shared time course scaled to these values. They show the assumed shape, not a separate fit for each muscle.
The intervals are 95 percent cluster-robust intervals, which account for several rows coming from the same campaign. The calf versus shin contrast is reported separately because it does not depend on the choice of reference muscle.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numbers marked with an asterisk are our own calculation from results/forecast_predictions.csv. They are not in the report.
Without the three campaigns that contribute most of the improvement, the confidence interval includes zero. State this directly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 point is the nearest-neighbour control. We cannot yet say whether a simple similarity method would perform as well as the LLM.
The counts of 271 men-only rows and 100 countermeasure rows refer to the 346 modelling rows. The report gives the same point for the 425 lower-limb rows before duplicate composites were removed: 347 men-only and 126 countermeasure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5 to 119 days and at group level, the data support three statements for mission planning. Most of the loss occurs in the first weeks. The calf muscles need protection first. Groups with a countermeasure lose less muscle.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Gradient stripe, Earth blue to Mars red">    </p:cNvPr>
          <p:cNvPicPr>
            <a:picLocks noChangeAspect="1"/>
          </p:cNvPicPr>
          <p:nvPr/>
        </p:nvPicPr>
        <p:blipFill>
          <a:blip r:embed="rId1"/>
          <a:stretch>
            <a:fillRect/>
          </a:stretch>
        </p:blipFill>
        <p:spPr>
          <a:xfrm>
            <a:off x="0" y="0"/>
            <a:ext cx="12191695" cy="82296"/>
          </a:xfrm>
          <a:prstGeom prst="rect">
            <a:avLst/>
          </a:prstGeom>
        </p:spPr>
      </p:pic>
      <p:sp>
        <p:nvSpPr>
          <p:cNvPr id="3" name="Text 0"/>
          <p:cNvSpPr/>
          <p:nvPr>
            <p:ph idx="101"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4" name="Image 1" descr="DGLRM logo">    </p:cNvPr>
          <p:cNvPicPr>
            <a:picLocks noChangeAspect="1"/>
          </p:cNvPicPr>
          <p:nvPr/>
        </p:nvPicPr>
        <p:blipFill>
          <a:blip r:embed="rId2"/>
          <a:stretch>
            <a:fillRect/>
          </a:stretch>
        </p:blipFill>
        <p:spPr>
          <a:xfrm>
            <a:off x="548640" y="6336792"/>
            <a:ext cx="1143000" cy="307258"/>
          </a:xfrm>
          <a:prstGeom prst="rect">
            <a:avLst/>
          </a:prstGeom>
        </p:spPr>
      </p:pic>
      <p:sp>
        <p:nvSpPr>
          <p:cNvPr id="5"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2.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3.xml"/><Relationship Id="rId4" Type="http://schemas.openxmlformats.org/officeDocument/2006/relationships/chart" Target="/ppt/charts/chart4.xm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7863840" cy="2651760"/>
          </a:xfrm>
          <a:prstGeom prst="rect">
            <a:avLst/>
          </a:prstGeom>
          <a:noFill/>
          <a:ln/>
        </p:spPr>
        <p:txBody>
          <a:bodyPr wrap="square" lIns="0" tIns="0" rIns="0" bIns="0" rtlCol="0" anchor="b"/>
          <a:lstStyle/>
          <a:p>
            <a:pPr indent="0" marL="0">
              <a:spcAft>
                <a:spcPts val="800"/>
              </a:spcAft>
              <a:buNone/>
            </a:pPr>
            <a:r>
              <a:rPr lang="en-US" sz="4400" b="1" dirty="0">
                <a:solidFill>
                  <a:srgbClr val="FFFFFF"/>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200" b="1" dirty="0">
                <a:solidFill>
                  <a:srgbClr val="F2D0A9"/>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7863840" cy="365760"/>
          </a:xfrm>
          <a:prstGeom prst="rect">
            <a:avLst/>
          </a:prstGeom>
          <a:noFill/>
          <a:ln/>
        </p:spPr>
        <p:txBody>
          <a:bodyPr wrap="square" lIns="0" tIns="0" rIns="0" bIns="0" rtlCol="0" anchor="t"/>
          <a:lstStyle/>
          <a:p>
            <a:pPr indent="0" marL="0">
              <a:buNone/>
            </a:pPr>
            <a:r>
              <a:rPr lang="en-US" sz="1800" dirty="0">
                <a:solidFill>
                  <a:srgbClr val="FFFFFF"/>
                </a:solidFill>
              </a:rPr>
              <a:t>Niloufar Ahmadymarzdashty</a:t>
            </a:r>
            <a:pPr indent="0" marL="0">
              <a:buNone/>
            </a:pPr>
            <a:r>
              <a:rPr lang="en-US" sz="1800" baseline="30000" dirty="0">
                <a:solidFill>
                  <a:srgbClr val="FFFFFF"/>
                </a:solidFill>
              </a:rPr>
              <a:t>1</a:t>
            </a:r>
            <a:pPr indent="0" marL="0">
              <a:buNone/>
            </a:pPr>
            <a:r>
              <a:rPr lang="en-US" sz="1800" dirty="0">
                <a:solidFill>
                  <a:srgbClr val="FFFFFF"/>
                </a:solidFill>
              </a:rPr>
              <a:t>,  Milad Bahari Qaragoz</a:t>
            </a:r>
            <a:pPr indent="0" marL="0">
              <a:buNone/>
            </a:pPr>
            <a:r>
              <a:rPr lang="en-US" sz="1800" baseline="30000" dirty="0">
                <a:solidFill>
                  <a:srgbClr val="FFFFFF"/>
                </a:solidFill>
              </a:rPr>
              <a:t>2</a:t>
            </a:r>
            <a:endParaRPr lang="en-US" sz="1800" dirty="0"/>
          </a:p>
        </p:txBody>
      </p:sp>
      <p:sp>
        <p:nvSpPr>
          <p:cNvPr id="5" name="Text 2"/>
          <p:cNvSpPr txBox="1"/>
          <p:nvPr/>
        </p:nvSpPr>
        <p:spPr>
          <a:xfrm>
            <a:off x="822960" y="4709160"/>
            <a:ext cx="7863840" cy="548640"/>
          </a:xfrm>
          <a:prstGeom prst="rect">
            <a:avLst/>
          </a:prstGeom>
          <a:noFill/>
          <a:ln/>
        </p:spPr>
        <p:txBody>
          <a:bodyPr wrap="square" lIns="0" tIns="0" rIns="0" bIns="0" rtlCol="0" anchor="t"/>
          <a:lstStyle/>
          <a:p>
            <a:pPr indent="0" marL="0">
              <a:buNone/>
            </a:pPr>
            <a:r>
              <a:rPr lang="en-US" sz="1400" baseline="30000" dirty="0">
                <a:solidFill>
                  <a:srgbClr val="B7C3D3"/>
                </a:solidFill>
              </a:rPr>
              <a:t>1</a:t>
            </a:r>
            <a:pPr indent="0" marL="0">
              <a:buNone/>
            </a:pPr>
            <a:r>
              <a:rPr lang="en-US" sz="1400" dirty="0">
                <a:solidFill>
                  <a:srgbClr val="B7C3D3"/>
                </a:solidFill>
              </a:rPr>
              <a:t> Independent researcher</a:t>
            </a:r>
            <a:endParaRPr lang="en-US" sz="1400" dirty="0"/>
          </a:p>
          <a:p>
            <a:pPr indent="0" marL="0">
              <a:buNone/>
            </a:pPr>
            <a:r>
              <a:rPr lang="en-US" sz="1400" baseline="30000" dirty="0">
                <a:solidFill>
                  <a:srgbClr val="B7C3D3"/>
                </a:solidFill>
              </a:rPr>
              <a:t>2</a:t>
            </a:r>
            <a:pPr indent="0" marL="0">
              <a:buNone/>
            </a:pPr>
            <a:r>
              <a:rPr lang="en-US" sz="1400" dirty="0">
                <a:solidFill>
                  <a:srgbClr val="B7C3D3"/>
                </a:solidFill>
              </a:rPr>
              <a:t> Master's candidate, Friedrich-Alexander-Universität Erlangen-Nürnberg (FAU)</a:t>
            </a:r>
            <a:endParaRPr lang="en-US" sz="1400" dirty="0"/>
          </a:p>
        </p:txBody>
      </p:sp>
      <p:sp>
        <p:nvSpPr>
          <p:cNvPr id="6" name="Text 3"/>
          <p:cNvSpPr txBox="1"/>
          <p:nvPr/>
        </p:nvSpPr>
        <p:spPr>
          <a:xfrm>
            <a:off x="822960" y="5394960"/>
            <a:ext cx="7863840" cy="365760"/>
          </a:xfrm>
          <a:prstGeom prst="rect">
            <a:avLst/>
          </a:prstGeom>
          <a:noFill/>
          <a:ln/>
        </p:spPr>
        <p:txBody>
          <a:bodyPr wrap="square" lIns="0" tIns="0" rIns="0" bIns="0" rtlCol="0" anchor="t"/>
          <a:lstStyle/>
          <a:p>
            <a:pPr indent="0" marL="0">
              <a:buNone/>
            </a:pPr>
            <a:r>
              <a:rPr lang="en-US" sz="1600" b="1" dirty="0">
                <a:solidFill>
                  <a:srgbClr val="F2D0A9"/>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685800" y="3429000"/>
            <a:ext cx="10789920" cy="0"/>
          </a:xfrm>
          <a:prstGeom prst="line">
            <a:avLst/>
          </a:prstGeom>
          <a:noFill/>
          <a:ln w="19050">
            <a:solidFill>
              <a:srgbClr val="98A6B5"/>
            </a:solidFill>
            <a:prstDash val="dash"/>
          </a:ln>
        </p:spPr>
      </p:sp>
      <p:pic>
        <p:nvPicPr>
          <p:cNvPr id="4" name="Image 0" descr="Earth">    </p:cNvPr>
          <p:cNvPicPr>
            <a:picLocks noChangeAspect="1"/>
          </p:cNvPicPr>
          <p:nvPr/>
        </p:nvPicPr>
        <p:blipFill>
          <a:blip r:embed="rId1"/>
          <a:stretch>
            <a:fillRect/>
          </a:stretch>
        </p:blipFill>
        <p:spPr>
          <a:xfrm>
            <a:off x="457200" y="3218688"/>
            <a:ext cx="420624" cy="420624"/>
          </a:xfrm>
          <a:prstGeom prst="rect">
            <a:avLst/>
          </a:prstGeom>
        </p:spPr>
      </p:pic>
      <p:pic>
        <p:nvPicPr>
          <p:cNvPr id="5" name="Image 1" descr="Mars">    </p:cNvPr>
          <p:cNvPicPr>
            <a:picLocks noChangeAspect="1"/>
          </p:cNvPicPr>
          <p:nvPr/>
        </p:nvPicPr>
        <p:blipFill>
          <a:blip r:embed="rId2"/>
          <a:stretch>
            <a:fillRect/>
          </a:stretch>
        </p:blipFill>
        <p:spPr>
          <a:xfrm>
            <a:off x="11274552" y="3191256"/>
            <a:ext cx="475488" cy="475488"/>
          </a:xfrm>
          <a:prstGeom prst="rect">
            <a:avLst/>
          </a:prstGeom>
        </p:spPr>
      </p:pic>
      <p:sp>
        <p:nvSpPr>
          <p:cNvPr id="6" name="Part 1 bracket"/>
          <p:cNvSpPr/>
          <p:nvPr/>
        </p:nvSpPr>
        <p:spPr>
          <a:xfrm>
            <a:off x="1005840" y="2834640"/>
            <a:ext cx="4443984" cy="0"/>
          </a:xfrm>
          <a:prstGeom prst="line">
            <a:avLst/>
          </a:prstGeom>
          <a:noFill/>
          <a:ln w="12700">
            <a:solidFill>
              <a:srgbClr val="0B2545"/>
            </a:solidFill>
            <a:prstDash val="solid"/>
          </a:ln>
        </p:spPr>
      </p:sp>
      <p:sp>
        <p:nvSpPr>
          <p:cNvPr id="7" name="Part 1 bracket left"/>
          <p:cNvSpPr/>
          <p:nvPr/>
        </p:nvSpPr>
        <p:spPr>
          <a:xfrm>
            <a:off x="1005840" y="2834640"/>
            <a:ext cx="0" cy="137160"/>
          </a:xfrm>
          <a:prstGeom prst="line">
            <a:avLst/>
          </a:prstGeom>
          <a:noFill/>
          <a:ln w="12700">
            <a:solidFill>
              <a:srgbClr val="0B2545"/>
            </a:solidFill>
            <a:prstDash val="solid"/>
          </a:ln>
        </p:spPr>
      </p:sp>
      <p:sp>
        <p:nvSpPr>
          <p:cNvPr id="8" name="Part 1 bracket right"/>
          <p:cNvSpPr/>
          <p:nvPr/>
        </p:nvSpPr>
        <p:spPr>
          <a:xfrm>
            <a:off x="5449824" y="2834640"/>
            <a:ext cx="0" cy="137160"/>
          </a:xfrm>
          <a:prstGeom prst="line">
            <a:avLst/>
          </a:prstGeom>
          <a:noFill/>
          <a:ln w="12700">
            <a:solidFill>
              <a:srgbClr val="0B2545"/>
            </a:solidFill>
            <a:prstDash val="solid"/>
          </a:ln>
        </p:spPr>
      </p:sp>
      <p:sp>
        <p:nvSpPr>
          <p:cNvPr id="9"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10" name="Part 2 bracket"/>
          <p:cNvSpPr/>
          <p:nvPr/>
        </p:nvSpPr>
        <p:spPr>
          <a:xfrm>
            <a:off x="6711696" y="2834640"/>
            <a:ext cx="4443984" cy="0"/>
          </a:xfrm>
          <a:prstGeom prst="line">
            <a:avLst/>
          </a:prstGeom>
          <a:noFill/>
          <a:ln w="12700">
            <a:solidFill>
              <a:srgbClr val="0B2545"/>
            </a:solidFill>
            <a:prstDash val="solid"/>
          </a:ln>
        </p:spPr>
      </p:sp>
      <p:sp>
        <p:nvSpPr>
          <p:cNvPr id="11" name="Part 2 bracket left"/>
          <p:cNvSpPr/>
          <p:nvPr/>
        </p:nvSpPr>
        <p:spPr>
          <a:xfrm>
            <a:off x="6711696" y="2834640"/>
            <a:ext cx="0" cy="137160"/>
          </a:xfrm>
          <a:prstGeom prst="line">
            <a:avLst/>
          </a:prstGeom>
          <a:noFill/>
          <a:ln w="12700">
            <a:solidFill>
              <a:srgbClr val="0B2545"/>
            </a:solidFill>
            <a:prstDash val="solid"/>
          </a:ln>
        </p:spPr>
      </p:sp>
      <p:sp>
        <p:nvSpPr>
          <p:cNvPr id="12" name="Part 2 bracket right"/>
          <p:cNvSpPr/>
          <p:nvPr/>
        </p:nvSpPr>
        <p:spPr>
          <a:xfrm>
            <a:off x="11155680" y="2834640"/>
            <a:ext cx="0" cy="137160"/>
          </a:xfrm>
          <a:prstGeom prst="line">
            <a:avLst/>
          </a:prstGeom>
          <a:noFill/>
          <a:ln w="12700">
            <a:solidFill>
              <a:srgbClr val="0B2545"/>
            </a:solidFill>
            <a:prstDash val="solid"/>
          </a:ln>
        </p:spPr>
      </p:sp>
      <p:sp>
        <p:nvSpPr>
          <p:cNvPr id="13"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4" name="Agenda 1"/>
          <p:cNvSpPr/>
          <p:nvPr/>
        </p:nvSpPr>
        <p:spPr>
          <a:xfrm>
            <a:off x="1005840" y="3108960"/>
            <a:ext cx="640080" cy="640080"/>
          </a:xfrm>
          <a:prstGeom prst="ellipse">
            <a:avLst/>
          </a:prstGeom>
          <a:solidFill>
            <a:schemeClr val="tx2"/>
          </a:solidFill>
          <a:ln/>
        </p:spPr>
      </p:sp>
      <p:sp>
        <p:nvSpPr>
          <p:cNvPr id="15"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6" name="Text 12"/>
          <p:cNvSpPr txBox="1"/>
          <p:nvPr/>
        </p:nvSpPr>
        <p:spPr>
          <a:xfrm>
            <a:off x="42976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Intro and 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7" name="Agenda 2"/>
          <p:cNvSpPr/>
          <p:nvPr/>
        </p:nvSpPr>
        <p:spPr>
          <a:xfrm>
            <a:off x="2907792" y="3108960"/>
            <a:ext cx="640080" cy="640080"/>
          </a:xfrm>
          <a:prstGeom prst="ellipse">
            <a:avLst/>
          </a:prstGeom>
          <a:solidFill>
            <a:schemeClr val="tx2"/>
          </a:solidFill>
          <a:ln/>
        </p:spPr>
      </p:sp>
      <p:sp>
        <p:nvSpPr>
          <p:cNvPr id="18"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9" name="Text 15"/>
          <p:cNvSpPr txBox="1"/>
          <p:nvPr/>
        </p:nvSpPr>
        <p:spPr>
          <a:xfrm>
            <a:off x="2331720"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Literature research</a:t>
            </a:r>
            <a:endParaRPr lang="en-US" sz="1600" dirty="0"/>
          </a:p>
          <a:p>
            <a:pPr algn="ctr" indent="0" marL="0">
              <a:buNone/>
            </a:pPr>
            <a:r>
              <a:rPr lang="en-US" sz="1400" dirty="0">
                <a:solidFill>
                  <a:schemeClr val="tx1"/>
                </a:solidFill>
              </a:rPr>
              <a:t>Range of studies; search and screening</a:t>
            </a:r>
            <a:endParaRPr lang="en-US" sz="1600" dirty="0"/>
          </a:p>
        </p:txBody>
      </p:sp>
      <p:sp>
        <p:nvSpPr>
          <p:cNvPr id="20" name="Agenda 3"/>
          <p:cNvSpPr/>
          <p:nvPr/>
        </p:nvSpPr>
        <p:spPr>
          <a:xfrm>
            <a:off x="4809744" y="3108960"/>
            <a:ext cx="640080" cy="640080"/>
          </a:xfrm>
          <a:prstGeom prst="ellipse">
            <a:avLst/>
          </a:prstGeom>
          <a:solidFill>
            <a:schemeClr val="tx2"/>
          </a:solidFill>
          <a:ln/>
        </p:spPr>
      </p:sp>
      <p:sp>
        <p:nvSpPr>
          <p:cNvPr id="21"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 18"/>
          <p:cNvSpPr txBox="1"/>
          <p:nvPr/>
        </p:nvSpPr>
        <p:spPr>
          <a:xfrm>
            <a:off x="4233672"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Data extraction and database</a:t>
            </a:r>
            <a:endParaRPr lang="en-US" sz="1600" dirty="0"/>
          </a:p>
          <a:p>
            <a:pPr algn="ctr" indent="0" marL="0">
              <a:buNone/>
            </a:pPr>
            <a:r>
              <a:rPr lang="en-US" sz="1400" dirty="0">
                <a:solidFill>
                  <a:schemeClr val="tx1"/>
                </a:solidFill>
              </a:rPr>
              <a:t>Dataset contents; loss per muscle group</a:t>
            </a:r>
            <a:endParaRPr lang="en-US" sz="1600" dirty="0"/>
          </a:p>
        </p:txBody>
      </p:sp>
      <p:sp>
        <p:nvSpPr>
          <p:cNvPr id="23" name="Agenda 4"/>
          <p:cNvSpPr/>
          <p:nvPr/>
        </p:nvSpPr>
        <p:spPr>
          <a:xfrm>
            <a:off x="6711696" y="3108960"/>
            <a:ext cx="640080" cy="640080"/>
          </a:xfrm>
          <a:prstGeom prst="ellipse">
            <a:avLst/>
          </a:prstGeom>
          <a:solidFill>
            <a:schemeClr val="accent1"/>
          </a:solidFill>
          <a:ln/>
        </p:spPr>
      </p:sp>
      <p:sp>
        <p:nvSpPr>
          <p:cNvPr id="24"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5" name="Text 21"/>
          <p:cNvSpPr txBox="1"/>
          <p:nvPr/>
        </p:nvSpPr>
        <p:spPr>
          <a:xfrm>
            <a:off x="6135624"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ML framework</a:t>
            </a:r>
            <a:endParaRPr lang="en-US" sz="1600" dirty="0"/>
          </a:p>
          <a:p>
            <a:pPr algn="ctr" indent="0" marL="0">
              <a:buNone/>
            </a:pPr>
            <a:r>
              <a:rPr lang="en-US" sz="1400" dirty="0">
                <a:solidFill>
                  <a:schemeClr val="tx1"/>
                </a:solidFill>
              </a:rPr>
              <a:t>Testing on unseen campaigns</a:t>
            </a:r>
            <a:endParaRPr lang="en-US" sz="1600" dirty="0"/>
          </a:p>
        </p:txBody>
      </p:sp>
      <p:sp>
        <p:nvSpPr>
          <p:cNvPr id="26" name="Agenda 5"/>
          <p:cNvSpPr/>
          <p:nvPr/>
        </p:nvSpPr>
        <p:spPr>
          <a:xfrm>
            <a:off x="8613648" y="3108960"/>
            <a:ext cx="640080" cy="640080"/>
          </a:xfrm>
          <a:prstGeom prst="ellipse">
            <a:avLst/>
          </a:prstGeom>
          <a:solidFill>
            <a:schemeClr val="accent1"/>
          </a:solidFill>
          <a:ln/>
        </p:spPr>
      </p:sp>
      <p:sp>
        <p:nvSpPr>
          <p:cNvPr id="27"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8" name="Text 24"/>
          <p:cNvSpPr txBox="1"/>
          <p:nvPr/>
        </p:nvSpPr>
        <p:spPr>
          <a:xfrm>
            <a:off x="8037576"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Models and results</a:t>
            </a:r>
            <a:endParaRPr lang="en-US" sz="1600" dirty="0"/>
          </a:p>
          <a:p>
            <a:pPr algn="ctr" indent="0" marL="0">
              <a:buNone/>
            </a:pPr>
            <a:r>
              <a:rPr lang="en-US" sz="1400" dirty="0">
                <a:solidFill>
                  <a:schemeClr val="tx1"/>
                </a:solidFill>
              </a:rPr>
              <a:t>Model comparison; LLM validity checks</a:t>
            </a:r>
            <a:endParaRPr lang="en-US" sz="1600" dirty="0"/>
          </a:p>
        </p:txBody>
      </p:sp>
      <p:sp>
        <p:nvSpPr>
          <p:cNvPr id="29" name="Agenda 6"/>
          <p:cNvSpPr/>
          <p:nvPr/>
        </p:nvSpPr>
        <p:spPr>
          <a:xfrm>
            <a:off x="10515600" y="3108960"/>
            <a:ext cx="640080" cy="640080"/>
          </a:xfrm>
          <a:prstGeom prst="ellipse">
            <a:avLst/>
          </a:prstGeom>
          <a:solidFill>
            <a:schemeClr val="accent1"/>
          </a:solidFill>
          <a:ln/>
        </p:spPr>
      </p:sp>
      <p:sp>
        <p:nvSpPr>
          <p:cNvPr id="30"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1" name="Text 27"/>
          <p:cNvSpPr txBox="1"/>
          <p:nvPr/>
        </p:nvSpPr>
        <p:spPr>
          <a:xfrm>
            <a:off x="993952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Conclusion</a:t>
            </a:r>
            <a:endParaRPr lang="en-US" sz="1600" dirty="0"/>
          </a:p>
          <a:p>
            <a:pPr algn="ctr" indent="0" marL="0">
              <a:buNone/>
            </a:pPr>
            <a:r>
              <a:rPr lang="en-US" sz="1400" dirty="0">
                <a:solidFill>
                  <a:schemeClr val="tx1"/>
                </a:solidFill>
              </a:rPr>
              <a:t>Findings, limitations, further work</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predicting lower-limb muscle atrophy</a:t>
            </a:r>
            <a:endParaRPr lang="en-US" sz="2800" dirty="0"/>
          </a:p>
        </p:txBody>
      </p:sp>
      <p:sp>
        <p:nvSpPr>
          <p:cNvPr id="13" name="Text 9"/>
          <p:cNvSpPr txBox="1"/>
          <p:nvPr/>
        </p:nvSpPr>
        <p:spPr>
          <a:xfrm>
            <a:off x="548640" y="1234440"/>
            <a:ext cx="6035040" cy="42062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Why prediction matters</a:t>
            </a:r>
            <a:endParaRPr lang="en-US" sz="2000" dirty="0"/>
          </a:p>
          <a:p>
            <a:pPr marL="342900" indent="-342900">
              <a:spcAft>
                <a:spcPts val="1000"/>
              </a:spcAft>
              <a:buSzPct val="100000"/>
              <a:buChar char="•"/>
            </a:pPr>
            <a:r>
              <a:rPr lang="en-US" sz="1700" dirty="0">
                <a:solidFill>
                  <a:schemeClr val="tx1"/>
                </a:solidFill>
              </a:rPr>
              <a:t>Prevention: identify risk early and leave time to intervene</a:t>
            </a:r>
            <a:endParaRPr lang="en-US" sz="2000" dirty="0"/>
          </a:p>
          <a:p>
            <a:pPr marL="342900" indent="-342900">
              <a:spcAft>
                <a:spcPts val="1000"/>
              </a:spcAft>
              <a:buSzPct val="100000"/>
              <a:buChar char="•"/>
            </a:pPr>
            <a:r>
              <a:rPr lang="en-US" sz="1700" dirty="0">
                <a:solidFill>
                  <a:schemeClr val="tx1"/>
                </a:solidFill>
              </a:rPr>
              <a:t>Countermeasures: match exercise and nutrition to the predicted risk</a:t>
            </a:r>
            <a:endParaRPr lang="en-US" sz="2000" dirty="0"/>
          </a:p>
          <a:p>
            <a:pPr marL="342900" indent="-342900">
              <a:spcAft>
                <a:spcPts val="1000"/>
              </a:spcAft>
              <a:buSzPct val="100000"/>
              <a:buChar char="•"/>
            </a:pPr>
            <a:r>
              <a:rPr lang="en-US" sz="1700" dirty="0">
                <a:solidFill>
                  <a:schemeClr val="tx1"/>
                </a:solidFill>
              </a:rPr>
              <a:t>Vulnerable muscles: show which muscles need closer monitoring</a:t>
            </a:r>
            <a:endParaRPr lang="en-US" sz="2000" dirty="0"/>
          </a:p>
          <a:p>
            <a:pPr marL="342900" indent="-342900">
              <a:spcAft>
                <a:spcPts val="1000"/>
              </a:spcAft>
              <a:buSzPct val="100000"/>
              <a:buChar char="•"/>
            </a:pPr>
            <a:r>
              <a:rPr lang="en-US" sz="1700" dirty="0">
                <a:solidFill>
                  <a:schemeClr val="tx1"/>
                </a:solidFill>
              </a:rPr>
              <a:t>Function: less muscle loss helps preserve strength and power</a:t>
            </a:r>
            <a:endParaRPr lang="en-US" sz="2000" dirty="0"/>
          </a:p>
          <a:p>
            <a:pPr marL="342900" indent="-342900">
              <a:spcAft>
                <a:spcPts val="1000"/>
              </a:spcAft>
              <a:buSzPct val="100000"/>
              <a:buChar char="•"/>
            </a:pPr>
            <a:r>
              <a:rPr lang="en-US" sz="1700" dirty="0">
                <a:solidFill>
                  <a:schemeClr val="tx1"/>
                </a:solidFill>
              </a:rPr>
              <a:t>Mission planning: estimate muscle loss on long missions with limited exercise equipment</a:t>
            </a:r>
            <a:endParaRPr lang="en-US" sz="2000" dirty="0"/>
          </a:p>
        </p:txBody>
      </p:sp>
      <p:sp>
        <p:nvSpPr>
          <p:cNvPr id="14" name="Illustration panel"/>
          <p:cNvSpPr/>
          <p:nvPr/>
        </p:nvSpPr>
        <p:spPr>
          <a:xfrm>
            <a:off x="6903720" y="1234440"/>
            <a:ext cx="4736592" cy="4892040"/>
          </a:xfrm>
          <a:prstGeom prst="rect">
            <a:avLst/>
          </a:prstGeom>
          <a:solidFill>
            <a:schemeClr val="bg2"/>
          </a:solidFill>
          <a:ln/>
        </p:spPr>
      </p:sp>
      <p:sp>
        <p:nvSpPr>
          <p:cNvPr id="15"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Figure 1. Unloading shrinks leg muscles</a:t>
            </a:r>
            <a:endParaRPr lang="en-US" sz="1400" dirty="0"/>
          </a:p>
        </p:txBody>
      </p:sp>
      <p:sp>
        <p:nvSpPr>
          <p:cNvPr id="16" name="Bed"/>
          <p:cNvSpPr/>
          <p:nvPr/>
        </p:nvSpPr>
        <p:spPr>
          <a:xfrm rot="360000">
            <a:off x="7315200" y="2377440"/>
            <a:ext cx="3931920" cy="128016"/>
          </a:xfrm>
          <a:prstGeom prst="rect">
            <a:avLst/>
          </a:prstGeom>
          <a:solidFill>
            <a:schemeClr val="accent3"/>
          </a:solidFill>
          <a:ln/>
        </p:spPr>
      </p:sp>
      <p:sp>
        <p:nvSpPr>
          <p:cNvPr id="17" name="Body"/>
          <p:cNvSpPr/>
          <p:nvPr/>
        </p:nvSpPr>
        <p:spPr>
          <a:xfrm rot="360000">
            <a:off x="7863840" y="2093976"/>
            <a:ext cx="2606040" cy="329184"/>
          </a:xfrm>
          <a:prstGeom prst="roundRect">
            <a:avLst>
              <a:gd name="adj" fmla="val 41667"/>
            </a:avLst>
          </a:prstGeom>
          <a:solidFill>
            <a:schemeClr val="tx2"/>
          </a:solidFill>
          <a:ln/>
        </p:spPr>
      </p:sp>
      <p:sp>
        <p:nvSpPr>
          <p:cNvPr id="18" name="Head"/>
          <p:cNvSpPr/>
          <p:nvPr/>
        </p:nvSpPr>
        <p:spPr>
          <a:xfrm>
            <a:off x="10469880" y="2167128"/>
            <a:ext cx="384048" cy="384048"/>
          </a:xfrm>
          <a:prstGeom prst="ellipse">
            <a:avLst/>
          </a:prstGeom>
          <a:solidFill>
            <a:schemeClr val="tx2"/>
          </a:solidFill>
          <a:ln/>
        </p:spPr>
      </p:sp>
      <p:sp>
        <p:nvSpPr>
          <p:cNvPr id="19"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20" name="Muscle before"/>
          <p:cNvSpPr/>
          <p:nvPr/>
        </p:nvSpPr>
        <p:spPr>
          <a:xfrm>
            <a:off x="7223760" y="3337560"/>
            <a:ext cx="1737360" cy="1737360"/>
          </a:xfrm>
          <a:prstGeom prst="ellipse">
            <a:avLst/>
          </a:prstGeom>
          <a:solidFill>
            <a:schemeClr val="accent1">
              <a:alpha val="75000"/>
            </a:schemeClr>
          </a:solidFill>
          <a:ln w="12700">
            <a:solidFill>
              <a:srgbClr val="C1440E"/>
            </a:solidFill>
            <a:prstDash val="solid"/>
          </a:ln>
        </p:spPr>
      </p:sp>
      <p:sp>
        <p:nvSpPr>
          <p:cNvPr id="21" name="Muscle before bone"/>
          <p:cNvSpPr/>
          <p:nvPr/>
        </p:nvSpPr>
        <p:spPr>
          <a:xfrm>
            <a:off x="7717536" y="4151376"/>
            <a:ext cx="384048" cy="384048"/>
          </a:xfrm>
          <a:prstGeom prst="ellipse">
            <a:avLst/>
          </a:prstGeom>
          <a:solidFill>
            <a:schemeClr val="bg1"/>
          </a:solidFill>
          <a:ln w="12700">
            <a:solidFill>
              <a:srgbClr val="98A6B5"/>
            </a:solidFill>
            <a:prstDash val="solid"/>
          </a:ln>
        </p:spPr>
      </p:sp>
      <p:sp>
        <p:nvSpPr>
          <p:cNvPr id="22" name="Arrow"/>
          <p:cNvSpPr/>
          <p:nvPr/>
        </p:nvSpPr>
        <p:spPr>
          <a:xfrm>
            <a:off x="9098280" y="4206240"/>
            <a:ext cx="548640" cy="0"/>
          </a:xfrm>
          <a:prstGeom prst="line">
            <a:avLst/>
          </a:prstGeom>
          <a:noFill/>
          <a:ln w="15875">
            <a:solidFill>
              <a:srgbClr val="1B2533"/>
            </a:solidFill>
            <a:prstDash val="solid"/>
            <a:tailEnd type="triangle"/>
          </a:ln>
        </p:spPr>
      </p:sp>
      <p:sp>
        <p:nvSpPr>
          <p:cNvPr id="23" name="Muscle after"/>
          <p:cNvSpPr/>
          <p:nvPr/>
        </p:nvSpPr>
        <p:spPr>
          <a:xfrm>
            <a:off x="9764214" y="3409134"/>
            <a:ext cx="1594211" cy="1594211"/>
          </a:xfrm>
          <a:prstGeom prst="ellipse">
            <a:avLst/>
          </a:prstGeom>
          <a:solidFill>
            <a:schemeClr val="accent1">
              <a:alpha val="75000"/>
            </a:schemeClr>
          </a:solidFill>
          <a:ln w="12700">
            <a:solidFill>
              <a:srgbClr val="C1440E"/>
            </a:solidFill>
            <a:prstDash val="solid"/>
          </a:ln>
        </p:spPr>
      </p:sp>
      <p:sp>
        <p:nvSpPr>
          <p:cNvPr id="24" name="Muscle after bone"/>
          <p:cNvSpPr/>
          <p:nvPr/>
        </p:nvSpPr>
        <p:spPr>
          <a:xfrm>
            <a:off x="10186416" y="4151376"/>
            <a:ext cx="384048" cy="384048"/>
          </a:xfrm>
          <a:prstGeom prst="ellipse">
            <a:avLst/>
          </a:prstGeom>
          <a:solidFill>
            <a:schemeClr val="bg1"/>
          </a:solidFill>
          <a:ln w="12700">
            <a:solidFill>
              <a:srgbClr val="98A6B5"/>
            </a:solidFill>
            <a:prstDash val="solid"/>
          </a:ln>
        </p:spPr>
      </p:sp>
      <p:sp>
        <p:nvSpPr>
          <p:cNvPr id="25" name="Original outline"/>
          <p:cNvSpPr/>
          <p:nvPr/>
        </p:nvSpPr>
        <p:spPr>
          <a:xfrm>
            <a:off x="9692640" y="3337560"/>
            <a:ext cx="1737360" cy="1737360"/>
          </a:xfrm>
          <a:prstGeom prst="ellipse">
            <a:avLst/>
          </a:prstGeom>
          <a:ln w="12700">
            <a:solidFill>
              <a:srgbClr val="1B2533"/>
            </a:solidFill>
            <a:prstDash val="dash"/>
          </a:ln>
        </p:spPr>
      </p:sp>
      <p:sp>
        <p:nvSpPr>
          <p:cNvPr id="26"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7"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8"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analogue and application</a:t>
            </a:r>
            <a:endParaRPr lang="en-US" sz="2800" dirty="0"/>
          </a:p>
        </p:txBody>
      </p:sp>
      <p:sp>
        <p:nvSpPr>
          <p:cNvPr id="13"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Bed rest: the ground analogue</a:t>
            </a:r>
            <a:endParaRPr lang="en-US" sz="1900" dirty="0"/>
          </a:p>
          <a:p>
            <a:pPr marL="342900" indent="-342900">
              <a:spcAft>
                <a:spcPts val="400"/>
              </a:spcAft>
              <a:buSzPct val="100000"/>
              <a:buChar char="•"/>
            </a:pPr>
            <a:r>
              <a:rPr lang="en-US" sz="1600" dirty="0">
                <a:solidFill>
                  <a:schemeClr val="tx1"/>
                </a:solidFill>
              </a:rPr>
              <a:t>Spaceflight data on muscle are scarce</a:t>
            </a:r>
            <a:endParaRPr lang="en-US" sz="1900" dirty="0"/>
          </a:p>
          <a:p>
            <a:pPr marL="342900" indent="-342900">
              <a:spcAft>
                <a:spcPts val="400"/>
              </a:spcAft>
              <a:buSzPct val="100000"/>
              <a:buChar char="•"/>
            </a:pPr>
            <a:r>
              <a:rPr lang="en-US" sz="1600" dirty="0">
                <a:solidFill>
                  <a:schemeClr val="tx1"/>
                </a:solidFill>
              </a:rPr>
              <a:t>Head-down bed rest unloads the legs under controlled conditions</a:t>
            </a:r>
            <a:endParaRPr lang="en-US" sz="1900" dirty="0"/>
          </a:p>
          <a:p>
            <a:pPr indent="0" marL="0">
              <a:spcBef>
                <a:spcPts val="1800"/>
              </a:spcBef>
              <a:spcAft>
                <a:spcPts val="300"/>
              </a:spcAft>
              <a:buNone/>
            </a:pPr>
            <a:r>
              <a:rPr lang="en-US" sz="1900" b="1" dirty="0">
                <a:solidFill>
                  <a:schemeClr val="tx2"/>
                </a:solidFill>
              </a:rPr>
              <a:t>Mars: the long-term application</a:t>
            </a:r>
            <a:endParaRPr lang="en-US" sz="1900" dirty="0"/>
          </a:p>
          <a:p>
            <a:pPr marL="342900" indent="-342900">
              <a:spcAft>
                <a:spcPts val="400"/>
              </a:spcAft>
              <a:buSzPct val="100000"/>
              <a:buChar char="•"/>
            </a:pPr>
            <a:r>
              <a:rPr lang="en-US" sz="1600" dirty="0">
                <a:solidFill>
                  <a:schemeClr val="tx1"/>
                </a:solidFill>
              </a:rPr>
              <a:t>No early return in an emergency</a:t>
            </a:r>
            <a:endParaRPr lang="en-US" sz="1900" dirty="0"/>
          </a:p>
        </p:txBody>
      </p:sp>
      <p:sp>
        <p:nvSpPr>
          <p:cNvPr id="14" name="Mission panel"/>
          <p:cNvSpPr/>
          <p:nvPr/>
        </p:nvSpPr>
        <p:spPr>
          <a:xfrm>
            <a:off x="6492240" y="1188720"/>
            <a:ext cx="5148072" cy="3520440"/>
          </a:xfrm>
          <a:prstGeom prst="rect">
            <a:avLst/>
          </a:prstGeom>
          <a:solidFill>
            <a:schemeClr val="bg2"/>
          </a:solidFill>
          <a:ln/>
        </p:spPr>
      </p:sp>
      <p:sp>
        <p:nvSpPr>
          <p:cNvPr id="15"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Figure 2. Moon mission vs Mars mission</a:t>
            </a:r>
            <a:endParaRPr lang="en-US" sz="1400" dirty="0"/>
          </a:p>
        </p:txBody>
      </p:sp>
      <p:sp>
        <p:nvSpPr>
          <p:cNvPr id="16" name="Earth"/>
          <p:cNvSpPr/>
          <p:nvPr/>
        </p:nvSpPr>
        <p:spPr>
          <a:xfrm>
            <a:off x="6675120" y="1828800"/>
            <a:ext cx="548640" cy="548640"/>
          </a:xfrm>
          <a:prstGeom prst="ellipse">
            <a:avLst/>
          </a:prstGeom>
          <a:solidFill>
            <a:srgbClr val="0B2545"/>
          </a:solidFill>
          <a:ln/>
        </p:spPr>
      </p:sp>
      <p:pic>
        <p:nvPicPr>
          <p:cNvPr id="17" name="Image 2" descr="Earth (photo map, semi-transparent)">    </p:cNvPr>
          <p:cNvPicPr>
            <a:picLocks noChangeAspect="1"/>
          </p:cNvPicPr>
          <p:nvPr/>
        </p:nvPicPr>
        <p:blipFill>
          <a:blip r:embed="rId3"/>
          <a:stretch>
            <a:fillRect/>
          </a:stretch>
        </p:blipFill>
        <p:spPr>
          <a:xfrm>
            <a:off x="6675120" y="1828800"/>
            <a:ext cx="548640" cy="548640"/>
          </a:xfrm>
          <a:prstGeom prst="rect">
            <a:avLst/>
          </a:prstGeom>
        </p:spPr>
      </p:pic>
      <p:sp>
        <p:nvSpPr>
          <p:cNvPr id="18"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9" name="Moon"/>
          <p:cNvSpPr/>
          <p:nvPr/>
        </p:nvSpPr>
        <p:spPr>
          <a:xfrm>
            <a:off x="7863840" y="1965960"/>
            <a:ext cx="274320" cy="274320"/>
          </a:xfrm>
          <a:prstGeom prst="ellipse">
            <a:avLst/>
          </a:prstGeom>
          <a:solidFill>
            <a:srgbClr val="B8C4D1"/>
          </a:solidFill>
          <a:ln/>
        </p:spPr>
      </p:sp>
      <p:pic>
        <p:nvPicPr>
          <p:cNvPr id="20" name="Image 3" descr="Moon (photo map, semi-transparent)">    </p:cNvPr>
          <p:cNvPicPr>
            <a:picLocks noChangeAspect="1"/>
          </p:cNvPicPr>
          <p:nvPr/>
        </p:nvPicPr>
        <p:blipFill>
          <a:blip r:embed="rId4"/>
          <a:stretch>
            <a:fillRect/>
          </a:stretch>
        </p:blipFill>
        <p:spPr>
          <a:xfrm>
            <a:off x="7863840" y="1965960"/>
            <a:ext cx="274320" cy="274320"/>
          </a:xfrm>
          <a:prstGeom prst="rect">
            <a:avLst/>
          </a:prstGeom>
        </p:spPr>
      </p:pic>
      <p:sp>
        <p:nvSpPr>
          <p:cNvPr id="21"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2" name="Mars"/>
          <p:cNvSpPr/>
          <p:nvPr/>
        </p:nvSpPr>
        <p:spPr>
          <a:xfrm>
            <a:off x="10927080" y="1874520"/>
            <a:ext cx="457200" cy="457200"/>
          </a:xfrm>
          <a:prstGeom prst="ellipse">
            <a:avLst/>
          </a:prstGeom>
          <a:solidFill>
            <a:srgbClr val="C1440E"/>
          </a:solidFill>
          <a:ln/>
        </p:spPr>
      </p:sp>
      <p:pic>
        <p:nvPicPr>
          <p:cNvPr id="23" name="Image 4" descr="Mars (photo map, semi-transparent)">    </p:cNvPr>
          <p:cNvPicPr>
            <a:picLocks noChangeAspect="1"/>
          </p:cNvPicPr>
          <p:nvPr/>
        </p:nvPicPr>
        <p:blipFill>
          <a:blip r:embed="rId5"/>
          <a:stretch>
            <a:fillRect/>
          </a:stretch>
        </p:blipFill>
        <p:spPr>
          <a:xfrm>
            <a:off x="10927080" y="1874520"/>
            <a:ext cx="457200" cy="457200"/>
          </a:xfrm>
          <a:prstGeom prst="rect">
            <a:avLst/>
          </a:prstGeom>
        </p:spPr>
      </p:pic>
      <p:sp>
        <p:nvSpPr>
          <p:cNvPr id="24"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5" name="Route to Moon"/>
          <p:cNvSpPr/>
          <p:nvPr/>
        </p:nvSpPr>
        <p:spPr>
          <a:xfrm>
            <a:off x="7251192" y="2103120"/>
            <a:ext cx="594360" cy="0"/>
          </a:xfrm>
          <a:prstGeom prst="line">
            <a:avLst/>
          </a:prstGeom>
          <a:noFill/>
          <a:ln w="12700">
            <a:solidFill>
              <a:srgbClr val="5D6B7B"/>
            </a:solidFill>
            <a:prstDash val="dash"/>
            <a:tailEnd type="triangle"/>
          </a:ln>
        </p:spPr>
      </p:sp>
      <p:sp>
        <p:nvSpPr>
          <p:cNvPr id="26"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7" name="Route to Mars"/>
          <p:cNvSpPr/>
          <p:nvPr/>
        </p:nvSpPr>
        <p:spPr>
          <a:xfrm>
            <a:off x="8183880" y="2103120"/>
            <a:ext cx="2724912" cy="0"/>
          </a:xfrm>
          <a:prstGeom prst="line">
            <a:avLst/>
          </a:prstGeom>
          <a:noFill/>
          <a:ln w="12700">
            <a:solidFill>
              <a:srgbClr val="5D6B7B"/>
            </a:solidFill>
            <a:prstDash val="dash"/>
            <a:tailEnd type="triangle"/>
          </a:ln>
        </p:spPr>
      </p:sp>
      <p:sp>
        <p:nvSpPr>
          <p:cNvPr id="28"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9"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30" name="Moon mission bar"/>
          <p:cNvSpPr/>
          <p:nvPr/>
        </p:nvSpPr>
        <p:spPr>
          <a:xfrm>
            <a:off x="8229600" y="2880360"/>
            <a:ext cx="42672" cy="292608"/>
          </a:xfrm>
          <a:prstGeom prst="rect">
            <a:avLst/>
          </a:prstGeom>
          <a:solidFill>
            <a:srgbClr val="5D6B7B"/>
          </a:solidFill>
          <a:ln/>
        </p:spPr>
      </p:sp>
      <p:sp>
        <p:nvSpPr>
          <p:cNvPr id="31" name="Text 24"/>
          <p:cNvSpPr txBox="1"/>
          <p:nvPr/>
        </p:nvSpPr>
        <p:spPr>
          <a:xfrm>
            <a:off x="8327136" y="2880360"/>
            <a:ext cx="237744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 (Apollo 17)</a:t>
            </a:r>
            <a:endParaRPr lang="en-US" sz="1050" dirty="0"/>
          </a:p>
        </p:txBody>
      </p:sp>
      <p:sp>
        <p:nvSpPr>
          <p:cNvPr id="32"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3" name="Mars to Mars"/>
          <p:cNvSpPr/>
          <p:nvPr/>
        </p:nvSpPr>
        <p:spPr>
          <a:xfrm>
            <a:off x="8229600" y="3566160"/>
            <a:ext cx="640080" cy="292608"/>
          </a:xfrm>
          <a:prstGeom prst="rect">
            <a:avLst/>
          </a:prstGeom>
          <a:solidFill>
            <a:srgbClr val="C1440E"/>
          </a:solidFill>
          <a:ln w="12700">
            <a:solidFill>
              <a:srgbClr val="FFFFFF"/>
            </a:solidFill>
            <a:prstDash val="solid"/>
          </a:ln>
        </p:spPr>
      </p:sp>
      <p:sp>
        <p:nvSpPr>
          <p:cNvPr id="34"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5" name="Mars on Mars, about 500 days"/>
          <p:cNvSpPr/>
          <p:nvPr/>
        </p:nvSpPr>
        <p:spPr>
          <a:xfrm>
            <a:off x="8869680" y="3566160"/>
            <a:ext cx="1778000" cy="292608"/>
          </a:xfrm>
          <a:prstGeom prst="rect">
            <a:avLst/>
          </a:prstGeom>
          <a:solidFill>
            <a:srgbClr val="C1440E">
              <a:alpha val="55000"/>
            </a:srgbClr>
          </a:solidFill>
          <a:ln w="12700">
            <a:solidFill>
              <a:srgbClr val="FFFFFF"/>
            </a:solidFill>
            <a:prstDash val="solid"/>
          </a:ln>
        </p:spPr>
      </p:sp>
      <p:sp>
        <p:nvSpPr>
          <p:cNvPr id="36"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7" name="Mars home"/>
          <p:cNvSpPr/>
          <p:nvPr/>
        </p:nvSpPr>
        <p:spPr>
          <a:xfrm>
            <a:off x="10647680" y="3566160"/>
            <a:ext cx="640080" cy="292608"/>
          </a:xfrm>
          <a:prstGeom prst="rect">
            <a:avLst/>
          </a:prstGeom>
          <a:solidFill>
            <a:srgbClr val="C1440E"/>
          </a:solidFill>
          <a:ln w="12700">
            <a:solidFill>
              <a:srgbClr val="FFFFFF"/>
            </a:solidFill>
            <a:prstDash val="solid"/>
          </a:ln>
        </p:spPr>
      </p:sp>
      <p:sp>
        <p:nvSpPr>
          <p:cNvPr id="38"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9" name="Arrival marker"/>
          <p:cNvSpPr/>
          <p:nvPr/>
        </p:nvSpPr>
        <p:spPr>
          <a:xfrm>
            <a:off x="8869680" y="3886200"/>
            <a:ext cx="0" cy="182880"/>
          </a:xfrm>
          <a:prstGeom prst="line">
            <a:avLst/>
          </a:prstGeom>
          <a:noFill/>
          <a:ln w="12700">
            <a:solidFill>
              <a:srgbClr val="1B2533"/>
            </a:solidFill>
            <a:prstDash val="solid"/>
            <a:headEnd type="triangle"/>
          </a:ln>
        </p:spPr>
      </p:sp>
      <p:sp>
        <p:nvSpPr>
          <p:cNvPr id="40"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41" name="Time axis"/>
          <p:cNvSpPr/>
          <p:nvPr/>
        </p:nvSpPr>
        <p:spPr>
          <a:xfrm>
            <a:off x="8229600" y="4434840"/>
            <a:ext cx="3200400" cy="0"/>
          </a:xfrm>
          <a:prstGeom prst="line">
            <a:avLst/>
          </a:prstGeom>
          <a:noFill/>
          <a:ln w="9525">
            <a:solidFill>
              <a:srgbClr val="5D6B7B"/>
            </a:solidFill>
            <a:prstDash val="solid"/>
          </a:ln>
        </p:spPr>
      </p:sp>
      <p:sp>
        <p:nvSpPr>
          <p:cNvPr id="42" name="Tick 0"/>
          <p:cNvSpPr/>
          <p:nvPr/>
        </p:nvSpPr>
        <p:spPr>
          <a:xfrm>
            <a:off x="8229600" y="4434840"/>
            <a:ext cx="0" cy="54864"/>
          </a:xfrm>
          <a:prstGeom prst="line">
            <a:avLst/>
          </a:prstGeom>
          <a:noFill/>
          <a:ln w="9525">
            <a:solidFill>
              <a:srgbClr val="5D6B7B"/>
            </a:solidFill>
            <a:prstDash val="solid"/>
          </a:ln>
        </p:spPr>
      </p:sp>
      <p:sp>
        <p:nvSpPr>
          <p:cNvPr id="43"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4" name="Tick 1 year"/>
          <p:cNvSpPr/>
          <p:nvPr/>
        </p:nvSpPr>
        <p:spPr>
          <a:xfrm>
            <a:off x="9527540" y="4434840"/>
            <a:ext cx="0" cy="54864"/>
          </a:xfrm>
          <a:prstGeom prst="line">
            <a:avLst/>
          </a:prstGeom>
          <a:noFill/>
          <a:ln w="9525">
            <a:solidFill>
              <a:srgbClr val="5D6B7B"/>
            </a:solidFill>
            <a:prstDash val="solid"/>
          </a:ln>
        </p:spPr>
      </p:sp>
      <p:sp>
        <p:nvSpPr>
          <p:cNvPr id="45"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6" name="Tick 2 years"/>
          <p:cNvSpPr/>
          <p:nvPr/>
        </p:nvSpPr>
        <p:spPr>
          <a:xfrm>
            <a:off x="10825480" y="4434840"/>
            <a:ext cx="0" cy="54864"/>
          </a:xfrm>
          <a:prstGeom prst="line">
            <a:avLst/>
          </a:prstGeom>
          <a:noFill/>
          <a:ln w="9525">
            <a:solidFill>
              <a:srgbClr val="5D6B7B"/>
            </a:solidFill>
            <a:prstDash val="solid"/>
          </a:ln>
        </p:spPr>
      </p:sp>
      <p:sp>
        <p:nvSpPr>
          <p:cNvPr id="47"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8" name="Step 1"/>
          <p:cNvSpPr/>
          <p:nvPr/>
        </p:nvSpPr>
        <p:spPr>
          <a:xfrm>
            <a:off x="548640" y="4983480"/>
            <a:ext cx="2423160" cy="685800"/>
          </a:xfrm>
          <a:prstGeom prst="rect">
            <a:avLst/>
          </a:prstGeom>
          <a:solidFill>
            <a:srgbClr val="FFFFFF"/>
          </a:solidFill>
          <a:ln w="12700">
            <a:solidFill>
              <a:srgbClr val="98A6B5"/>
            </a:solidFill>
            <a:prstDash val="solid"/>
          </a:ln>
        </p:spPr>
      </p:sp>
      <p:sp>
        <p:nvSpPr>
          <p:cNvPr id="49"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50" name="Step 2"/>
          <p:cNvSpPr/>
          <p:nvPr/>
        </p:nvSpPr>
        <p:spPr>
          <a:xfrm>
            <a:off x="3429000" y="4983480"/>
            <a:ext cx="2423160" cy="685800"/>
          </a:xfrm>
          <a:prstGeom prst="rect">
            <a:avLst/>
          </a:prstGeom>
          <a:solidFill>
            <a:srgbClr val="0B2545"/>
          </a:solidFill>
          <a:ln w="12700">
            <a:solidFill>
              <a:srgbClr val="0B2545"/>
            </a:solidFill>
            <a:prstDash val="solid"/>
          </a:ln>
        </p:spPr>
      </p:sp>
      <p:sp>
        <p:nvSpPr>
          <p:cNvPr id="51"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2" name="Step 3"/>
          <p:cNvSpPr/>
          <p:nvPr/>
        </p:nvSpPr>
        <p:spPr>
          <a:xfrm>
            <a:off x="6309360" y="4983480"/>
            <a:ext cx="2423160" cy="685800"/>
          </a:xfrm>
          <a:prstGeom prst="rect">
            <a:avLst/>
          </a:prstGeom>
          <a:solidFill>
            <a:srgbClr val="FFFFFF"/>
          </a:solidFill>
          <a:ln w="12700">
            <a:solidFill>
              <a:srgbClr val="98A6B5"/>
            </a:solidFill>
            <a:prstDash val="dash"/>
          </a:ln>
        </p:spPr>
      </p:sp>
      <p:sp>
        <p:nvSpPr>
          <p:cNvPr id="53"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4" name="Step 4"/>
          <p:cNvSpPr/>
          <p:nvPr/>
        </p:nvSpPr>
        <p:spPr>
          <a:xfrm>
            <a:off x="9189720" y="4983480"/>
            <a:ext cx="2423160" cy="685800"/>
          </a:xfrm>
          <a:prstGeom prst="rect">
            <a:avLst/>
          </a:prstGeom>
          <a:solidFill>
            <a:srgbClr val="FFFFFF"/>
          </a:solidFill>
          <a:ln w="12700">
            <a:solidFill>
              <a:srgbClr val="98A6B5"/>
            </a:solidFill>
            <a:prstDash val="dash"/>
          </a:ln>
        </p:spPr>
      </p:sp>
      <p:sp>
        <p:nvSpPr>
          <p:cNvPr id="55"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6" name="Arrow 1"/>
          <p:cNvSpPr/>
          <p:nvPr/>
        </p:nvSpPr>
        <p:spPr>
          <a:xfrm>
            <a:off x="3017520" y="5326380"/>
            <a:ext cx="365760" cy="0"/>
          </a:xfrm>
          <a:prstGeom prst="line">
            <a:avLst/>
          </a:prstGeom>
          <a:noFill/>
          <a:ln w="15875">
            <a:solidFill>
              <a:srgbClr val="1B2533"/>
            </a:solidFill>
            <a:prstDash val="solid"/>
            <a:tailEnd type="triangle"/>
          </a:ln>
        </p:spPr>
      </p:sp>
      <p:sp>
        <p:nvSpPr>
          <p:cNvPr id="57"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8" name="Arrow 3"/>
          <p:cNvSpPr/>
          <p:nvPr/>
        </p:nvSpPr>
        <p:spPr>
          <a:xfrm>
            <a:off x="8778240" y="5326380"/>
            <a:ext cx="365760" cy="0"/>
          </a:xfrm>
          <a:prstGeom prst="line">
            <a:avLst/>
          </a:prstGeom>
          <a:noFill/>
          <a:ln w="15875">
            <a:solidFill>
              <a:srgbClr val="1B2533"/>
            </a:solidFill>
            <a:prstDash val="solid"/>
            <a:tailEnd type="triangle"/>
          </a:ln>
        </p:spPr>
      </p:sp>
      <p:sp>
        <p:nvSpPr>
          <p:cNvPr id="59" name="Text 52"/>
          <p:cNvSpPr txBox="1"/>
          <p:nvPr/>
        </p:nvSpPr>
        <p:spPr>
          <a:xfrm>
            <a:off x="548640" y="5733288"/>
            <a:ext cx="5486400" cy="228600"/>
          </a:xfrm>
          <a:prstGeom prst="rect">
            <a:avLst/>
          </a:prstGeom>
          <a:noFill/>
          <a:ln/>
        </p:spPr>
        <p:txBody>
          <a:bodyPr wrap="square" lIns="0" tIns="0" rIns="0" bIns="0" rtlCol="0" anchor="t"/>
          <a:lstStyle/>
          <a:p>
            <a:pPr indent="0" marL="0">
              <a:buNone/>
            </a:pPr>
            <a:r>
              <a:rPr lang="en-US" sz="1100" b="1" dirty="0">
                <a:solidFill>
                  <a:schemeClr val="tx2"/>
                </a:solidFill>
              </a:rPr>
              <a:t>Figure 3. From bed-rest data to crew readiness</a:t>
            </a:r>
            <a:endParaRPr lang="en-US" sz="1100" dirty="0"/>
          </a:p>
        </p:txBody>
      </p:sp>
      <p:sp>
        <p:nvSpPr>
          <p:cNvPr id="60" name="Text 53"/>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Range of unloading durations and studies</a:t>
            </a:r>
            <a:endParaRPr lang="en-US" sz="2800" dirty="0"/>
          </a:p>
        </p:txBody>
      </p:sp>
      <p:sp>
        <p:nvSpPr>
          <p:cNvPr id="13" name="Text 9"/>
          <p:cNvSpPr txBox="1"/>
          <p:nvPr/>
        </p:nvSpPr>
        <p:spPr>
          <a:xfrm>
            <a:off x="548640" y="1115568"/>
            <a:ext cx="11064240" cy="292608"/>
          </a:xfrm>
          <a:prstGeom prst="rect">
            <a:avLst/>
          </a:prstGeom>
          <a:noFill/>
          <a:ln/>
        </p:spPr>
        <p:txBody>
          <a:bodyPr wrap="square" lIns="0" tIns="0" rIns="0" bIns="0" rtlCol="0" anchor="t"/>
          <a:lstStyle/>
          <a:p>
            <a:pPr indent="0" marL="0">
              <a:buNone/>
            </a:pPr>
            <a:r>
              <a:rPr lang="en-US" sz="1400" b="1" dirty="0">
                <a:solidFill>
                  <a:schemeClr val="tx2"/>
                </a:solidFill>
              </a:rPr>
              <a:t>Figure 4. Unloading range in the abstract and in the final dataset</a:t>
            </a:r>
            <a:endParaRPr lang="en-US" sz="1400" dirty="0"/>
          </a:p>
        </p:txBody>
      </p:sp>
      <p:sp>
        <p:nvSpPr>
          <p:cNvPr id="14" name="Text 10"/>
          <p:cNvSpPr txBox="1"/>
          <p:nvPr/>
        </p:nvSpPr>
        <p:spPr>
          <a:xfrm>
            <a:off x="548640" y="148132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5" name="Abstract 14-119"/>
          <p:cNvSpPr/>
          <p:nvPr/>
        </p:nvSpPr>
        <p:spPr>
          <a:xfrm>
            <a:off x="3889248" y="1591056"/>
            <a:ext cx="4480560" cy="329184"/>
          </a:xfrm>
          <a:prstGeom prst="rect">
            <a:avLst/>
          </a:prstGeom>
          <a:solidFill>
            <a:srgbClr val="B8C4D1"/>
          </a:solidFill>
          <a:ln/>
        </p:spPr>
      </p:sp>
      <p:sp>
        <p:nvSpPr>
          <p:cNvPr id="16" name="Text 12"/>
          <p:cNvSpPr txBox="1"/>
          <p:nvPr/>
        </p:nvSpPr>
        <p:spPr>
          <a:xfrm>
            <a:off x="3477768" y="159105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7" name="Text 13"/>
          <p:cNvSpPr txBox="1"/>
          <p:nvPr/>
        </p:nvSpPr>
        <p:spPr>
          <a:xfrm>
            <a:off x="8433816" y="159105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8" name="Text 14"/>
          <p:cNvSpPr txBox="1"/>
          <p:nvPr/>
        </p:nvSpPr>
        <p:spPr>
          <a:xfrm>
            <a:off x="548640" y="2048256"/>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9" name="Final dataset 5-119"/>
          <p:cNvSpPr/>
          <p:nvPr/>
        </p:nvSpPr>
        <p:spPr>
          <a:xfrm>
            <a:off x="3505200" y="2157984"/>
            <a:ext cx="4864608" cy="329184"/>
          </a:xfrm>
          <a:prstGeom prst="rect">
            <a:avLst/>
          </a:prstGeom>
          <a:solidFill>
            <a:srgbClr val="0B2545"/>
          </a:solidFill>
          <a:ln/>
        </p:spPr>
      </p:sp>
      <p:sp>
        <p:nvSpPr>
          <p:cNvPr id="20" name="Final dataset 119-180"/>
          <p:cNvSpPr/>
          <p:nvPr/>
        </p:nvSpPr>
        <p:spPr>
          <a:xfrm>
            <a:off x="8369808" y="2157984"/>
            <a:ext cx="2602992" cy="329184"/>
          </a:xfrm>
          <a:prstGeom prst="rect">
            <a:avLst/>
          </a:prstGeom>
          <a:solidFill>
            <a:srgbClr val="C1440E"/>
          </a:solidFill>
          <a:ln/>
        </p:spPr>
      </p:sp>
      <p:sp>
        <p:nvSpPr>
          <p:cNvPr id="21" name="Text 17"/>
          <p:cNvSpPr txBox="1"/>
          <p:nvPr/>
        </p:nvSpPr>
        <p:spPr>
          <a:xfrm>
            <a:off x="3093720" y="2157984"/>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22" name="Text 18"/>
          <p:cNvSpPr txBox="1"/>
          <p:nvPr/>
        </p:nvSpPr>
        <p:spPr>
          <a:xfrm>
            <a:off x="11036808" y="2157984"/>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3" name="Text 19"/>
          <p:cNvSpPr txBox="1"/>
          <p:nvPr/>
        </p:nvSpPr>
        <p:spPr>
          <a:xfrm>
            <a:off x="3505200" y="2157984"/>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4" name="Text 20"/>
          <p:cNvSpPr txBox="1"/>
          <p:nvPr/>
        </p:nvSpPr>
        <p:spPr>
          <a:xfrm>
            <a:off x="8369808" y="2157984"/>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5" name="Day axis"/>
          <p:cNvSpPr/>
          <p:nvPr/>
        </p:nvSpPr>
        <p:spPr>
          <a:xfrm>
            <a:off x="3291840" y="2670048"/>
            <a:ext cx="7680960" cy="0"/>
          </a:xfrm>
          <a:prstGeom prst="line">
            <a:avLst/>
          </a:prstGeom>
          <a:noFill/>
          <a:ln w="9525">
            <a:solidFill>
              <a:srgbClr val="5D6B7B"/>
            </a:solidFill>
            <a:prstDash val="solid"/>
          </a:ln>
        </p:spPr>
      </p:sp>
      <p:sp>
        <p:nvSpPr>
          <p:cNvPr id="26" name="Tick 0"/>
          <p:cNvSpPr/>
          <p:nvPr/>
        </p:nvSpPr>
        <p:spPr>
          <a:xfrm>
            <a:off x="3291840" y="2670048"/>
            <a:ext cx="0" cy="54864"/>
          </a:xfrm>
          <a:prstGeom prst="line">
            <a:avLst/>
          </a:prstGeom>
          <a:noFill/>
          <a:ln w="9525">
            <a:solidFill>
              <a:srgbClr val="5D6B7B"/>
            </a:solidFill>
            <a:prstDash val="solid"/>
          </a:ln>
        </p:spPr>
      </p:sp>
      <p:sp>
        <p:nvSpPr>
          <p:cNvPr id="27" name="Text 23"/>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ick 30"/>
          <p:cNvSpPr/>
          <p:nvPr/>
        </p:nvSpPr>
        <p:spPr>
          <a:xfrm>
            <a:off x="4572000" y="2670048"/>
            <a:ext cx="0" cy="54864"/>
          </a:xfrm>
          <a:prstGeom prst="line">
            <a:avLst/>
          </a:prstGeom>
          <a:noFill/>
          <a:ln w="9525">
            <a:solidFill>
              <a:srgbClr val="5D6B7B"/>
            </a:solidFill>
            <a:prstDash val="solid"/>
          </a:ln>
        </p:spPr>
      </p:sp>
      <p:sp>
        <p:nvSpPr>
          <p:cNvPr id="29" name="Text 25"/>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30" name="Tick 60"/>
          <p:cNvSpPr/>
          <p:nvPr/>
        </p:nvSpPr>
        <p:spPr>
          <a:xfrm>
            <a:off x="5852160" y="2670048"/>
            <a:ext cx="0" cy="54864"/>
          </a:xfrm>
          <a:prstGeom prst="line">
            <a:avLst/>
          </a:prstGeom>
          <a:noFill/>
          <a:ln w="9525">
            <a:solidFill>
              <a:srgbClr val="5D6B7B"/>
            </a:solidFill>
            <a:prstDash val="solid"/>
          </a:ln>
        </p:spPr>
      </p:sp>
      <p:sp>
        <p:nvSpPr>
          <p:cNvPr id="31" name="Text 27"/>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2" name="Tick 90"/>
          <p:cNvSpPr/>
          <p:nvPr/>
        </p:nvSpPr>
        <p:spPr>
          <a:xfrm>
            <a:off x="7132320" y="2670048"/>
            <a:ext cx="0" cy="54864"/>
          </a:xfrm>
          <a:prstGeom prst="line">
            <a:avLst/>
          </a:prstGeom>
          <a:noFill/>
          <a:ln w="9525">
            <a:solidFill>
              <a:srgbClr val="5D6B7B"/>
            </a:solidFill>
            <a:prstDash val="solid"/>
          </a:ln>
        </p:spPr>
      </p:sp>
      <p:sp>
        <p:nvSpPr>
          <p:cNvPr id="33" name="Text 29"/>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4" name="Tick 119"/>
          <p:cNvSpPr/>
          <p:nvPr/>
        </p:nvSpPr>
        <p:spPr>
          <a:xfrm>
            <a:off x="8369808" y="2670048"/>
            <a:ext cx="0" cy="54864"/>
          </a:xfrm>
          <a:prstGeom prst="line">
            <a:avLst/>
          </a:prstGeom>
          <a:noFill/>
          <a:ln w="9525">
            <a:solidFill>
              <a:srgbClr val="5D6B7B"/>
            </a:solidFill>
            <a:prstDash val="solid"/>
          </a:ln>
        </p:spPr>
      </p:sp>
      <p:sp>
        <p:nvSpPr>
          <p:cNvPr id="35" name="Text 31"/>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6" name="Tick 150"/>
          <p:cNvSpPr/>
          <p:nvPr/>
        </p:nvSpPr>
        <p:spPr>
          <a:xfrm>
            <a:off x="9692640" y="2670048"/>
            <a:ext cx="0" cy="54864"/>
          </a:xfrm>
          <a:prstGeom prst="line">
            <a:avLst/>
          </a:prstGeom>
          <a:noFill/>
          <a:ln w="9525">
            <a:solidFill>
              <a:srgbClr val="5D6B7B"/>
            </a:solidFill>
            <a:prstDash val="solid"/>
          </a:ln>
        </p:spPr>
      </p:sp>
      <p:sp>
        <p:nvSpPr>
          <p:cNvPr id="37" name="Text 33"/>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8" name="Tick 180"/>
          <p:cNvSpPr/>
          <p:nvPr/>
        </p:nvSpPr>
        <p:spPr>
          <a:xfrm>
            <a:off x="10972800" y="2670048"/>
            <a:ext cx="0" cy="54864"/>
          </a:xfrm>
          <a:prstGeom prst="line">
            <a:avLst/>
          </a:prstGeom>
          <a:noFill/>
          <a:ln w="9525">
            <a:solidFill>
              <a:srgbClr val="5D6B7B"/>
            </a:solidFill>
            <a:prstDash val="solid"/>
          </a:ln>
        </p:spPr>
      </p:sp>
      <p:sp>
        <p:nvSpPr>
          <p:cNvPr id="39" name="Text 35"/>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40" name="Text 36"/>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sp>
        <p:nvSpPr>
          <p:cNvPr id="41" name="Text 37"/>
          <p:cNvSpPr txBox="1"/>
          <p:nvPr/>
        </p:nvSpPr>
        <p:spPr>
          <a:xfrm>
            <a:off x="3291840" y="3017520"/>
            <a:ext cx="7680960" cy="320040"/>
          </a:xfrm>
          <a:prstGeom prst="rect">
            <a:avLst/>
          </a:prstGeom>
          <a:noFill/>
          <a:ln/>
        </p:spPr>
        <p:txBody>
          <a:bodyPr wrap="square" lIns="0" tIns="0" rIns="0" bIns="0" rtlCol="0" anchor="t"/>
          <a:lstStyle/>
          <a:p>
            <a:pPr indent="0" marL="0">
              <a:buNone/>
            </a:pPr>
            <a:r>
              <a:rPr lang="en-US" sz="1400" b="1" dirty="0">
                <a:solidFill>
                  <a:schemeClr val="tx2"/>
                </a:solidFill>
              </a:rPr>
              <a:t>Figure 5. Studies published per year, by length of unloading</a:t>
            </a:r>
            <a:endParaRPr lang="en-US" sz="1400" dirty="0"/>
          </a:p>
        </p:txBody>
      </p:sp>
      <p:sp>
        <p:nvSpPr>
          <p:cNvPr id="42" name="Text 38"/>
          <p:cNvSpPr txBox="1"/>
          <p:nvPr/>
        </p:nvSpPr>
        <p:spPr>
          <a:xfrm>
            <a:off x="3291840" y="3310128"/>
            <a:ext cx="7680960" cy="228600"/>
          </a:xfrm>
          <a:prstGeom prst="rect">
            <a:avLst/>
          </a:prstGeom>
          <a:noFill/>
          <a:ln/>
        </p:spPr>
        <p:txBody>
          <a:bodyPr wrap="square" lIns="0" tIns="0" rIns="0" bIns="0" rtlCol="0" anchor="t"/>
          <a:lstStyle/>
          <a:p>
            <a:pPr indent="0" marL="0">
              <a:buNone/>
            </a:pPr>
            <a:r>
              <a:rPr lang="en-US" sz="1100" i="1" dirty="0">
                <a:solidFill>
                  <a:schemeClr val="accent3"/>
                </a:solidFill>
              </a:rPr>
              <a:t>Years without studies omitted</a:t>
            </a:r>
            <a:endParaRPr lang="en-US" sz="1100" dirty="0"/>
          </a:p>
        </p:txBody>
      </p:sp>
      <p:sp>
        <p:nvSpPr>
          <p:cNvPr id="43" name="Text 39"/>
          <p:cNvSpPr txBox="1"/>
          <p:nvPr/>
        </p:nvSpPr>
        <p:spPr>
          <a:xfrm>
            <a:off x="548640" y="3840480"/>
            <a:ext cx="2194560" cy="274320"/>
          </a:xfrm>
          <a:prstGeom prst="rect">
            <a:avLst/>
          </a:prstGeom>
          <a:noFill/>
          <a:ln/>
        </p:spPr>
        <p:txBody>
          <a:bodyPr wrap="square" lIns="0" tIns="0" rIns="0" bIns="0" rtlCol="0" anchor="t"/>
          <a:lstStyle/>
          <a:p>
            <a:pPr indent="0" marL="0">
              <a:buNone/>
            </a:pPr>
            <a:r>
              <a:rPr lang="en-US" sz="1300" b="1" dirty="0">
                <a:solidFill>
                  <a:schemeClr val="tx2"/>
                </a:solidFill>
              </a:rPr>
              <a:t>Length of unloading</a:t>
            </a:r>
            <a:endParaRPr lang="en-US" sz="1300" dirty="0"/>
          </a:p>
        </p:txBody>
      </p:sp>
      <p:sp>
        <p:nvSpPr>
          <p:cNvPr id="44" name="Legend 180 days (spaceflight)"/>
          <p:cNvSpPr/>
          <p:nvPr/>
        </p:nvSpPr>
        <p:spPr>
          <a:xfrm>
            <a:off x="548640" y="4261104"/>
            <a:ext cx="201168" cy="164592"/>
          </a:xfrm>
          <a:prstGeom prst="rect">
            <a:avLst/>
          </a:prstGeom>
          <a:solidFill>
            <a:srgbClr val="C1440E"/>
          </a:solidFill>
          <a:ln/>
        </p:spPr>
      </p:sp>
      <p:sp>
        <p:nvSpPr>
          <p:cNvPr id="45" name="Text 41"/>
          <p:cNvSpPr txBox="1"/>
          <p:nvPr/>
        </p:nvSpPr>
        <p:spPr>
          <a:xfrm>
            <a:off x="822960" y="4206240"/>
            <a:ext cx="1920240" cy="274320"/>
          </a:xfrm>
          <a:prstGeom prst="rect">
            <a:avLst/>
          </a:prstGeom>
          <a:noFill/>
          <a:ln/>
        </p:spPr>
        <p:txBody>
          <a:bodyPr wrap="square" lIns="0" tIns="0" rIns="0" bIns="0" rtlCol="0" anchor="ctr"/>
          <a:lstStyle/>
          <a:p>
            <a:pPr indent="0" marL="0">
              <a:buNone/>
            </a:pPr>
            <a:r>
              <a:rPr lang="en-US" sz="1200" dirty="0">
                <a:solidFill>
                  <a:schemeClr val="tx1"/>
                </a:solidFill>
              </a:rPr>
              <a:t>180 days (spaceflight)</a:t>
            </a:r>
            <a:endParaRPr lang="en-US" sz="1200" dirty="0"/>
          </a:p>
        </p:txBody>
      </p:sp>
      <p:sp>
        <p:nvSpPr>
          <p:cNvPr id="46" name="Legend 61 to 119 days"/>
          <p:cNvSpPr/>
          <p:nvPr/>
        </p:nvSpPr>
        <p:spPr>
          <a:xfrm>
            <a:off x="548640" y="4590288"/>
            <a:ext cx="201168" cy="164592"/>
          </a:xfrm>
          <a:prstGeom prst="rect">
            <a:avLst/>
          </a:prstGeom>
          <a:solidFill>
            <a:srgbClr val="0B2545"/>
          </a:solidFill>
          <a:ln/>
        </p:spPr>
      </p:sp>
      <p:sp>
        <p:nvSpPr>
          <p:cNvPr id="47" name="Text 43"/>
          <p:cNvSpPr txBox="1"/>
          <p:nvPr/>
        </p:nvSpPr>
        <p:spPr>
          <a:xfrm>
            <a:off x="822960" y="4535424"/>
            <a:ext cx="1920240" cy="274320"/>
          </a:xfrm>
          <a:prstGeom prst="rect">
            <a:avLst/>
          </a:prstGeom>
          <a:noFill/>
          <a:ln/>
        </p:spPr>
        <p:txBody>
          <a:bodyPr wrap="square" lIns="0" tIns="0" rIns="0" bIns="0" rtlCol="0" anchor="ctr"/>
          <a:lstStyle/>
          <a:p>
            <a:pPr indent="0" marL="0">
              <a:buNone/>
            </a:pPr>
            <a:r>
              <a:rPr lang="en-US" sz="1200" dirty="0">
                <a:solidFill>
                  <a:schemeClr val="tx1"/>
                </a:solidFill>
              </a:rPr>
              <a:t>61 to 119 days</a:t>
            </a:r>
            <a:endParaRPr lang="en-US" sz="1200" dirty="0"/>
          </a:p>
        </p:txBody>
      </p:sp>
      <p:sp>
        <p:nvSpPr>
          <p:cNvPr id="48" name="Legend 31 to 60 days"/>
          <p:cNvSpPr/>
          <p:nvPr/>
        </p:nvSpPr>
        <p:spPr>
          <a:xfrm>
            <a:off x="548640" y="4919472"/>
            <a:ext cx="201168" cy="164592"/>
          </a:xfrm>
          <a:prstGeom prst="rect">
            <a:avLst/>
          </a:prstGeom>
          <a:solidFill>
            <a:srgbClr val="5B80A5"/>
          </a:solidFill>
          <a:ln/>
        </p:spPr>
      </p:sp>
      <p:sp>
        <p:nvSpPr>
          <p:cNvPr id="49" name="Text 45"/>
          <p:cNvSpPr txBox="1"/>
          <p:nvPr/>
        </p:nvSpPr>
        <p:spPr>
          <a:xfrm>
            <a:off x="822960" y="4864608"/>
            <a:ext cx="1920240" cy="274320"/>
          </a:xfrm>
          <a:prstGeom prst="rect">
            <a:avLst/>
          </a:prstGeom>
          <a:noFill/>
          <a:ln/>
        </p:spPr>
        <p:txBody>
          <a:bodyPr wrap="square" lIns="0" tIns="0" rIns="0" bIns="0" rtlCol="0" anchor="ctr"/>
          <a:lstStyle/>
          <a:p>
            <a:pPr indent="0" marL="0">
              <a:buNone/>
            </a:pPr>
            <a:r>
              <a:rPr lang="en-US" sz="1200" dirty="0">
                <a:solidFill>
                  <a:schemeClr val="tx1"/>
                </a:solidFill>
              </a:rPr>
              <a:t>31 to 60 days</a:t>
            </a:r>
            <a:endParaRPr lang="en-US" sz="1200" dirty="0"/>
          </a:p>
        </p:txBody>
      </p:sp>
      <p:sp>
        <p:nvSpPr>
          <p:cNvPr id="50" name="Legend 15 to 30 days"/>
          <p:cNvSpPr/>
          <p:nvPr/>
        </p:nvSpPr>
        <p:spPr>
          <a:xfrm>
            <a:off x="548640" y="5248656"/>
            <a:ext cx="201168" cy="164592"/>
          </a:xfrm>
          <a:prstGeom prst="rect">
            <a:avLst/>
          </a:prstGeom>
          <a:solidFill>
            <a:srgbClr val="9AB0C7"/>
          </a:solidFill>
          <a:ln/>
        </p:spPr>
      </p:sp>
      <p:sp>
        <p:nvSpPr>
          <p:cNvPr id="51" name="Text 47"/>
          <p:cNvSpPr txBox="1"/>
          <p:nvPr/>
        </p:nvSpPr>
        <p:spPr>
          <a:xfrm>
            <a:off x="822960" y="5193792"/>
            <a:ext cx="1920240" cy="274320"/>
          </a:xfrm>
          <a:prstGeom prst="rect">
            <a:avLst/>
          </a:prstGeom>
          <a:noFill/>
          <a:ln/>
        </p:spPr>
        <p:txBody>
          <a:bodyPr wrap="square" lIns="0" tIns="0" rIns="0" bIns="0" rtlCol="0" anchor="ctr"/>
          <a:lstStyle/>
          <a:p>
            <a:pPr indent="0" marL="0">
              <a:buNone/>
            </a:pPr>
            <a:r>
              <a:rPr lang="en-US" sz="1200" dirty="0">
                <a:solidFill>
                  <a:schemeClr val="tx1"/>
                </a:solidFill>
              </a:rPr>
              <a:t>15 to 30 days</a:t>
            </a:r>
            <a:endParaRPr lang="en-US" sz="1200" dirty="0"/>
          </a:p>
        </p:txBody>
      </p:sp>
      <p:sp>
        <p:nvSpPr>
          <p:cNvPr id="52" name="Legend 5 to 14 days"/>
          <p:cNvSpPr/>
          <p:nvPr/>
        </p:nvSpPr>
        <p:spPr>
          <a:xfrm>
            <a:off x="548640" y="5577840"/>
            <a:ext cx="201168" cy="164592"/>
          </a:xfrm>
          <a:prstGeom prst="rect">
            <a:avLst/>
          </a:prstGeom>
          <a:solidFill>
            <a:srgbClr val="D3DCE6"/>
          </a:solidFill>
          <a:ln/>
        </p:spPr>
      </p:sp>
      <p:sp>
        <p:nvSpPr>
          <p:cNvPr id="53" name="Text 49"/>
          <p:cNvSpPr txBox="1"/>
          <p:nvPr/>
        </p:nvSpPr>
        <p:spPr>
          <a:xfrm>
            <a:off x="822960" y="5522976"/>
            <a:ext cx="1920240" cy="274320"/>
          </a:xfrm>
          <a:prstGeom prst="rect">
            <a:avLst/>
          </a:prstGeom>
          <a:noFill/>
          <a:ln/>
        </p:spPr>
        <p:txBody>
          <a:bodyPr wrap="square" lIns="0" tIns="0" rIns="0" bIns="0" rtlCol="0" anchor="ctr"/>
          <a:lstStyle/>
          <a:p>
            <a:pPr indent="0" marL="0">
              <a:buNone/>
            </a:pPr>
            <a:r>
              <a:rPr lang="en-US" sz="1200" dirty="0">
                <a:solidFill>
                  <a:schemeClr val="tx1"/>
                </a:solidFill>
              </a:rPr>
              <a:t>5 to 14 days</a:t>
            </a:r>
            <a:endParaRPr lang="en-US" sz="1200" dirty="0"/>
          </a:p>
        </p:txBody>
      </p:sp>
      <p:graphicFrame>
        <p:nvGraphicFramePr>
          <p:cNvPr id="54" name="Chart 0" descr=""/>
          <p:cNvGraphicFramePr/>
          <p:nvPr/>
        </p:nvGraphicFramePr>
        <p:xfrm>
          <a:off x="2743200" y="3566160"/>
          <a:ext cx="8595360" cy="269748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Literature search and study selection</a:t>
            </a:r>
            <a:endParaRPr lang="en-US" sz="2800" dirty="0"/>
          </a:p>
        </p:txBody>
      </p:sp>
      <p:sp>
        <p:nvSpPr>
          <p:cNvPr id="13"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4" name="Step Identification"/>
          <p:cNvSpPr/>
          <p:nvPr/>
        </p:nvSpPr>
        <p:spPr>
          <a:xfrm>
            <a:off x="548640" y="2286000"/>
            <a:ext cx="1920240" cy="1325880"/>
          </a:xfrm>
          <a:prstGeom prst="rect">
            <a:avLst/>
          </a:prstGeom>
          <a:solidFill>
            <a:srgbClr val="FFFFFF"/>
          </a:solidFill>
          <a:ln w="12700">
            <a:solidFill>
              <a:srgbClr val="98A6B5"/>
            </a:solidFill>
            <a:prstDash val="solid"/>
          </a:ln>
        </p:spPr>
      </p:sp>
      <p:sp>
        <p:nvSpPr>
          <p:cNvPr id="15"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 10 from other sources</a:t>
            </a:r>
            <a:endParaRPr lang="en-US" sz="2600" dirty="0"/>
          </a:p>
        </p:txBody>
      </p:sp>
      <p:sp>
        <p:nvSpPr>
          <p:cNvPr id="16" name="Flow arrow 1"/>
          <p:cNvSpPr/>
          <p:nvPr/>
        </p:nvSpPr>
        <p:spPr>
          <a:xfrm>
            <a:off x="2505456" y="2948940"/>
            <a:ext cx="246888" cy="0"/>
          </a:xfrm>
          <a:prstGeom prst="line">
            <a:avLst/>
          </a:prstGeom>
          <a:noFill/>
          <a:ln w="15875">
            <a:solidFill>
              <a:srgbClr val="1B2533"/>
            </a:solidFill>
            <a:prstDash val="solid"/>
            <a:tailEnd type="triangle"/>
          </a:ln>
        </p:spPr>
      </p:sp>
      <p:sp>
        <p:nvSpPr>
          <p:cNvPr id="17"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8" name="Step Screening"/>
          <p:cNvSpPr/>
          <p:nvPr/>
        </p:nvSpPr>
        <p:spPr>
          <a:xfrm>
            <a:off x="2788920" y="2286000"/>
            <a:ext cx="1920240" cy="1325880"/>
          </a:xfrm>
          <a:prstGeom prst="rect">
            <a:avLst/>
          </a:prstGeom>
          <a:solidFill>
            <a:srgbClr val="FFFFFF"/>
          </a:solidFill>
          <a:ln w="12700">
            <a:solidFill>
              <a:srgbClr val="98A6B5"/>
            </a:solidFill>
            <a:prstDash val="solid"/>
          </a:ln>
        </p:spPr>
      </p:sp>
      <p:sp>
        <p:nvSpPr>
          <p:cNvPr id="19"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records after removing duplicates</a:t>
            </a:r>
            <a:endParaRPr lang="en-US" sz="2600" dirty="0"/>
          </a:p>
        </p:txBody>
      </p:sp>
      <p:sp>
        <p:nvSpPr>
          <p:cNvPr id="20" name="Flow arrow 2"/>
          <p:cNvSpPr/>
          <p:nvPr/>
        </p:nvSpPr>
        <p:spPr>
          <a:xfrm>
            <a:off x="4745736" y="2948940"/>
            <a:ext cx="246888" cy="0"/>
          </a:xfrm>
          <a:prstGeom prst="line">
            <a:avLst/>
          </a:prstGeom>
          <a:noFill/>
          <a:ln w="15875">
            <a:solidFill>
              <a:srgbClr val="1B2533"/>
            </a:solidFill>
            <a:prstDash val="solid"/>
            <a:tailEnd type="triangle"/>
          </a:ln>
        </p:spPr>
      </p:sp>
      <p:sp>
        <p:nvSpPr>
          <p:cNvPr id="21"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2" name="Step Full text"/>
          <p:cNvSpPr/>
          <p:nvPr/>
        </p:nvSpPr>
        <p:spPr>
          <a:xfrm>
            <a:off x="5029200" y="2286000"/>
            <a:ext cx="1920240" cy="1325880"/>
          </a:xfrm>
          <a:prstGeom prst="rect">
            <a:avLst/>
          </a:prstGeom>
          <a:solidFill>
            <a:srgbClr val="FFFFFF"/>
          </a:solidFill>
          <a:ln w="12700">
            <a:solidFill>
              <a:srgbClr val="98A6B5"/>
            </a:solidFill>
            <a:prstDash val="solid"/>
          </a:ln>
        </p:spPr>
      </p:sp>
      <p:sp>
        <p:nvSpPr>
          <p:cNvPr id="23"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sought</a:t>
            </a:r>
            <a:endParaRPr lang="en-US" sz="2600" dirty="0"/>
          </a:p>
        </p:txBody>
      </p:sp>
      <p:sp>
        <p:nvSpPr>
          <p:cNvPr id="24" name="Flow arrow 3"/>
          <p:cNvSpPr/>
          <p:nvPr/>
        </p:nvSpPr>
        <p:spPr>
          <a:xfrm>
            <a:off x="6986016" y="2948940"/>
            <a:ext cx="246888" cy="0"/>
          </a:xfrm>
          <a:prstGeom prst="line">
            <a:avLst/>
          </a:prstGeom>
          <a:noFill/>
          <a:ln w="15875">
            <a:solidFill>
              <a:srgbClr val="1B2533"/>
            </a:solidFill>
            <a:prstDash val="solid"/>
            <a:tailEnd type="triangle"/>
          </a:ln>
        </p:spPr>
      </p:sp>
      <p:sp>
        <p:nvSpPr>
          <p:cNvPr id="25"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6" name="Step Included"/>
          <p:cNvSpPr/>
          <p:nvPr/>
        </p:nvSpPr>
        <p:spPr>
          <a:xfrm>
            <a:off x="7269480" y="2286000"/>
            <a:ext cx="1920240" cy="1325880"/>
          </a:xfrm>
          <a:prstGeom prst="rect">
            <a:avLst/>
          </a:prstGeom>
          <a:solidFill>
            <a:srgbClr val="FFFFFF"/>
          </a:solidFill>
          <a:ln w="12700">
            <a:solidFill>
              <a:srgbClr val="98A6B5"/>
            </a:solidFill>
            <a:prstDash val="solid"/>
          </a:ln>
        </p:spPr>
      </p:sp>
      <p:sp>
        <p:nvSpPr>
          <p:cNvPr id="27"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8" name="Flow arrow 4"/>
          <p:cNvSpPr/>
          <p:nvPr/>
        </p:nvSpPr>
        <p:spPr>
          <a:xfrm>
            <a:off x="9226296" y="2948940"/>
            <a:ext cx="246888" cy="0"/>
          </a:xfrm>
          <a:prstGeom prst="line">
            <a:avLst/>
          </a:prstGeom>
          <a:noFill/>
          <a:ln w="15875">
            <a:solidFill>
              <a:srgbClr val="1B2533"/>
            </a:solidFill>
            <a:prstDash val="solid"/>
            <a:tailEnd type="triangle"/>
          </a:ln>
        </p:spPr>
      </p:sp>
      <p:sp>
        <p:nvSpPr>
          <p:cNvPr id="29"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30" name="Step Final dataset"/>
          <p:cNvSpPr/>
          <p:nvPr/>
        </p:nvSpPr>
        <p:spPr>
          <a:xfrm>
            <a:off x="9509760" y="2286000"/>
            <a:ext cx="1920240" cy="1325880"/>
          </a:xfrm>
          <a:prstGeom prst="rect">
            <a:avLst/>
          </a:prstGeom>
          <a:solidFill>
            <a:srgbClr val="0B2545"/>
          </a:solidFill>
          <a:ln w="12700">
            <a:solidFill>
              <a:srgbClr val="0B2545"/>
            </a:solidFill>
            <a:prstDash val="solid"/>
          </a:ln>
        </p:spPr>
      </p:sp>
      <p:sp>
        <p:nvSpPr>
          <p:cNvPr id="31"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2" name="Removed 1"/>
          <p:cNvSpPr/>
          <p:nvPr/>
        </p:nvSpPr>
        <p:spPr>
          <a:xfrm>
            <a:off x="2628900" y="2994660"/>
            <a:ext cx="0" cy="960120"/>
          </a:xfrm>
          <a:prstGeom prst="line">
            <a:avLst/>
          </a:prstGeom>
          <a:noFill/>
          <a:ln w="9525">
            <a:solidFill>
              <a:srgbClr val="98A6B5"/>
            </a:solidFill>
            <a:prstDash val="dash"/>
            <a:tailEnd type="triangle"/>
          </a:ln>
        </p:spPr>
      </p:sp>
      <p:sp>
        <p:nvSpPr>
          <p:cNvPr id="33" name="Text 29"/>
          <p:cNvSpPr txBox="1"/>
          <p:nvPr/>
        </p:nvSpPr>
        <p:spPr>
          <a:xfrm>
            <a:off x="1623060" y="4000500"/>
            <a:ext cx="2011680" cy="137160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4" name="Removed 2"/>
          <p:cNvSpPr/>
          <p:nvPr/>
        </p:nvSpPr>
        <p:spPr>
          <a:xfrm>
            <a:off x="4869180" y="2994660"/>
            <a:ext cx="0" cy="960120"/>
          </a:xfrm>
          <a:prstGeom prst="line">
            <a:avLst/>
          </a:prstGeom>
          <a:noFill/>
          <a:ln w="9525">
            <a:solidFill>
              <a:srgbClr val="98A6B5"/>
            </a:solidFill>
            <a:prstDash val="dash"/>
            <a:tailEnd type="triangle"/>
          </a:ln>
        </p:spPr>
      </p:sp>
      <p:sp>
        <p:nvSpPr>
          <p:cNvPr id="35" name="Text 31"/>
          <p:cNvSpPr txBox="1"/>
          <p:nvPr/>
        </p:nvSpPr>
        <p:spPr>
          <a:xfrm>
            <a:off x="3863340" y="4000500"/>
            <a:ext cx="2011680" cy="1371600"/>
          </a:xfrm>
          <a:prstGeom prst="rect">
            <a:avLst/>
          </a:prstGeom>
          <a:noFill/>
          <a:ln/>
        </p:spPr>
        <p:txBody>
          <a:bodyPr wrap="square" lIns="0" tIns="0" rIns="0" bIns="0" rtlCol="0" anchor="t"/>
          <a:lstStyle/>
          <a:p>
            <a:pPr algn="ctr" indent="0" marL="0">
              <a:buNone/>
            </a:pPr>
            <a:r>
              <a:rPr lang="en-US" sz="1100" dirty="0">
                <a:solidFill>
                  <a:schemeClr val="accent3"/>
                </a:solidFill>
              </a:rPr>
              <a:t>3,516 excluded</a:t>
            </a:r>
            <a:endParaRPr lang="en-US" sz="1100" dirty="0"/>
          </a:p>
        </p:txBody>
      </p:sp>
      <p:sp>
        <p:nvSpPr>
          <p:cNvPr id="36" name="Removed 3"/>
          <p:cNvSpPr/>
          <p:nvPr/>
        </p:nvSpPr>
        <p:spPr>
          <a:xfrm>
            <a:off x="7109460" y="2994660"/>
            <a:ext cx="0" cy="960120"/>
          </a:xfrm>
          <a:prstGeom prst="line">
            <a:avLst/>
          </a:prstGeom>
          <a:noFill/>
          <a:ln w="9525">
            <a:solidFill>
              <a:srgbClr val="98A6B5"/>
            </a:solidFill>
            <a:prstDash val="dash"/>
            <a:tailEnd type="triangle"/>
          </a:ln>
        </p:spPr>
      </p:sp>
      <p:sp>
        <p:nvSpPr>
          <p:cNvPr id="37" name="Text 33"/>
          <p:cNvSpPr txBox="1"/>
          <p:nvPr/>
        </p:nvSpPr>
        <p:spPr>
          <a:xfrm>
            <a:off x="6103620" y="4000500"/>
            <a:ext cx="2011680" cy="137160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a:p>
            <a:pPr algn="ctr" indent="0" marL="0">
              <a:buNone/>
            </a:pPr>
            <a:r>
              <a:rPr lang="en-US" sz="1100" dirty="0">
                <a:solidFill>
                  <a:schemeClr val="accent3"/>
                </a:solidFill>
              </a:rPr>
              <a:t>11 excluded at full text</a:t>
            </a:r>
            <a:endParaRPr lang="en-US" sz="1100" dirty="0"/>
          </a:p>
        </p:txBody>
      </p:sp>
      <p:sp>
        <p:nvSpPr>
          <p:cNvPr id="38" name="Text 34"/>
          <p:cNvSpPr txBox="1"/>
          <p:nvPr/>
        </p:nvSpPr>
        <p:spPr>
          <a:xfrm>
            <a:off x="548640" y="580644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Figure 6. Flow of records, in the style of PRISMA 2020. Full-text counts are not yet reconciled with the dataset.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Dataset composition</a:t>
            </a:r>
            <a:endParaRPr lang="en-US" sz="2800" dirty="0"/>
          </a:p>
        </p:txBody>
      </p:sp>
      <p:sp>
        <p:nvSpPr>
          <p:cNvPr id="13"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Table 1. 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15"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rows come from 36 campaigns: </a:t>
            </a:r>
            <a:pPr indent="0" marL="0">
              <a:buNone/>
            </a:pPr>
            <a:r>
              <a:rPr lang="en-US" sz="1400" dirty="0">
                <a:solidFill>
                  <a:schemeClr val="tx1"/>
                </a:solidFill>
              </a:rPr>
              <a:t>one campaign gives rows for several muscles, groups and scan days.</a:t>
            </a:r>
            <a:endParaRPr lang="en-US" sz="1400" dirty="0"/>
          </a:p>
        </p:txBody>
      </p:sp>
      <p:sp>
        <p:nvSpPr>
          <p:cNvPr id="16"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Table 2. 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Muscle atrophy by muscle group</a:t>
            </a:r>
            <a:endParaRPr lang="en-US" sz="2800" dirty="0"/>
          </a:p>
        </p:txBody>
      </p:sp>
      <p:sp>
        <p:nvSpPr>
          <p:cNvPr id="13" name="Grid 0"/>
          <p:cNvSpPr/>
          <p:nvPr/>
        </p:nvSpPr>
        <p:spPr>
          <a:xfrm>
            <a:off x="1234440" y="1371600"/>
            <a:ext cx="6309360" cy="0"/>
          </a:xfrm>
          <a:prstGeom prst="line">
            <a:avLst/>
          </a:prstGeom>
          <a:noFill/>
          <a:ln w="9525">
            <a:solidFill>
              <a:srgbClr val="5D6B7B"/>
            </a:solidFill>
            <a:prstDash val="solid"/>
          </a:ln>
        </p:spPr>
      </p:sp>
      <p:sp>
        <p:nvSpPr>
          <p:cNvPr id="14"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5" name="Grid -4"/>
          <p:cNvSpPr/>
          <p:nvPr/>
        </p:nvSpPr>
        <p:spPr>
          <a:xfrm>
            <a:off x="1234440" y="2019300"/>
            <a:ext cx="6309360" cy="0"/>
          </a:xfrm>
          <a:prstGeom prst="line">
            <a:avLst/>
          </a:prstGeom>
          <a:noFill/>
          <a:ln w="9525">
            <a:solidFill>
              <a:srgbClr val="E2E7ED"/>
            </a:solidFill>
            <a:prstDash val="solid"/>
          </a:ln>
        </p:spPr>
      </p:sp>
      <p:sp>
        <p:nvSpPr>
          <p:cNvPr id="16"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7" name="Grid -8"/>
          <p:cNvSpPr/>
          <p:nvPr/>
        </p:nvSpPr>
        <p:spPr>
          <a:xfrm>
            <a:off x="1234440" y="2667000"/>
            <a:ext cx="6309360" cy="0"/>
          </a:xfrm>
          <a:prstGeom prst="line">
            <a:avLst/>
          </a:prstGeom>
          <a:noFill/>
          <a:ln w="9525">
            <a:solidFill>
              <a:srgbClr val="E2E7ED"/>
            </a:solidFill>
            <a:prstDash val="solid"/>
          </a:ln>
        </p:spPr>
      </p:sp>
      <p:sp>
        <p:nvSpPr>
          <p:cNvPr id="18"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9" name="Grid -12"/>
          <p:cNvSpPr/>
          <p:nvPr/>
        </p:nvSpPr>
        <p:spPr>
          <a:xfrm>
            <a:off x="1234440" y="3314700"/>
            <a:ext cx="6309360" cy="0"/>
          </a:xfrm>
          <a:prstGeom prst="line">
            <a:avLst/>
          </a:prstGeom>
          <a:noFill/>
          <a:ln w="9525">
            <a:solidFill>
              <a:srgbClr val="E2E7ED"/>
            </a:solidFill>
            <a:prstDash val="solid"/>
          </a:ln>
        </p:spPr>
      </p:sp>
      <p:sp>
        <p:nvSpPr>
          <p:cNvPr id="20"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21" name="Grid -16"/>
          <p:cNvSpPr/>
          <p:nvPr/>
        </p:nvSpPr>
        <p:spPr>
          <a:xfrm>
            <a:off x="1234440" y="3962400"/>
            <a:ext cx="6309360" cy="0"/>
          </a:xfrm>
          <a:prstGeom prst="line">
            <a:avLst/>
          </a:prstGeom>
          <a:noFill/>
          <a:ln w="9525">
            <a:solidFill>
              <a:srgbClr val="E2E7ED"/>
            </a:solidFill>
            <a:prstDash val="solid"/>
          </a:ln>
        </p:spPr>
      </p:sp>
      <p:sp>
        <p:nvSpPr>
          <p:cNvPr id="22"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3" name="Grid -20"/>
          <p:cNvSpPr/>
          <p:nvPr/>
        </p:nvSpPr>
        <p:spPr>
          <a:xfrm>
            <a:off x="1234440" y="4610100"/>
            <a:ext cx="6309360" cy="0"/>
          </a:xfrm>
          <a:prstGeom prst="line">
            <a:avLst/>
          </a:prstGeom>
          <a:noFill/>
          <a:ln w="9525">
            <a:solidFill>
              <a:srgbClr val="E2E7ED"/>
            </a:solidFill>
            <a:prstDash val="solid"/>
          </a:ln>
        </p:spPr>
      </p:sp>
      <p:sp>
        <p:nvSpPr>
          <p:cNvPr id="24"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5" name="Grid -24"/>
          <p:cNvSpPr/>
          <p:nvPr/>
        </p:nvSpPr>
        <p:spPr>
          <a:xfrm>
            <a:off x="1234440" y="5257800"/>
            <a:ext cx="6309360" cy="0"/>
          </a:xfrm>
          <a:prstGeom prst="line">
            <a:avLst/>
          </a:prstGeom>
          <a:noFill/>
          <a:ln w="9525">
            <a:solidFill>
              <a:srgbClr val="E2E7ED"/>
            </a:solidFill>
            <a:prstDash val="solid"/>
          </a:ln>
        </p:spPr>
      </p:sp>
      <p:sp>
        <p:nvSpPr>
          <p:cNvPr id="26"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7"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9"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0"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2"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3"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4" name="Day 60 line"/>
          <p:cNvSpPr/>
          <p:nvPr/>
        </p:nvSpPr>
        <p:spPr>
          <a:xfrm>
            <a:off x="4389120" y="1280160"/>
            <a:ext cx="0" cy="3977640"/>
          </a:xfrm>
          <a:prstGeom prst="line">
            <a:avLst/>
          </a:prstGeom>
          <a:noFill/>
          <a:ln w="12700">
            <a:solidFill>
              <a:srgbClr val="1B2533"/>
            </a:solidFill>
            <a:prstDash val="dash"/>
          </a:ln>
        </p:spPr>
      </p:sp>
      <p:sp>
        <p:nvSpPr>
          <p:cNvPr id="35"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6"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9AA5B1"/>
            </a:solidFill>
            <a:prstDash val="solid"/>
          </a:ln>
        </p:spPr>
      </p:sp>
      <p:sp>
        <p:nvSpPr>
          <p:cNvPr id="37" name="Deep hip rotators at day 60"/>
          <p:cNvSpPr/>
          <p:nvPr/>
        </p:nvSpPr>
        <p:spPr>
          <a:xfrm>
            <a:off x="4338828" y="1628966"/>
            <a:ext cx="100584" cy="100584"/>
          </a:xfrm>
          <a:prstGeom prst="ellipse">
            <a:avLst/>
          </a:prstGeom>
          <a:solidFill>
            <a:srgbClr val="9AA5B1"/>
          </a:solidFill>
          <a:ln w="6350">
            <a:solidFill>
              <a:srgbClr val="FFFFFF"/>
            </a:solidFill>
            <a:prstDash val="solid"/>
          </a:ln>
        </p:spPr>
      </p:sp>
      <p:sp>
        <p:nvSpPr>
          <p:cNvPr id="38"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3A9CA6"/>
            </a:solidFill>
            <a:prstDash val="solid"/>
          </a:ln>
        </p:spPr>
      </p:sp>
      <p:sp>
        <p:nvSpPr>
          <p:cNvPr id="39" name="Inner thigh (hip adductors) at day 60"/>
          <p:cNvSpPr/>
          <p:nvPr/>
        </p:nvSpPr>
        <p:spPr>
          <a:xfrm>
            <a:off x="4338828" y="2195703"/>
            <a:ext cx="100584" cy="100584"/>
          </a:xfrm>
          <a:prstGeom prst="ellipse">
            <a:avLst/>
          </a:prstGeom>
          <a:solidFill>
            <a:srgbClr val="3A9CA6"/>
          </a:solidFill>
          <a:ln w="6350">
            <a:solidFill>
              <a:srgbClr val="FFFFFF"/>
            </a:solidFill>
            <a:prstDash val="solid"/>
          </a:ln>
        </p:spPr>
      </p:sp>
      <p:sp>
        <p:nvSpPr>
          <p:cNvPr id="40"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9C6B98"/>
            </a:solidFill>
            <a:prstDash val="solid"/>
          </a:ln>
        </p:spPr>
      </p:sp>
      <p:sp>
        <p:nvSpPr>
          <p:cNvPr id="41" name="Glutes (hip extensors) at day 60"/>
          <p:cNvSpPr/>
          <p:nvPr/>
        </p:nvSpPr>
        <p:spPr>
          <a:xfrm>
            <a:off x="4338828" y="2309050"/>
            <a:ext cx="100584" cy="100584"/>
          </a:xfrm>
          <a:prstGeom prst="ellipse">
            <a:avLst/>
          </a:prstGeom>
          <a:solidFill>
            <a:srgbClr val="9C6B98"/>
          </a:solidFill>
          <a:ln w="6350">
            <a:solidFill>
              <a:srgbClr val="FFFFFF"/>
            </a:solidFill>
            <a:prstDash val="solid"/>
          </a:ln>
        </p:spPr>
      </p:sp>
      <p:sp>
        <p:nvSpPr>
          <p:cNvPr id="42"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6A994E"/>
            </a:solidFill>
            <a:prstDash val="solid"/>
          </a:ln>
        </p:spPr>
      </p:sp>
      <p:sp>
        <p:nvSpPr>
          <p:cNvPr id="43" name="Hip flexors at day 60"/>
          <p:cNvSpPr/>
          <p:nvPr/>
        </p:nvSpPr>
        <p:spPr>
          <a:xfrm>
            <a:off x="4338828" y="2422398"/>
            <a:ext cx="100584" cy="100584"/>
          </a:xfrm>
          <a:prstGeom prst="ellipse">
            <a:avLst/>
          </a:prstGeom>
          <a:solidFill>
            <a:srgbClr val="6A994E"/>
          </a:solidFill>
          <a:ln w="6350">
            <a:solidFill>
              <a:srgbClr val="FFFFFF"/>
            </a:solidFill>
            <a:prstDash val="solid"/>
          </a:ln>
        </p:spPr>
      </p:sp>
      <p:sp>
        <p:nvSpPr>
          <p:cNvPr id="44"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FC4"/>
            </a:solidFill>
            <a:prstDash val="solid"/>
          </a:ln>
        </p:spPr>
      </p:sp>
      <p:sp>
        <p:nvSpPr>
          <p:cNvPr id="45" name="Outer hip (hip abductors) at day 60"/>
          <p:cNvSpPr/>
          <p:nvPr/>
        </p:nvSpPr>
        <p:spPr>
          <a:xfrm>
            <a:off x="4338828" y="2794825"/>
            <a:ext cx="100584" cy="100584"/>
          </a:xfrm>
          <a:prstGeom prst="ellipse">
            <a:avLst/>
          </a:prstGeom>
          <a:solidFill>
            <a:srgbClr val="7B6FC4"/>
          </a:solidFill>
          <a:ln w="6350">
            <a:solidFill>
              <a:srgbClr val="FFFFFF"/>
            </a:solidFill>
            <a:prstDash val="solid"/>
          </a:ln>
        </p:spPr>
      </p:sp>
      <p:sp>
        <p:nvSpPr>
          <p:cNvPr id="46"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F86C6"/>
            </a:solidFill>
            <a:prstDash val="solid"/>
          </a:ln>
        </p:spPr>
      </p:sp>
      <p:sp>
        <p:nvSpPr>
          <p:cNvPr id="47" name="Back thigh (knee flexors) at day 60"/>
          <p:cNvSpPr/>
          <p:nvPr/>
        </p:nvSpPr>
        <p:spPr>
          <a:xfrm>
            <a:off x="4338828" y="2908173"/>
            <a:ext cx="100584" cy="100584"/>
          </a:xfrm>
          <a:prstGeom prst="ellipse">
            <a:avLst/>
          </a:prstGeom>
          <a:solidFill>
            <a:srgbClr val="4F86C6"/>
          </a:solidFill>
          <a:ln w="6350">
            <a:solidFill>
              <a:srgbClr val="FFFFFF"/>
            </a:solidFill>
            <a:prstDash val="solid"/>
          </a:ln>
        </p:spPr>
      </p:sp>
      <p:sp>
        <p:nvSpPr>
          <p:cNvPr id="48"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0B2545"/>
            </a:solidFill>
            <a:prstDash val="solid"/>
          </a:ln>
        </p:spPr>
      </p:sp>
      <p:sp>
        <p:nvSpPr>
          <p:cNvPr id="49" name="Front thigh (knee extensors) at day 60"/>
          <p:cNvSpPr/>
          <p:nvPr/>
        </p:nvSpPr>
        <p:spPr>
          <a:xfrm>
            <a:off x="4338828" y="2956751"/>
            <a:ext cx="100584" cy="100584"/>
          </a:xfrm>
          <a:prstGeom prst="ellipse">
            <a:avLst/>
          </a:prstGeom>
          <a:solidFill>
            <a:srgbClr val="0B2545"/>
          </a:solidFill>
          <a:ln w="6350">
            <a:solidFill>
              <a:srgbClr val="FFFFFF"/>
            </a:solidFill>
            <a:prstDash val="solid"/>
          </a:ln>
        </p:spPr>
      </p:sp>
      <p:sp>
        <p:nvSpPr>
          <p:cNvPr id="50"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E0A030"/>
            </a:solidFill>
            <a:prstDash val="solid"/>
          </a:ln>
        </p:spPr>
      </p:sp>
      <p:sp>
        <p:nvSpPr>
          <p:cNvPr id="51" name="Shin (dorsiflexors) at day 60"/>
          <p:cNvSpPr/>
          <p:nvPr/>
        </p:nvSpPr>
        <p:spPr>
          <a:xfrm>
            <a:off x="4338828" y="2972943"/>
            <a:ext cx="100584" cy="100584"/>
          </a:xfrm>
          <a:prstGeom prst="ellipse">
            <a:avLst/>
          </a:prstGeom>
          <a:solidFill>
            <a:srgbClr val="E0A030"/>
          </a:solidFill>
          <a:ln w="6350">
            <a:solidFill>
              <a:srgbClr val="FFFFFF"/>
            </a:solidFill>
            <a:prstDash val="solid"/>
          </a:ln>
        </p:spPr>
      </p:sp>
      <p:sp>
        <p:nvSpPr>
          <p:cNvPr id="52"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C1440E"/>
            </a:solidFill>
            <a:prstDash val="solid"/>
          </a:ln>
        </p:spPr>
      </p:sp>
      <p:sp>
        <p:nvSpPr>
          <p:cNvPr id="53" name="Calf (plantar flexors) at day 60"/>
          <p:cNvSpPr/>
          <p:nvPr/>
        </p:nvSpPr>
        <p:spPr>
          <a:xfrm>
            <a:off x="4338828" y="3879723"/>
            <a:ext cx="100584" cy="100584"/>
          </a:xfrm>
          <a:prstGeom prst="ellipse">
            <a:avLst/>
          </a:prstGeom>
          <a:solidFill>
            <a:srgbClr val="C1440E"/>
          </a:solidFill>
          <a:ln w="6350">
            <a:solidFill>
              <a:srgbClr val="FFFFFF"/>
            </a:solidFill>
            <a:prstDash val="solid"/>
          </a:ln>
        </p:spPr>
      </p:sp>
      <p:sp>
        <p:nvSpPr>
          <p:cNvPr id="54"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5" name="Deep hip rotators leader"/>
          <p:cNvSpPr/>
          <p:nvPr/>
        </p:nvSpPr>
        <p:spPr>
          <a:xfrm flipV="1">
            <a:off x="7518654" y="1508760"/>
            <a:ext cx="646938" cy="282571"/>
          </a:xfrm>
          <a:prstGeom prst="line">
            <a:avLst/>
          </a:prstGeom>
          <a:noFill/>
          <a:ln w="9525">
            <a:solidFill>
              <a:srgbClr val="9AA5B1"/>
            </a:solidFill>
            <a:prstDash val="solid"/>
          </a:ln>
        </p:spPr>
      </p:sp>
      <p:pic>
        <p:nvPicPr>
          <p:cNvPr id="56" name="Image 2" descr="Deep hip rotators (highlighted on a leg outline)">    </p:cNvPr>
          <p:cNvPicPr>
            <a:picLocks noChangeAspect="1"/>
          </p:cNvPicPr>
          <p:nvPr/>
        </p:nvPicPr>
        <p:blipFill>
          <a:blip r:embed="rId3"/>
          <a:stretch>
            <a:fillRect/>
          </a:stretch>
        </p:blipFill>
        <p:spPr>
          <a:xfrm>
            <a:off x="8229600" y="1280160"/>
            <a:ext cx="304800" cy="457200"/>
          </a:xfrm>
          <a:prstGeom prst="rect">
            <a:avLst/>
          </a:prstGeom>
        </p:spPr>
      </p:pic>
      <p:sp>
        <p:nvSpPr>
          <p:cNvPr id="57"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8"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9AA5B1"/>
                </a:solidFill>
              </a:rPr>
              <a:t>−1.9%</a:t>
            </a:r>
            <a:endParaRPr lang="en-US" sz="1300" dirty="0"/>
          </a:p>
        </p:txBody>
      </p:sp>
      <p:sp>
        <p:nvSpPr>
          <p:cNvPr id="59" name="Inner thigh (hip adductors) leader"/>
          <p:cNvSpPr/>
          <p:nvPr/>
        </p:nvSpPr>
        <p:spPr>
          <a:xfrm flipV="1">
            <a:off x="7518654" y="2002536"/>
            <a:ext cx="646938" cy="561985"/>
          </a:xfrm>
          <a:prstGeom prst="line">
            <a:avLst/>
          </a:prstGeom>
          <a:noFill/>
          <a:ln w="9525">
            <a:solidFill>
              <a:srgbClr val="3A9CA6"/>
            </a:solidFill>
            <a:prstDash val="solid"/>
          </a:ln>
        </p:spPr>
      </p:sp>
      <p:pic>
        <p:nvPicPr>
          <p:cNvPr id="60" name="Image 3" descr="Inner thigh (hip adductors) (highlighted on a leg outline)">    </p:cNvPr>
          <p:cNvPicPr>
            <a:picLocks noChangeAspect="1"/>
          </p:cNvPicPr>
          <p:nvPr/>
        </p:nvPicPr>
        <p:blipFill>
          <a:blip r:embed="rId4"/>
          <a:stretch>
            <a:fillRect/>
          </a:stretch>
        </p:blipFill>
        <p:spPr>
          <a:xfrm>
            <a:off x="8229600" y="1773936"/>
            <a:ext cx="304800" cy="457200"/>
          </a:xfrm>
          <a:prstGeom prst="rect">
            <a:avLst/>
          </a:prstGeom>
        </p:spPr>
      </p:pic>
      <p:sp>
        <p:nvSpPr>
          <p:cNvPr id="61"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2"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3A9CA6"/>
                </a:solidFill>
              </a:rPr>
              <a:t>−5.4%</a:t>
            </a:r>
            <a:endParaRPr lang="en-US" sz="1300" dirty="0"/>
          </a:p>
        </p:txBody>
      </p:sp>
      <p:sp>
        <p:nvSpPr>
          <p:cNvPr id="63" name="Glutes (hip extensors) leader"/>
          <p:cNvSpPr/>
          <p:nvPr/>
        </p:nvSpPr>
        <p:spPr>
          <a:xfrm flipV="1">
            <a:off x="7518654" y="2496312"/>
            <a:ext cx="646938" cy="222847"/>
          </a:xfrm>
          <a:prstGeom prst="line">
            <a:avLst/>
          </a:prstGeom>
          <a:noFill/>
          <a:ln w="9525">
            <a:solidFill>
              <a:srgbClr val="9C6B98"/>
            </a:solidFill>
            <a:prstDash val="solid"/>
          </a:ln>
        </p:spPr>
      </p:sp>
      <p:pic>
        <p:nvPicPr>
          <p:cNvPr id="64" name="Image 4" descr="Glutes (hip extensors) (highlighted on a leg outline)">    </p:cNvPr>
          <p:cNvPicPr>
            <a:picLocks noChangeAspect="1"/>
          </p:cNvPicPr>
          <p:nvPr/>
        </p:nvPicPr>
        <p:blipFill>
          <a:blip r:embed="rId5"/>
          <a:stretch>
            <a:fillRect/>
          </a:stretch>
        </p:blipFill>
        <p:spPr>
          <a:xfrm>
            <a:off x="8229600" y="2267712"/>
            <a:ext cx="304800" cy="457200"/>
          </a:xfrm>
          <a:prstGeom prst="rect">
            <a:avLst/>
          </a:prstGeom>
        </p:spPr>
      </p:pic>
      <p:sp>
        <p:nvSpPr>
          <p:cNvPr id="65"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6"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9C6B98"/>
                </a:solidFill>
              </a:rPr>
              <a:t>−6.1%</a:t>
            </a:r>
            <a:endParaRPr lang="en-US" sz="1300" dirty="0"/>
          </a:p>
        </p:txBody>
      </p:sp>
      <p:sp>
        <p:nvSpPr>
          <p:cNvPr id="67" name="Hip flexors leader"/>
          <p:cNvSpPr/>
          <p:nvPr/>
        </p:nvSpPr>
        <p:spPr>
          <a:xfrm>
            <a:off x="7518654" y="2873796"/>
            <a:ext cx="646938" cy="116292"/>
          </a:xfrm>
          <a:prstGeom prst="line">
            <a:avLst/>
          </a:prstGeom>
          <a:noFill/>
          <a:ln w="9525">
            <a:solidFill>
              <a:srgbClr val="6A994E"/>
            </a:solidFill>
            <a:prstDash val="solid"/>
          </a:ln>
        </p:spPr>
      </p:sp>
      <p:pic>
        <p:nvPicPr>
          <p:cNvPr id="68" name="Image 5" descr="Hip flexors (highlighted on a leg outline)">    </p:cNvPr>
          <p:cNvPicPr>
            <a:picLocks noChangeAspect="1"/>
          </p:cNvPicPr>
          <p:nvPr/>
        </p:nvPicPr>
        <p:blipFill>
          <a:blip r:embed="rId6"/>
          <a:stretch>
            <a:fillRect/>
          </a:stretch>
        </p:blipFill>
        <p:spPr>
          <a:xfrm>
            <a:off x="8229600" y="2761488"/>
            <a:ext cx="304800" cy="457200"/>
          </a:xfrm>
          <a:prstGeom prst="rect">
            <a:avLst/>
          </a:prstGeom>
        </p:spPr>
      </p:pic>
      <p:sp>
        <p:nvSpPr>
          <p:cNvPr id="69"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70"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6A994E"/>
                </a:solidFill>
              </a:rPr>
              <a:t>−6.8%</a:t>
            </a:r>
            <a:endParaRPr lang="en-US" sz="1300" dirty="0"/>
          </a:p>
        </p:txBody>
      </p:sp>
      <p:sp>
        <p:nvSpPr>
          <p:cNvPr id="71" name="Outer hip (hip abductors) leader"/>
          <p:cNvSpPr/>
          <p:nvPr/>
        </p:nvSpPr>
        <p:spPr>
          <a:xfrm>
            <a:off x="7518654" y="3381892"/>
            <a:ext cx="646938" cy="101972"/>
          </a:xfrm>
          <a:prstGeom prst="line">
            <a:avLst/>
          </a:prstGeom>
          <a:noFill/>
          <a:ln w="9525">
            <a:solidFill>
              <a:srgbClr val="7B6FC4"/>
            </a:solidFill>
            <a:prstDash val="solid"/>
          </a:ln>
        </p:spPr>
      </p:sp>
      <p:pic>
        <p:nvPicPr>
          <p:cNvPr id="72" name="Image 6" descr="Outer hip (hip abductors) (highlighted on a leg outline)">    </p:cNvPr>
          <p:cNvPicPr>
            <a:picLocks noChangeAspect="1"/>
          </p:cNvPicPr>
          <p:nvPr/>
        </p:nvPicPr>
        <p:blipFill>
          <a:blip r:embed="rId7"/>
          <a:stretch>
            <a:fillRect/>
          </a:stretch>
        </p:blipFill>
        <p:spPr>
          <a:xfrm>
            <a:off x="8229600" y="3255264"/>
            <a:ext cx="304800" cy="457200"/>
          </a:xfrm>
          <a:prstGeom prst="rect">
            <a:avLst/>
          </a:prstGeom>
        </p:spPr>
      </p:pic>
      <p:sp>
        <p:nvSpPr>
          <p:cNvPr id="73"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4"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FC4"/>
                </a:solidFill>
              </a:rPr>
              <a:t>−9.1%</a:t>
            </a:r>
            <a:endParaRPr lang="en-US" sz="1300" dirty="0"/>
          </a:p>
        </p:txBody>
      </p:sp>
      <p:sp>
        <p:nvSpPr>
          <p:cNvPr id="75" name="Back thigh (knee flexors) leader"/>
          <p:cNvSpPr/>
          <p:nvPr/>
        </p:nvSpPr>
        <p:spPr>
          <a:xfrm>
            <a:off x="7518654" y="3536530"/>
            <a:ext cx="646938" cy="441110"/>
          </a:xfrm>
          <a:prstGeom prst="line">
            <a:avLst/>
          </a:prstGeom>
          <a:noFill/>
          <a:ln w="9525">
            <a:solidFill>
              <a:srgbClr val="4F86C6"/>
            </a:solidFill>
            <a:prstDash val="solid"/>
          </a:ln>
        </p:spPr>
      </p:sp>
      <p:pic>
        <p:nvPicPr>
          <p:cNvPr id="76" name="Image 7" descr="Back thigh (knee flexors) (highlighted on a leg outline)">    </p:cNvPr>
          <p:cNvPicPr>
            <a:picLocks noChangeAspect="1"/>
          </p:cNvPicPr>
          <p:nvPr/>
        </p:nvPicPr>
        <p:blipFill>
          <a:blip r:embed="rId8"/>
          <a:stretch>
            <a:fillRect/>
          </a:stretch>
        </p:blipFill>
        <p:spPr>
          <a:xfrm>
            <a:off x="8229600" y="3749040"/>
            <a:ext cx="304800" cy="457200"/>
          </a:xfrm>
          <a:prstGeom prst="rect">
            <a:avLst/>
          </a:prstGeom>
        </p:spPr>
      </p:pic>
      <p:sp>
        <p:nvSpPr>
          <p:cNvPr id="77"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8"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F86C6"/>
                </a:solidFill>
              </a:rPr>
              <a:t>−9.8%</a:t>
            </a:r>
            <a:endParaRPr lang="en-US" sz="1300" dirty="0"/>
          </a:p>
        </p:txBody>
      </p:sp>
      <p:sp>
        <p:nvSpPr>
          <p:cNvPr id="79" name="Front thigh (knee extensors) leader"/>
          <p:cNvSpPr/>
          <p:nvPr/>
        </p:nvSpPr>
        <p:spPr>
          <a:xfrm>
            <a:off x="7518654" y="3602804"/>
            <a:ext cx="646938" cy="868612"/>
          </a:xfrm>
          <a:prstGeom prst="line">
            <a:avLst/>
          </a:prstGeom>
          <a:noFill/>
          <a:ln w="9525">
            <a:solidFill>
              <a:srgbClr val="0B2545"/>
            </a:solidFill>
            <a:prstDash val="solid"/>
          </a:ln>
        </p:spPr>
      </p:sp>
      <p:pic>
        <p:nvPicPr>
          <p:cNvPr id="80" name="Image 8" descr="Front thigh (knee extensors) (highlighted on a leg outline)">    </p:cNvPr>
          <p:cNvPicPr>
            <a:picLocks noChangeAspect="1"/>
          </p:cNvPicPr>
          <p:nvPr/>
        </p:nvPicPr>
        <p:blipFill>
          <a:blip r:embed="rId9"/>
          <a:stretch>
            <a:fillRect/>
          </a:stretch>
        </p:blipFill>
        <p:spPr>
          <a:xfrm>
            <a:off x="8229600" y="4242816"/>
            <a:ext cx="304800" cy="457200"/>
          </a:xfrm>
          <a:prstGeom prst="rect">
            <a:avLst/>
          </a:prstGeom>
        </p:spPr>
      </p:pic>
      <p:sp>
        <p:nvSpPr>
          <p:cNvPr id="81"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2"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0B2545"/>
                </a:solidFill>
              </a:rPr>
              <a:t>−10.1%</a:t>
            </a:r>
            <a:endParaRPr lang="en-US" sz="1300" dirty="0"/>
          </a:p>
        </p:txBody>
      </p:sp>
      <p:sp>
        <p:nvSpPr>
          <p:cNvPr id="83" name="Shin (dorsiflexors) leader"/>
          <p:cNvSpPr/>
          <p:nvPr/>
        </p:nvSpPr>
        <p:spPr>
          <a:xfrm>
            <a:off x="7518654" y="3624895"/>
            <a:ext cx="646938" cy="1340297"/>
          </a:xfrm>
          <a:prstGeom prst="line">
            <a:avLst/>
          </a:prstGeom>
          <a:noFill/>
          <a:ln w="9525">
            <a:solidFill>
              <a:srgbClr val="E0A030"/>
            </a:solidFill>
            <a:prstDash val="solid"/>
          </a:ln>
        </p:spPr>
      </p:sp>
      <p:pic>
        <p:nvPicPr>
          <p:cNvPr id="84" name="Image 9" descr="Shin (dorsiflexors) (highlighted on a leg outline)">    </p:cNvPr>
          <p:cNvPicPr>
            <a:picLocks noChangeAspect="1"/>
          </p:cNvPicPr>
          <p:nvPr/>
        </p:nvPicPr>
        <p:blipFill>
          <a:blip r:embed="rId10"/>
          <a:stretch>
            <a:fillRect/>
          </a:stretch>
        </p:blipFill>
        <p:spPr>
          <a:xfrm>
            <a:off x="8229600" y="4736592"/>
            <a:ext cx="304800" cy="457200"/>
          </a:xfrm>
          <a:prstGeom prst="rect">
            <a:avLst/>
          </a:prstGeom>
        </p:spPr>
      </p:pic>
      <p:sp>
        <p:nvSpPr>
          <p:cNvPr id="85"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6"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E0A030"/>
                </a:solidFill>
              </a:rPr>
              <a:t>−10.2%</a:t>
            </a:r>
            <a:endParaRPr lang="en-US" sz="1300" dirty="0"/>
          </a:p>
        </p:txBody>
      </p:sp>
      <p:sp>
        <p:nvSpPr>
          <p:cNvPr id="87" name="Calf (plantar flexors) leader"/>
          <p:cNvSpPr/>
          <p:nvPr/>
        </p:nvSpPr>
        <p:spPr>
          <a:xfrm>
            <a:off x="7518654" y="4861998"/>
            <a:ext cx="646938" cy="596970"/>
          </a:xfrm>
          <a:prstGeom prst="line">
            <a:avLst/>
          </a:prstGeom>
          <a:noFill/>
          <a:ln w="9525">
            <a:solidFill>
              <a:srgbClr val="C1440E"/>
            </a:solidFill>
            <a:prstDash val="solid"/>
          </a:ln>
        </p:spPr>
      </p:sp>
      <p:pic>
        <p:nvPicPr>
          <p:cNvPr id="88" name="Image 10" descr="Calf (plantar flexors) (highlighted on a leg outline)">    </p:cNvPr>
          <p:cNvPicPr>
            <a:picLocks noChangeAspect="1"/>
          </p:cNvPicPr>
          <p:nvPr/>
        </p:nvPicPr>
        <p:blipFill>
          <a:blip r:embed="rId11"/>
          <a:stretch>
            <a:fillRect/>
          </a:stretch>
        </p:blipFill>
        <p:spPr>
          <a:xfrm>
            <a:off x="8229600" y="5230368"/>
            <a:ext cx="304800" cy="457200"/>
          </a:xfrm>
          <a:prstGeom prst="rect">
            <a:avLst/>
          </a:prstGeom>
        </p:spPr>
      </p:pic>
      <p:sp>
        <p:nvSpPr>
          <p:cNvPr id="89"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90"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C1440E"/>
                </a:solidFill>
              </a:rPr>
              <a:t>−15.8%</a:t>
            </a:r>
            <a:endParaRPr lang="en-US" sz="1300" dirty="0"/>
          </a:p>
        </p:txBody>
      </p:sp>
      <p:sp>
        <p:nvSpPr>
          <p:cNvPr id="91"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Figure 7. Change in muscle size by muscle group: one shared time course (τ = 60 days) scaled to each group's day-60 estimate;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30968" y="6382512"/>
            <a:ext cx="219456" cy="219456"/>
          </a:xfrm>
          <a:prstGeom prst="ellipse">
            <a:avLst/>
          </a:prstGeom>
          <a:solidFill>
            <a:schemeClr val="accent1"/>
          </a:solidFill>
          <a:ln w="9525">
            <a:solidFill>
              <a:srgbClr val="C1440E"/>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framework</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leave-one-campaign-out validation</a:t>
            </a:r>
            <a:endParaRPr lang="en-US" sz="2800" dirty="0"/>
          </a:p>
        </p:txBody>
      </p:sp>
      <p:sp>
        <p:nvSpPr>
          <p:cNvPr id="13" name="Input box"/>
          <p:cNvSpPr/>
          <p:nvPr/>
        </p:nvSpPr>
        <p:spPr>
          <a:xfrm>
            <a:off x="548640" y="1325880"/>
            <a:ext cx="4206240" cy="2514600"/>
          </a:xfrm>
          <a:prstGeom prst="rect">
            <a:avLst/>
          </a:prstGeom>
          <a:solidFill>
            <a:schemeClr val="bg1"/>
          </a:solidFill>
          <a:ln w="12700">
            <a:solidFill>
              <a:srgbClr val="98A6B5"/>
            </a:solidFill>
            <a:prstDash val="solid"/>
          </a:ln>
        </p:spPr>
      </p:sp>
      <p:sp>
        <p:nvSpPr>
          <p:cNvPr id="14"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5" name="Arrow input to model"/>
          <p:cNvSpPr/>
          <p:nvPr/>
        </p:nvSpPr>
        <p:spPr>
          <a:xfrm>
            <a:off x="4800600" y="2583180"/>
            <a:ext cx="457200" cy="0"/>
          </a:xfrm>
          <a:prstGeom prst="line">
            <a:avLst/>
          </a:prstGeom>
          <a:noFill/>
          <a:ln w="15875">
            <a:solidFill>
              <a:srgbClr val="1B2533"/>
            </a:solidFill>
            <a:prstDash val="solid"/>
            <a:tailEnd type="triangle"/>
          </a:ln>
        </p:spPr>
      </p:sp>
      <p:sp>
        <p:nvSpPr>
          <p:cNvPr id="16" name="Model box"/>
          <p:cNvSpPr/>
          <p:nvPr/>
        </p:nvSpPr>
        <p:spPr>
          <a:xfrm>
            <a:off x="5303520" y="1325880"/>
            <a:ext cx="3108960" cy="2514600"/>
          </a:xfrm>
          <a:prstGeom prst="rect">
            <a:avLst/>
          </a:prstGeom>
          <a:solidFill>
            <a:schemeClr val="bg1"/>
          </a:solidFill>
          <a:ln w="12700">
            <a:solidFill>
              <a:srgbClr val="98A6B5"/>
            </a:solidFill>
            <a:prstDash val="solid"/>
          </a:ln>
        </p:spPr>
      </p:sp>
      <p:sp>
        <p:nvSpPr>
          <p:cNvPr id="17"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classifier: returns a probability per range</a:t>
            </a:r>
            <a:endParaRPr lang="en-US" sz="1600" dirty="0"/>
          </a:p>
        </p:txBody>
      </p:sp>
      <p:sp>
        <p:nvSpPr>
          <p:cNvPr id="18" name="Arrow model to output"/>
          <p:cNvSpPr/>
          <p:nvPr/>
        </p:nvSpPr>
        <p:spPr>
          <a:xfrm>
            <a:off x="8458200" y="2583180"/>
            <a:ext cx="457200" cy="0"/>
          </a:xfrm>
          <a:prstGeom prst="line">
            <a:avLst/>
          </a:prstGeom>
          <a:noFill/>
          <a:ln w="15875">
            <a:solidFill>
              <a:srgbClr val="1B2533"/>
            </a:solidFill>
            <a:prstDash val="solid"/>
            <a:tailEnd type="triangle"/>
          </a:ln>
        </p:spPr>
      </p:sp>
      <p:sp>
        <p:nvSpPr>
          <p:cNvPr id="19" name="Output box"/>
          <p:cNvSpPr/>
          <p:nvPr/>
        </p:nvSpPr>
        <p:spPr>
          <a:xfrm>
            <a:off x="8961120" y="1325880"/>
            <a:ext cx="2679192" cy="2514600"/>
          </a:xfrm>
          <a:prstGeom prst="rect">
            <a:avLst/>
          </a:prstGeom>
          <a:solidFill>
            <a:schemeClr val="bg1"/>
          </a:solidFill>
          <a:ln w="12700">
            <a:solidFill>
              <a:srgbClr val="98A6B5"/>
            </a:solidFill>
            <a:prstDash val="solid"/>
          </a:ln>
        </p:spPr>
      </p:sp>
      <p:sp>
        <p:nvSpPr>
          <p:cNvPr id="20"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21" name="Text 17"/>
          <p:cNvSpPr txBox="1"/>
          <p:nvPr/>
        </p:nvSpPr>
        <p:spPr>
          <a:xfrm>
            <a:off x="548640" y="4023360"/>
            <a:ext cx="9144000" cy="274320"/>
          </a:xfrm>
          <a:prstGeom prst="rect">
            <a:avLst/>
          </a:prstGeom>
          <a:noFill/>
          <a:ln/>
        </p:spPr>
        <p:txBody>
          <a:bodyPr wrap="square" lIns="0" tIns="0" rIns="0" bIns="0" rtlCol="0" anchor="t"/>
          <a:lstStyle/>
          <a:p>
            <a:pPr indent="0" marL="0">
              <a:buNone/>
            </a:pPr>
            <a:r>
              <a:rPr lang="en-US" sz="1500" b="1" dirty="0">
                <a:solidFill>
                  <a:schemeClr val="tx2"/>
                </a:solidFill>
              </a:rPr>
              <a:t>Figure 8. Testing: hold out one campaign, train on the rest, repeat 32 times</a:t>
            </a:r>
            <a:endParaRPr lang="en-US" sz="1500" dirty="0"/>
          </a:p>
        </p:txBody>
      </p:sp>
      <p:sp>
        <p:nvSpPr>
          <p:cNvPr id="22" name="Training campaign 1"/>
          <p:cNvSpPr/>
          <p:nvPr/>
        </p:nvSpPr>
        <p:spPr>
          <a:xfrm>
            <a:off x="548640" y="4343400"/>
            <a:ext cx="246888" cy="246888"/>
          </a:xfrm>
          <a:prstGeom prst="rect">
            <a:avLst/>
          </a:prstGeom>
          <a:solidFill>
            <a:schemeClr val="accent6"/>
          </a:solidFill>
          <a:ln w="6350">
            <a:solidFill>
              <a:srgbClr val="98A6B5"/>
            </a:solidFill>
            <a:prstDash val="solid"/>
          </a:ln>
        </p:spPr>
      </p:sp>
      <p:sp>
        <p:nvSpPr>
          <p:cNvPr id="23" name="Training campaign 2"/>
          <p:cNvSpPr/>
          <p:nvPr/>
        </p:nvSpPr>
        <p:spPr>
          <a:xfrm>
            <a:off x="841248" y="4343400"/>
            <a:ext cx="246888" cy="246888"/>
          </a:xfrm>
          <a:prstGeom prst="rect">
            <a:avLst/>
          </a:prstGeom>
          <a:solidFill>
            <a:schemeClr val="accent6"/>
          </a:solidFill>
          <a:ln w="6350">
            <a:solidFill>
              <a:srgbClr val="98A6B5"/>
            </a:solidFill>
            <a:prstDash val="solid"/>
          </a:ln>
        </p:spPr>
      </p:sp>
      <p:sp>
        <p:nvSpPr>
          <p:cNvPr id="24" name="Training campaign 3"/>
          <p:cNvSpPr/>
          <p:nvPr/>
        </p:nvSpPr>
        <p:spPr>
          <a:xfrm>
            <a:off x="1133856" y="4343400"/>
            <a:ext cx="246888" cy="246888"/>
          </a:xfrm>
          <a:prstGeom prst="rect">
            <a:avLst/>
          </a:prstGeom>
          <a:solidFill>
            <a:schemeClr val="accent6"/>
          </a:solidFill>
          <a:ln w="6350">
            <a:solidFill>
              <a:srgbClr val="98A6B5"/>
            </a:solidFill>
            <a:prstDash val="solid"/>
          </a:ln>
        </p:spPr>
      </p:sp>
      <p:sp>
        <p:nvSpPr>
          <p:cNvPr id="25" name="Training campaign 4"/>
          <p:cNvSpPr/>
          <p:nvPr/>
        </p:nvSpPr>
        <p:spPr>
          <a:xfrm>
            <a:off x="1426464" y="4343400"/>
            <a:ext cx="246888" cy="246888"/>
          </a:xfrm>
          <a:prstGeom prst="rect">
            <a:avLst/>
          </a:prstGeom>
          <a:solidFill>
            <a:schemeClr val="accent6"/>
          </a:solidFill>
          <a:ln w="6350">
            <a:solidFill>
              <a:srgbClr val="98A6B5"/>
            </a:solidFill>
            <a:prstDash val="solid"/>
          </a:ln>
        </p:spPr>
      </p:sp>
      <p:sp>
        <p:nvSpPr>
          <p:cNvPr id="26" name="Training campaign 5"/>
          <p:cNvSpPr/>
          <p:nvPr/>
        </p:nvSpPr>
        <p:spPr>
          <a:xfrm>
            <a:off x="1719072" y="4343400"/>
            <a:ext cx="246888" cy="246888"/>
          </a:xfrm>
          <a:prstGeom prst="rect">
            <a:avLst/>
          </a:prstGeom>
          <a:solidFill>
            <a:schemeClr val="accent6"/>
          </a:solidFill>
          <a:ln w="6350">
            <a:solidFill>
              <a:srgbClr val="98A6B5"/>
            </a:solidFill>
            <a:prstDash val="solid"/>
          </a:ln>
        </p:spPr>
      </p:sp>
      <p:sp>
        <p:nvSpPr>
          <p:cNvPr id="27" name="Training campaign 6"/>
          <p:cNvSpPr/>
          <p:nvPr/>
        </p:nvSpPr>
        <p:spPr>
          <a:xfrm>
            <a:off x="2011680" y="4343400"/>
            <a:ext cx="246888" cy="246888"/>
          </a:xfrm>
          <a:prstGeom prst="rect">
            <a:avLst/>
          </a:prstGeom>
          <a:solidFill>
            <a:schemeClr val="accent6"/>
          </a:solidFill>
          <a:ln w="6350">
            <a:solidFill>
              <a:srgbClr val="98A6B5"/>
            </a:solidFill>
            <a:prstDash val="solid"/>
          </a:ln>
        </p:spPr>
      </p:sp>
      <p:sp>
        <p:nvSpPr>
          <p:cNvPr id="28" name="Training campaign 7"/>
          <p:cNvSpPr/>
          <p:nvPr/>
        </p:nvSpPr>
        <p:spPr>
          <a:xfrm>
            <a:off x="2304288" y="4343400"/>
            <a:ext cx="246888" cy="246888"/>
          </a:xfrm>
          <a:prstGeom prst="rect">
            <a:avLst/>
          </a:prstGeom>
          <a:solidFill>
            <a:schemeClr val="accent6"/>
          </a:solidFill>
          <a:ln w="6350">
            <a:solidFill>
              <a:srgbClr val="98A6B5"/>
            </a:solidFill>
            <a:prstDash val="solid"/>
          </a:ln>
        </p:spPr>
      </p:sp>
      <p:sp>
        <p:nvSpPr>
          <p:cNvPr id="29" name="Training campaign 8"/>
          <p:cNvSpPr/>
          <p:nvPr/>
        </p:nvSpPr>
        <p:spPr>
          <a:xfrm>
            <a:off x="2596896" y="4343400"/>
            <a:ext cx="246888" cy="246888"/>
          </a:xfrm>
          <a:prstGeom prst="rect">
            <a:avLst/>
          </a:prstGeom>
          <a:solidFill>
            <a:schemeClr val="accent6"/>
          </a:solidFill>
          <a:ln w="6350">
            <a:solidFill>
              <a:srgbClr val="98A6B5"/>
            </a:solidFill>
            <a:prstDash val="solid"/>
          </a:ln>
        </p:spPr>
      </p:sp>
      <p:sp>
        <p:nvSpPr>
          <p:cNvPr id="30" name="Training campaign 9"/>
          <p:cNvSpPr/>
          <p:nvPr/>
        </p:nvSpPr>
        <p:spPr>
          <a:xfrm>
            <a:off x="2889504" y="4343400"/>
            <a:ext cx="246888" cy="246888"/>
          </a:xfrm>
          <a:prstGeom prst="rect">
            <a:avLst/>
          </a:prstGeom>
          <a:solidFill>
            <a:schemeClr val="accent6"/>
          </a:solidFill>
          <a:ln w="6350">
            <a:solidFill>
              <a:srgbClr val="98A6B5"/>
            </a:solidFill>
            <a:prstDash val="solid"/>
          </a:ln>
        </p:spPr>
      </p:sp>
      <p:sp>
        <p:nvSpPr>
          <p:cNvPr id="31" name="Training campaign 10"/>
          <p:cNvSpPr/>
          <p:nvPr/>
        </p:nvSpPr>
        <p:spPr>
          <a:xfrm>
            <a:off x="3182112" y="4343400"/>
            <a:ext cx="246888" cy="246888"/>
          </a:xfrm>
          <a:prstGeom prst="rect">
            <a:avLst/>
          </a:prstGeom>
          <a:solidFill>
            <a:schemeClr val="accent6"/>
          </a:solidFill>
          <a:ln w="6350">
            <a:solidFill>
              <a:srgbClr val="98A6B5"/>
            </a:solidFill>
            <a:prstDash val="solid"/>
          </a:ln>
        </p:spPr>
      </p:sp>
      <p:sp>
        <p:nvSpPr>
          <p:cNvPr id="32" name="Training campaign 11"/>
          <p:cNvSpPr/>
          <p:nvPr/>
        </p:nvSpPr>
        <p:spPr>
          <a:xfrm>
            <a:off x="3474720" y="4343400"/>
            <a:ext cx="246888" cy="246888"/>
          </a:xfrm>
          <a:prstGeom prst="rect">
            <a:avLst/>
          </a:prstGeom>
          <a:solidFill>
            <a:schemeClr val="accent6"/>
          </a:solidFill>
          <a:ln w="6350">
            <a:solidFill>
              <a:srgbClr val="98A6B5"/>
            </a:solidFill>
            <a:prstDash val="solid"/>
          </a:ln>
        </p:spPr>
      </p:sp>
      <p:sp>
        <p:nvSpPr>
          <p:cNvPr id="33" name="Training campaign 12"/>
          <p:cNvSpPr/>
          <p:nvPr/>
        </p:nvSpPr>
        <p:spPr>
          <a:xfrm>
            <a:off x="3767328" y="4343400"/>
            <a:ext cx="246888" cy="246888"/>
          </a:xfrm>
          <a:prstGeom prst="rect">
            <a:avLst/>
          </a:prstGeom>
          <a:solidFill>
            <a:schemeClr val="accent6"/>
          </a:solidFill>
          <a:ln w="6350">
            <a:solidFill>
              <a:srgbClr val="98A6B5"/>
            </a:solidFill>
            <a:prstDash val="solid"/>
          </a:ln>
        </p:spPr>
      </p:sp>
      <p:sp>
        <p:nvSpPr>
          <p:cNvPr id="34" name="Training campaign 13"/>
          <p:cNvSpPr/>
          <p:nvPr/>
        </p:nvSpPr>
        <p:spPr>
          <a:xfrm>
            <a:off x="4059936" y="4343400"/>
            <a:ext cx="246888" cy="246888"/>
          </a:xfrm>
          <a:prstGeom prst="rect">
            <a:avLst/>
          </a:prstGeom>
          <a:solidFill>
            <a:schemeClr val="accent6"/>
          </a:solidFill>
          <a:ln w="6350">
            <a:solidFill>
              <a:srgbClr val="98A6B5"/>
            </a:solidFill>
            <a:prstDash val="solid"/>
          </a:ln>
        </p:spPr>
      </p:sp>
      <p:sp>
        <p:nvSpPr>
          <p:cNvPr id="35" name="Test campaign"/>
          <p:cNvSpPr/>
          <p:nvPr/>
        </p:nvSpPr>
        <p:spPr>
          <a:xfrm>
            <a:off x="4352544" y="4343400"/>
            <a:ext cx="246888" cy="246888"/>
          </a:xfrm>
          <a:prstGeom prst="rect">
            <a:avLst/>
          </a:prstGeom>
          <a:solidFill>
            <a:schemeClr val="accent1"/>
          </a:solidFill>
          <a:ln w="6350">
            <a:solidFill>
              <a:srgbClr val="C1440E"/>
            </a:solidFill>
            <a:prstDash val="solid"/>
          </a:ln>
        </p:spPr>
      </p:sp>
      <p:sp>
        <p:nvSpPr>
          <p:cNvPr id="36" name="Training campaign 15"/>
          <p:cNvSpPr/>
          <p:nvPr/>
        </p:nvSpPr>
        <p:spPr>
          <a:xfrm>
            <a:off x="4645152" y="4343400"/>
            <a:ext cx="246888" cy="246888"/>
          </a:xfrm>
          <a:prstGeom prst="rect">
            <a:avLst/>
          </a:prstGeom>
          <a:solidFill>
            <a:schemeClr val="accent6"/>
          </a:solidFill>
          <a:ln w="6350">
            <a:solidFill>
              <a:srgbClr val="98A6B5"/>
            </a:solidFill>
            <a:prstDash val="solid"/>
          </a:ln>
        </p:spPr>
      </p:sp>
      <p:sp>
        <p:nvSpPr>
          <p:cNvPr id="37" name="Training campaign 16"/>
          <p:cNvSpPr/>
          <p:nvPr/>
        </p:nvSpPr>
        <p:spPr>
          <a:xfrm>
            <a:off x="4937760" y="4343400"/>
            <a:ext cx="246888" cy="246888"/>
          </a:xfrm>
          <a:prstGeom prst="rect">
            <a:avLst/>
          </a:prstGeom>
          <a:solidFill>
            <a:schemeClr val="accent6"/>
          </a:solidFill>
          <a:ln w="6350">
            <a:solidFill>
              <a:srgbClr val="98A6B5"/>
            </a:solidFill>
            <a:prstDash val="solid"/>
          </a:ln>
        </p:spPr>
      </p:sp>
      <p:sp>
        <p:nvSpPr>
          <p:cNvPr id="38" name="Training campaign 17"/>
          <p:cNvSpPr/>
          <p:nvPr/>
        </p:nvSpPr>
        <p:spPr>
          <a:xfrm>
            <a:off x="5230368" y="4343400"/>
            <a:ext cx="246888" cy="246888"/>
          </a:xfrm>
          <a:prstGeom prst="rect">
            <a:avLst/>
          </a:prstGeom>
          <a:solidFill>
            <a:schemeClr val="accent6"/>
          </a:solidFill>
          <a:ln w="6350">
            <a:solidFill>
              <a:srgbClr val="98A6B5"/>
            </a:solidFill>
            <a:prstDash val="solid"/>
          </a:ln>
        </p:spPr>
      </p:sp>
      <p:sp>
        <p:nvSpPr>
          <p:cNvPr id="39" name="Training campaign 18"/>
          <p:cNvSpPr/>
          <p:nvPr/>
        </p:nvSpPr>
        <p:spPr>
          <a:xfrm>
            <a:off x="5522976" y="4343400"/>
            <a:ext cx="246888" cy="246888"/>
          </a:xfrm>
          <a:prstGeom prst="rect">
            <a:avLst/>
          </a:prstGeom>
          <a:solidFill>
            <a:schemeClr val="accent6"/>
          </a:solidFill>
          <a:ln w="6350">
            <a:solidFill>
              <a:srgbClr val="98A6B5"/>
            </a:solidFill>
            <a:prstDash val="solid"/>
          </a:ln>
        </p:spPr>
      </p:sp>
      <p:sp>
        <p:nvSpPr>
          <p:cNvPr id="40" name="Training campaign 19"/>
          <p:cNvSpPr/>
          <p:nvPr/>
        </p:nvSpPr>
        <p:spPr>
          <a:xfrm>
            <a:off x="5815584" y="4343400"/>
            <a:ext cx="246888" cy="246888"/>
          </a:xfrm>
          <a:prstGeom prst="rect">
            <a:avLst/>
          </a:prstGeom>
          <a:solidFill>
            <a:schemeClr val="accent6"/>
          </a:solidFill>
          <a:ln w="6350">
            <a:solidFill>
              <a:srgbClr val="98A6B5"/>
            </a:solidFill>
            <a:prstDash val="solid"/>
          </a:ln>
        </p:spPr>
      </p:sp>
      <p:sp>
        <p:nvSpPr>
          <p:cNvPr id="41" name="Training campaign 20"/>
          <p:cNvSpPr/>
          <p:nvPr/>
        </p:nvSpPr>
        <p:spPr>
          <a:xfrm>
            <a:off x="6108192" y="4343400"/>
            <a:ext cx="246888" cy="246888"/>
          </a:xfrm>
          <a:prstGeom prst="rect">
            <a:avLst/>
          </a:prstGeom>
          <a:solidFill>
            <a:schemeClr val="accent6"/>
          </a:solidFill>
          <a:ln w="6350">
            <a:solidFill>
              <a:srgbClr val="98A6B5"/>
            </a:solidFill>
            <a:prstDash val="solid"/>
          </a:ln>
        </p:spPr>
      </p:sp>
      <p:sp>
        <p:nvSpPr>
          <p:cNvPr id="42" name="Training campaign 21"/>
          <p:cNvSpPr/>
          <p:nvPr/>
        </p:nvSpPr>
        <p:spPr>
          <a:xfrm>
            <a:off x="6400800" y="4343400"/>
            <a:ext cx="246888" cy="246888"/>
          </a:xfrm>
          <a:prstGeom prst="rect">
            <a:avLst/>
          </a:prstGeom>
          <a:solidFill>
            <a:schemeClr val="accent6"/>
          </a:solidFill>
          <a:ln w="6350">
            <a:solidFill>
              <a:srgbClr val="98A6B5"/>
            </a:solidFill>
            <a:prstDash val="solid"/>
          </a:ln>
        </p:spPr>
      </p:sp>
      <p:sp>
        <p:nvSpPr>
          <p:cNvPr id="43" name="Training campaign 22"/>
          <p:cNvSpPr/>
          <p:nvPr/>
        </p:nvSpPr>
        <p:spPr>
          <a:xfrm>
            <a:off x="6693408" y="4343400"/>
            <a:ext cx="246888" cy="246888"/>
          </a:xfrm>
          <a:prstGeom prst="rect">
            <a:avLst/>
          </a:prstGeom>
          <a:solidFill>
            <a:schemeClr val="accent6"/>
          </a:solidFill>
          <a:ln w="6350">
            <a:solidFill>
              <a:srgbClr val="98A6B5"/>
            </a:solidFill>
            <a:prstDash val="solid"/>
          </a:ln>
        </p:spPr>
      </p:sp>
      <p:sp>
        <p:nvSpPr>
          <p:cNvPr id="44" name="Training campaign 23"/>
          <p:cNvSpPr/>
          <p:nvPr/>
        </p:nvSpPr>
        <p:spPr>
          <a:xfrm>
            <a:off x="6986016" y="4343400"/>
            <a:ext cx="246888" cy="246888"/>
          </a:xfrm>
          <a:prstGeom prst="rect">
            <a:avLst/>
          </a:prstGeom>
          <a:solidFill>
            <a:schemeClr val="accent6"/>
          </a:solidFill>
          <a:ln w="6350">
            <a:solidFill>
              <a:srgbClr val="98A6B5"/>
            </a:solidFill>
            <a:prstDash val="solid"/>
          </a:ln>
        </p:spPr>
      </p:sp>
      <p:sp>
        <p:nvSpPr>
          <p:cNvPr id="45" name="Training campaign 24"/>
          <p:cNvSpPr/>
          <p:nvPr/>
        </p:nvSpPr>
        <p:spPr>
          <a:xfrm>
            <a:off x="7278624" y="4343400"/>
            <a:ext cx="246888" cy="246888"/>
          </a:xfrm>
          <a:prstGeom prst="rect">
            <a:avLst/>
          </a:prstGeom>
          <a:solidFill>
            <a:schemeClr val="accent6"/>
          </a:solidFill>
          <a:ln w="6350">
            <a:solidFill>
              <a:srgbClr val="98A6B5"/>
            </a:solidFill>
            <a:prstDash val="solid"/>
          </a:ln>
        </p:spPr>
      </p:sp>
      <p:sp>
        <p:nvSpPr>
          <p:cNvPr id="46" name="Training campaign 25"/>
          <p:cNvSpPr/>
          <p:nvPr/>
        </p:nvSpPr>
        <p:spPr>
          <a:xfrm>
            <a:off x="7571232" y="4343400"/>
            <a:ext cx="246888" cy="246888"/>
          </a:xfrm>
          <a:prstGeom prst="rect">
            <a:avLst/>
          </a:prstGeom>
          <a:solidFill>
            <a:schemeClr val="accent6"/>
          </a:solidFill>
          <a:ln w="6350">
            <a:solidFill>
              <a:srgbClr val="98A6B5"/>
            </a:solidFill>
            <a:prstDash val="solid"/>
          </a:ln>
        </p:spPr>
      </p:sp>
      <p:sp>
        <p:nvSpPr>
          <p:cNvPr id="47" name="Training campaign 26"/>
          <p:cNvSpPr/>
          <p:nvPr/>
        </p:nvSpPr>
        <p:spPr>
          <a:xfrm>
            <a:off x="7863840" y="4343400"/>
            <a:ext cx="246888" cy="246888"/>
          </a:xfrm>
          <a:prstGeom prst="rect">
            <a:avLst/>
          </a:prstGeom>
          <a:solidFill>
            <a:schemeClr val="accent6"/>
          </a:solidFill>
          <a:ln w="6350">
            <a:solidFill>
              <a:srgbClr val="98A6B5"/>
            </a:solidFill>
            <a:prstDash val="solid"/>
          </a:ln>
        </p:spPr>
      </p:sp>
      <p:sp>
        <p:nvSpPr>
          <p:cNvPr id="48" name="Training campaign 27"/>
          <p:cNvSpPr/>
          <p:nvPr/>
        </p:nvSpPr>
        <p:spPr>
          <a:xfrm>
            <a:off x="8156448" y="4343400"/>
            <a:ext cx="246888" cy="246888"/>
          </a:xfrm>
          <a:prstGeom prst="rect">
            <a:avLst/>
          </a:prstGeom>
          <a:solidFill>
            <a:schemeClr val="accent6"/>
          </a:solidFill>
          <a:ln w="6350">
            <a:solidFill>
              <a:srgbClr val="98A6B5"/>
            </a:solidFill>
            <a:prstDash val="solid"/>
          </a:ln>
        </p:spPr>
      </p:sp>
      <p:sp>
        <p:nvSpPr>
          <p:cNvPr id="49" name="Training campaign 28"/>
          <p:cNvSpPr/>
          <p:nvPr/>
        </p:nvSpPr>
        <p:spPr>
          <a:xfrm>
            <a:off x="8449056" y="4343400"/>
            <a:ext cx="246888" cy="246888"/>
          </a:xfrm>
          <a:prstGeom prst="rect">
            <a:avLst/>
          </a:prstGeom>
          <a:solidFill>
            <a:schemeClr val="accent6"/>
          </a:solidFill>
          <a:ln w="6350">
            <a:solidFill>
              <a:srgbClr val="98A6B5"/>
            </a:solidFill>
            <a:prstDash val="solid"/>
          </a:ln>
        </p:spPr>
      </p:sp>
      <p:sp>
        <p:nvSpPr>
          <p:cNvPr id="50" name="Training campaign 29"/>
          <p:cNvSpPr/>
          <p:nvPr/>
        </p:nvSpPr>
        <p:spPr>
          <a:xfrm>
            <a:off x="8741664" y="4343400"/>
            <a:ext cx="246888" cy="246888"/>
          </a:xfrm>
          <a:prstGeom prst="rect">
            <a:avLst/>
          </a:prstGeom>
          <a:solidFill>
            <a:schemeClr val="accent6"/>
          </a:solidFill>
          <a:ln w="6350">
            <a:solidFill>
              <a:srgbClr val="98A6B5"/>
            </a:solidFill>
            <a:prstDash val="solid"/>
          </a:ln>
        </p:spPr>
      </p:sp>
      <p:sp>
        <p:nvSpPr>
          <p:cNvPr id="51" name="Training campaign 30"/>
          <p:cNvSpPr/>
          <p:nvPr/>
        </p:nvSpPr>
        <p:spPr>
          <a:xfrm>
            <a:off x="9034272" y="4343400"/>
            <a:ext cx="246888" cy="246888"/>
          </a:xfrm>
          <a:prstGeom prst="rect">
            <a:avLst/>
          </a:prstGeom>
          <a:solidFill>
            <a:schemeClr val="accent6"/>
          </a:solidFill>
          <a:ln w="6350">
            <a:solidFill>
              <a:srgbClr val="98A6B5"/>
            </a:solidFill>
            <a:prstDash val="solid"/>
          </a:ln>
        </p:spPr>
      </p:sp>
      <p:sp>
        <p:nvSpPr>
          <p:cNvPr id="52" name="Training campaign 31"/>
          <p:cNvSpPr/>
          <p:nvPr/>
        </p:nvSpPr>
        <p:spPr>
          <a:xfrm>
            <a:off x="9326880" y="4343400"/>
            <a:ext cx="246888" cy="246888"/>
          </a:xfrm>
          <a:prstGeom prst="rect">
            <a:avLst/>
          </a:prstGeom>
          <a:solidFill>
            <a:schemeClr val="accent6"/>
          </a:solidFill>
          <a:ln w="6350">
            <a:solidFill>
              <a:srgbClr val="98A6B5"/>
            </a:solidFill>
            <a:prstDash val="solid"/>
          </a:ln>
        </p:spPr>
      </p:sp>
      <p:sp>
        <p:nvSpPr>
          <p:cNvPr id="53" name="Training campaign 32"/>
          <p:cNvSpPr/>
          <p:nvPr/>
        </p:nvSpPr>
        <p:spPr>
          <a:xfrm>
            <a:off x="9619488" y="4343400"/>
            <a:ext cx="246888" cy="246888"/>
          </a:xfrm>
          <a:prstGeom prst="rect">
            <a:avLst/>
          </a:prstGeom>
          <a:solidFill>
            <a:schemeClr val="accent6"/>
          </a:solidFill>
          <a:ln w="6350">
            <a:solidFill>
              <a:srgbClr val="98A6B5"/>
            </a:solidFill>
            <a:prstDash val="solid"/>
          </a:ln>
        </p:spPr>
      </p:sp>
      <p:sp>
        <p:nvSpPr>
          <p:cNvPr id="54"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Orange: the held-out test campaign.</a:t>
            </a:r>
            <a:endParaRPr lang="en-US" sz="1400" dirty="0"/>
          </a:p>
        </p:txBody>
      </p:sp>
      <p:sp>
        <p:nvSpPr>
          <p:cNvPr id="55"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Rows of one campaign share volunteers, so whole campaigns are held out. The 346 modelling rows come from 32 of the 36 campaigns.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LLM-based probabilistic classifier: input and output</a:t>
            </a:r>
            <a:endParaRPr lang="en-US" sz="2800" dirty="0"/>
          </a:p>
        </p:txBody>
      </p:sp>
      <p:sp>
        <p:nvSpPr>
          <p:cNvPr id="13" name="Request box"/>
          <p:cNvSpPr/>
          <p:nvPr/>
        </p:nvSpPr>
        <p:spPr>
          <a:xfrm>
            <a:off x="548640" y="1234440"/>
            <a:ext cx="4846320" cy="4160520"/>
          </a:xfrm>
          <a:prstGeom prst="rect">
            <a:avLst/>
          </a:prstGeom>
          <a:solidFill>
            <a:schemeClr val="bg1"/>
          </a:solidFill>
          <a:ln w="12700">
            <a:solidFill>
              <a:srgbClr val="98A6B5"/>
            </a:solidFill>
            <a:prstDash val="solid"/>
          </a:ln>
        </p:spPr>
      </p:sp>
      <p:sp>
        <p:nvSpPr>
          <p:cNvPr id="14"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5" name="Arrow request to LLM"/>
          <p:cNvSpPr/>
          <p:nvPr/>
        </p:nvSpPr>
        <p:spPr>
          <a:xfrm>
            <a:off x="5486400" y="3383280"/>
            <a:ext cx="457200" cy="0"/>
          </a:xfrm>
          <a:prstGeom prst="line">
            <a:avLst/>
          </a:prstGeom>
          <a:noFill/>
          <a:ln w="15875">
            <a:solidFill>
              <a:srgbClr val="1B2533"/>
            </a:solidFill>
            <a:prstDash val="solid"/>
            <a:tailEnd type="triangle"/>
          </a:ln>
        </p:spPr>
      </p:sp>
      <p:sp>
        <p:nvSpPr>
          <p:cNvPr id="16" name="LLM box"/>
          <p:cNvSpPr/>
          <p:nvPr/>
        </p:nvSpPr>
        <p:spPr>
          <a:xfrm>
            <a:off x="5989320" y="2788920"/>
            <a:ext cx="1234440" cy="1188720"/>
          </a:xfrm>
          <a:prstGeom prst="rect">
            <a:avLst/>
          </a:prstGeom>
          <a:solidFill>
            <a:schemeClr val="bg2"/>
          </a:solidFill>
          <a:ln w="12700">
            <a:solidFill>
              <a:srgbClr val="98A6B5"/>
            </a:solidFill>
            <a:prstDash val="solid"/>
          </a:ln>
        </p:spPr>
      </p:sp>
      <p:sp>
        <p:nvSpPr>
          <p:cNvPr id="17"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400" b="1" dirty="0">
                <a:solidFill>
                  <a:schemeClr val="tx2"/>
                </a:solidFill>
              </a:rPr>
              <a:t>classifier</a:t>
            </a:r>
            <a:endParaRPr lang="en-US" sz="1600" dirty="0"/>
          </a:p>
          <a:p>
            <a:pPr algn="ctr" indent="0" marL="0">
              <a:buNone/>
            </a:pPr>
            <a:r>
              <a:rPr lang="en-US" sz="1100" dirty="0">
                <a:solidFill>
                  <a:schemeClr val="accent3"/>
                </a:solidFill>
              </a:rPr>
              <a:t>fixed version</a:t>
            </a:r>
            <a:endParaRPr lang="en-US" sz="1600" dirty="0"/>
          </a:p>
        </p:txBody>
      </p:sp>
      <p:sp>
        <p:nvSpPr>
          <p:cNvPr id="18" name="Arrow LLM to answer"/>
          <p:cNvSpPr/>
          <p:nvPr/>
        </p:nvSpPr>
        <p:spPr>
          <a:xfrm>
            <a:off x="7269480" y="3383280"/>
            <a:ext cx="457200" cy="0"/>
          </a:xfrm>
          <a:prstGeom prst="line">
            <a:avLst/>
          </a:prstGeom>
          <a:noFill/>
          <a:ln w="15875">
            <a:solidFill>
              <a:srgbClr val="1B2533"/>
            </a:solidFill>
            <a:prstDash val="solid"/>
            <a:tailEnd type="triangle"/>
          </a:ln>
        </p:spPr>
      </p:sp>
      <p:sp>
        <p:nvSpPr>
          <p:cNvPr id="19" name="Text 15"/>
          <p:cNvSpPr txBox="1"/>
          <p:nvPr/>
        </p:nvSpPr>
        <p:spPr>
          <a:xfrm>
            <a:off x="5486400" y="4069080"/>
            <a:ext cx="2240280" cy="1188720"/>
          </a:xfrm>
          <a:prstGeom prst="rect">
            <a:avLst/>
          </a:prstGeom>
          <a:noFill/>
          <a:ln/>
        </p:spPr>
        <p:txBody>
          <a:bodyPr wrap="square" lIns="0" tIns="0" rIns="0" bIns="0" rtlCol="0" anchor="t"/>
          <a:lstStyle/>
          <a:p>
            <a:pPr algn="ctr" indent="0" marL="0">
              <a:buNone/>
            </a:pPr>
            <a:r>
              <a:rPr lang="en-US" sz="1100" i="1" dirty="0">
                <a:solidFill>
                  <a:schemeClr val="accent3"/>
                </a:solidFill>
              </a:rPr>
              <a:t>A classifier: it returns one probability per listed option and never writes text.</a:t>
            </a:r>
            <a:endParaRPr lang="en-US" sz="1100" dirty="0"/>
          </a:p>
        </p:txBody>
      </p:sp>
      <p:graphicFrame>
        <p:nvGraphicFramePr>
          <p:cNvPr id="20"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Prediction −6.6%: range midpoints weighted by probability (open ends −31% and +5%)</a:t>
            </a:r>
            <a:endParaRPr lang="en-US" sz="1300" dirty="0"/>
          </a:p>
          <a:p>
            <a:pPr marL="342900" indent="-342900">
              <a:spcAft>
                <a:spcPts val="400"/>
              </a:spcAft>
              <a:buSzPct val="100000"/>
              <a:buChar char="•"/>
            </a:pPr>
            <a:r>
              <a:rPr lang="en-US" sz="1300" dirty="0">
                <a:solidFill>
                  <a:schemeClr val="tx1"/>
                </a:solidFill>
              </a:rPr>
              <a:t>Measured −9.4%: error 2.8 pp, the median error</a:t>
            </a:r>
            <a:endParaRPr lang="en-US" sz="1300" dirty="0"/>
          </a:p>
        </p:txBody>
      </p:sp>
      <p:sp>
        <p:nvSpPr>
          <p:cNvPr id="22" name="Text 17"/>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and every result rebuilds from them.</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Model comparison on held-out campaigns</a:t>
            </a:r>
            <a:endParaRPr lang="en-US" sz="2800" dirty="0"/>
          </a:p>
        </p:txBody>
      </p:sp>
      <p:graphicFrame>
        <p:nvGraphicFramePr>
          <p:cNvPr id="13" name="MAE chart with LLM" descr=""/>
          <p:cNvGraphicFramePr/>
          <p:nvPr/>
        </p:nvGraphicFramePr>
        <p:xfrm>
          <a:off x="457200" y="1188720"/>
          <a:ext cx="5669280" cy="3429000"/>
        </p:xfrm>
        <a:graphic xmlns:a="http://schemas.openxmlformats.org/drawingml/2006/main">
          <a:graphicData uri="http://schemas.openxmlformats.org/drawingml/2006/chart">
            <c:chart xmlns:c="http://schemas.openxmlformats.org/drawingml/2006/chart" r:id="rId3"/>
          </a:graphicData>
        </a:graphic>
      </p:graphicFrame>
      <p:graphicFrame>
        <p:nvGraphicFramePr>
          <p:cNvPr id="14" name="R2 chart with LLM" descr=""/>
          <p:cNvGraphicFramePr/>
          <p:nvPr/>
        </p:nvGraphicFramePr>
        <p:xfrm>
          <a:off x="6309360" y="1188720"/>
          <a:ext cx="5394960" cy="3429000"/>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548640" y="4681728"/>
            <a:ext cx="1106424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ML models explain more variance (R² 0.27 to 0.39), but none has lower error than the curve.</a:t>
            </a:r>
            <a:endParaRPr lang="en-US" sz="1400" dirty="0"/>
          </a:p>
          <a:p>
            <a:pPr marL="342900" indent="-342900">
              <a:spcAft>
                <a:spcPts val="400"/>
              </a:spcAft>
              <a:buSzPct val="100000"/>
              <a:buChar char="•"/>
            </a:pPr>
            <a:r>
              <a:rPr lang="en-US" sz="1400" dirty="0">
                <a:solidFill>
                  <a:schemeClr val="tx1"/>
                </a:solidFill>
              </a:rPr>
              <a:t>LLM vs curve, scored the same way: 2.71 vs 3.13 pp, so 0.42 pp smaller; closer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entirely above zero.</a:t>
            </a:r>
            <a:endParaRPr lang="en-US" sz="1400" dirty="0"/>
          </a:p>
        </p:txBody>
      </p:sp>
      <p:sp>
        <p:nvSpPr>
          <p:cNvPr id="16"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In the paired comparison the curve is scored exactly as the LLM is, which gives 3.13 pp instead of 3.16.</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Robustness and validity checks of the LLM prediction</a:t>
            </a:r>
            <a:endParaRPr lang="en-US" sz="2800" dirty="0"/>
          </a:p>
        </p:txBody>
      </p:sp>
      <p:sp>
        <p:nvSpPr>
          <p:cNvPr id="13"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reduction in error against the curve, in pp (full result 0.42). Each check and its pass rule were fixed before it was run.</a:t>
            </a:r>
            <a:endParaRPr lang="en-US" sz="1300" dirty="0"/>
          </a:p>
        </p:txBody>
      </p:sp>
      <p:sp>
        <p:nvSpPr>
          <p:cNvPr id="14"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Recognition of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Use of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5"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Sensitivity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Reproducibility</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below the 0.42 pp gain</a:t>
            </a:r>
            <a:endParaRPr lang="en-US" sz="1600" dirty="0"/>
          </a:p>
        </p:txBody>
      </p:sp>
      <p:sp>
        <p:nvSpPr>
          <p:cNvPr id="16"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428732" y="6432804"/>
            <a:ext cx="118872" cy="118872"/>
          </a:xfrm>
          <a:prstGeom prst="ellipse">
            <a:avLst/>
          </a:prstGeom>
          <a:solidFill>
            <a:schemeClr val="tx2"/>
          </a:solidFill>
          <a:ln w="9525">
            <a:solidFill>
              <a:srgbClr val="0B2545"/>
            </a:solidFill>
            <a:prstDash val="solid"/>
          </a:ln>
        </p:spPr>
      </p:sp>
      <p:sp>
        <p:nvSpPr>
          <p:cNvPr id="10" name="Tracker 6 Conclusion"/>
          <p:cNvSpPr/>
          <p:nvPr/>
        </p:nvSpPr>
        <p:spPr>
          <a:xfrm>
            <a:off x="10725912" y="6382512"/>
            <a:ext cx="219456" cy="219456"/>
          </a:xfrm>
          <a:prstGeom prst="ellipse">
            <a:avLst/>
          </a:prstGeom>
          <a:solidFill>
            <a:schemeClr val="accent1"/>
          </a:solidFill>
          <a:ln w="9525">
            <a:solidFill>
              <a:srgbClr val="C1440E"/>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3" name="Text 9"/>
          <p:cNvSpPr txBox="1"/>
          <p:nvPr/>
        </p:nvSpPr>
        <p:spPr>
          <a:xfrm>
            <a:off x="54864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ML models do not beat a duration-only curve (3.18 vs 3.16 pp)</a:t>
            </a:r>
            <a:endParaRPr lang="en-US" sz="2000" dirty="0"/>
          </a:p>
          <a:p>
            <a:pPr marL="342900" indent="-342900">
              <a:spcAft>
                <a:spcPts val="400"/>
              </a:spcAft>
              <a:buSzPct val="100000"/>
              <a:buChar char="•"/>
            </a:pPr>
            <a:r>
              <a:rPr lang="en-US" sz="1800" dirty="0">
                <a:solidFill>
                  <a:schemeClr val="tx1"/>
                </a:solidFill>
              </a:rPr>
              <a:t>The LLM classifier lowers the error to 2.71 pp (curve 3.13 pp)</a:t>
            </a:r>
            <a:endParaRPr lang="en-US" sz="2000" dirty="0"/>
          </a:p>
        </p:txBody>
      </p:sp>
      <p:sp>
        <p:nvSpPr>
          <p:cNvPr id="14" name="Text 10"/>
          <p:cNvSpPr txBox="1"/>
          <p:nvPr/>
        </p:nvSpPr>
        <p:spPr>
          <a:xfrm>
            <a:off x="630936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32 independent campaigns, mostly young men</a:t>
            </a:r>
            <a:endParaRPr lang="en-US" sz="2000" dirty="0"/>
          </a:p>
          <a:p>
            <a:pPr marL="342900" indent="-342900">
              <a:spcAft>
                <a:spcPts val="400"/>
              </a:spcAft>
              <a:buSzPct val="100000"/>
              <a:buChar char="•"/>
            </a:pPr>
            <a:r>
              <a:rPr lang="en-US" sz="1800" dirty="0">
                <a:solidFill>
                  <a:schemeClr val="tx1"/>
                </a:solidFill>
              </a:rPr>
              <a:t>No bed-rest data beyond day 119</a:t>
            </a:r>
            <a:endParaRPr lang="en-US" sz="2000" dirty="0"/>
          </a:p>
          <a:p>
            <a:pPr marL="342900" indent="-342900">
              <a:spcAft>
                <a:spcPts val="400"/>
              </a:spcAft>
              <a:buSzPct val="100000"/>
              <a:buChar char="•"/>
            </a:pPr>
            <a:r>
              <a:rPr lang="en-US" sz="1800" dirty="0">
                <a:solidFill>
                  <a:schemeClr val="tx1"/>
                </a:solidFill>
              </a:rPr>
              <a:t>Group averages, not individual astronauts</a:t>
            </a:r>
            <a:endParaRPr lang="en-US" sz="2000" dirty="0"/>
          </a:p>
          <a:p>
            <a:pPr marL="342900" indent="-342900">
              <a:spcAft>
                <a:spcPts val="400"/>
              </a:spcAft>
              <a:buSzPct val="100000"/>
              <a:buChar char="•"/>
            </a:pPr>
            <a:r>
              <a:rPr lang="en-US" sz="1800" dirty="0">
                <a:solidFill>
                  <a:schemeClr val="tx1"/>
                </a:solidFill>
              </a:rPr>
              <a:t>Bed rest is not spaceflight</a:t>
            </a:r>
            <a:endParaRPr lang="en-US" sz="2000" dirty="0"/>
          </a:p>
        </p:txBody>
      </p:sp>
      <p:sp>
        <p:nvSpPr>
          <p:cNvPr id="15" name="Divider"/>
          <p:cNvSpPr/>
          <p:nvPr/>
        </p:nvSpPr>
        <p:spPr>
          <a:xfrm>
            <a:off x="548640" y="3840480"/>
            <a:ext cx="11064240" cy="0"/>
          </a:xfrm>
          <a:prstGeom prst="line">
            <a:avLst/>
          </a:prstGeom>
          <a:noFill/>
          <a:ln w="9525">
            <a:solidFill>
              <a:srgbClr val="98A6B5"/>
            </a:solidFill>
            <a:prstDash val="solid"/>
          </a:ln>
        </p:spPr>
      </p:sp>
      <p:sp>
        <p:nvSpPr>
          <p:cNvPr id="16" name="Text 12"/>
          <p:cNvSpPr txBox="1"/>
          <p:nvPr/>
        </p:nvSpPr>
        <p:spPr>
          <a:xfrm>
            <a:off x="548640" y="4023360"/>
            <a:ext cx="11064240" cy="210312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600" dirty="0">
                <a:solidFill>
                  <a:schemeClr val="tx1"/>
                </a:solidFill>
              </a:rPr>
              <a:t>Muscle-specific modelling: estimate each muscle's susceptibility and combine it with baseline volumes into total lower-limb volume loss</a:t>
            </a:r>
            <a:endParaRPr lang="en-US" sz="2000" dirty="0"/>
          </a:p>
          <a:p>
            <a:pPr marL="342900" indent="-342900">
              <a:spcAft>
                <a:spcPts val="400"/>
              </a:spcAft>
              <a:buSzPct val="100000"/>
              <a:buChar char="•"/>
            </a:pPr>
            <a:r>
              <a:rPr lang="en-US" sz="1600" dirty="0">
                <a:solidFill>
                  <a:schemeClr val="tx1"/>
                </a:solidFill>
              </a:rPr>
              <a:t>Individual and functional prediction: participant-level data over time, linked to strength and function</a:t>
            </a:r>
            <a:endParaRPr lang="en-US" sz="2000" dirty="0"/>
          </a:p>
          <a:p>
            <a:pPr marL="342900" indent="-342900">
              <a:spcAft>
                <a:spcPts val="400"/>
              </a:spcAft>
              <a:buSzPct val="100000"/>
              <a:buChar char="•"/>
            </a:pPr>
            <a:r>
              <a:rPr lang="en-US" sz="1600" dirty="0">
                <a:solidFill>
                  <a:schemeClr val="tx1"/>
                </a:solidFill>
              </a:rPr>
              <a:t>Validation on independent campaigns and spaceflight data before any personal risk-assessment tool</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2"/>
          <a:stretch>
            <a:fillRect/>
          </a:stretch>
        </p:blipFill>
        <p:spPr>
          <a:xfrm>
            <a:off x="822960" y="548640"/>
            <a:ext cx="2926080" cy="786581"/>
          </a:xfrm>
          <a:prstGeom prst="rect">
            <a:avLst/>
          </a:prstGeom>
        </p:spPr>
      </p:pic>
      <p:sp>
        <p:nvSpPr>
          <p:cNvPr id="3" name="Text 0"/>
          <p:cNvSpPr txBox="1"/>
          <p:nvPr/>
        </p:nvSpPr>
        <p:spPr>
          <a:xfrm>
            <a:off x="822960" y="1920240"/>
            <a:ext cx="8961120" cy="1737360"/>
          </a:xfrm>
          <a:prstGeom prst="rect">
            <a:avLst/>
          </a:prstGeom>
          <a:noFill/>
          <a:ln/>
        </p:spPr>
        <p:txBody>
          <a:bodyPr wrap="square" lIns="0" tIns="0" rIns="0" bIns="0" rtlCol="0" anchor="b"/>
          <a:lstStyle/>
          <a:p>
            <a:pPr indent="0" marL="0">
              <a:spcAft>
                <a:spcPts val="1000"/>
              </a:spcAft>
              <a:buNone/>
            </a:pPr>
            <a:r>
              <a:rPr lang="en-US" sz="4600" b="1" dirty="0">
                <a:solidFill>
                  <a:srgbClr val="FFFFFF"/>
                </a:solidFill>
                <a:latin typeface="Cambria" pitchFamily="34" charset="0"/>
                <a:ea typeface="Cambria" pitchFamily="34" charset="-122"/>
                <a:cs typeface="Cambria" pitchFamily="34" charset="-120"/>
              </a:rPr>
              <a:t>Thank you for listening</a:t>
            </a:r>
            <a:endParaRPr lang="en-US" sz="4600" dirty="0"/>
          </a:p>
          <a:p>
            <a:pPr indent="0" marL="0">
              <a:spcAft>
                <a:spcPts val="1000"/>
              </a:spcAft>
              <a:buNone/>
            </a:pPr>
            <a:r>
              <a:rPr lang="en-US" sz="2600" b="1" dirty="0">
                <a:solidFill>
                  <a:srgbClr val="F2D0A9"/>
                </a:solidFill>
                <a:latin typeface="Cambria" pitchFamily="34" charset="0"/>
                <a:ea typeface="Cambria" pitchFamily="34" charset="-122"/>
                <a:cs typeface="Cambria" pitchFamily="34" charset="-120"/>
              </a:rPr>
              <a:t>Questions are welcome</a:t>
            </a:r>
            <a:endParaRPr lang="en-US" sz="4600" dirty="0"/>
          </a:p>
        </p:txBody>
      </p:sp>
      <p:sp>
        <p:nvSpPr>
          <p:cNvPr id="4" name="Text 1"/>
          <p:cNvSpPr txBox="1"/>
          <p:nvPr/>
        </p:nvSpPr>
        <p:spPr>
          <a:xfrm>
            <a:off x="822960" y="3931920"/>
            <a:ext cx="7680960" cy="365760"/>
          </a:xfrm>
          <a:prstGeom prst="rect">
            <a:avLst/>
          </a:prstGeom>
          <a:noFill/>
          <a:ln/>
        </p:spPr>
        <p:txBody>
          <a:bodyPr wrap="square" lIns="0" tIns="0" rIns="0" bIns="0" rtlCol="0" anchor="t"/>
          <a:lstStyle/>
          <a:p>
            <a:pPr indent="0" marL="0">
              <a:buNone/>
            </a:pPr>
            <a:r>
              <a:rPr lang="en-US" sz="1600" b="1" dirty="0">
                <a:solidFill>
                  <a:srgbClr val="F2D0A9"/>
                </a:solidFill>
              </a:rPr>
              <a:t>From Bed Rest to Mars  |  64. Jahrestagung der DGLRM</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coverage and limitations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literature search sources and query</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Table 3. Sources (searched 4 September 2026)</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Figure 12. 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8A6B5"/>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8A6B5"/>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8A6B5"/>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expansion and composition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abstract had 15 studies. Did adding 37 change the analysis after seeing data?</a:t>
            </a:r>
            <a:endParaRPr lang="en-US" sz="1500" dirty="0"/>
          </a:p>
          <a:p>
            <a:pPr marL="342900" indent="-342900">
              <a:spcAft>
                <a:spcPts val="400"/>
              </a:spcAft>
              <a:buSzPct val="100000"/>
              <a:buChar char="•"/>
            </a:pPr>
            <a:r>
              <a:rPr lang="en-US" sz="1400" dirty="0">
                <a:solidFill>
                  <a:schemeClr val="tx1"/>
                </a:solidFill>
              </a:rPr>
              <a:t>Eligibility criteria were fixed before screening; the dataset was frozen (14 and 19 September) before the final models</a:t>
            </a:r>
            <a:endParaRPr lang="en-US" sz="1500" dirty="0"/>
          </a:p>
          <a:p>
            <a:pPr marL="342900" indent="-342900">
              <a:spcAft>
                <a:spcPts val="400"/>
              </a:spcAft>
              <a:buSzPct val="100000"/>
              <a:buChar char="•"/>
            </a:pPr>
            <a:r>
              <a:rPr lang="en-US" sz="1400" dirty="0">
                <a:solidFill>
                  <a:schemeClr val="tx1"/>
                </a:solidFill>
              </a:rPr>
              <a:t>The curve shape was chosen by a rule declared before fitting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Slide 5 shows 180 days, but the model stops at day 119. Why?</a:t>
            </a:r>
            <a:endParaRPr lang="en-US" sz="1500" dirty="0"/>
          </a:p>
          <a:p>
            <a:pPr marL="342900" indent="-342900">
              <a:spcAft>
                <a:spcPts val="400"/>
              </a:spcAft>
              <a:buSzPct val="100000"/>
              <a:buChar char="•"/>
            </a:pPr>
            <a:r>
              <a:rPr lang="en-US" sz="1400" dirty="0">
                <a:solidFill>
                  <a:schemeClr val="tx1"/>
                </a:solidFill>
              </a:rPr>
              <a:t>The 14 spaceflight rows were measured after landing, so they leave the model with the 264 recovery rows</a:t>
            </a:r>
            <a:endParaRPr lang="en-US" sz="1500" dirty="0"/>
          </a:p>
          <a:p>
            <a:pPr marL="342900" indent="-342900">
              <a:spcAft>
                <a:spcPts val="400"/>
              </a:spcAft>
              <a:buSzPct val="100000"/>
              <a:buChar char="•"/>
            </a:pPr>
            <a:r>
              <a:rPr lang="en-US" sz="1400" dirty="0">
                <a:solidFill>
                  <a:schemeClr val="tx1"/>
                </a:solidFill>
              </a:rPr>
              <a:t>8 of the 14 are one back muscle (lumbar multifidus)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Mostly young men: does this apply to women and older crews?</a:t>
            </a:r>
            <a:endParaRPr lang="en-US" sz="1500" dirty="0"/>
          </a:p>
          <a:p>
            <a:pPr marL="342900" indent="-342900">
              <a:spcAft>
                <a:spcPts val="400"/>
              </a:spcAft>
              <a:buSzPct val="100000"/>
              <a:buChar char="•"/>
            </a:pPr>
            <a:r>
              <a:rPr lang="en-US" sz="1400" dirty="0">
                <a:solidFill>
                  <a:schemeClr val="tx1"/>
                </a:solidFill>
              </a:rPr>
              <a:t>Rows, not people: men only 567, mixed 113, women only 40 (35 of them WISE-2005), not reported 22</a:t>
            </a:r>
            <a:endParaRPr lang="en-US" sz="1500" dirty="0"/>
          </a:p>
          <a:p>
            <a:pPr marL="342900" indent="-342900">
              <a:spcAft>
                <a:spcPts val="400"/>
              </a:spcAft>
              <a:buSzPct val="100000"/>
              <a:buChar char="•"/>
            </a:pPr>
            <a:r>
              <a:rPr lang="en-US" sz="1400" dirty="0">
                <a:solidFill>
                  <a:schemeClr val="tx1"/>
                </a:solidFill>
              </a:rPr>
              <a:t>Healthy young 692, middle-aged 8, older 42: the results describe young men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What exactly is a row's percentage change?</a:t>
            </a:r>
            <a:endParaRPr lang="en-US" sz="1500" dirty="0"/>
          </a:p>
          <a:p>
            <a:pPr marL="342900" indent="-342900">
              <a:spcAft>
                <a:spcPts val="400"/>
              </a:spcAft>
              <a:buSzPct val="100000"/>
              <a:buChar char="•"/>
            </a:pPr>
            <a:r>
              <a:rPr lang="en-US" sz="1400" dirty="0">
                <a:solidFill>
                  <a:schemeClr val="tx1"/>
                </a:solidFill>
              </a:rPr>
              <a:t>Follow-up vs the same group's own baseline; negative means loss</a:t>
            </a:r>
            <a:endParaRPr lang="en-US" sz="1500" dirty="0"/>
          </a:p>
          <a:p>
            <a:pPr marL="342900" indent="-342900">
              <a:spcAft>
                <a:spcPts val="400"/>
              </a:spcAft>
              <a:buSzPct val="100000"/>
              <a:buChar char="•"/>
            </a:pPr>
            <a:r>
              <a:rPr lang="en-US" sz="1400" dirty="0">
                <a:solidFill>
                  <a:schemeClr val="tx1"/>
                </a:solidFill>
              </a:rPr>
              <a:t>Recomputed from the printed values; where a paper prints the mean of individual changes, that value is kept and labelled</a:t>
            </a:r>
            <a:endParaRPr lang="en-US" sz="1500" dirty="0"/>
          </a:p>
          <a:p>
            <a:pPr marL="342900" indent="-342900">
              <a:spcAft>
                <a:spcPts val="400"/>
              </a:spcAft>
              <a:buSzPct val="100000"/>
              <a:buChar char="•"/>
            </a:pPr>
            <a:r>
              <a:rPr lang="en-US" sz="1400" dirty="0">
                <a:solidFill>
                  <a:schemeClr val="tx1"/>
                </a:solidFill>
              </a:rPr>
              <a:t>Rows weighted by number of participants: only 8 of 32 campaigns report the spread of the change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certainty of the muscle-group curves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each line fitted to its own muscle?</a:t>
            </a:r>
            <a:endParaRPr lang="en-US" sz="1500" dirty="0"/>
          </a:p>
          <a:p>
            <a:pPr marL="342900" indent="-342900">
              <a:spcAft>
                <a:spcPts val="400"/>
              </a:spcAft>
              <a:buSzPct val="100000"/>
              <a:buChar char="•"/>
            </a:pPr>
            <a:r>
              <a:rPr lang="en-US" sz="1400" dirty="0">
                <a:solidFill>
                  <a:schemeClr val="tx1"/>
                </a:solidFill>
              </a:rPr>
              <a:t>No. The day-60 values are fitted per muscle group (named muscles, 25 campaigns); the lines share one time course (τ = 60 days)</a:t>
            </a:r>
            <a:endParaRPr lang="en-US" sz="1500" dirty="0"/>
          </a:p>
          <a:p>
            <a:pPr marL="342900" indent="-342900">
              <a:spcAft>
                <a:spcPts val="400"/>
              </a:spcAft>
              <a:buSzPct val="100000"/>
              <a:buChar char="•"/>
            </a:pPr>
            <a:r>
              <a:rPr lang="en-US" sz="1400" dirty="0">
                <a:solidFill>
                  <a:schemeClr val="tx1"/>
                </a:solidFill>
              </a:rPr>
              <a:t>Separate shapes cannot be estimated: six of nine groups rest on four campaigns or fewer</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a saturating curve?</a:t>
            </a:r>
            <a:endParaRPr lang="en-US" sz="1500" dirty="0"/>
          </a:p>
          <a:p>
            <a:pPr marL="342900" indent="-342900">
              <a:spcAft>
                <a:spcPts val="400"/>
              </a:spcAft>
              <a:buSzPct val="100000"/>
              <a:buChar char="•"/>
            </a:pPr>
            <a:r>
              <a:rPr lang="en-US" sz="1400" dirty="0">
                <a:solidFill>
                  <a:schemeClr val="tx1"/>
                </a:solidFill>
              </a:rPr>
              <a:t>Logarithmic, saturating and spline curves fit equally well (within 1.3 AIC points): the loss slows, but the data cannot say along which curve</a:t>
            </a:r>
            <a:endParaRPr lang="en-US" sz="1500" dirty="0"/>
          </a:p>
          <a:p>
            <a:pPr marL="342900" indent="-342900">
              <a:spcAft>
                <a:spcPts val="400"/>
              </a:spcAft>
              <a:buSzPct val="100000"/>
              <a:buChar char="•"/>
            </a:pPr>
            <a:r>
              <a:rPr lang="en-US" sz="1400" dirty="0">
                <a:solidFill>
                  <a:schemeClr val="tx1"/>
                </a:solidFill>
              </a:rPr>
              <a:t>By day 119 the curve reaches 86% of its plateau, −17.3% (95% CI −20.9 to −13.7)</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certain are the day-60 values?</a:t>
            </a:r>
            <a:endParaRPr lang="en-US" sz="1500" dirty="0"/>
          </a:p>
          <a:p>
            <a:pPr marL="342900" indent="-342900">
              <a:spcAft>
                <a:spcPts val="400"/>
              </a:spcAft>
              <a:buSzPct val="100000"/>
              <a:buChar char="•"/>
            </a:pPr>
            <a:r>
              <a:rPr lang="en-US" sz="1400" dirty="0">
                <a:solidFill>
                  <a:schemeClr val="tx1"/>
                </a:solidFill>
              </a:rPr>
              <a:t>Calf −15.8% (95% CI −18.9 to −12.7); front thigh −10.1% (−13.6 to −6.6); hip rotators −1.9% (−3.9 to 0.2)</a:t>
            </a:r>
            <a:endParaRPr lang="en-US" sz="1500" dirty="0"/>
          </a:p>
          <a:p>
            <a:pPr marL="342900" indent="-342900">
              <a:spcAft>
                <a:spcPts val="400"/>
              </a:spcAft>
              <a:buSzPct val="100000"/>
              <a:buChar char="•"/>
            </a:pPr>
            <a:r>
              <a:rPr lang="en-US" sz="1400" dirty="0">
                <a:solidFill>
                  <a:schemeClr val="tx1"/>
                </a:solidFill>
              </a:rPr>
              <a:t>Calf vs shin, the ankle's opposing pair: 5.6 pp more loss (2.1 to 9.1), p = 0.003</a:t>
            </a:r>
            <a:endParaRPr lang="en-US" sz="1500" dirty="0"/>
          </a:p>
          <a:p>
            <a:pPr marL="342900" indent="-342900">
              <a:spcAft>
                <a:spcPts val="400"/>
              </a:spcAft>
              <a:buSzPct val="100000"/>
              <a:buChar char="•"/>
            </a:pPr>
            <a:r>
              <a:rPr lang="en-US" sz="1400" dirty="0">
                <a:solidFill>
                  <a:schemeClr val="tx1"/>
                </a:solidFill>
              </a:rPr>
              <a:t>Hip rotators and outer hip: one campaign each</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calf result an artefact of how often it is scanned?</a:t>
            </a:r>
            <a:endParaRPr lang="en-US" sz="1500" dirty="0"/>
          </a:p>
          <a:p>
            <a:pPr marL="342900" indent="-342900">
              <a:spcAft>
                <a:spcPts val="400"/>
              </a:spcAft>
              <a:buSzPct val="100000"/>
              <a:buChar char="•"/>
            </a:pPr>
            <a:r>
              <a:rPr lang="en-US" sz="1400" dirty="0">
                <a:solidFill>
                  <a:schemeClr val="tx1"/>
                </a:solidFill>
              </a:rPr>
              <a:t>The order holds after adjusting for duration, countermeasure group and imaging method</a:t>
            </a:r>
            <a:endParaRPr lang="en-US" sz="1500" dirty="0"/>
          </a:p>
          <a:p>
            <a:pPr marL="342900" indent="-342900">
              <a:spcAft>
                <a:spcPts val="400"/>
              </a:spcAft>
              <a:buSzPct val="100000"/>
              <a:buChar char="•"/>
            </a:pPr>
            <a:r>
              <a:rPr lang="en-US" sz="1400" dirty="0">
                <a:solidFill>
                  <a:schemeClr val="tx1"/>
                </a:solidFill>
              </a:rPr>
              <a:t>Calf: 78 rows from 13 campaigns, the second best-covered group after the front thigh (86 rows, 22 campaigns)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significance and relevance of the LLM gain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No test can rule out training exposure;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ML results and fairness of the comparison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(271 of the 346 modelling rows men-only), so they act as a campaign label; 100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applicability to Mars mission planning</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B2533"/>
      </a:dk1>
      <a:lt1>
        <a:srgbClr val="FFFFFF"/>
      </a:lt1>
      <a:dk2>
        <a:srgbClr val="0B2545"/>
      </a:dk2>
      <a:lt2>
        <a:srgbClr val="F0F3F7"/>
      </a:lt2>
      <a:accent1>
        <a:srgbClr val="C1440E"/>
      </a:accent1>
      <a:accent2>
        <a:srgbClr val="2F6690"/>
      </a:accent2>
      <a:accent3>
        <a:srgbClr val="5D6B7B"/>
      </a:accent3>
      <a:accent4>
        <a:srgbClr val="B8C4D1"/>
      </a:accent4>
      <a:accent5>
        <a:srgbClr val="98A6B5"/>
      </a:accent5>
      <a:accent6>
        <a:srgbClr val="E2E7ED"/>
      </a:accent6>
      <a:hlink>
        <a:srgbClr val="2F6690"/>
      </a:hlink>
      <a:folHlink>
        <a:srgbClr val="5D6B7B"/>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2026-10-14T20:28:11Z</dcterms:created>
  <dcterms:modified xsi:type="dcterms:W3CDTF">2026-10-14T20:28:11Z</dcterms:modified>
</cp:coreProperties>
</file>