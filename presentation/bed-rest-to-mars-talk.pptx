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1a0c56-705e-22fb-1095-a5ebcfba93af}">
          <p14:sldIdLst>
            <p14:sldId id="256"/>
            <p14:sldId id="257"/>
          </p14:sldIdLst>
        </p14:section>
        <p14:section name="Part 1" id="{6bbe44c9-ad18-16e2-8362-5b485b5d125f}">
          <p14:sldIdLst>
            <p14:sldId id="258"/>
            <p14:sldId id="259"/>
            <p14:sldId id="260"/>
            <p14:sldId id="261"/>
            <p14:sldId id="262"/>
            <p14:sldId id="263"/>
          </p14:sldIdLst>
        </p14:section>
        <p14:section name="Part 2" id="{eb6e1c5a-384e-103f-0735-dd16ec5cd5ef}">
          <p14:sldIdLst>
            <p14:sldId id="264"/>
            <p14:sldId id="265"/>
            <p14:sldId id="266"/>
            <p14:sldId id="267"/>
            <p14:sldId id="268"/>
            <p14:sldId id="269"/>
            <p14:sldId id="270"/>
          </p14:sldIdLst>
        </p14:section>
        <p14:section name="Backup" id="{6c2fc589-fa4f-32f8-554b-35c268ac8fef}">
          <p14:sldIdLst>
            <p14:sldId id="271"/>
            <p14:sldId id="272"/>
            <p14:sldId id="273"/>
            <p14:sldId id="274"/>
          </p14:sldIdLst>
        </p14:section>
        <p14:section name="Backup" id="{8af084f3-70b1-c163-5858-4d7c8c321f3e}">
          <p14:sldIdLst/>
        </p14:section>
        <p14:section name="Backup" id="{5d6f23a0-0fd6-99cc-2846-18b2f8190f68}">
          <p14:sldIdLst/>
        </p14:section>
        <p14:section name="Backup" id="{f24f3d41-693c-2338-1d24-cf8d9d9e872b}">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The top strip is a real row.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here minus 9.4 percent.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143000"/>
            <a:ext cx="11064240" cy="292608"/>
          </a:xfrm>
          <a:prstGeom prst="rect">
            <a:avLst/>
          </a:prstGeom>
          <a:noFill/>
          <a:ln/>
        </p:spPr>
        <p:txBody>
          <a:bodyPr wrap="square" lIns="0" tIns="0" rIns="0" bIns="0" rtlCol="0" anchor="t"/>
          <a:lstStyle/>
          <a:p>
            <a:pPr indent="0" marL="0">
              <a:buNone/>
            </a:pPr>
            <a:r>
              <a:rPr lang="en-US" sz="1500" b="1" dirty="0">
                <a:solidFill>
                  <a:schemeClr val="tx2"/>
                </a:solidFill>
              </a:rPr>
              <a:t>One row = one muscle outcome of one group at one scan day</a:t>
            </a:r>
            <a:endParaRPr lang="en-US" sz="1500" dirty="0"/>
          </a:p>
        </p:txBody>
      </p:sp>
      <p:sp>
        <p:nvSpPr>
          <p:cNvPr id="12" name="Text 10"/>
          <p:cNvSpPr txBox="1"/>
          <p:nvPr/>
        </p:nvSpPr>
        <p:spPr>
          <a:xfrm>
            <a:off x="548640" y="1536192"/>
            <a:ext cx="1097280" cy="228600"/>
          </a:xfrm>
          <a:prstGeom prst="rect">
            <a:avLst/>
          </a:prstGeom>
          <a:noFill/>
          <a:ln/>
        </p:spPr>
        <p:txBody>
          <a:bodyPr wrap="square" lIns="0" tIns="0" rIns="0" bIns="0" rtlCol="0" anchor="t"/>
          <a:lstStyle/>
          <a:p>
            <a:pPr algn="ctr" indent="0" marL="0">
              <a:buNone/>
            </a:pPr>
            <a:r>
              <a:rPr lang="en-US" sz="1050" dirty="0">
                <a:solidFill>
                  <a:schemeClr val="accent3"/>
                </a:solidFill>
              </a:rPr>
              <a:t>Unloading</a:t>
            </a:r>
            <a:endParaRPr lang="en-US" sz="1050" dirty="0"/>
          </a:p>
        </p:txBody>
      </p:sp>
      <p:sp>
        <p:nvSpPr>
          <p:cNvPr id="13" name="Field Unloading"/>
          <p:cNvSpPr/>
          <p:nvPr/>
        </p:nvSpPr>
        <p:spPr>
          <a:xfrm>
            <a:off x="548640" y="1783080"/>
            <a:ext cx="1097280" cy="457200"/>
          </a:xfrm>
          <a:prstGeom prst="rect">
            <a:avLst/>
          </a:prstGeom>
          <a:solidFill>
            <a:srgbClr val="FFFFFF"/>
          </a:solidFill>
          <a:ln w="12700">
            <a:solidFill>
              <a:srgbClr val="9AA3AE"/>
            </a:solidFill>
            <a:prstDash val="solid"/>
          </a:ln>
        </p:spPr>
      </p:sp>
      <p:sp>
        <p:nvSpPr>
          <p:cNvPr id="14" name="Text 12"/>
          <p:cNvSpPr txBox="1"/>
          <p:nvPr/>
        </p:nvSpPr>
        <p:spPr>
          <a:xfrm>
            <a:off x="548640" y="1783080"/>
            <a:ext cx="1097280" cy="457200"/>
          </a:xfrm>
          <a:prstGeom prst="rect">
            <a:avLst/>
          </a:prstGeom>
          <a:noFill/>
          <a:ln/>
        </p:spPr>
        <p:txBody>
          <a:bodyPr wrap="square" lIns="0" tIns="0" rIns="0" bIns="0" rtlCol="0" anchor="ctr"/>
          <a:lstStyle/>
          <a:p>
            <a:pPr algn="ctr" indent="0" marL="0">
              <a:buNone/>
            </a:pPr>
            <a:r>
              <a:rPr lang="en-US" sz="1250" dirty="0">
                <a:solidFill>
                  <a:schemeClr val="tx1"/>
                </a:solidFill>
              </a:rPr>
              <a:t>60 days</a:t>
            </a:r>
            <a:endParaRPr lang="en-US" sz="1250" dirty="0"/>
          </a:p>
        </p:txBody>
      </p:sp>
      <p:sp>
        <p:nvSpPr>
          <p:cNvPr id="15" name="Text 13"/>
          <p:cNvSpPr txBox="1"/>
          <p:nvPr/>
        </p:nvSpPr>
        <p:spPr>
          <a:xfrm>
            <a:off x="1682496" y="1536192"/>
            <a:ext cx="868680" cy="228600"/>
          </a:xfrm>
          <a:prstGeom prst="rect">
            <a:avLst/>
          </a:prstGeom>
          <a:noFill/>
          <a:ln/>
        </p:spPr>
        <p:txBody>
          <a:bodyPr wrap="square" lIns="0" tIns="0" rIns="0" bIns="0" rtlCol="0" anchor="t"/>
          <a:lstStyle/>
          <a:p>
            <a:pPr algn="ctr" indent="0" marL="0">
              <a:buNone/>
            </a:pPr>
            <a:r>
              <a:rPr lang="en-US" sz="1050" dirty="0">
                <a:solidFill>
                  <a:schemeClr val="accent3"/>
                </a:solidFill>
              </a:rPr>
              <a:t>Scan day</a:t>
            </a:r>
            <a:endParaRPr lang="en-US" sz="1050" dirty="0"/>
          </a:p>
        </p:txBody>
      </p:sp>
      <p:sp>
        <p:nvSpPr>
          <p:cNvPr id="16" name="Field Scan day"/>
          <p:cNvSpPr/>
          <p:nvPr/>
        </p:nvSpPr>
        <p:spPr>
          <a:xfrm>
            <a:off x="1682496" y="1783080"/>
            <a:ext cx="868680" cy="457200"/>
          </a:xfrm>
          <a:prstGeom prst="rect">
            <a:avLst/>
          </a:prstGeom>
          <a:solidFill>
            <a:srgbClr val="FFFFFF"/>
          </a:solidFill>
          <a:ln w="12700">
            <a:solidFill>
              <a:srgbClr val="9AA3AE"/>
            </a:solidFill>
            <a:prstDash val="solid"/>
          </a:ln>
        </p:spPr>
      </p:sp>
      <p:sp>
        <p:nvSpPr>
          <p:cNvPr id="17" name="Text 15"/>
          <p:cNvSpPr txBox="1"/>
          <p:nvPr/>
        </p:nvSpPr>
        <p:spPr>
          <a:xfrm>
            <a:off x="1682496" y="1783080"/>
            <a:ext cx="868680" cy="457200"/>
          </a:xfrm>
          <a:prstGeom prst="rect">
            <a:avLst/>
          </a:prstGeom>
          <a:noFill/>
          <a:ln/>
        </p:spPr>
        <p:txBody>
          <a:bodyPr wrap="square" lIns="0" tIns="0" rIns="0" bIns="0" rtlCol="0" anchor="ctr"/>
          <a:lstStyle/>
          <a:p>
            <a:pPr algn="ctr" indent="0" marL="0">
              <a:buNone/>
            </a:pPr>
            <a:r>
              <a:rPr lang="en-US" sz="1250" dirty="0">
                <a:solidFill>
                  <a:schemeClr val="tx1"/>
                </a:solidFill>
              </a:rPr>
              <a:t>59</a:t>
            </a:r>
            <a:endParaRPr lang="en-US" sz="1250" dirty="0"/>
          </a:p>
        </p:txBody>
      </p:sp>
      <p:sp>
        <p:nvSpPr>
          <p:cNvPr id="18" name="Text 16"/>
          <p:cNvSpPr txBox="1"/>
          <p:nvPr/>
        </p:nvSpPr>
        <p:spPr>
          <a:xfrm>
            <a:off x="2587752" y="1536192"/>
            <a:ext cx="1508760" cy="228600"/>
          </a:xfrm>
          <a:prstGeom prst="rect">
            <a:avLst/>
          </a:prstGeom>
          <a:noFill/>
          <a:ln/>
        </p:spPr>
        <p:txBody>
          <a:bodyPr wrap="square" lIns="0" tIns="0" rIns="0" bIns="0" rtlCol="0" anchor="t"/>
          <a:lstStyle/>
          <a:p>
            <a:pPr algn="ctr" indent="0" marL="0">
              <a:buNone/>
            </a:pPr>
            <a:r>
              <a:rPr lang="en-US" sz="1050" dirty="0">
                <a:solidFill>
                  <a:schemeClr val="accent3"/>
                </a:solidFill>
              </a:rPr>
              <a:t>Muscle</a:t>
            </a:r>
            <a:endParaRPr lang="en-US" sz="1050" dirty="0"/>
          </a:p>
        </p:txBody>
      </p:sp>
      <p:sp>
        <p:nvSpPr>
          <p:cNvPr id="19" name="Field Muscle"/>
          <p:cNvSpPr/>
          <p:nvPr/>
        </p:nvSpPr>
        <p:spPr>
          <a:xfrm>
            <a:off x="2587752" y="1783080"/>
            <a:ext cx="1508760" cy="457200"/>
          </a:xfrm>
          <a:prstGeom prst="rect">
            <a:avLst/>
          </a:prstGeom>
          <a:solidFill>
            <a:srgbClr val="FFFFFF"/>
          </a:solidFill>
          <a:ln w="12700">
            <a:solidFill>
              <a:srgbClr val="9AA3AE"/>
            </a:solidFill>
            <a:prstDash val="solid"/>
          </a:ln>
        </p:spPr>
      </p:sp>
      <p:sp>
        <p:nvSpPr>
          <p:cNvPr id="20" name="Text 18"/>
          <p:cNvSpPr txBox="1"/>
          <p:nvPr/>
        </p:nvSpPr>
        <p:spPr>
          <a:xfrm>
            <a:off x="2587752" y="1783080"/>
            <a:ext cx="1508760" cy="457200"/>
          </a:xfrm>
          <a:prstGeom prst="rect">
            <a:avLst/>
          </a:prstGeom>
          <a:noFill/>
          <a:ln/>
        </p:spPr>
        <p:txBody>
          <a:bodyPr wrap="square" lIns="0" tIns="0" rIns="0" bIns="0" rtlCol="0" anchor="ctr"/>
          <a:lstStyle/>
          <a:p>
            <a:pPr algn="ctr" indent="0" marL="0">
              <a:buNone/>
            </a:pPr>
            <a:r>
              <a:rPr lang="en-US" sz="1250" dirty="0">
                <a:solidFill>
                  <a:schemeClr val="tx1"/>
                </a:solidFill>
              </a:rPr>
              <a:t>gluteus maximus</a:t>
            </a:r>
            <a:endParaRPr lang="en-US" sz="1250" dirty="0"/>
          </a:p>
        </p:txBody>
      </p:sp>
      <p:sp>
        <p:nvSpPr>
          <p:cNvPr id="21" name="Text 19"/>
          <p:cNvSpPr txBox="1"/>
          <p:nvPr/>
        </p:nvSpPr>
        <p:spPr>
          <a:xfrm>
            <a:off x="4133088" y="1536192"/>
            <a:ext cx="1965960" cy="228600"/>
          </a:xfrm>
          <a:prstGeom prst="rect">
            <a:avLst/>
          </a:prstGeom>
          <a:noFill/>
          <a:ln/>
        </p:spPr>
        <p:txBody>
          <a:bodyPr wrap="square" lIns="0" tIns="0" rIns="0" bIns="0" rtlCol="0" anchor="t"/>
          <a:lstStyle/>
          <a:p>
            <a:pPr algn="ctr" indent="0" marL="0">
              <a:buNone/>
            </a:pPr>
            <a:r>
              <a:rPr lang="en-US" sz="1050" dirty="0">
                <a:solidFill>
                  <a:schemeClr val="accent3"/>
                </a:solidFill>
              </a:rPr>
              <a:t>Participants</a:t>
            </a:r>
            <a:endParaRPr lang="en-US" sz="1050" dirty="0"/>
          </a:p>
        </p:txBody>
      </p:sp>
      <p:sp>
        <p:nvSpPr>
          <p:cNvPr id="22" name="Field Participants"/>
          <p:cNvSpPr/>
          <p:nvPr/>
        </p:nvSpPr>
        <p:spPr>
          <a:xfrm>
            <a:off x="4133088" y="1783080"/>
            <a:ext cx="1965960" cy="457200"/>
          </a:xfrm>
          <a:prstGeom prst="rect">
            <a:avLst/>
          </a:prstGeom>
          <a:solidFill>
            <a:srgbClr val="FFFFFF"/>
          </a:solidFill>
          <a:ln w="12700">
            <a:solidFill>
              <a:srgbClr val="9AA3AE"/>
            </a:solidFill>
            <a:prstDash val="solid"/>
          </a:ln>
        </p:spPr>
      </p:sp>
      <p:sp>
        <p:nvSpPr>
          <p:cNvPr id="23" name="Text 21"/>
          <p:cNvSpPr txBox="1"/>
          <p:nvPr/>
        </p:nvSpPr>
        <p:spPr>
          <a:xfrm>
            <a:off x="4133088" y="1783080"/>
            <a:ext cx="1965960" cy="457200"/>
          </a:xfrm>
          <a:prstGeom prst="rect">
            <a:avLst/>
          </a:prstGeom>
          <a:noFill/>
          <a:ln/>
        </p:spPr>
        <p:txBody>
          <a:bodyPr wrap="square" lIns="0" tIns="0" rIns="0" bIns="0" rtlCol="0" anchor="ctr"/>
          <a:lstStyle/>
          <a:p>
            <a:pPr algn="ctr" indent="0" marL="0">
              <a:buNone/>
            </a:pPr>
            <a:r>
              <a:rPr lang="en-US" sz="1250" dirty="0">
                <a:solidFill>
                  <a:schemeClr val="tx1"/>
                </a:solidFill>
              </a:rPr>
              <a:t>8; 25% women; age 34</a:t>
            </a:r>
            <a:endParaRPr lang="en-US" sz="1250" dirty="0"/>
          </a:p>
        </p:txBody>
      </p:sp>
      <p:sp>
        <p:nvSpPr>
          <p:cNvPr id="24" name="Text 22"/>
          <p:cNvSpPr txBox="1"/>
          <p:nvPr/>
        </p:nvSpPr>
        <p:spPr>
          <a:xfrm>
            <a:off x="6135624" y="1536192"/>
            <a:ext cx="1417320" cy="228600"/>
          </a:xfrm>
          <a:prstGeom prst="rect">
            <a:avLst/>
          </a:prstGeom>
          <a:noFill/>
          <a:ln/>
        </p:spPr>
        <p:txBody>
          <a:bodyPr wrap="square" lIns="0" tIns="0" rIns="0" bIns="0" rtlCol="0" anchor="t"/>
          <a:lstStyle/>
          <a:p>
            <a:pPr algn="ctr" indent="0" marL="0">
              <a:buNone/>
            </a:pPr>
            <a:r>
              <a:rPr lang="en-US" sz="1050" dirty="0">
                <a:solidFill>
                  <a:schemeClr val="accent3"/>
                </a:solidFill>
              </a:rPr>
              <a:t>Countermeasure</a:t>
            </a:r>
            <a:endParaRPr lang="en-US" sz="1050" dirty="0"/>
          </a:p>
        </p:txBody>
      </p:sp>
      <p:sp>
        <p:nvSpPr>
          <p:cNvPr id="25" name="Field Countermeasure"/>
          <p:cNvSpPr/>
          <p:nvPr/>
        </p:nvSpPr>
        <p:spPr>
          <a:xfrm>
            <a:off x="6135624" y="1783080"/>
            <a:ext cx="1417320" cy="457200"/>
          </a:xfrm>
          <a:prstGeom prst="rect">
            <a:avLst/>
          </a:prstGeom>
          <a:solidFill>
            <a:srgbClr val="FFFFFF"/>
          </a:solidFill>
          <a:ln w="12700">
            <a:solidFill>
              <a:srgbClr val="9AA3AE"/>
            </a:solidFill>
            <a:prstDash val="solid"/>
          </a:ln>
        </p:spPr>
      </p:sp>
      <p:sp>
        <p:nvSpPr>
          <p:cNvPr id="26" name="Text 24"/>
          <p:cNvSpPr txBox="1"/>
          <p:nvPr/>
        </p:nvSpPr>
        <p:spPr>
          <a:xfrm>
            <a:off x="6135624" y="1783080"/>
            <a:ext cx="1417320" cy="457200"/>
          </a:xfrm>
          <a:prstGeom prst="rect">
            <a:avLst/>
          </a:prstGeom>
          <a:noFill/>
          <a:ln/>
        </p:spPr>
        <p:txBody>
          <a:bodyPr wrap="square" lIns="0" tIns="0" rIns="0" bIns="0" rtlCol="0" anchor="ctr"/>
          <a:lstStyle/>
          <a:p>
            <a:pPr algn="ctr" indent="0" marL="0">
              <a:buNone/>
            </a:pPr>
            <a:r>
              <a:rPr lang="en-US" sz="1250" dirty="0">
                <a:solidFill>
                  <a:schemeClr val="tx1"/>
                </a:solidFill>
              </a:rPr>
              <a:t>none (control)</a:t>
            </a:r>
            <a:endParaRPr lang="en-US" sz="1250" dirty="0"/>
          </a:p>
        </p:txBody>
      </p:sp>
      <p:sp>
        <p:nvSpPr>
          <p:cNvPr id="27" name="Text 25"/>
          <p:cNvSpPr txBox="1"/>
          <p:nvPr/>
        </p:nvSpPr>
        <p:spPr>
          <a:xfrm>
            <a:off x="7589520" y="1536192"/>
            <a:ext cx="822960" cy="228600"/>
          </a:xfrm>
          <a:prstGeom prst="rect">
            <a:avLst/>
          </a:prstGeom>
          <a:noFill/>
          <a:ln/>
        </p:spPr>
        <p:txBody>
          <a:bodyPr wrap="square" lIns="0" tIns="0" rIns="0" bIns="0" rtlCol="0" anchor="t"/>
          <a:lstStyle/>
          <a:p>
            <a:pPr algn="ctr" indent="0" marL="0">
              <a:buNone/>
            </a:pPr>
            <a:r>
              <a:rPr lang="en-US" sz="1050" dirty="0">
                <a:solidFill>
                  <a:schemeClr val="accent3"/>
                </a:solidFill>
              </a:rPr>
              <a:t>Method</a:t>
            </a:r>
            <a:endParaRPr lang="en-US" sz="1050" dirty="0"/>
          </a:p>
        </p:txBody>
      </p:sp>
      <p:sp>
        <p:nvSpPr>
          <p:cNvPr id="28" name="Field Method"/>
          <p:cNvSpPr/>
          <p:nvPr/>
        </p:nvSpPr>
        <p:spPr>
          <a:xfrm>
            <a:off x="7589520" y="1783080"/>
            <a:ext cx="822960" cy="457200"/>
          </a:xfrm>
          <a:prstGeom prst="rect">
            <a:avLst/>
          </a:prstGeom>
          <a:solidFill>
            <a:srgbClr val="FFFFFF"/>
          </a:solidFill>
          <a:ln w="12700">
            <a:solidFill>
              <a:srgbClr val="9AA3AE"/>
            </a:solidFill>
            <a:prstDash val="solid"/>
          </a:ln>
        </p:spPr>
      </p:sp>
      <p:sp>
        <p:nvSpPr>
          <p:cNvPr id="29" name="Text 27"/>
          <p:cNvSpPr txBox="1"/>
          <p:nvPr/>
        </p:nvSpPr>
        <p:spPr>
          <a:xfrm>
            <a:off x="7589520" y="1783080"/>
            <a:ext cx="822960" cy="457200"/>
          </a:xfrm>
          <a:prstGeom prst="rect">
            <a:avLst/>
          </a:prstGeom>
          <a:noFill/>
          <a:ln/>
        </p:spPr>
        <p:txBody>
          <a:bodyPr wrap="square" lIns="0" tIns="0" rIns="0" bIns="0" rtlCol="0" anchor="ctr"/>
          <a:lstStyle/>
          <a:p>
            <a:pPr algn="ctr" indent="0" marL="0">
              <a:buNone/>
            </a:pPr>
            <a:r>
              <a:rPr lang="en-US" sz="1250" dirty="0">
                <a:solidFill>
                  <a:schemeClr val="tx1"/>
                </a:solidFill>
              </a:rPr>
              <a:t>MRI</a:t>
            </a:r>
            <a:endParaRPr lang="en-US" sz="1250" dirty="0"/>
          </a:p>
        </p:txBody>
      </p:sp>
      <p:sp>
        <p:nvSpPr>
          <p:cNvPr id="30" name="Text 28"/>
          <p:cNvSpPr txBox="1"/>
          <p:nvPr/>
        </p:nvSpPr>
        <p:spPr>
          <a:xfrm>
            <a:off x="8449056" y="1536192"/>
            <a:ext cx="1051560" cy="228600"/>
          </a:xfrm>
          <a:prstGeom prst="rect">
            <a:avLst/>
          </a:prstGeom>
          <a:noFill/>
          <a:ln/>
        </p:spPr>
        <p:txBody>
          <a:bodyPr wrap="square" lIns="0" tIns="0" rIns="0" bIns="0" rtlCol="0" anchor="t"/>
          <a:lstStyle/>
          <a:p>
            <a:pPr algn="ctr" indent="0" marL="0">
              <a:buNone/>
            </a:pPr>
            <a:r>
              <a:rPr lang="en-US" sz="1050" dirty="0">
                <a:solidFill>
                  <a:schemeClr val="accent3"/>
                </a:solidFill>
              </a:rPr>
              <a:t>Size measure</a:t>
            </a:r>
            <a:endParaRPr lang="en-US" sz="1050" dirty="0"/>
          </a:p>
        </p:txBody>
      </p:sp>
      <p:sp>
        <p:nvSpPr>
          <p:cNvPr id="31" name="Field Size measure"/>
          <p:cNvSpPr/>
          <p:nvPr/>
        </p:nvSpPr>
        <p:spPr>
          <a:xfrm>
            <a:off x="8449056" y="1783080"/>
            <a:ext cx="1051560" cy="457200"/>
          </a:xfrm>
          <a:prstGeom prst="rect">
            <a:avLst/>
          </a:prstGeom>
          <a:solidFill>
            <a:srgbClr val="FFFFFF"/>
          </a:solidFill>
          <a:ln w="12700">
            <a:solidFill>
              <a:srgbClr val="9AA3AE"/>
            </a:solidFill>
            <a:prstDash val="solid"/>
          </a:ln>
        </p:spPr>
      </p:sp>
      <p:sp>
        <p:nvSpPr>
          <p:cNvPr id="32" name="Text 30"/>
          <p:cNvSpPr txBox="1"/>
          <p:nvPr/>
        </p:nvSpPr>
        <p:spPr>
          <a:xfrm>
            <a:off x="8449056" y="1783080"/>
            <a:ext cx="1051560" cy="457200"/>
          </a:xfrm>
          <a:prstGeom prst="rect">
            <a:avLst/>
          </a:prstGeom>
          <a:noFill/>
          <a:ln/>
        </p:spPr>
        <p:txBody>
          <a:bodyPr wrap="square" lIns="0" tIns="0" rIns="0" bIns="0" rtlCol="0" anchor="ctr"/>
          <a:lstStyle/>
          <a:p>
            <a:pPr algn="ctr" indent="0" marL="0">
              <a:buNone/>
            </a:pPr>
            <a:r>
              <a:rPr lang="en-US" sz="1250" dirty="0">
                <a:solidFill>
                  <a:schemeClr val="tx1"/>
                </a:solidFill>
              </a:rPr>
              <a:t>volume</a:t>
            </a:r>
            <a:endParaRPr lang="en-US" sz="1250" dirty="0"/>
          </a:p>
        </p:txBody>
      </p:sp>
      <p:sp>
        <p:nvSpPr>
          <p:cNvPr id="33" name="Row to target"/>
          <p:cNvSpPr/>
          <p:nvPr/>
        </p:nvSpPr>
        <p:spPr>
          <a:xfrm>
            <a:off x="9592056" y="2011680"/>
            <a:ext cx="384048" cy="0"/>
          </a:xfrm>
          <a:prstGeom prst="line">
            <a:avLst/>
          </a:prstGeom>
          <a:noFill/>
          <a:ln w="15875">
            <a:solidFill>
              <a:srgbClr val="1A1A1A"/>
            </a:solidFill>
            <a:prstDash val="solid"/>
            <a:tailEnd type="triangle"/>
          </a:ln>
        </p:spPr>
      </p:sp>
      <p:sp>
        <p:nvSpPr>
          <p:cNvPr id="34" name="Text 32"/>
          <p:cNvSpPr txBox="1"/>
          <p:nvPr/>
        </p:nvSpPr>
        <p:spPr>
          <a:xfrm>
            <a:off x="9765792" y="1536192"/>
            <a:ext cx="1847088" cy="228600"/>
          </a:xfrm>
          <a:prstGeom prst="rect">
            <a:avLst/>
          </a:prstGeom>
          <a:noFill/>
          <a:ln/>
        </p:spPr>
        <p:txBody>
          <a:bodyPr wrap="square" lIns="0" tIns="0" rIns="0" bIns="0" rtlCol="0" anchor="t"/>
          <a:lstStyle/>
          <a:p>
            <a:pPr algn="ctr" indent="0" marL="0">
              <a:buNone/>
            </a:pPr>
            <a:r>
              <a:rPr lang="en-US" sz="1050" b="1" dirty="0">
                <a:solidFill>
                  <a:schemeClr val="accent1"/>
                </a:solidFill>
              </a:rPr>
              <a:t>Target: % change</a:t>
            </a:r>
            <a:endParaRPr lang="en-US" sz="1050" dirty="0"/>
          </a:p>
        </p:txBody>
      </p:sp>
      <p:sp>
        <p:nvSpPr>
          <p:cNvPr id="35" name="Target"/>
          <p:cNvSpPr/>
          <p:nvPr/>
        </p:nvSpPr>
        <p:spPr>
          <a:xfrm>
            <a:off x="10040112" y="1783080"/>
            <a:ext cx="1572768" cy="457200"/>
          </a:xfrm>
          <a:prstGeom prst="rect">
            <a:avLst/>
          </a:prstGeom>
          <a:solidFill>
            <a:srgbClr val="A23B2A"/>
          </a:solidFill>
          <a:ln/>
        </p:spPr>
      </p:sp>
      <p:sp>
        <p:nvSpPr>
          <p:cNvPr id="36" name="Text 34"/>
          <p:cNvSpPr txBox="1"/>
          <p:nvPr/>
        </p:nvSpPr>
        <p:spPr>
          <a:xfrm>
            <a:off x="10040112" y="1783080"/>
            <a:ext cx="1572768" cy="457200"/>
          </a:xfrm>
          <a:prstGeom prst="rect">
            <a:avLst/>
          </a:prstGeom>
          <a:noFill/>
          <a:ln/>
        </p:spPr>
        <p:txBody>
          <a:bodyPr wrap="square" lIns="0" tIns="0" rIns="0" bIns="0" rtlCol="0" anchor="ctr"/>
          <a:lstStyle/>
          <a:p>
            <a:pPr algn="ctr" indent="0" marL="0">
              <a:buNone/>
            </a:pPr>
            <a:r>
              <a:rPr lang="en-US" sz="1600" b="1" dirty="0">
                <a:solidFill>
                  <a:schemeClr val="bg1"/>
                </a:solidFill>
              </a:rPr>
              <a:t>−9.4%</a:t>
            </a:r>
            <a:endParaRPr lang="en-US" sz="1600" dirty="0"/>
          </a:p>
        </p:txBody>
      </p:sp>
      <p:sp>
        <p:nvSpPr>
          <p:cNvPr id="37" name="Text 35"/>
          <p:cNvSpPr txBox="1"/>
          <p:nvPr/>
        </p:nvSpPr>
        <p:spPr>
          <a:xfrm>
            <a:off x="548640" y="2313432"/>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Example row from the AGBRESA bed-rest campaign (Tran et al., 2021). Target: percentage change in muscle size from before unloading.</a:t>
            </a:r>
            <a:endParaRPr lang="en-US" sz="1050" dirty="0"/>
          </a:p>
        </p:txBody>
      </p:sp>
      <p:sp>
        <p:nvSpPr>
          <p:cNvPr id="38" name="Text 36"/>
          <p:cNvSpPr txBox="1"/>
          <p:nvPr/>
        </p:nvSpPr>
        <p:spPr>
          <a:xfrm>
            <a:off x="548640" y="26974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94960" cy="914400"/>
        </p:xfrm>
        <a:graphic>
          <a:graphicData uri="http://schemas.openxmlformats.org/drawingml/2006/table">
            <a:tbl>
              <a:tblPr/>
              <a:tblGrid>
                <a:gridCol w="3749040"/>
                <a:gridCol w="164592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36576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Observations (rows)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6576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Studies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6576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Independent campaigns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6576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6576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6576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40" name="Text 37"/>
          <p:cNvSpPr txBox="1"/>
          <p:nvPr/>
        </p:nvSpPr>
        <p:spPr>
          <a:xfrm>
            <a:off x="548640" y="5715000"/>
            <a:ext cx="5394960" cy="411480"/>
          </a:xfrm>
          <a:prstGeom prst="rect">
            <a:avLst/>
          </a:prstGeom>
          <a:noFill/>
          <a:ln/>
        </p:spPr>
        <p:txBody>
          <a:bodyPr wrap="square" lIns="0" tIns="0" rIns="0" bIns="0" rtlCol="0" anchor="t"/>
          <a:lstStyle/>
          <a:p>
            <a:pPr indent="0" marL="0">
              <a:buNone/>
            </a:pPr>
            <a:r>
              <a:rPr lang="en-US" sz="1050" i="1" dirty="0">
                <a:solidFill>
                  <a:schemeClr val="accent3"/>
                </a:solidFill>
              </a:rPr>
              <a:t>742 observations ≠ 742 independent participants: one campaign gives rows for several muscles, groups and scan days.</a:t>
            </a:r>
            <a:endParaRPr lang="en-US" sz="1050" dirty="0"/>
          </a:p>
        </p:txBody>
      </p:sp>
      <p:sp>
        <p:nvSpPr>
          <p:cNvPr id="41" name="Text 38"/>
          <p:cNvSpPr txBox="1"/>
          <p:nvPr/>
        </p:nvSpPr>
        <p:spPr>
          <a:xfrm>
            <a:off x="6400800" y="26974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3063240"/>
          <a:ext cx="5239512" cy="914400"/>
        </p:xfrm>
        <a:graphic>
          <a:graphicData uri="http://schemas.openxmlformats.org/drawingml/2006/table">
            <a:tbl>
              <a:tblPr/>
              <a:tblGrid>
                <a:gridCol w="1325880"/>
                <a:gridCol w="777240"/>
                <a:gridCol w="2267712"/>
                <a:gridCol w="86868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36576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6576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6576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6576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6576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2026-10-06T11:55:25Z</dcterms:created>
  <dcterms:modified xsi:type="dcterms:W3CDTF">2026-10-06T11:55:25Z</dcterms:modified>
</cp:coreProperties>
</file>