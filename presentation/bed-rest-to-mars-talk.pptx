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f9e6c8-feac-3362-5083-fe818791ec50}">
          <p14:sldIdLst>
            <p14:sldId id="256"/>
            <p14:sldId id="257"/>
          </p14:sldIdLst>
        </p14:section>
        <p14:section name="Part 1" id="{b4c8ca27-aa04-3e6f-4ccf-f23cf5473ee2}">
          <p14:sldIdLst>
            <p14:sldId id="258"/>
            <p14:sldId id="259"/>
            <p14:sldId id="260"/>
            <p14:sldId id="261"/>
            <p14:sldId id="262"/>
            <p14:sldId id="263"/>
          </p14:sldIdLst>
        </p14:section>
        <p14:section name="Part 2" id="{a1b40400-7a6f-21ff-a1ea-e16e27550581}">
          <p14:sldIdLst>
            <p14:sldId id="264"/>
            <p14:sldId id="265"/>
            <p14:sldId id="266"/>
            <p14:sldId id="267"/>
            <p14:sldId id="268"/>
          </p14:sldIdLst>
        </p14:section>
        <p14:section name="Backup" id="{1d075a77-97f9-0c35-6fff-9c468231a2a4}">
          <p14:sldIdLst>
            <p14:sldId id="269"/>
            <p14:sldId id="270"/>
            <p14:sldId id="271"/>
            <p14:sldId id="272"/>
            <p14:sldId id="273"/>
          </p14:sldIdLst>
        </p14:section>
        <p14:section name="Backup" id="{44e7f95f-5461-cae3-e12a-8e122e24b6d2}">
          <p14:sldIdLst/>
        </p14:section>
        <p14:section name="Backup" id="{1b86eb8d-ffc5-b3c4-a071-5da520d696b1}">
          <p14:sldIdLst/>
        </p14:section>
        <p14:section name="Backup" id="{c7090d8b-3682-1ccf-318d-a7f73ffa1b31}">
          <p14:sldIdLst/>
        </p14:section>
        <p14:section name="Backup" id="{11504acf-3da4-7c71-b40b-1bd6caf2cee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campaign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 language model that reads each campaign's description and the other campaigns' data reduces the error from 3.13 to 2.71 points. The limitations and next steps are on the slide; the main one is that 32 campaigns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0"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1"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Unloading shrinks leg muscles</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Literature research"/>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38" name="Text 36"/>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Studies published per year, by length of unloading</a:t>
            </a:r>
            <a:endParaRPr lang="en-US" sz="1400" dirty="0"/>
          </a:p>
        </p:txBody>
      </p:sp>
      <p:sp>
        <p:nvSpPr>
          <p:cNvPr id="39" name="Text 37"/>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0" name="Text 38"/>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1" name="Legend 180 days (spaceflight)"/>
          <p:cNvSpPr/>
          <p:nvPr/>
        </p:nvSpPr>
        <p:spPr>
          <a:xfrm>
            <a:off x="548640" y="4261104"/>
            <a:ext cx="201168" cy="164592"/>
          </a:xfrm>
          <a:prstGeom prst="rect">
            <a:avLst/>
          </a:prstGeom>
          <a:solidFill>
            <a:srgbClr val="A23B2A"/>
          </a:solidFill>
          <a:ln/>
        </p:spPr>
      </p:sp>
      <p:sp>
        <p:nvSpPr>
          <p:cNvPr id="42" name="Text 40"/>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3" name="Legend 61 to 119 days"/>
          <p:cNvSpPr/>
          <p:nvPr/>
        </p:nvSpPr>
        <p:spPr>
          <a:xfrm>
            <a:off x="548640" y="4590288"/>
            <a:ext cx="201168" cy="164592"/>
          </a:xfrm>
          <a:prstGeom prst="rect">
            <a:avLst/>
          </a:prstGeom>
          <a:solidFill>
            <a:srgbClr val="1F3A5F"/>
          </a:solidFill>
          <a:ln/>
        </p:spPr>
      </p:sp>
      <p:sp>
        <p:nvSpPr>
          <p:cNvPr id="44" name="Text 42"/>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5" name="Legend 31 to 60 days"/>
          <p:cNvSpPr/>
          <p:nvPr/>
        </p:nvSpPr>
        <p:spPr>
          <a:xfrm>
            <a:off x="548640" y="4919472"/>
            <a:ext cx="201168" cy="164592"/>
          </a:xfrm>
          <a:prstGeom prst="rect">
            <a:avLst/>
          </a:prstGeom>
          <a:solidFill>
            <a:srgbClr val="56739A"/>
          </a:solidFill>
          <a:ln/>
        </p:spPr>
      </p:sp>
      <p:sp>
        <p:nvSpPr>
          <p:cNvPr id="46" name="Text 44"/>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47" name="Legend 15 to 30 days"/>
          <p:cNvSpPr/>
          <p:nvPr/>
        </p:nvSpPr>
        <p:spPr>
          <a:xfrm>
            <a:off x="548640" y="5248656"/>
            <a:ext cx="201168" cy="164592"/>
          </a:xfrm>
          <a:prstGeom prst="rect">
            <a:avLst/>
          </a:prstGeom>
          <a:solidFill>
            <a:srgbClr val="8FA3BB"/>
          </a:solidFill>
          <a:ln/>
        </p:spPr>
      </p:sp>
      <p:sp>
        <p:nvSpPr>
          <p:cNvPr id="48" name="Text 46"/>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49" name="Legend 5 to 14 days"/>
          <p:cNvSpPr/>
          <p:nvPr/>
        </p:nvSpPr>
        <p:spPr>
          <a:xfrm>
            <a:off x="548640" y="5577840"/>
            <a:ext cx="201168" cy="164592"/>
          </a:xfrm>
          <a:prstGeom prst="rect">
            <a:avLst/>
          </a:prstGeom>
          <a:solidFill>
            <a:srgbClr val="C9D2DD"/>
          </a:solidFill>
          <a:ln/>
        </p:spPr>
      </p:sp>
      <p:sp>
        <p:nvSpPr>
          <p:cNvPr id="50" name="Text 48"/>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1"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Data extraction and database"/>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L framework"/>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Models and results"/>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prediction</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campaign, train on the rest, repeat 32 times</a:t>
            </a:r>
            <a:endParaRPr lang="en-US" sz="1500" dirty="0"/>
          </a:p>
        </p:txBody>
      </p:sp>
      <p:sp>
        <p:nvSpPr>
          <p:cNvPr id="20" name="Training campaign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campaign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campaign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campaign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campaign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campaign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campaign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campaign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campaign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campaign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campaign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campaign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campaign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campaign"/>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campaign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campaign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campaign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campaign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campaign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campaign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campaign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campaign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campaign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campaign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campaign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campaign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campaign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campaign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campaign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campaign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campaign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campaign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Red: the held-out test campaign.</a:t>
            </a:r>
            <a:pPr indent="0" marL="0">
              <a:buNone/>
            </a:pPr>
            <a:r>
              <a:rPr lang="en-US" sz="1400" dirty="0">
                <a:solidFill>
                  <a:schemeClr val="tx1"/>
                </a:solidFill>
              </a:rPr>
              <a:t>  Each campaign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prediction: input and output</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1"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Intro and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Literature research"/>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Data extraction and database"/>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L framework"/>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Models and results"/>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5669280" y="6355080"/>
            <a:ext cx="320040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campaigns, no ML model predicts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campaign's description and the other campaigns' data cuts the error to 2.71 pp (curve 3.13 pp); the gain remains when everything identifying a campaign is hidden.</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campaigns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campaign, and with MRI scans only</a:t>
            </a:r>
            <a:endParaRPr lang="en-US" sz="2000" dirty="0"/>
          </a:p>
          <a:p>
            <a:pPr marL="342900" indent="-342900">
              <a:spcAft>
                <a:spcPts val="400"/>
              </a:spcAft>
              <a:buSzPct val="100000"/>
              <a:buChar char="•"/>
            </a:pPr>
            <a:r>
              <a:rPr lang="en-US" sz="1800" dirty="0">
                <a:solidFill>
                  <a:schemeClr val="tx1"/>
                </a:solidFill>
              </a:rPr>
              <a:t>Extend the prediction to a 180-day mission, with an uncertainty range</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Sources (searched 4 September 2026)</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AA3AE"/>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AA3AE"/>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AA3AE"/>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2026-10-06T12:42:11Z</dcterms:created>
  <dcterms:modified xsi:type="dcterms:W3CDTF">2026-10-06T12:42:11Z</dcterms:modified>
</cp:coreProperties>
</file>