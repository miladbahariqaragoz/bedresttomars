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f52d662-2b16-443c-3a1e-819ff3b7bf12}">
          <p14:sldIdLst>
            <p14:sldId id="256"/>
            <p14:sldId id="257"/>
          </p14:sldIdLst>
        </p14:section>
        <p14:section name="Part 1" id="{f6553fc3-ae20-2f24-f650-dd445cb5bec4}">
          <p14:sldIdLst>
            <p14:sldId id="258"/>
            <p14:sldId id="259"/>
            <p14:sldId id="260"/>
            <p14:sldId id="261"/>
            <p14:sldId id="262"/>
            <p14:sldId id="263"/>
          </p14:sldIdLst>
        </p14:section>
        <p14:section name="Part 2" id="{8a63f07a-e28a-876f-e84e-3f01d9140f31}">
          <p14:sldIdLst>
            <p14:sldId id="264"/>
            <p14:sldId id="265"/>
            <p14:sldId id="266"/>
            <p14:sldId id="267"/>
            <p14:sldId id="268"/>
          </p14:sldIdLst>
        </p14:section>
        <p14:section name="Backup" id="{1bd555b7-e76a-8cc5-63b1-23c59866518c}">
          <p14:sldIdLst>
            <p14:sldId id="269"/>
            <p14:sldId id="270"/>
            <p14:sldId id="271"/>
            <p14:sldId id="272"/>
            <p14:sldId id="273"/>
          </p14:sldIdLst>
        </p14:section>
        <p14:section name="Backup" id="{5c597753-41da-bb2c-8a22-cb09ffb5c134}">
          <p14:sldIdLst/>
        </p14:section>
        <p14:section name="Backup" id="{84a4425f-970f-6a63-1128-7c4907b7dd7a}">
          <p14:sldIdLst/>
        </p14:section>
        <p14:section name="Backup" id="{49ddf9fb-bbe8-7dd7-b941-f9cb396309c9}">
          <p14:sldIdLst/>
        </p14:section>
        <p14:section name="Backup" id="{14c8cb95-81c5-3d0f-7831-8e55cd6cbb8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campaign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 language model that reads each campaign's description and the other campaigns' data reduces the error from 3.13 to 2.71 points. The limitations and next steps are on the slide; the main one is that 32 campaigns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used, results, LLM validity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0"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Literature research"/>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Unloading shrinks leg muscles</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Literature research"/>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38" name="Text 36"/>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Studies published per year, by length of unloading</a:t>
            </a:r>
            <a:endParaRPr lang="en-US" sz="1400" dirty="0"/>
          </a:p>
        </p:txBody>
      </p:sp>
      <p:sp>
        <p:nvSpPr>
          <p:cNvPr id="39" name="Text 37"/>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0" name="Text 38"/>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1" name="Legend 180 days (spaceflight)"/>
          <p:cNvSpPr/>
          <p:nvPr/>
        </p:nvSpPr>
        <p:spPr>
          <a:xfrm>
            <a:off x="548640" y="4261104"/>
            <a:ext cx="201168" cy="164592"/>
          </a:xfrm>
          <a:prstGeom prst="rect">
            <a:avLst/>
          </a:prstGeom>
          <a:solidFill>
            <a:srgbClr val="A23B2A"/>
          </a:solidFill>
          <a:ln/>
        </p:spPr>
      </p:sp>
      <p:sp>
        <p:nvSpPr>
          <p:cNvPr id="42" name="Text 40"/>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3" name="Legend 61 to 119 days"/>
          <p:cNvSpPr/>
          <p:nvPr/>
        </p:nvSpPr>
        <p:spPr>
          <a:xfrm>
            <a:off x="548640" y="4590288"/>
            <a:ext cx="201168" cy="164592"/>
          </a:xfrm>
          <a:prstGeom prst="rect">
            <a:avLst/>
          </a:prstGeom>
          <a:solidFill>
            <a:srgbClr val="1F3A5F"/>
          </a:solidFill>
          <a:ln/>
        </p:spPr>
      </p:sp>
      <p:sp>
        <p:nvSpPr>
          <p:cNvPr id="44" name="Text 42"/>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5" name="Legend 31 to 60 days"/>
          <p:cNvSpPr/>
          <p:nvPr/>
        </p:nvSpPr>
        <p:spPr>
          <a:xfrm>
            <a:off x="548640" y="4919472"/>
            <a:ext cx="201168" cy="164592"/>
          </a:xfrm>
          <a:prstGeom prst="rect">
            <a:avLst/>
          </a:prstGeom>
          <a:solidFill>
            <a:srgbClr val="56739A"/>
          </a:solidFill>
          <a:ln/>
        </p:spPr>
      </p:sp>
      <p:sp>
        <p:nvSpPr>
          <p:cNvPr id="46" name="Text 44"/>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47" name="Legend 15 to 30 days"/>
          <p:cNvSpPr/>
          <p:nvPr/>
        </p:nvSpPr>
        <p:spPr>
          <a:xfrm>
            <a:off x="548640" y="5248656"/>
            <a:ext cx="201168" cy="164592"/>
          </a:xfrm>
          <a:prstGeom prst="rect">
            <a:avLst/>
          </a:prstGeom>
          <a:solidFill>
            <a:srgbClr val="8FA3BB"/>
          </a:solidFill>
          <a:ln/>
        </p:spPr>
      </p:sp>
      <p:sp>
        <p:nvSpPr>
          <p:cNvPr id="48" name="Text 46"/>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49" name="Legend 5 to 14 days"/>
          <p:cNvSpPr/>
          <p:nvPr/>
        </p:nvSpPr>
        <p:spPr>
          <a:xfrm>
            <a:off x="548640" y="5577840"/>
            <a:ext cx="201168" cy="164592"/>
          </a:xfrm>
          <a:prstGeom prst="rect">
            <a:avLst/>
          </a:prstGeom>
          <a:solidFill>
            <a:srgbClr val="C9D2DD"/>
          </a:solidFill>
          <a:ln/>
        </p:spPr>
      </p:sp>
      <p:sp>
        <p:nvSpPr>
          <p:cNvPr id="50" name="Text 48"/>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1"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Grid 0"/>
          <p:cNvSpPr/>
          <p:nvPr/>
        </p:nvSpPr>
        <p:spPr>
          <a:xfrm>
            <a:off x="1234440" y="1371600"/>
            <a:ext cx="6309360" cy="0"/>
          </a:xfrm>
          <a:prstGeom prst="line">
            <a:avLst/>
          </a:prstGeom>
          <a:noFill/>
          <a:ln w="9525">
            <a:solidFill>
              <a:srgbClr val="6B7280"/>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5E7EB"/>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5E7EB"/>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5E7EB"/>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5E7EB"/>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5E7EB"/>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5E7EB"/>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1A1A1A"/>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6B7280"/>
            </a:solidFill>
            <a:prstDash val="solid"/>
          </a:ln>
        </p:spPr>
      </p:sp>
      <p:sp>
        <p:nvSpPr>
          <p:cNvPr id="35" name="Deep hip rotators at day 60"/>
          <p:cNvSpPr/>
          <p:nvPr/>
        </p:nvSpPr>
        <p:spPr>
          <a:xfrm>
            <a:off x="4338828" y="1628966"/>
            <a:ext cx="100584" cy="100584"/>
          </a:xfrm>
          <a:prstGeom prst="ellipse">
            <a:avLst/>
          </a:prstGeom>
          <a:solidFill>
            <a:srgbClr val="6B7280"/>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17A2B8"/>
            </a:solidFill>
            <a:prstDash val="solid"/>
          </a:ln>
        </p:spPr>
      </p:sp>
      <p:sp>
        <p:nvSpPr>
          <p:cNvPr id="37" name="Inner thigh (hip adductors) at day 60"/>
          <p:cNvSpPr/>
          <p:nvPr/>
        </p:nvSpPr>
        <p:spPr>
          <a:xfrm>
            <a:off x="4338828" y="2195703"/>
            <a:ext cx="100584" cy="100584"/>
          </a:xfrm>
          <a:prstGeom prst="ellipse">
            <a:avLst/>
          </a:prstGeom>
          <a:solidFill>
            <a:srgbClr val="17A2B8"/>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8C564B"/>
            </a:solidFill>
            <a:prstDash val="solid"/>
          </a:ln>
        </p:spPr>
      </p:sp>
      <p:sp>
        <p:nvSpPr>
          <p:cNvPr id="39" name="Glutes (hip extensors) at day 60"/>
          <p:cNvSpPr/>
          <p:nvPr/>
        </p:nvSpPr>
        <p:spPr>
          <a:xfrm>
            <a:off x="4338828" y="2309050"/>
            <a:ext cx="100584" cy="100584"/>
          </a:xfrm>
          <a:prstGeom prst="ellipse">
            <a:avLst/>
          </a:prstGeom>
          <a:solidFill>
            <a:srgbClr val="8C564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2E8B57"/>
            </a:solidFill>
            <a:prstDash val="solid"/>
          </a:ln>
        </p:spPr>
      </p:sp>
      <p:sp>
        <p:nvSpPr>
          <p:cNvPr id="41" name="Hip flexors at day 60"/>
          <p:cNvSpPr/>
          <p:nvPr/>
        </p:nvSpPr>
        <p:spPr>
          <a:xfrm>
            <a:off x="4338828" y="2422398"/>
            <a:ext cx="100584" cy="100584"/>
          </a:xfrm>
          <a:prstGeom prst="ellipse">
            <a:avLst/>
          </a:prstGeom>
          <a:solidFill>
            <a:srgbClr val="2E8B57"/>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BA8"/>
            </a:solidFill>
            <a:prstDash val="solid"/>
          </a:ln>
        </p:spPr>
      </p:sp>
      <p:sp>
        <p:nvSpPr>
          <p:cNvPr id="43" name="Outer hip (hip abductors) at day 60"/>
          <p:cNvSpPr/>
          <p:nvPr/>
        </p:nvSpPr>
        <p:spPr>
          <a:xfrm>
            <a:off x="4338828" y="2794825"/>
            <a:ext cx="100584" cy="100584"/>
          </a:xfrm>
          <a:prstGeom prst="ellipse">
            <a:avLst/>
          </a:prstGeom>
          <a:solidFill>
            <a:srgbClr val="7B6BA8"/>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C78A8"/>
            </a:solidFill>
            <a:prstDash val="solid"/>
          </a:ln>
        </p:spPr>
      </p:sp>
      <p:sp>
        <p:nvSpPr>
          <p:cNvPr id="45" name="Back thigh (knee flexors) at day 60"/>
          <p:cNvSpPr/>
          <p:nvPr/>
        </p:nvSpPr>
        <p:spPr>
          <a:xfrm>
            <a:off x="4338828" y="2908173"/>
            <a:ext cx="100584" cy="100584"/>
          </a:xfrm>
          <a:prstGeom prst="ellipse">
            <a:avLst/>
          </a:prstGeom>
          <a:solidFill>
            <a:srgbClr val="4C78A8"/>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1F3A5F"/>
            </a:solidFill>
            <a:prstDash val="solid"/>
          </a:ln>
        </p:spPr>
      </p:sp>
      <p:sp>
        <p:nvSpPr>
          <p:cNvPr id="47" name="Front thigh (knee extensors) at day 60"/>
          <p:cNvSpPr/>
          <p:nvPr/>
        </p:nvSpPr>
        <p:spPr>
          <a:xfrm>
            <a:off x="4338828" y="2956751"/>
            <a:ext cx="100584" cy="100584"/>
          </a:xfrm>
          <a:prstGeom prst="ellipse">
            <a:avLst/>
          </a:prstGeom>
          <a:solidFill>
            <a:srgbClr val="1F3A5F"/>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D08C34"/>
            </a:solidFill>
            <a:prstDash val="solid"/>
          </a:ln>
        </p:spPr>
      </p:sp>
      <p:sp>
        <p:nvSpPr>
          <p:cNvPr id="49" name="Shin (dorsiflexors) at day 60"/>
          <p:cNvSpPr/>
          <p:nvPr/>
        </p:nvSpPr>
        <p:spPr>
          <a:xfrm>
            <a:off x="4338828" y="2972943"/>
            <a:ext cx="100584" cy="100584"/>
          </a:xfrm>
          <a:prstGeom prst="ellipse">
            <a:avLst/>
          </a:prstGeom>
          <a:solidFill>
            <a:srgbClr val="D08C34"/>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3B2A"/>
            </a:solidFill>
            <a:prstDash val="solid"/>
          </a:ln>
        </p:spPr>
      </p:sp>
      <p:sp>
        <p:nvSpPr>
          <p:cNvPr id="51" name="Calf (plantar flexors) at day 60"/>
          <p:cNvSpPr/>
          <p:nvPr/>
        </p:nvSpPr>
        <p:spPr>
          <a:xfrm>
            <a:off x="4338828" y="3879723"/>
            <a:ext cx="100584" cy="100584"/>
          </a:xfrm>
          <a:prstGeom prst="ellipse">
            <a:avLst/>
          </a:prstGeom>
          <a:solidFill>
            <a:srgbClr val="A23B2A"/>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6B7280"/>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6B7280"/>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17A2B8"/>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17A2B8"/>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8C564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8C564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2E8B57"/>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2E8B57"/>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7B6BA8"/>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BA8"/>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4C78A8"/>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C78A8"/>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1F3A5F"/>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1F3A5F"/>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D08C34"/>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D08C34"/>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3B2A"/>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3B2A"/>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Lines: one shared time course (saturating, τ = 60 days) scaled to each group's estimate at day 60.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campaign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prediction</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campaign, train on the rest, repeat 32 times</a:t>
            </a:r>
            <a:endParaRPr lang="en-US" sz="1500" dirty="0"/>
          </a:p>
        </p:txBody>
      </p:sp>
      <p:sp>
        <p:nvSpPr>
          <p:cNvPr id="20" name="Training campaign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campaign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campaign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campaign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campaign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campaign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campaign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campaign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campaign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campaign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campaign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campaign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campaign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campaign"/>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campaign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campaign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campaign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campaign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campaign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campaign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campaign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campaign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campaign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campaign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campaign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campaign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campaign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campaign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campaign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campaign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campaign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campaign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Red: the held-out test campaign.</a:t>
            </a:r>
            <a:pPr indent="0" marL="0">
              <a:buNone/>
            </a:pPr>
            <a:r>
              <a:rPr lang="en-US" sz="1400" dirty="0">
                <a:solidFill>
                  <a:schemeClr val="tx1"/>
                </a:solidFill>
              </a:rPr>
              <a:t>  Each campaign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prediction: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prediction has the lowest error of all models</a:t>
            </a:r>
            <a:endParaRPr lang="en-US" sz="2800" dirty="0"/>
          </a:p>
        </p:txBody>
      </p:sp>
      <p:graphicFrame>
        <p:nvGraphicFramePr>
          <p:cNvPr id="11"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prediction</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campaigns, no ML model predicts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campaign's description and the other campaigns' data cuts the error to 2.71 pp (curve 3.13 pp); the gain remains when everything identifying a campaign is hidden.</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campaigns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campaign, and with MRI scans only</a:t>
            </a:r>
            <a:endParaRPr lang="en-US" sz="2000" dirty="0"/>
          </a:p>
          <a:p>
            <a:pPr marL="342900" indent="-342900">
              <a:spcAft>
                <a:spcPts val="400"/>
              </a:spcAft>
              <a:buSzPct val="100000"/>
              <a:buChar char="•"/>
            </a:pPr>
            <a:r>
              <a:rPr lang="en-US" sz="1800" dirty="0">
                <a:solidFill>
                  <a:schemeClr val="tx1"/>
                </a:solidFill>
              </a:rPr>
              <a:t>Extend the prediction to a 180-day mission, with an uncertainty range</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how did we search the literature?</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Sources (searched 4 September 2026)</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AA3AE"/>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AA3AE"/>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AA3AE"/>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2026-10-06T12:39:53Z</dcterms:created>
  <dcterms:modified xsi:type="dcterms:W3CDTF">2026-10-06T12:39:53Z</dcterms:modified>
</cp:coreProperties>
</file>