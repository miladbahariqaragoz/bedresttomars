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2e7efd-b591-4e93-6056-2e08e54cbaba}">
          <p14:sldIdLst>
            <p14:sldId id="256"/>
            <p14:sldId id="257"/>
            <p14:sldId id="269"/>
          </p14:sldIdLst>
        </p14:section>
        <p14:section name="Part 1" id="{318e3589-0fb6-613a-fe48-43be1782e14d}">
          <p14:sldIdLst>
            <p14:sldId id="258"/>
            <p14:sldId id="259"/>
            <p14:sldId id="260"/>
            <p14:sldId id="261"/>
            <p14:sldId id="262"/>
            <p14:sldId id="263"/>
          </p14:sldIdLst>
        </p14:section>
        <p14:section name="Part 2" id="{11f8fe13-e838-8bb1-82a6-603fbcf7080e}">
          <p14:sldIdLst>
            <p14:sldId id="264"/>
            <p14:sldId id="265"/>
            <p14:sldId id="266"/>
            <p14:sldId id="267"/>
            <p14:sldId id="268"/>
          </p14:sldIdLst>
        </p14:section>
        <p14:section name="Opening" id="{6e1a713f-666e-06db-7fbe-12358afc1726}">
          <p14:sldIdLst/>
        </p14:section>
        <p14:section name="Backup" id="{0e3c7913-d825-b7ef-edcc-daf4454785cd}">
          <p14:sldIdLst>
            <p14:sldId id="270"/>
            <p14:sldId id="271"/>
            <p14:sldId id="272"/>
            <p14:sldId id="273"/>
            <p14:sldId id="274"/>
            <p14:sldId id="275"/>
            <p14:sldId id="276"/>
          </p14:sldIdLst>
        </p14:section>
        <p14:section name="Backup" id="{8fb47547-3ec1-deb7-13d4-2c814546d454}">
          <p14:sldIdLst/>
        </p14:section>
        <p14:section name="Backup" id="{071c6169-074b-613f-66ca-d0b3231fe3b1}">
          <p14:sldIdLst/>
        </p14:section>
        <p14:section name="Backup" id="{9efe4c1d-47a7-ff20-7340-c9b3116da5b2}">
          <p14:sldIdLst/>
        </p14:section>
        <p14:section name="Backup" id="{59787599-f5be-45c0-cfa3-97f0adafc154}">
          <p14:sldIdLst/>
        </p14:section>
        <p14:section name="Backup" id="{b549ca3d-5aa2-9626-2fdc-f4d6ade563d9}">
          <p14:sldIdLst/>
        </p14:section>
        <p14:section name="Backup" id="{5f27dd35-ab38-6611-0d13-7d58b3d9ee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3,600 records remained. 2,493 were excluded, mostly because they did not use an unloading model or did not measure muscle, and 1,023 could not be screened in the time we had, so they did not go further.
We sought 84 full texts. The main loss at this step: 19 studies show their muscle results only as charts, without a baseline value, so we could not extract them; 4 full texts were not available and 11 were excluded. These full-text counts are as recorded in our screening log and are still being reconciled with the dataset, so do not claim they add up exactly.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Stress this: every row is a group average, so the model predicts the average loss of a group of volunteers. It cannot yet predict the risk for an individual astronaut.
Further work has three steps. First, estimate how susceptible each muscle is relative to a reference muscle, and combine those coefficients with baseline muscle volumes to estimate total lower-limb volume loss; the dataset has 30 group time points where three or more muscles were scanned together, across 14 campaigns, so this can be tested. Second, move from group averages to individuals with participant-level data over time, and link muscle loss to strength and function. Third, validate on independent campaigns and on spaceflight data before building any personal risk-assessment tool. These are plans, not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and 18, data and search on 15 and 16, part 2 on 19 to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 The 271 men-only rows and 100 countermeasure rows are our count on the 346 modelling rows; the report gives the same point on the 425 lower-limb rows before duplicate composites were removed (347 men-only, 126 countermeasure).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results, LLM robustness and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237744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 (Apollo 17)</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10 from other sources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records after removing duplicates</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sought</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a:p>
            <a:pPr algn="ctr" indent="0" marL="0">
              <a:buNone/>
            </a:pPr>
            <a:r>
              <a:rPr lang="en-US" sz="1100" dirty="0">
                <a:solidFill>
                  <a:schemeClr val="accent3"/>
                </a:solidFill>
              </a:rPr>
              <a:t>1,023 not screened in time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a:p>
            <a:pPr algn="ctr" indent="0" marL="0">
              <a:buNone/>
            </a:pPr>
            <a:r>
              <a:rPr lang="en-US" sz="1100" dirty="0">
                <a:solidFill>
                  <a:schemeClr val="accent3"/>
                </a:solidFill>
              </a:rPr>
              <a:t>11 excluded at full text</a:t>
            </a:r>
            <a:endParaRPr lang="en-US" sz="1100" dirty="0"/>
          </a:p>
        </p:txBody>
      </p:sp>
      <p:sp>
        <p:nvSpPr>
          <p:cNvPr id="38" name="Text 34"/>
          <p:cNvSpPr txBox="1"/>
          <p:nvPr/>
        </p:nvSpPr>
        <p:spPr>
          <a:xfrm>
            <a:off x="548640" y="580644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Full-text counts as recorded; they are still being reconciled with the dataset.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averages the range midpoints, weighted by probability (open ends count as −31% and +5%): −6.6%</a:t>
            </a:r>
            <a:endParaRPr lang="en-US" sz="1300" dirty="0"/>
          </a:p>
          <a:p>
            <a:pPr marL="342900" indent="-342900">
              <a:spcAft>
                <a:spcPts val="400"/>
              </a:spcAft>
              <a:buSzPct val="100000"/>
              <a:buChar char="•"/>
            </a:pPr>
            <a:r>
              <a:rPr lang="en-US" sz="1300" dirty="0">
                <a:solidFill>
                  <a:schemeClr val="tx1"/>
                </a:solidFill>
              </a:rPr>
              <a:t>Measured: −9.4%, an error of 2.8 pp, a typical row</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Robustness and 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not individual astronauts</a:t>
            </a:r>
            <a:endParaRPr lang="en-US" sz="2000" dirty="0"/>
          </a:p>
          <a:p>
            <a:pPr marL="342900" indent="-342900">
              <a:spcAft>
                <a:spcPts val="400"/>
              </a:spcAft>
              <a:buSzPct val="100000"/>
              <a:buChar char="•"/>
            </a:pPr>
            <a:r>
              <a:rPr lang="en-US" sz="1800" dirty="0">
                <a:solidFill>
                  <a:schemeClr val="tx1"/>
                </a:solidFill>
              </a:rPr>
              <a:t>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10312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600" dirty="0">
                <a:solidFill>
                  <a:schemeClr val="tx1"/>
                </a:solidFill>
              </a:rPr>
              <a:t>Muscle-specific modelling: estimate each muscle's susceptibility and combine it with baseline volumes into total lower-limb volume loss</a:t>
            </a:r>
            <a:endParaRPr lang="en-US" sz="2000" dirty="0"/>
          </a:p>
          <a:p>
            <a:pPr marL="342900" indent="-342900">
              <a:spcAft>
                <a:spcPts val="400"/>
              </a:spcAft>
              <a:buSzPct val="100000"/>
              <a:buChar char="•"/>
            </a:pPr>
            <a:r>
              <a:rPr lang="en-US" sz="1600" dirty="0">
                <a:solidFill>
                  <a:schemeClr val="tx1"/>
                </a:solidFill>
              </a:rPr>
              <a:t>Individual and functional prediction: participant-level data over time, linked to strength and function</a:t>
            </a:r>
            <a:endParaRPr lang="en-US" sz="2000" dirty="0"/>
          </a:p>
          <a:p>
            <a:pPr marL="342900" indent="-342900">
              <a:spcAft>
                <a:spcPts val="400"/>
              </a:spcAft>
              <a:buSzPct val="100000"/>
              <a:buChar char="•"/>
            </a:pPr>
            <a:r>
              <a:rPr lang="en-US" sz="1600" dirty="0">
                <a:solidFill>
                  <a:schemeClr val="tx1"/>
                </a:solidFill>
              </a:rPr>
              <a:t>Validation on independent campaigns and spaceflight data before any personal risk-assessment tool</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1,023 records not screened in time (slide 6)</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not people: men only 567, mixed 113, women only 40 (35 of them WISE-2005), not reported 22</a:t>
            </a:r>
            <a:endParaRPr lang="en-US" sz="1500" dirty="0"/>
          </a:p>
          <a:p>
            <a:pPr marL="342900" indent="-342900">
              <a:spcAft>
                <a:spcPts val="400"/>
              </a:spcAft>
              <a:buSzPct val="100000"/>
              <a:buChar char="•"/>
            </a:pPr>
            <a:r>
              <a:rPr lang="en-US" sz="1400" dirty="0">
                <a:solidFill>
                  <a:schemeClr val="tx1"/>
                </a:solidFill>
              </a:rPr>
              <a:t>Healthy young 692, middle-aged 8,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(271 of the 346 modelling rows men-only), so they act as a campaign label; 100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2026-10-09T11:34:50Z</dcterms:created>
  <dcterms:modified xsi:type="dcterms:W3CDTF">2026-10-09T11:34:50Z</dcterms:modified>
</cp:coreProperties>
</file>