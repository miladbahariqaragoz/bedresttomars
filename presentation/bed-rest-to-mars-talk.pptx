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64270cf-b046-7e87-01f0-f79a78f90322}">
          <p14:sldIdLst>
            <p14:sldId id="256"/>
            <p14:sldId id="257"/>
          </p14:sldIdLst>
        </p14:section>
        <p14:section name="Part 1" id="{9030eaab-a23b-f567-8326-f43362db3fb2}">
          <p14:sldIdLst>
            <p14:sldId id="258"/>
            <p14:sldId id="259"/>
            <p14:sldId id="260"/>
            <p14:sldId id="261"/>
            <p14:sldId id="262"/>
            <p14:sldId id="263"/>
            <p14:sldId id="264"/>
          </p14:sldIdLst>
        </p14:section>
        <p14:section name="Part 2" id="{1402b37b-4606-0270-91d1-3d458d800aed}">
          <p14:sldIdLst>
            <p14:sldId id="265"/>
            <p14:sldId id="266"/>
            <p14:sldId id="267"/>
            <p14:sldId id="268"/>
            <p14:sldId id="269"/>
            <p14:sldId id="270"/>
            <p14:sldId id="271"/>
          </p14:sldIdLst>
        </p14:section>
        <p14:section name="Backup" id="{d6c80283-cae9-0b78-5738-0f06981981eb}">
          <p14:sldIdLst>
            <p14:sldId id="272"/>
            <p14:sldId id="273"/>
            <p14:sldId id="274"/>
            <p14:sldId id="275"/>
          </p14:sldIdLst>
        </p14:section>
        <p14:section name="Backup" id="{7d78bfde-eab1-e412-4406-868e32b5b458}">
          <p14:sldIdLst/>
        </p14:section>
        <p14:section name="Backup" id="{3051625c-a487-34f6-6e27-ba74b2a90707}">
          <p14:sldIdLst/>
        </p14:section>
        <p14:section name="Backup" id="{d3ea5abc-fa71-8959-de0a-926ac3e7920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the dataset held 15 studies. After submission we kept extending it, and the final dataset has 52 studies. They were published between 1992 and 2026 and cover unloading from 5 days to 180 days: up to 119 days of bed rest on the ground, and 180 days in spaceflight.
On the right, each dot is one study, placed by its year of publication and how long the unloading lasted. Most studies are head-down or horizontal bed rest; the three spaceflight studies sit at 180 days.
The 52 studies come from 36 independent campaigns, because one bed-rest campaign often produces several papers. Together they give 742 measurements of leg muscle size, taken with MRI, CT, DXA or ultrasound.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188720"/>
            <a:ext cx="5394960" cy="320040"/>
          </a:xfrm>
          <a:prstGeom prst="rect">
            <a:avLst/>
          </a:prstGeom>
          <a:noFill/>
          <a:ln/>
        </p:spPr>
        <p:txBody>
          <a:bodyPr wrap="square" lIns="0" tIns="0" rIns="0" bIns="0" rtlCol="0" anchor="t"/>
          <a:lstStyle/>
          <a:p>
            <a:pPr indent="0" marL="0">
              <a:buNone/>
            </a:pPr>
            <a:r>
              <a:rPr lang="en-US" sz="1700" b="1" dirty="0">
                <a:solidFill>
                  <a:schemeClr val="tx2"/>
                </a:solidFill>
              </a:rPr>
              <a:t>The dataset grew after the abstract</a:t>
            </a:r>
            <a:endParaRPr lang="en-US" sz="1700" dirty="0"/>
          </a:p>
        </p:txBody>
      </p:sp>
      <p:sp>
        <p:nvSpPr>
          <p:cNvPr id="12" name="Text 10"/>
          <p:cNvSpPr txBox="1"/>
          <p:nvPr/>
        </p:nvSpPr>
        <p:spPr>
          <a:xfrm>
            <a:off x="548640" y="1645920"/>
            <a:ext cx="1874520" cy="365760"/>
          </a:xfrm>
          <a:prstGeom prst="rect">
            <a:avLst/>
          </a:prstGeom>
          <a:noFill/>
          <a:ln/>
        </p:spPr>
        <p:txBody>
          <a:bodyPr wrap="square" lIns="0" tIns="0" rIns="0" bIns="0" rtlCol="0" anchor="ctr"/>
          <a:lstStyle/>
          <a:p>
            <a:pPr indent="0" marL="0">
              <a:buNone/>
            </a:pPr>
            <a:r>
              <a:rPr lang="en-US" sz="1400" dirty="0">
                <a:solidFill>
                  <a:schemeClr val="tx1"/>
                </a:solidFill>
              </a:rPr>
              <a:t>Abstract submission</a:t>
            </a:r>
            <a:endParaRPr lang="en-US" sz="1400" dirty="0"/>
          </a:p>
        </p:txBody>
      </p:sp>
      <p:sp>
        <p:nvSpPr>
          <p:cNvPr id="13" name="Abstract submission bar"/>
          <p:cNvSpPr/>
          <p:nvPr/>
        </p:nvSpPr>
        <p:spPr>
          <a:xfrm>
            <a:off x="2514600" y="1682496"/>
            <a:ext cx="633046" cy="292608"/>
          </a:xfrm>
          <a:prstGeom prst="rect">
            <a:avLst/>
          </a:prstGeom>
          <a:solidFill>
            <a:srgbClr val="A7AEB8"/>
          </a:solidFill>
          <a:ln/>
        </p:spPr>
      </p:sp>
      <p:sp>
        <p:nvSpPr>
          <p:cNvPr id="14" name="Text 12"/>
          <p:cNvSpPr txBox="1"/>
          <p:nvPr/>
        </p:nvSpPr>
        <p:spPr>
          <a:xfrm>
            <a:off x="3239086" y="1645920"/>
            <a:ext cx="1280160" cy="365760"/>
          </a:xfrm>
          <a:prstGeom prst="rect">
            <a:avLst/>
          </a:prstGeom>
          <a:noFill/>
          <a:ln/>
        </p:spPr>
        <p:txBody>
          <a:bodyPr wrap="square" lIns="0" tIns="0" rIns="0" bIns="0" rtlCol="0" anchor="ctr"/>
          <a:lstStyle/>
          <a:p>
            <a:pPr indent="0" marL="0">
              <a:buNone/>
            </a:pPr>
            <a:r>
              <a:rPr lang="en-US" sz="1400" b="1" dirty="0">
                <a:solidFill>
                  <a:schemeClr val="tx1"/>
                </a:solidFill>
              </a:rPr>
              <a:t>15 studies</a:t>
            </a:r>
            <a:endParaRPr lang="en-US" sz="1400" dirty="0"/>
          </a:p>
        </p:txBody>
      </p:sp>
      <p:sp>
        <p:nvSpPr>
          <p:cNvPr id="15" name="Text 13"/>
          <p:cNvSpPr txBox="1"/>
          <p:nvPr/>
        </p:nvSpPr>
        <p:spPr>
          <a:xfrm>
            <a:off x="548640" y="2148840"/>
            <a:ext cx="1874520" cy="365760"/>
          </a:xfrm>
          <a:prstGeom prst="rect">
            <a:avLst/>
          </a:prstGeom>
          <a:noFill/>
          <a:ln/>
        </p:spPr>
        <p:txBody>
          <a:bodyPr wrap="square" lIns="0" tIns="0" rIns="0" bIns="0" rtlCol="0" anchor="ctr"/>
          <a:lstStyle/>
          <a:p>
            <a:pPr indent="0" marL="0">
              <a:buNone/>
            </a:pPr>
            <a:r>
              <a:rPr lang="en-US" sz="1400" dirty="0">
                <a:solidFill>
                  <a:schemeClr val="tx1"/>
                </a:solidFill>
              </a:rPr>
              <a:t>Final dataset</a:t>
            </a:r>
            <a:endParaRPr lang="en-US" sz="1400" dirty="0"/>
          </a:p>
        </p:txBody>
      </p:sp>
      <p:sp>
        <p:nvSpPr>
          <p:cNvPr id="16" name="Final dataset bar"/>
          <p:cNvSpPr/>
          <p:nvPr/>
        </p:nvSpPr>
        <p:spPr>
          <a:xfrm>
            <a:off x="2514600" y="2185416"/>
            <a:ext cx="2194560" cy="292608"/>
          </a:xfrm>
          <a:prstGeom prst="rect">
            <a:avLst/>
          </a:prstGeom>
          <a:solidFill>
            <a:srgbClr val="1F3A5F"/>
          </a:solidFill>
          <a:ln/>
        </p:spPr>
      </p:sp>
      <p:sp>
        <p:nvSpPr>
          <p:cNvPr id="17" name="Text 15"/>
          <p:cNvSpPr txBox="1"/>
          <p:nvPr/>
        </p:nvSpPr>
        <p:spPr>
          <a:xfrm>
            <a:off x="4800600" y="2148840"/>
            <a:ext cx="1280160" cy="365760"/>
          </a:xfrm>
          <a:prstGeom prst="rect">
            <a:avLst/>
          </a:prstGeom>
          <a:noFill/>
          <a:ln/>
        </p:spPr>
        <p:txBody>
          <a:bodyPr wrap="square" lIns="0" tIns="0" rIns="0" bIns="0" rtlCol="0" anchor="ctr"/>
          <a:lstStyle/>
          <a:p>
            <a:pPr indent="0" marL="0">
              <a:buNone/>
            </a:pPr>
            <a:r>
              <a:rPr lang="en-US" sz="1400" b="1" dirty="0">
                <a:solidFill>
                  <a:schemeClr val="tx2"/>
                </a:solidFill>
              </a:rPr>
              <a:t>52 studies</a:t>
            </a:r>
            <a:endParaRPr lang="en-US" sz="1400" dirty="0"/>
          </a:p>
        </p:txBody>
      </p:sp>
      <p:sp>
        <p:nvSpPr>
          <p:cNvPr id="18" name="Text 16"/>
          <p:cNvSpPr txBox="1"/>
          <p:nvPr/>
        </p:nvSpPr>
        <p:spPr>
          <a:xfrm>
            <a:off x="548640" y="2788920"/>
            <a:ext cx="5394960" cy="320040"/>
          </a:xfrm>
          <a:prstGeom prst="rect">
            <a:avLst/>
          </a:prstGeom>
          <a:noFill/>
          <a:ln/>
        </p:spPr>
        <p:txBody>
          <a:bodyPr wrap="square" lIns="0" tIns="0" rIns="0" bIns="0" rtlCol="0" anchor="t"/>
          <a:lstStyle/>
          <a:p>
            <a:pPr indent="0" marL="0">
              <a:buNone/>
            </a:pPr>
            <a:r>
              <a:rPr lang="en-US" sz="1700" b="1" dirty="0">
                <a:solidFill>
                  <a:schemeClr val="tx2"/>
                </a:solidFill>
              </a:rPr>
              <a:t>Final dataset</a:t>
            </a:r>
            <a:endParaRPr lang="en-US" sz="17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394960" cy="914400"/>
        </p:xfrm>
        <a:graphic>
          <a:graphicData uri="http://schemas.openxmlformats.org/drawingml/2006/table">
            <a:tbl>
              <a:tblPr/>
              <a:tblGrid>
                <a:gridCol w="1600200"/>
                <a:gridCol w="3794760"/>
              </a:tblGrid>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Published</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1992 to 2026</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Unloading</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5 to 119 days on the ground; 180 days in spaceflight</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Campaigns</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36 independent campaigns (one campaign can yield several papers)</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Measurements</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742 (one per study, group, muscle and scan day)</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Designs</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bed rest 46 studies (head-down 27, horizontal 19), spaceflight 3, limb suspension 2, dry immersion 1</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0">
                <a:tc>
                  <a:txBody>
                    <a:bodyPr/>
                    <a:lstStyle/>
                    <a:p>
                      <a:pPr indent="0" marL="0">
                        <a:buNone/>
                      </a:pPr>
                      <a:r>
                        <a:rPr lang="en-US" sz="1300" b="1" dirty="0">
                          <a:solidFill>
                            <a:srgbClr val="1F3A5F"/>
                          </a:solidFill>
                          <a:latin typeface="Calibri" pitchFamily="34" charset="0"/>
                          <a:ea typeface="Calibri" pitchFamily="34" charset="-122"/>
                          <a:cs typeface="Calibri" pitchFamily="34" charset="-120"/>
                        </a:rPr>
                        <a:t>Imaging</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indent="0" marL="0">
                        <a:buNone/>
                      </a:pPr>
                      <a:r>
                        <a:rPr lang="en-US" sz="1300" dirty="0">
                          <a:solidFill>
                            <a:srgbClr val="1A1A1A"/>
                          </a:solidFill>
                          <a:latin typeface="Calibri" pitchFamily="34" charset="0"/>
                          <a:ea typeface="Calibri" pitchFamily="34" charset="-122"/>
                          <a:cs typeface="Calibri" pitchFamily="34" charset="-120"/>
                        </a:rPr>
                        <a:t>MRI, CT, DXA and ultrasound</a:t>
                      </a:r>
                      <a:endParaRPr lang="en-US" sz="1300" dirty="0">
                        <a:latin typeface="Calibri" charset="0"/>
                        <a:ea typeface="Calibri" charset="0"/>
                        <a:cs typeface="Calibri" charset="0"/>
                      </a:endParaRPr>
                    </a:p>
                  </a:txBody>
                  <a:tcPr marL="0" marR="45720" marT="36576" marB="36576" anchor="t">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0" name="Range panel"/>
          <p:cNvSpPr/>
          <p:nvPr/>
        </p:nvSpPr>
        <p:spPr>
          <a:xfrm>
            <a:off x="6355080" y="1188720"/>
            <a:ext cx="5285232" cy="4937760"/>
          </a:xfrm>
          <a:prstGeom prst="rect">
            <a:avLst/>
          </a:prstGeom>
          <a:solidFill>
            <a:schemeClr val="bg2"/>
          </a:solidFill>
          <a:ln/>
        </p:spPr>
      </p:sp>
      <p:sp>
        <p:nvSpPr>
          <p:cNvPr id="21" name="Text 18"/>
          <p:cNvSpPr txBox="1"/>
          <p:nvPr/>
        </p:nvSpPr>
        <p:spPr>
          <a:xfrm>
            <a:off x="6537960" y="1280160"/>
            <a:ext cx="4919472" cy="292608"/>
          </a:xfrm>
          <a:prstGeom prst="rect">
            <a:avLst/>
          </a:prstGeom>
          <a:noFill/>
          <a:ln/>
        </p:spPr>
        <p:txBody>
          <a:bodyPr wrap="square" lIns="0" tIns="0" rIns="0" bIns="0" rtlCol="0" anchor="t"/>
          <a:lstStyle/>
          <a:p>
            <a:pPr indent="0" marL="0">
              <a:buNone/>
            </a:pPr>
            <a:r>
              <a:rPr lang="en-US" sz="1400" b="1" dirty="0">
                <a:solidFill>
                  <a:schemeClr val="tx2"/>
                </a:solidFill>
              </a:rPr>
              <a:t>Each dot is one study</a:t>
            </a:r>
            <a:endParaRPr lang="en-US" sz="1400" dirty="0"/>
          </a:p>
        </p:txBody>
      </p:sp>
      <p:sp>
        <p:nvSpPr>
          <p:cNvPr id="22" name="Grid 0"/>
          <p:cNvSpPr/>
          <p:nvPr/>
        </p:nvSpPr>
        <p:spPr>
          <a:xfrm>
            <a:off x="7086600" y="4983480"/>
            <a:ext cx="4343400" cy="0"/>
          </a:xfrm>
          <a:prstGeom prst="line">
            <a:avLst/>
          </a:prstGeom>
          <a:noFill/>
          <a:ln w="9525">
            <a:solidFill>
              <a:srgbClr val="6B7280"/>
            </a:solidFill>
            <a:prstDash val="solid"/>
          </a:ln>
        </p:spPr>
      </p:sp>
      <p:sp>
        <p:nvSpPr>
          <p:cNvPr id="23" name="Text 20"/>
          <p:cNvSpPr txBox="1"/>
          <p:nvPr/>
        </p:nvSpPr>
        <p:spPr>
          <a:xfrm>
            <a:off x="6629400" y="4882896"/>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24" name="Grid 30"/>
          <p:cNvSpPr/>
          <p:nvPr/>
        </p:nvSpPr>
        <p:spPr>
          <a:xfrm>
            <a:off x="7086600" y="4514248"/>
            <a:ext cx="4343400" cy="0"/>
          </a:xfrm>
          <a:prstGeom prst="line">
            <a:avLst/>
          </a:prstGeom>
          <a:noFill/>
          <a:ln w="9525">
            <a:solidFill>
              <a:srgbClr val="E5E7EB"/>
            </a:solidFill>
            <a:prstDash val="solid"/>
          </a:ln>
        </p:spPr>
      </p:sp>
      <p:sp>
        <p:nvSpPr>
          <p:cNvPr id="25" name="Text 22"/>
          <p:cNvSpPr txBox="1"/>
          <p:nvPr/>
        </p:nvSpPr>
        <p:spPr>
          <a:xfrm>
            <a:off x="6629400" y="4413664"/>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30</a:t>
            </a:r>
            <a:endParaRPr lang="en-US" sz="1000" dirty="0"/>
          </a:p>
        </p:txBody>
      </p:sp>
      <p:sp>
        <p:nvSpPr>
          <p:cNvPr id="26" name="Grid 60"/>
          <p:cNvSpPr/>
          <p:nvPr/>
        </p:nvSpPr>
        <p:spPr>
          <a:xfrm>
            <a:off x="7086600" y="4045017"/>
            <a:ext cx="4343400" cy="0"/>
          </a:xfrm>
          <a:prstGeom prst="line">
            <a:avLst/>
          </a:prstGeom>
          <a:noFill/>
          <a:ln w="9525">
            <a:solidFill>
              <a:srgbClr val="E5E7EB"/>
            </a:solidFill>
            <a:prstDash val="solid"/>
          </a:ln>
        </p:spPr>
      </p:sp>
      <p:sp>
        <p:nvSpPr>
          <p:cNvPr id="27" name="Text 24"/>
          <p:cNvSpPr txBox="1"/>
          <p:nvPr/>
        </p:nvSpPr>
        <p:spPr>
          <a:xfrm>
            <a:off x="6629400" y="3944433"/>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60</a:t>
            </a:r>
            <a:endParaRPr lang="en-US" sz="1000" dirty="0"/>
          </a:p>
        </p:txBody>
      </p:sp>
      <p:sp>
        <p:nvSpPr>
          <p:cNvPr id="28" name="Grid 90"/>
          <p:cNvSpPr/>
          <p:nvPr/>
        </p:nvSpPr>
        <p:spPr>
          <a:xfrm>
            <a:off x="7086600" y="3575785"/>
            <a:ext cx="4343400" cy="0"/>
          </a:xfrm>
          <a:prstGeom prst="line">
            <a:avLst/>
          </a:prstGeom>
          <a:noFill/>
          <a:ln w="9525">
            <a:solidFill>
              <a:srgbClr val="E5E7EB"/>
            </a:solidFill>
            <a:prstDash val="solid"/>
          </a:ln>
        </p:spPr>
      </p:sp>
      <p:sp>
        <p:nvSpPr>
          <p:cNvPr id="29" name="Text 26"/>
          <p:cNvSpPr txBox="1"/>
          <p:nvPr/>
        </p:nvSpPr>
        <p:spPr>
          <a:xfrm>
            <a:off x="6629400" y="3475201"/>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90</a:t>
            </a:r>
            <a:endParaRPr lang="en-US" sz="1000" dirty="0"/>
          </a:p>
        </p:txBody>
      </p:sp>
      <p:sp>
        <p:nvSpPr>
          <p:cNvPr id="30" name="Grid 120"/>
          <p:cNvSpPr/>
          <p:nvPr/>
        </p:nvSpPr>
        <p:spPr>
          <a:xfrm>
            <a:off x="7086600" y="3106554"/>
            <a:ext cx="4343400" cy="0"/>
          </a:xfrm>
          <a:prstGeom prst="line">
            <a:avLst/>
          </a:prstGeom>
          <a:noFill/>
          <a:ln w="9525">
            <a:solidFill>
              <a:srgbClr val="E5E7EB"/>
            </a:solidFill>
            <a:prstDash val="solid"/>
          </a:ln>
        </p:spPr>
      </p:sp>
      <p:sp>
        <p:nvSpPr>
          <p:cNvPr id="31" name="Text 28"/>
          <p:cNvSpPr txBox="1"/>
          <p:nvPr/>
        </p:nvSpPr>
        <p:spPr>
          <a:xfrm>
            <a:off x="6629400" y="3005970"/>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120</a:t>
            </a:r>
            <a:endParaRPr lang="en-US" sz="1000" dirty="0"/>
          </a:p>
        </p:txBody>
      </p:sp>
      <p:sp>
        <p:nvSpPr>
          <p:cNvPr id="32" name="Grid 150"/>
          <p:cNvSpPr/>
          <p:nvPr/>
        </p:nvSpPr>
        <p:spPr>
          <a:xfrm>
            <a:off x="7086600" y="2637322"/>
            <a:ext cx="4343400" cy="0"/>
          </a:xfrm>
          <a:prstGeom prst="line">
            <a:avLst/>
          </a:prstGeom>
          <a:noFill/>
          <a:ln w="9525">
            <a:solidFill>
              <a:srgbClr val="E5E7EB"/>
            </a:solidFill>
            <a:prstDash val="solid"/>
          </a:ln>
        </p:spPr>
      </p:sp>
      <p:sp>
        <p:nvSpPr>
          <p:cNvPr id="33" name="Text 30"/>
          <p:cNvSpPr txBox="1"/>
          <p:nvPr/>
        </p:nvSpPr>
        <p:spPr>
          <a:xfrm>
            <a:off x="6629400" y="2536738"/>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150</a:t>
            </a:r>
            <a:endParaRPr lang="en-US" sz="1000" dirty="0"/>
          </a:p>
        </p:txBody>
      </p:sp>
      <p:sp>
        <p:nvSpPr>
          <p:cNvPr id="34" name="Grid 180"/>
          <p:cNvSpPr/>
          <p:nvPr/>
        </p:nvSpPr>
        <p:spPr>
          <a:xfrm>
            <a:off x="7086600" y="2168091"/>
            <a:ext cx="4343400" cy="0"/>
          </a:xfrm>
          <a:prstGeom prst="line">
            <a:avLst/>
          </a:prstGeom>
          <a:noFill/>
          <a:ln w="9525">
            <a:solidFill>
              <a:srgbClr val="E5E7EB"/>
            </a:solidFill>
            <a:prstDash val="solid"/>
          </a:ln>
        </p:spPr>
      </p:sp>
      <p:sp>
        <p:nvSpPr>
          <p:cNvPr id="35" name="Text 32"/>
          <p:cNvSpPr txBox="1"/>
          <p:nvPr/>
        </p:nvSpPr>
        <p:spPr>
          <a:xfrm>
            <a:off x="6629400" y="2067507"/>
            <a:ext cx="384048" cy="201168"/>
          </a:xfrm>
          <a:prstGeom prst="rect">
            <a:avLst/>
          </a:prstGeom>
          <a:noFill/>
          <a:ln/>
        </p:spPr>
        <p:txBody>
          <a:bodyPr wrap="square" lIns="0" tIns="0" rIns="0" bIns="0" rtlCol="0" anchor="t"/>
          <a:lstStyle/>
          <a:p>
            <a:pPr algn="r" indent="0" marL="0">
              <a:buNone/>
            </a:pPr>
            <a:r>
              <a:rPr lang="en-US" sz="1000" dirty="0">
                <a:solidFill>
                  <a:schemeClr val="accent3"/>
                </a:solidFill>
              </a:rPr>
              <a:t>180</a:t>
            </a:r>
            <a:endParaRPr lang="en-US" sz="1000" dirty="0"/>
          </a:p>
        </p:txBody>
      </p:sp>
      <p:sp>
        <p:nvSpPr>
          <p:cNvPr id="36" name="Tick 1990"/>
          <p:cNvSpPr/>
          <p:nvPr/>
        </p:nvSpPr>
        <p:spPr>
          <a:xfrm>
            <a:off x="7086600" y="4983480"/>
            <a:ext cx="0" cy="54864"/>
          </a:xfrm>
          <a:prstGeom prst="line">
            <a:avLst/>
          </a:prstGeom>
          <a:noFill/>
          <a:ln w="9525">
            <a:solidFill>
              <a:srgbClr val="6B7280"/>
            </a:solidFill>
            <a:prstDash val="solid"/>
          </a:ln>
        </p:spPr>
      </p:sp>
      <p:sp>
        <p:nvSpPr>
          <p:cNvPr id="37" name="Text 34"/>
          <p:cNvSpPr txBox="1"/>
          <p:nvPr/>
        </p:nvSpPr>
        <p:spPr>
          <a:xfrm>
            <a:off x="6766560" y="5047488"/>
            <a:ext cx="640080" cy="201168"/>
          </a:xfrm>
          <a:prstGeom prst="rect">
            <a:avLst/>
          </a:prstGeom>
          <a:noFill/>
          <a:ln/>
        </p:spPr>
        <p:txBody>
          <a:bodyPr wrap="square" lIns="0" tIns="0" rIns="0" bIns="0" rtlCol="0" anchor="t"/>
          <a:lstStyle/>
          <a:p>
            <a:pPr algn="ctr" indent="0" marL="0">
              <a:buNone/>
            </a:pPr>
            <a:r>
              <a:rPr lang="en-US" sz="1000" dirty="0">
                <a:solidFill>
                  <a:schemeClr val="accent3"/>
                </a:solidFill>
              </a:rPr>
              <a:t>1990</a:t>
            </a:r>
            <a:endParaRPr lang="en-US" sz="1000" dirty="0"/>
          </a:p>
        </p:txBody>
      </p:sp>
      <p:sp>
        <p:nvSpPr>
          <p:cNvPr id="38" name="Tick 2000"/>
          <p:cNvSpPr/>
          <p:nvPr/>
        </p:nvSpPr>
        <p:spPr>
          <a:xfrm>
            <a:off x="8260492" y="4983480"/>
            <a:ext cx="0" cy="54864"/>
          </a:xfrm>
          <a:prstGeom prst="line">
            <a:avLst/>
          </a:prstGeom>
          <a:noFill/>
          <a:ln w="9525">
            <a:solidFill>
              <a:srgbClr val="6B7280"/>
            </a:solidFill>
            <a:prstDash val="solid"/>
          </a:ln>
        </p:spPr>
      </p:sp>
      <p:sp>
        <p:nvSpPr>
          <p:cNvPr id="39" name="Text 36"/>
          <p:cNvSpPr txBox="1"/>
          <p:nvPr/>
        </p:nvSpPr>
        <p:spPr>
          <a:xfrm>
            <a:off x="7940452" y="5047488"/>
            <a:ext cx="640080" cy="201168"/>
          </a:xfrm>
          <a:prstGeom prst="rect">
            <a:avLst/>
          </a:prstGeom>
          <a:noFill/>
          <a:ln/>
        </p:spPr>
        <p:txBody>
          <a:bodyPr wrap="square" lIns="0" tIns="0" rIns="0" bIns="0" rtlCol="0" anchor="t"/>
          <a:lstStyle/>
          <a:p>
            <a:pPr algn="ctr" indent="0" marL="0">
              <a:buNone/>
            </a:pPr>
            <a:r>
              <a:rPr lang="en-US" sz="1000" dirty="0">
                <a:solidFill>
                  <a:schemeClr val="accent3"/>
                </a:solidFill>
              </a:rPr>
              <a:t>2000</a:t>
            </a:r>
            <a:endParaRPr lang="en-US" sz="1000" dirty="0"/>
          </a:p>
        </p:txBody>
      </p:sp>
      <p:sp>
        <p:nvSpPr>
          <p:cNvPr id="40" name="Tick 2010"/>
          <p:cNvSpPr/>
          <p:nvPr/>
        </p:nvSpPr>
        <p:spPr>
          <a:xfrm>
            <a:off x="9434384" y="4983480"/>
            <a:ext cx="0" cy="54864"/>
          </a:xfrm>
          <a:prstGeom prst="line">
            <a:avLst/>
          </a:prstGeom>
          <a:noFill/>
          <a:ln w="9525">
            <a:solidFill>
              <a:srgbClr val="6B7280"/>
            </a:solidFill>
            <a:prstDash val="solid"/>
          </a:ln>
        </p:spPr>
      </p:sp>
      <p:sp>
        <p:nvSpPr>
          <p:cNvPr id="41" name="Text 38"/>
          <p:cNvSpPr txBox="1"/>
          <p:nvPr/>
        </p:nvSpPr>
        <p:spPr>
          <a:xfrm>
            <a:off x="9114344" y="5047488"/>
            <a:ext cx="640080" cy="201168"/>
          </a:xfrm>
          <a:prstGeom prst="rect">
            <a:avLst/>
          </a:prstGeom>
          <a:noFill/>
          <a:ln/>
        </p:spPr>
        <p:txBody>
          <a:bodyPr wrap="square" lIns="0" tIns="0" rIns="0" bIns="0" rtlCol="0" anchor="t"/>
          <a:lstStyle/>
          <a:p>
            <a:pPr algn="ctr" indent="0" marL="0">
              <a:buNone/>
            </a:pPr>
            <a:r>
              <a:rPr lang="en-US" sz="1000" dirty="0">
                <a:solidFill>
                  <a:schemeClr val="accent3"/>
                </a:solidFill>
              </a:rPr>
              <a:t>2010</a:t>
            </a:r>
            <a:endParaRPr lang="en-US" sz="1000" dirty="0"/>
          </a:p>
        </p:txBody>
      </p:sp>
      <p:sp>
        <p:nvSpPr>
          <p:cNvPr id="42" name="Tick 2020"/>
          <p:cNvSpPr/>
          <p:nvPr/>
        </p:nvSpPr>
        <p:spPr>
          <a:xfrm>
            <a:off x="10608276" y="4983480"/>
            <a:ext cx="0" cy="54864"/>
          </a:xfrm>
          <a:prstGeom prst="line">
            <a:avLst/>
          </a:prstGeom>
          <a:noFill/>
          <a:ln w="9525">
            <a:solidFill>
              <a:srgbClr val="6B7280"/>
            </a:solidFill>
            <a:prstDash val="solid"/>
          </a:ln>
        </p:spPr>
      </p:sp>
      <p:sp>
        <p:nvSpPr>
          <p:cNvPr id="43" name="Text 40"/>
          <p:cNvSpPr txBox="1"/>
          <p:nvPr/>
        </p:nvSpPr>
        <p:spPr>
          <a:xfrm>
            <a:off x="10288236" y="5047488"/>
            <a:ext cx="640080" cy="201168"/>
          </a:xfrm>
          <a:prstGeom prst="rect">
            <a:avLst/>
          </a:prstGeom>
          <a:noFill/>
          <a:ln/>
        </p:spPr>
        <p:txBody>
          <a:bodyPr wrap="square" lIns="0" tIns="0" rIns="0" bIns="0" rtlCol="0" anchor="t"/>
          <a:lstStyle/>
          <a:p>
            <a:pPr algn="ctr" indent="0" marL="0">
              <a:buNone/>
            </a:pPr>
            <a:r>
              <a:rPr lang="en-US" sz="1000" dirty="0">
                <a:solidFill>
                  <a:schemeClr val="accent3"/>
                </a:solidFill>
              </a:rPr>
              <a:t>2020</a:t>
            </a:r>
            <a:endParaRPr lang="en-US" sz="1000" dirty="0"/>
          </a:p>
        </p:txBody>
      </p:sp>
      <p:sp>
        <p:nvSpPr>
          <p:cNvPr id="44" name="Text 41"/>
          <p:cNvSpPr txBox="1"/>
          <p:nvPr/>
        </p:nvSpPr>
        <p:spPr>
          <a:xfrm>
            <a:off x="7086600" y="5257800"/>
            <a:ext cx="4343400" cy="228600"/>
          </a:xfrm>
          <a:prstGeom prst="rect">
            <a:avLst/>
          </a:prstGeom>
          <a:noFill/>
          <a:ln/>
        </p:spPr>
        <p:txBody>
          <a:bodyPr wrap="square" lIns="0" tIns="0" rIns="0" bIns="0" rtlCol="0" anchor="t"/>
          <a:lstStyle/>
          <a:p>
            <a:pPr algn="ctr" indent="0" marL="0">
              <a:buNone/>
            </a:pPr>
            <a:r>
              <a:rPr lang="en-US" sz="1100" dirty="0">
                <a:solidFill>
                  <a:schemeClr val="accent3"/>
                </a:solidFill>
              </a:rPr>
              <a:t>Year of publication</a:t>
            </a:r>
            <a:endParaRPr lang="en-US" sz="1100" dirty="0"/>
          </a:p>
        </p:txBody>
      </p:sp>
      <p:sp>
        <p:nvSpPr>
          <p:cNvPr id="45" name="Text 42"/>
          <p:cNvSpPr txBox="1"/>
          <p:nvPr/>
        </p:nvSpPr>
        <p:spPr>
          <a:xfrm>
            <a:off x="6400800" y="1737360"/>
            <a:ext cx="1463040" cy="228600"/>
          </a:xfrm>
          <a:prstGeom prst="rect">
            <a:avLst/>
          </a:prstGeom>
          <a:noFill/>
          <a:ln/>
        </p:spPr>
        <p:txBody>
          <a:bodyPr wrap="square" lIns="0" tIns="0" rIns="0" bIns="0" rtlCol="0" anchor="t"/>
          <a:lstStyle/>
          <a:p>
            <a:pPr indent="0" marL="0">
              <a:buNone/>
            </a:pPr>
            <a:r>
              <a:rPr lang="en-US" sz="1100" dirty="0">
                <a:solidFill>
                  <a:schemeClr val="accent3"/>
                </a:solidFill>
              </a:rPr>
              <a:t>Unloading (days)</a:t>
            </a:r>
            <a:endParaRPr lang="en-US" sz="1100" dirty="0"/>
          </a:p>
        </p:txBody>
      </p:sp>
      <p:sp>
        <p:nvSpPr>
          <p:cNvPr id="46" name="Study 1992 119 d"/>
          <p:cNvSpPr/>
          <p:nvPr/>
        </p:nvSpPr>
        <p:spPr>
          <a:xfrm>
            <a:off x="7261942" y="3062759"/>
            <a:ext cx="118872" cy="118872"/>
          </a:xfrm>
          <a:prstGeom prst="ellipse">
            <a:avLst/>
          </a:prstGeom>
          <a:solidFill>
            <a:srgbClr val="9AA3AE">
              <a:alpha val="90000"/>
            </a:srgbClr>
          </a:solidFill>
          <a:ln w="6350">
            <a:solidFill>
              <a:srgbClr val="FFFFFF"/>
            </a:solidFill>
            <a:prstDash val="solid"/>
          </a:ln>
        </p:spPr>
      </p:sp>
      <p:sp>
        <p:nvSpPr>
          <p:cNvPr id="47" name="Study 1994 30 d"/>
          <p:cNvSpPr/>
          <p:nvPr/>
        </p:nvSpPr>
        <p:spPr>
          <a:xfrm>
            <a:off x="7496721" y="4454812"/>
            <a:ext cx="118872" cy="118872"/>
          </a:xfrm>
          <a:prstGeom prst="ellipse">
            <a:avLst/>
          </a:prstGeom>
          <a:solidFill>
            <a:srgbClr val="1F3A5F">
              <a:alpha val="90000"/>
            </a:srgbClr>
          </a:solidFill>
          <a:ln w="6350">
            <a:solidFill>
              <a:srgbClr val="FFFFFF"/>
            </a:solidFill>
            <a:prstDash val="solid"/>
          </a:ln>
        </p:spPr>
      </p:sp>
      <p:sp>
        <p:nvSpPr>
          <p:cNvPr id="48" name="Study 2004 90 d"/>
          <p:cNvSpPr/>
          <p:nvPr/>
        </p:nvSpPr>
        <p:spPr>
          <a:xfrm>
            <a:off x="8670613" y="3516349"/>
            <a:ext cx="118872" cy="118872"/>
          </a:xfrm>
          <a:prstGeom prst="ellipse">
            <a:avLst/>
          </a:prstGeom>
          <a:solidFill>
            <a:srgbClr val="1F3A5F">
              <a:alpha val="90000"/>
            </a:srgbClr>
          </a:solidFill>
          <a:ln w="6350">
            <a:solidFill>
              <a:srgbClr val="FFFFFF"/>
            </a:solidFill>
            <a:prstDash val="solid"/>
          </a:ln>
        </p:spPr>
      </p:sp>
      <p:sp>
        <p:nvSpPr>
          <p:cNvPr id="49" name="Study 2007 35 d"/>
          <p:cNvSpPr/>
          <p:nvPr/>
        </p:nvSpPr>
        <p:spPr>
          <a:xfrm>
            <a:off x="9022780" y="4376607"/>
            <a:ext cx="118872" cy="118872"/>
          </a:xfrm>
          <a:prstGeom prst="ellipse">
            <a:avLst/>
          </a:prstGeom>
          <a:solidFill>
            <a:srgbClr val="9AA3AE">
              <a:alpha val="90000"/>
            </a:srgbClr>
          </a:solidFill>
          <a:ln w="6350">
            <a:solidFill>
              <a:srgbClr val="FFFFFF"/>
            </a:solidFill>
            <a:prstDash val="solid"/>
          </a:ln>
        </p:spPr>
      </p:sp>
      <p:sp>
        <p:nvSpPr>
          <p:cNvPr id="50" name="Study 2007 60 d"/>
          <p:cNvSpPr/>
          <p:nvPr/>
        </p:nvSpPr>
        <p:spPr>
          <a:xfrm>
            <a:off x="9022780" y="3985581"/>
            <a:ext cx="118872" cy="118872"/>
          </a:xfrm>
          <a:prstGeom prst="ellipse">
            <a:avLst/>
          </a:prstGeom>
          <a:solidFill>
            <a:srgbClr val="1F3A5F">
              <a:alpha val="90000"/>
            </a:srgbClr>
          </a:solidFill>
          <a:ln w="6350">
            <a:solidFill>
              <a:srgbClr val="FFFFFF"/>
            </a:solidFill>
            <a:prstDash val="solid"/>
          </a:ln>
        </p:spPr>
      </p:sp>
      <p:sp>
        <p:nvSpPr>
          <p:cNvPr id="51" name="Study 2009 14 d"/>
          <p:cNvSpPr/>
          <p:nvPr/>
        </p:nvSpPr>
        <p:spPr>
          <a:xfrm>
            <a:off x="9257559" y="4705069"/>
            <a:ext cx="118872" cy="118872"/>
          </a:xfrm>
          <a:prstGeom prst="ellipse">
            <a:avLst/>
          </a:prstGeom>
          <a:solidFill>
            <a:srgbClr val="1F3A5F">
              <a:alpha val="90000"/>
            </a:srgbClr>
          </a:solidFill>
          <a:ln w="6350">
            <a:solidFill>
              <a:srgbClr val="FFFFFF"/>
            </a:solidFill>
            <a:prstDash val="solid"/>
          </a:ln>
        </p:spPr>
      </p:sp>
      <p:sp>
        <p:nvSpPr>
          <p:cNvPr id="52" name="Study 2009 56 d"/>
          <p:cNvSpPr/>
          <p:nvPr/>
        </p:nvSpPr>
        <p:spPr>
          <a:xfrm>
            <a:off x="9257559" y="4048145"/>
            <a:ext cx="118872" cy="118872"/>
          </a:xfrm>
          <a:prstGeom prst="ellipse">
            <a:avLst/>
          </a:prstGeom>
          <a:solidFill>
            <a:srgbClr val="9AA3AE">
              <a:alpha val="90000"/>
            </a:srgbClr>
          </a:solidFill>
          <a:ln w="6350">
            <a:solidFill>
              <a:srgbClr val="FFFFFF"/>
            </a:solidFill>
            <a:prstDash val="solid"/>
          </a:ln>
        </p:spPr>
      </p:sp>
      <p:sp>
        <p:nvSpPr>
          <p:cNvPr id="53" name="Study 2012 60 d"/>
          <p:cNvSpPr/>
          <p:nvPr/>
        </p:nvSpPr>
        <p:spPr>
          <a:xfrm>
            <a:off x="9609726" y="3985581"/>
            <a:ext cx="118872" cy="118872"/>
          </a:xfrm>
          <a:prstGeom prst="ellipse">
            <a:avLst/>
          </a:prstGeom>
          <a:solidFill>
            <a:srgbClr val="1F3A5F">
              <a:alpha val="90000"/>
            </a:srgbClr>
          </a:solidFill>
          <a:ln w="6350">
            <a:solidFill>
              <a:srgbClr val="FFFFFF"/>
            </a:solidFill>
            <a:prstDash val="solid"/>
          </a:ln>
        </p:spPr>
      </p:sp>
      <p:sp>
        <p:nvSpPr>
          <p:cNvPr id="54" name="Study 2013 7 d"/>
          <p:cNvSpPr/>
          <p:nvPr/>
        </p:nvSpPr>
        <p:spPr>
          <a:xfrm>
            <a:off x="9727115" y="4814557"/>
            <a:ext cx="118872" cy="118872"/>
          </a:xfrm>
          <a:prstGeom prst="ellipse">
            <a:avLst/>
          </a:prstGeom>
          <a:solidFill>
            <a:srgbClr val="9AA3AE">
              <a:alpha val="90000"/>
            </a:srgbClr>
          </a:solidFill>
          <a:ln w="6350">
            <a:solidFill>
              <a:srgbClr val="FFFFFF"/>
            </a:solidFill>
            <a:prstDash val="solid"/>
          </a:ln>
        </p:spPr>
      </p:sp>
      <p:sp>
        <p:nvSpPr>
          <p:cNvPr id="55" name="Study 2013 90 d"/>
          <p:cNvSpPr/>
          <p:nvPr/>
        </p:nvSpPr>
        <p:spPr>
          <a:xfrm>
            <a:off x="9727115" y="3516349"/>
            <a:ext cx="118872" cy="118872"/>
          </a:xfrm>
          <a:prstGeom prst="ellipse">
            <a:avLst/>
          </a:prstGeom>
          <a:solidFill>
            <a:srgbClr val="1F3A5F">
              <a:alpha val="90000"/>
            </a:srgbClr>
          </a:solidFill>
          <a:ln w="6350">
            <a:solidFill>
              <a:srgbClr val="FFFFFF"/>
            </a:solidFill>
            <a:prstDash val="solid"/>
          </a:ln>
        </p:spPr>
      </p:sp>
      <p:sp>
        <p:nvSpPr>
          <p:cNvPr id="56" name="Study 2014 30 d"/>
          <p:cNvSpPr/>
          <p:nvPr/>
        </p:nvSpPr>
        <p:spPr>
          <a:xfrm>
            <a:off x="9844505" y="4454812"/>
            <a:ext cx="118872" cy="118872"/>
          </a:xfrm>
          <a:prstGeom prst="ellipse">
            <a:avLst/>
          </a:prstGeom>
          <a:solidFill>
            <a:srgbClr val="2E8B57">
              <a:alpha val="90000"/>
            </a:srgbClr>
          </a:solidFill>
          <a:ln w="6350">
            <a:solidFill>
              <a:srgbClr val="FFFFFF"/>
            </a:solidFill>
            <a:prstDash val="solid"/>
          </a:ln>
        </p:spPr>
      </p:sp>
      <p:sp>
        <p:nvSpPr>
          <p:cNvPr id="57" name="Study 2014 35 d"/>
          <p:cNvSpPr/>
          <p:nvPr/>
        </p:nvSpPr>
        <p:spPr>
          <a:xfrm>
            <a:off x="9844505" y="4376607"/>
            <a:ext cx="118872" cy="118872"/>
          </a:xfrm>
          <a:prstGeom prst="ellipse">
            <a:avLst/>
          </a:prstGeom>
          <a:solidFill>
            <a:srgbClr val="1F3A5F">
              <a:alpha val="90000"/>
            </a:srgbClr>
          </a:solidFill>
          <a:ln w="6350">
            <a:solidFill>
              <a:srgbClr val="FFFFFF"/>
            </a:solidFill>
            <a:prstDash val="solid"/>
          </a:ln>
        </p:spPr>
      </p:sp>
      <p:sp>
        <p:nvSpPr>
          <p:cNvPr id="58" name="Study 2015 5 d"/>
          <p:cNvSpPr/>
          <p:nvPr/>
        </p:nvSpPr>
        <p:spPr>
          <a:xfrm>
            <a:off x="9961894" y="4845839"/>
            <a:ext cx="118872" cy="118872"/>
          </a:xfrm>
          <a:prstGeom prst="ellipse">
            <a:avLst/>
          </a:prstGeom>
          <a:solidFill>
            <a:srgbClr val="1F3A5F">
              <a:alpha val="90000"/>
            </a:srgbClr>
          </a:solidFill>
          <a:ln w="6350">
            <a:solidFill>
              <a:srgbClr val="FFFFFF"/>
            </a:solidFill>
            <a:prstDash val="solid"/>
          </a:ln>
        </p:spPr>
      </p:sp>
      <p:sp>
        <p:nvSpPr>
          <p:cNvPr id="59" name="Study 2015 5 d"/>
          <p:cNvSpPr/>
          <p:nvPr/>
        </p:nvSpPr>
        <p:spPr>
          <a:xfrm>
            <a:off x="10053334" y="4845839"/>
            <a:ext cx="118872" cy="118872"/>
          </a:xfrm>
          <a:prstGeom prst="ellipse">
            <a:avLst/>
          </a:prstGeom>
          <a:solidFill>
            <a:srgbClr val="9AA3AE">
              <a:alpha val="90000"/>
            </a:srgbClr>
          </a:solidFill>
          <a:ln w="6350">
            <a:solidFill>
              <a:srgbClr val="FFFFFF"/>
            </a:solidFill>
            <a:prstDash val="solid"/>
          </a:ln>
        </p:spPr>
      </p:sp>
      <p:sp>
        <p:nvSpPr>
          <p:cNvPr id="60" name="Study 2015 60 d"/>
          <p:cNvSpPr/>
          <p:nvPr/>
        </p:nvSpPr>
        <p:spPr>
          <a:xfrm>
            <a:off x="9961894" y="3985581"/>
            <a:ext cx="118872" cy="118872"/>
          </a:xfrm>
          <a:prstGeom prst="ellipse">
            <a:avLst/>
          </a:prstGeom>
          <a:solidFill>
            <a:srgbClr val="1F3A5F">
              <a:alpha val="90000"/>
            </a:srgbClr>
          </a:solidFill>
          <a:ln w="6350">
            <a:solidFill>
              <a:srgbClr val="FFFFFF"/>
            </a:solidFill>
            <a:prstDash val="solid"/>
          </a:ln>
        </p:spPr>
      </p:sp>
      <p:sp>
        <p:nvSpPr>
          <p:cNvPr id="61" name="Study 2016 7 d"/>
          <p:cNvSpPr/>
          <p:nvPr/>
        </p:nvSpPr>
        <p:spPr>
          <a:xfrm>
            <a:off x="10079283" y="4814557"/>
            <a:ext cx="118872" cy="118872"/>
          </a:xfrm>
          <a:prstGeom prst="ellipse">
            <a:avLst/>
          </a:prstGeom>
          <a:solidFill>
            <a:srgbClr val="9AA3AE">
              <a:alpha val="90000"/>
            </a:srgbClr>
          </a:solidFill>
          <a:ln w="6350">
            <a:solidFill>
              <a:srgbClr val="FFFFFF"/>
            </a:solidFill>
            <a:prstDash val="solid"/>
          </a:ln>
        </p:spPr>
      </p:sp>
      <p:sp>
        <p:nvSpPr>
          <p:cNvPr id="62" name="Study 2016 14 d"/>
          <p:cNvSpPr/>
          <p:nvPr/>
        </p:nvSpPr>
        <p:spPr>
          <a:xfrm>
            <a:off x="10079283" y="4705069"/>
            <a:ext cx="118872" cy="118872"/>
          </a:xfrm>
          <a:prstGeom prst="ellipse">
            <a:avLst/>
          </a:prstGeom>
          <a:solidFill>
            <a:srgbClr val="9AA3AE">
              <a:alpha val="90000"/>
            </a:srgbClr>
          </a:solidFill>
          <a:ln w="6350">
            <a:solidFill>
              <a:srgbClr val="FFFFFF"/>
            </a:solidFill>
            <a:prstDash val="solid"/>
          </a:ln>
        </p:spPr>
      </p:sp>
      <p:sp>
        <p:nvSpPr>
          <p:cNvPr id="63" name="Study 2016 60 d"/>
          <p:cNvSpPr/>
          <p:nvPr/>
        </p:nvSpPr>
        <p:spPr>
          <a:xfrm>
            <a:off x="10079283" y="3985581"/>
            <a:ext cx="118872" cy="118872"/>
          </a:xfrm>
          <a:prstGeom prst="ellipse">
            <a:avLst/>
          </a:prstGeom>
          <a:solidFill>
            <a:srgbClr val="1F3A5F">
              <a:alpha val="90000"/>
            </a:srgbClr>
          </a:solidFill>
          <a:ln w="6350">
            <a:solidFill>
              <a:srgbClr val="FFFFFF"/>
            </a:solidFill>
            <a:prstDash val="solid"/>
          </a:ln>
        </p:spPr>
      </p:sp>
      <p:sp>
        <p:nvSpPr>
          <p:cNvPr id="64" name="Study 2016 84 d"/>
          <p:cNvSpPr/>
          <p:nvPr/>
        </p:nvSpPr>
        <p:spPr>
          <a:xfrm>
            <a:off x="10079283" y="3610196"/>
            <a:ext cx="118872" cy="118872"/>
          </a:xfrm>
          <a:prstGeom prst="ellipse">
            <a:avLst/>
          </a:prstGeom>
          <a:solidFill>
            <a:srgbClr val="1F3A5F">
              <a:alpha val="90000"/>
            </a:srgbClr>
          </a:solidFill>
          <a:ln w="6350">
            <a:solidFill>
              <a:srgbClr val="FFFFFF"/>
            </a:solidFill>
            <a:prstDash val="solid"/>
          </a:ln>
        </p:spPr>
      </p:sp>
      <p:sp>
        <p:nvSpPr>
          <p:cNvPr id="65" name="Study 2016 180 d"/>
          <p:cNvSpPr/>
          <p:nvPr/>
        </p:nvSpPr>
        <p:spPr>
          <a:xfrm>
            <a:off x="10079283" y="2108655"/>
            <a:ext cx="118872" cy="118872"/>
          </a:xfrm>
          <a:prstGeom prst="ellipse">
            <a:avLst/>
          </a:prstGeom>
          <a:solidFill>
            <a:srgbClr val="A23B2A">
              <a:alpha val="90000"/>
            </a:srgbClr>
          </a:solidFill>
          <a:ln w="6350">
            <a:solidFill>
              <a:srgbClr val="FFFFFF"/>
            </a:solidFill>
            <a:prstDash val="solid"/>
          </a:ln>
        </p:spPr>
      </p:sp>
      <p:sp>
        <p:nvSpPr>
          <p:cNvPr id="66" name="Study 2017 60 d"/>
          <p:cNvSpPr/>
          <p:nvPr/>
        </p:nvSpPr>
        <p:spPr>
          <a:xfrm>
            <a:off x="10196672" y="3985581"/>
            <a:ext cx="118872" cy="118872"/>
          </a:xfrm>
          <a:prstGeom prst="ellipse">
            <a:avLst/>
          </a:prstGeom>
          <a:solidFill>
            <a:srgbClr val="1F3A5F">
              <a:alpha val="90000"/>
            </a:srgbClr>
          </a:solidFill>
          <a:ln w="6350">
            <a:solidFill>
              <a:srgbClr val="FFFFFF"/>
            </a:solidFill>
            <a:prstDash val="solid"/>
          </a:ln>
        </p:spPr>
      </p:sp>
      <p:sp>
        <p:nvSpPr>
          <p:cNvPr id="67" name="Study 2017 90 d"/>
          <p:cNvSpPr/>
          <p:nvPr/>
        </p:nvSpPr>
        <p:spPr>
          <a:xfrm>
            <a:off x="10196672" y="3516349"/>
            <a:ext cx="118872" cy="118872"/>
          </a:xfrm>
          <a:prstGeom prst="ellipse">
            <a:avLst/>
          </a:prstGeom>
          <a:solidFill>
            <a:srgbClr val="1F3A5F">
              <a:alpha val="90000"/>
            </a:srgbClr>
          </a:solidFill>
          <a:ln w="6350">
            <a:solidFill>
              <a:srgbClr val="FFFFFF"/>
            </a:solidFill>
            <a:prstDash val="solid"/>
          </a:ln>
        </p:spPr>
      </p:sp>
      <p:sp>
        <p:nvSpPr>
          <p:cNvPr id="68" name="Study 2018 14 d"/>
          <p:cNvSpPr/>
          <p:nvPr/>
        </p:nvSpPr>
        <p:spPr>
          <a:xfrm>
            <a:off x="10314061" y="4705069"/>
            <a:ext cx="118872" cy="118872"/>
          </a:xfrm>
          <a:prstGeom prst="ellipse">
            <a:avLst/>
          </a:prstGeom>
          <a:solidFill>
            <a:srgbClr val="9AA3AE">
              <a:alpha val="90000"/>
            </a:srgbClr>
          </a:solidFill>
          <a:ln w="6350">
            <a:solidFill>
              <a:srgbClr val="FFFFFF"/>
            </a:solidFill>
            <a:prstDash val="solid"/>
          </a:ln>
        </p:spPr>
      </p:sp>
      <p:sp>
        <p:nvSpPr>
          <p:cNvPr id="69" name="Study 2018 21 d"/>
          <p:cNvSpPr/>
          <p:nvPr/>
        </p:nvSpPr>
        <p:spPr>
          <a:xfrm>
            <a:off x="10314061" y="4595582"/>
            <a:ext cx="118872" cy="118872"/>
          </a:xfrm>
          <a:prstGeom prst="ellipse">
            <a:avLst/>
          </a:prstGeom>
          <a:solidFill>
            <a:srgbClr val="9AA3AE">
              <a:alpha val="90000"/>
            </a:srgbClr>
          </a:solidFill>
          <a:ln w="6350">
            <a:solidFill>
              <a:srgbClr val="FFFFFF"/>
            </a:solidFill>
            <a:prstDash val="solid"/>
          </a:ln>
        </p:spPr>
      </p:sp>
      <p:sp>
        <p:nvSpPr>
          <p:cNvPr id="70" name="Study 2019 7 d"/>
          <p:cNvSpPr/>
          <p:nvPr/>
        </p:nvSpPr>
        <p:spPr>
          <a:xfrm>
            <a:off x="10431450" y="4814557"/>
            <a:ext cx="118872" cy="118872"/>
          </a:xfrm>
          <a:prstGeom prst="ellipse">
            <a:avLst/>
          </a:prstGeom>
          <a:solidFill>
            <a:srgbClr val="9AA3AE">
              <a:alpha val="90000"/>
            </a:srgbClr>
          </a:solidFill>
          <a:ln w="6350">
            <a:solidFill>
              <a:srgbClr val="FFFFFF"/>
            </a:solidFill>
            <a:prstDash val="solid"/>
          </a:ln>
        </p:spPr>
      </p:sp>
      <p:sp>
        <p:nvSpPr>
          <p:cNvPr id="71" name="Study 2019 10 d"/>
          <p:cNvSpPr/>
          <p:nvPr/>
        </p:nvSpPr>
        <p:spPr>
          <a:xfrm>
            <a:off x="10431450" y="4767633"/>
            <a:ext cx="118872" cy="118872"/>
          </a:xfrm>
          <a:prstGeom prst="ellipse">
            <a:avLst/>
          </a:prstGeom>
          <a:solidFill>
            <a:srgbClr val="9AA3AE">
              <a:alpha val="90000"/>
            </a:srgbClr>
          </a:solidFill>
          <a:ln w="6350">
            <a:solidFill>
              <a:srgbClr val="FFFFFF"/>
            </a:solidFill>
            <a:prstDash val="solid"/>
          </a:ln>
        </p:spPr>
      </p:sp>
      <p:sp>
        <p:nvSpPr>
          <p:cNvPr id="72" name="Study 2020 21 d"/>
          <p:cNvSpPr/>
          <p:nvPr/>
        </p:nvSpPr>
        <p:spPr>
          <a:xfrm>
            <a:off x="10548840" y="4595582"/>
            <a:ext cx="118872" cy="118872"/>
          </a:xfrm>
          <a:prstGeom prst="ellipse">
            <a:avLst/>
          </a:prstGeom>
          <a:solidFill>
            <a:srgbClr val="1F3A5F">
              <a:alpha val="90000"/>
            </a:srgbClr>
          </a:solidFill>
          <a:ln w="6350">
            <a:solidFill>
              <a:srgbClr val="FFFFFF"/>
            </a:solidFill>
            <a:prstDash val="solid"/>
          </a:ln>
        </p:spPr>
      </p:sp>
      <p:sp>
        <p:nvSpPr>
          <p:cNvPr id="73" name="Study 2021 5 d"/>
          <p:cNvSpPr/>
          <p:nvPr/>
        </p:nvSpPr>
        <p:spPr>
          <a:xfrm>
            <a:off x="10666229" y="4845839"/>
            <a:ext cx="118872" cy="118872"/>
          </a:xfrm>
          <a:prstGeom prst="ellipse">
            <a:avLst/>
          </a:prstGeom>
          <a:solidFill>
            <a:srgbClr val="9AA3AE">
              <a:alpha val="90000"/>
            </a:srgbClr>
          </a:solidFill>
          <a:ln w="6350">
            <a:solidFill>
              <a:srgbClr val="FFFFFF"/>
            </a:solidFill>
            <a:prstDash val="solid"/>
          </a:ln>
        </p:spPr>
      </p:sp>
      <p:sp>
        <p:nvSpPr>
          <p:cNvPr id="74" name="Study 2021 10 d"/>
          <p:cNvSpPr/>
          <p:nvPr/>
        </p:nvSpPr>
        <p:spPr>
          <a:xfrm>
            <a:off x="10666229" y="4767633"/>
            <a:ext cx="118872" cy="118872"/>
          </a:xfrm>
          <a:prstGeom prst="ellipse">
            <a:avLst/>
          </a:prstGeom>
          <a:solidFill>
            <a:srgbClr val="9AA3AE">
              <a:alpha val="90000"/>
            </a:srgbClr>
          </a:solidFill>
          <a:ln w="6350">
            <a:solidFill>
              <a:srgbClr val="FFFFFF"/>
            </a:solidFill>
            <a:prstDash val="solid"/>
          </a:ln>
        </p:spPr>
      </p:sp>
      <p:sp>
        <p:nvSpPr>
          <p:cNvPr id="75" name="Study 2021 60 d"/>
          <p:cNvSpPr/>
          <p:nvPr/>
        </p:nvSpPr>
        <p:spPr>
          <a:xfrm>
            <a:off x="10666229" y="3985581"/>
            <a:ext cx="118872" cy="118872"/>
          </a:xfrm>
          <a:prstGeom prst="ellipse">
            <a:avLst/>
          </a:prstGeom>
          <a:solidFill>
            <a:srgbClr val="1F3A5F">
              <a:alpha val="90000"/>
            </a:srgbClr>
          </a:solidFill>
          <a:ln w="6350">
            <a:solidFill>
              <a:srgbClr val="FFFFFF"/>
            </a:solidFill>
            <a:prstDash val="solid"/>
          </a:ln>
        </p:spPr>
      </p:sp>
      <p:sp>
        <p:nvSpPr>
          <p:cNvPr id="76" name="Study 2021 60 d"/>
          <p:cNvSpPr/>
          <p:nvPr/>
        </p:nvSpPr>
        <p:spPr>
          <a:xfrm>
            <a:off x="10757669" y="3985581"/>
            <a:ext cx="118872" cy="118872"/>
          </a:xfrm>
          <a:prstGeom prst="ellipse">
            <a:avLst/>
          </a:prstGeom>
          <a:solidFill>
            <a:srgbClr val="1F3A5F">
              <a:alpha val="90000"/>
            </a:srgbClr>
          </a:solidFill>
          <a:ln w="6350">
            <a:solidFill>
              <a:srgbClr val="FFFFFF"/>
            </a:solidFill>
            <a:prstDash val="solid"/>
          </a:ln>
        </p:spPr>
      </p:sp>
      <p:sp>
        <p:nvSpPr>
          <p:cNvPr id="77" name="Study 2021 180 d"/>
          <p:cNvSpPr/>
          <p:nvPr/>
        </p:nvSpPr>
        <p:spPr>
          <a:xfrm>
            <a:off x="10666229" y="2108655"/>
            <a:ext cx="118872" cy="118872"/>
          </a:xfrm>
          <a:prstGeom prst="ellipse">
            <a:avLst/>
          </a:prstGeom>
          <a:solidFill>
            <a:srgbClr val="A23B2A">
              <a:alpha val="90000"/>
            </a:srgbClr>
          </a:solidFill>
          <a:ln w="6350">
            <a:solidFill>
              <a:srgbClr val="FFFFFF"/>
            </a:solidFill>
            <a:prstDash val="solid"/>
          </a:ln>
        </p:spPr>
      </p:sp>
      <p:sp>
        <p:nvSpPr>
          <p:cNvPr id="78" name="Study 2022 10 d"/>
          <p:cNvSpPr/>
          <p:nvPr/>
        </p:nvSpPr>
        <p:spPr>
          <a:xfrm>
            <a:off x="10783618" y="4767633"/>
            <a:ext cx="118872" cy="118872"/>
          </a:xfrm>
          <a:prstGeom prst="ellipse">
            <a:avLst/>
          </a:prstGeom>
          <a:solidFill>
            <a:srgbClr val="9AA3AE">
              <a:alpha val="90000"/>
            </a:srgbClr>
          </a:solidFill>
          <a:ln w="6350">
            <a:solidFill>
              <a:srgbClr val="FFFFFF"/>
            </a:solidFill>
            <a:prstDash val="solid"/>
          </a:ln>
        </p:spPr>
      </p:sp>
      <p:sp>
        <p:nvSpPr>
          <p:cNvPr id="79" name="Study 2022 10 d"/>
          <p:cNvSpPr/>
          <p:nvPr/>
        </p:nvSpPr>
        <p:spPr>
          <a:xfrm>
            <a:off x="10875058" y="4767633"/>
            <a:ext cx="118872" cy="118872"/>
          </a:xfrm>
          <a:prstGeom prst="ellipse">
            <a:avLst/>
          </a:prstGeom>
          <a:solidFill>
            <a:srgbClr val="2E8B57">
              <a:alpha val="90000"/>
            </a:srgbClr>
          </a:solidFill>
          <a:ln w="6350">
            <a:solidFill>
              <a:srgbClr val="FFFFFF"/>
            </a:solidFill>
            <a:prstDash val="solid"/>
          </a:ln>
        </p:spPr>
      </p:sp>
      <p:sp>
        <p:nvSpPr>
          <p:cNvPr id="80" name="Study 2022 60 d"/>
          <p:cNvSpPr/>
          <p:nvPr/>
        </p:nvSpPr>
        <p:spPr>
          <a:xfrm>
            <a:off x="10783618" y="3985581"/>
            <a:ext cx="118872" cy="118872"/>
          </a:xfrm>
          <a:prstGeom prst="ellipse">
            <a:avLst/>
          </a:prstGeom>
          <a:solidFill>
            <a:srgbClr val="1F3A5F">
              <a:alpha val="90000"/>
            </a:srgbClr>
          </a:solidFill>
          <a:ln w="6350">
            <a:solidFill>
              <a:srgbClr val="FFFFFF"/>
            </a:solidFill>
            <a:prstDash val="solid"/>
          </a:ln>
        </p:spPr>
      </p:sp>
      <p:sp>
        <p:nvSpPr>
          <p:cNvPr id="81" name="Study 2023 14 d"/>
          <p:cNvSpPr/>
          <p:nvPr/>
        </p:nvSpPr>
        <p:spPr>
          <a:xfrm>
            <a:off x="10901007" y="4705069"/>
            <a:ext cx="118872" cy="118872"/>
          </a:xfrm>
          <a:prstGeom prst="ellipse">
            <a:avLst/>
          </a:prstGeom>
          <a:solidFill>
            <a:srgbClr val="1F3A5F">
              <a:alpha val="90000"/>
            </a:srgbClr>
          </a:solidFill>
          <a:ln w="6350">
            <a:solidFill>
              <a:srgbClr val="FFFFFF"/>
            </a:solidFill>
            <a:prstDash val="solid"/>
          </a:ln>
        </p:spPr>
      </p:sp>
      <p:sp>
        <p:nvSpPr>
          <p:cNvPr id="82" name="Study 2023 90 d"/>
          <p:cNvSpPr/>
          <p:nvPr/>
        </p:nvSpPr>
        <p:spPr>
          <a:xfrm>
            <a:off x="10901007" y="3516349"/>
            <a:ext cx="118872" cy="118872"/>
          </a:xfrm>
          <a:prstGeom prst="ellipse">
            <a:avLst/>
          </a:prstGeom>
          <a:solidFill>
            <a:srgbClr val="1F3A5F">
              <a:alpha val="90000"/>
            </a:srgbClr>
          </a:solidFill>
          <a:ln w="6350">
            <a:solidFill>
              <a:srgbClr val="FFFFFF"/>
            </a:solidFill>
            <a:prstDash val="solid"/>
          </a:ln>
        </p:spPr>
      </p:sp>
      <p:sp>
        <p:nvSpPr>
          <p:cNvPr id="83" name="Study 2024 5 d"/>
          <p:cNvSpPr/>
          <p:nvPr/>
        </p:nvSpPr>
        <p:spPr>
          <a:xfrm>
            <a:off x="11018396" y="4845839"/>
            <a:ext cx="118872" cy="118872"/>
          </a:xfrm>
          <a:prstGeom prst="ellipse">
            <a:avLst/>
          </a:prstGeom>
          <a:solidFill>
            <a:srgbClr val="9AA3AE">
              <a:alpha val="90000"/>
            </a:srgbClr>
          </a:solidFill>
          <a:ln w="6350">
            <a:solidFill>
              <a:srgbClr val="FFFFFF"/>
            </a:solidFill>
            <a:prstDash val="solid"/>
          </a:ln>
        </p:spPr>
      </p:sp>
      <p:sp>
        <p:nvSpPr>
          <p:cNvPr id="84" name="Study 2024 14 d"/>
          <p:cNvSpPr/>
          <p:nvPr/>
        </p:nvSpPr>
        <p:spPr>
          <a:xfrm>
            <a:off x="11018396" y="4705069"/>
            <a:ext cx="118872" cy="118872"/>
          </a:xfrm>
          <a:prstGeom prst="ellipse">
            <a:avLst/>
          </a:prstGeom>
          <a:solidFill>
            <a:srgbClr val="1F3A5F">
              <a:alpha val="90000"/>
            </a:srgbClr>
          </a:solidFill>
          <a:ln w="6350">
            <a:solidFill>
              <a:srgbClr val="FFFFFF"/>
            </a:solidFill>
            <a:prstDash val="solid"/>
          </a:ln>
        </p:spPr>
      </p:sp>
      <p:sp>
        <p:nvSpPr>
          <p:cNvPr id="85" name="Study 2024 60 d"/>
          <p:cNvSpPr/>
          <p:nvPr/>
        </p:nvSpPr>
        <p:spPr>
          <a:xfrm>
            <a:off x="11018396" y="3985581"/>
            <a:ext cx="118872" cy="118872"/>
          </a:xfrm>
          <a:prstGeom prst="ellipse">
            <a:avLst/>
          </a:prstGeom>
          <a:solidFill>
            <a:srgbClr val="1F3A5F">
              <a:alpha val="90000"/>
            </a:srgbClr>
          </a:solidFill>
          <a:ln w="6350">
            <a:solidFill>
              <a:srgbClr val="FFFFFF"/>
            </a:solidFill>
            <a:prstDash val="solid"/>
          </a:ln>
        </p:spPr>
      </p:sp>
      <p:sp>
        <p:nvSpPr>
          <p:cNvPr id="86" name="Study 2024 70 d"/>
          <p:cNvSpPr/>
          <p:nvPr/>
        </p:nvSpPr>
        <p:spPr>
          <a:xfrm>
            <a:off x="11018396" y="3829170"/>
            <a:ext cx="118872" cy="118872"/>
          </a:xfrm>
          <a:prstGeom prst="ellipse">
            <a:avLst/>
          </a:prstGeom>
          <a:solidFill>
            <a:srgbClr val="1F3A5F">
              <a:alpha val="90000"/>
            </a:srgbClr>
          </a:solidFill>
          <a:ln w="6350">
            <a:solidFill>
              <a:srgbClr val="FFFFFF"/>
            </a:solidFill>
            <a:prstDash val="solid"/>
          </a:ln>
        </p:spPr>
      </p:sp>
      <p:sp>
        <p:nvSpPr>
          <p:cNvPr id="87" name="Study 2025 5 d"/>
          <p:cNvSpPr/>
          <p:nvPr/>
        </p:nvSpPr>
        <p:spPr>
          <a:xfrm>
            <a:off x="11135786" y="4845839"/>
            <a:ext cx="118872" cy="118872"/>
          </a:xfrm>
          <a:prstGeom prst="ellipse">
            <a:avLst/>
          </a:prstGeom>
          <a:solidFill>
            <a:srgbClr val="9AA3AE">
              <a:alpha val="90000"/>
            </a:srgbClr>
          </a:solidFill>
          <a:ln w="6350">
            <a:solidFill>
              <a:srgbClr val="FFFFFF"/>
            </a:solidFill>
            <a:prstDash val="solid"/>
          </a:ln>
        </p:spPr>
      </p:sp>
      <p:sp>
        <p:nvSpPr>
          <p:cNvPr id="88" name="Study 2025 14 d"/>
          <p:cNvSpPr/>
          <p:nvPr/>
        </p:nvSpPr>
        <p:spPr>
          <a:xfrm>
            <a:off x="11135786" y="4705069"/>
            <a:ext cx="118872" cy="118872"/>
          </a:xfrm>
          <a:prstGeom prst="ellipse">
            <a:avLst/>
          </a:prstGeom>
          <a:solidFill>
            <a:srgbClr val="9AA3AE">
              <a:alpha val="90000"/>
            </a:srgbClr>
          </a:solidFill>
          <a:ln w="6350">
            <a:solidFill>
              <a:srgbClr val="FFFFFF"/>
            </a:solidFill>
            <a:prstDash val="solid"/>
          </a:ln>
        </p:spPr>
      </p:sp>
      <p:sp>
        <p:nvSpPr>
          <p:cNvPr id="89" name="Study 2025 14 d"/>
          <p:cNvSpPr/>
          <p:nvPr/>
        </p:nvSpPr>
        <p:spPr>
          <a:xfrm>
            <a:off x="11227226" y="4705069"/>
            <a:ext cx="118872" cy="118872"/>
          </a:xfrm>
          <a:prstGeom prst="ellipse">
            <a:avLst/>
          </a:prstGeom>
          <a:solidFill>
            <a:srgbClr val="9AA3AE">
              <a:alpha val="90000"/>
            </a:srgbClr>
          </a:solidFill>
          <a:ln w="6350">
            <a:solidFill>
              <a:srgbClr val="FFFFFF"/>
            </a:solidFill>
            <a:prstDash val="solid"/>
          </a:ln>
        </p:spPr>
      </p:sp>
      <p:sp>
        <p:nvSpPr>
          <p:cNvPr id="90" name="Study 2025 60 d"/>
          <p:cNvSpPr/>
          <p:nvPr/>
        </p:nvSpPr>
        <p:spPr>
          <a:xfrm>
            <a:off x="11135786" y="3985581"/>
            <a:ext cx="118872" cy="118872"/>
          </a:xfrm>
          <a:prstGeom prst="ellipse">
            <a:avLst/>
          </a:prstGeom>
          <a:solidFill>
            <a:srgbClr val="1F3A5F">
              <a:alpha val="90000"/>
            </a:srgbClr>
          </a:solidFill>
          <a:ln w="6350">
            <a:solidFill>
              <a:srgbClr val="FFFFFF"/>
            </a:solidFill>
            <a:prstDash val="solid"/>
          </a:ln>
        </p:spPr>
      </p:sp>
      <p:sp>
        <p:nvSpPr>
          <p:cNvPr id="91" name="Study 2026 5 d"/>
          <p:cNvSpPr/>
          <p:nvPr/>
        </p:nvSpPr>
        <p:spPr>
          <a:xfrm>
            <a:off x="11253175" y="4845839"/>
            <a:ext cx="118872" cy="118872"/>
          </a:xfrm>
          <a:prstGeom prst="ellipse">
            <a:avLst/>
          </a:prstGeom>
          <a:solidFill>
            <a:srgbClr val="C08A2E">
              <a:alpha val="90000"/>
            </a:srgbClr>
          </a:solidFill>
          <a:ln w="6350">
            <a:solidFill>
              <a:srgbClr val="FFFFFF"/>
            </a:solidFill>
            <a:prstDash val="solid"/>
          </a:ln>
        </p:spPr>
      </p:sp>
      <p:sp>
        <p:nvSpPr>
          <p:cNvPr id="92" name="Study 2026 10 d"/>
          <p:cNvSpPr/>
          <p:nvPr/>
        </p:nvSpPr>
        <p:spPr>
          <a:xfrm>
            <a:off x="11253175" y="4767633"/>
            <a:ext cx="118872" cy="118872"/>
          </a:xfrm>
          <a:prstGeom prst="ellipse">
            <a:avLst/>
          </a:prstGeom>
          <a:solidFill>
            <a:srgbClr val="9AA3AE">
              <a:alpha val="90000"/>
            </a:srgbClr>
          </a:solidFill>
          <a:ln w="6350">
            <a:solidFill>
              <a:srgbClr val="FFFFFF"/>
            </a:solidFill>
            <a:prstDash val="solid"/>
          </a:ln>
        </p:spPr>
      </p:sp>
      <p:sp>
        <p:nvSpPr>
          <p:cNvPr id="93" name="Study 2026 14 d"/>
          <p:cNvSpPr/>
          <p:nvPr/>
        </p:nvSpPr>
        <p:spPr>
          <a:xfrm>
            <a:off x="11253175" y="4705069"/>
            <a:ext cx="118872" cy="118872"/>
          </a:xfrm>
          <a:prstGeom prst="ellipse">
            <a:avLst/>
          </a:prstGeom>
          <a:solidFill>
            <a:srgbClr val="1F3A5F">
              <a:alpha val="90000"/>
            </a:srgbClr>
          </a:solidFill>
          <a:ln w="6350">
            <a:solidFill>
              <a:srgbClr val="FFFFFF"/>
            </a:solidFill>
            <a:prstDash val="solid"/>
          </a:ln>
        </p:spPr>
      </p:sp>
      <p:sp>
        <p:nvSpPr>
          <p:cNvPr id="94" name="Study 2026 21 d"/>
          <p:cNvSpPr/>
          <p:nvPr/>
        </p:nvSpPr>
        <p:spPr>
          <a:xfrm>
            <a:off x="11253175" y="4595582"/>
            <a:ext cx="118872" cy="118872"/>
          </a:xfrm>
          <a:prstGeom prst="ellipse">
            <a:avLst/>
          </a:prstGeom>
          <a:solidFill>
            <a:srgbClr val="1F3A5F">
              <a:alpha val="90000"/>
            </a:srgbClr>
          </a:solidFill>
          <a:ln w="6350">
            <a:solidFill>
              <a:srgbClr val="FFFFFF"/>
            </a:solidFill>
            <a:prstDash val="solid"/>
          </a:ln>
        </p:spPr>
      </p:sp>
      <p:sp>
        <p:nvSpPr>
          <p:cNvPr id="95" name="Study 2026 60 d"/>
          <p:cNvSpPr/>
          <p:nvPr/>
        </p:nvSpPr>
        <p:spPr>
          <a:xfrm>
            <a:off x="11253175" y="3985581"/>
            <a:ext cx="118872" cy="118872"/>
          </a:xfrm>
          <a:prstGeom prst="ellipse">
            <a:avLst/>
          </a:prstGeom>
          <a:solidFill>
            <a:srgbClr val="1F3A5F">
              <a:alpha val="90000"/>
            </a:srgbClr>
          </a:solidFill>
          <a:ln w="6350">
            <a:solidFill>
              <a:srgbClr val="FFFFFF"/>
            </a:solidFill>
            <a:prstDash val="solid"/>
          </a:ln>
        </p:spPr>
      </p:sp>
      <p:sp>
        <p:nvSpPr>
          <p:cNvPr id="96" name="Study 2026 90 d"/>
          <p:cNvSpPr/>
          <p:nvPr/>
        </p:nvSpPr>
        <p:spPr>
          <a:xfrm>
            <a:off x="11253175" y="3516349"/>
            <a:ext cx="118872" cy="118872"/>
          </a:xfrm>
          <a:prstGeom prst="ellipse">
            <a:avLst/>
          </a:prstGeom>
          <a:solidFill>
            <a:srgbClr val="1F3A5F">
              <a:alpha val="90000"/>
            </a:srgbClr>
          </a:solidFill>
          <a:ln w="6350">
            <a:solidFill>
              <a:srgbClr val="FFFFFF"/>
            </a:solidFill>
            <a:prstDash val="solid"/>
          </a:ln>
        </p:spPr>
      </p:sp>
      <p:sp>
        <p:nvSpPr>
          <p:cNvPr id="97" name="Study 2026 180 d"/>
          <p:cNvSpPr/>
          <p:nvPr/>
        </p:nvSpPr>
        <p:spPr>
          <a:xfrm>
            <a:off x="11253175" y="2108655"/>
            <a:ext cx="118872" cy="118872"/>
          </a:xfrm>
          <a:prstGeom prst="ellipse">
            <a:avLst/>
          </a:prstGeom>
          <a:solidFill>
            <a:srgbClr val="A23B2A">
              <a:alpha val="90000"/>
            </a:srgbClr>
          </a:solidFill>
          <a:ln w="6350">
            <a:solidFill>
              <a:srgbClr val="FFFFFF"/>
            </a:solidFill>
            <a:prstDash val="solid"/>
          </a:ln>
        </p:spPr>
      </p:sp>
      <p:sp>
        <p:nvSpPr>
          <p:cNvPr id="98" name="Legend Head-down bed rest"/>
          <p:cNvSpPr/>
          <p:nvPr/>
        </p:nvSpPr>
        <p:spPr>
          <a:xfrm>
            <a:off x="6583680" y="5614416"/>
            <a:ext cx="118872" cy="118872"/>
          </a:xfrm>
          <a:prstGeom prst="ellipse">
            <a:avLst/>
          </a:prstGeom>
          <a:solidFill>
            <a:srgbClr val="1F3A5F"/>
          </a:solidFill>
          <a:ln/>
        </p:spPr>
      </p:sp>
      <p:sp>
        <p:nvSpPr>
          <p:cNvPr id="99" name="Text 96"/>
          <p:cNvSpPr txBox="1"/>
          <p:nvPr/>
        </p:nvSpPr>
        <p:spPr>
          <a:xfrm>
            <a:off x="6766560" y="5559552"/>
            <a:ext cx="1508760" cy="228600"/>
          </a:xfrm>
          <a:prstGeom prst="rect">
            <a:avLst/>
          </a:prstGeom>
          <a:noFill/>
          <a:ln/>
        </p:spPr>
        <p:txBody>
          <a:bodyPr wrap="square" lIns="0" tIns="0" rIns="0" bIns="0" rtlCol="0" anchor="t"/>
          <a:lstStyle/>
          <a:p>
            <a:pPr indent="0" marL="0">
              <a:buNone/>
            </a:pPr>
            <a:r>
              <a:rPr lang="en-US" sz="1050" dirty="0">
                <a:solidFill>
                  <a:schemeClr val="tx1"/>
                </a:solidFill>
              </a:rPr>
              <a:t>Head-down bed rest</a:t>
            </a:r>
            <a:endParaRPr lang="en-US" sz="1050" dirty="0"/>
          </a:p>
        </p:txBody>
      </p:sp>
      <p:sp>
        <p:nvSpPr>
          <p:cNvPr id="100" name="Legend Horizontal bed rest"/>
          <p:cNvSpPr/>
          <p:nvPr/>
        </p:nvSpPr>
        <p:spPr>
          <a:xfrm>
            <a:off x="8275320" y="5614416"/>
            <a:ext cx="118872" cy="118872"/>
          </a:xfrm>
          <a:prstGeom prst="ellipse">
            <a:avLst/>
          </a:prstGeom>
          <a:solidFill>
            <a:srgbClr val="9AA3AE"/>
          </a:solidFill>
          <a:ln/>
        </p:spPr>
      </p:sp>
      <p:sp>
        <p:nvSpPr>
          <p:cNvPr id="101" name="Text 98"/>
          <p:cNvSpPr txBox="1"/>
          <p:nvPr/>
        </p:nvSpPr>
        <p:spPr>
          <a:xfrm>
            <a:off x="8458200" y="5559552"/>
            <a:ext cx="1508760" cy="228600"/>
          </a:xfrm>
          <a:prstGeom prst="rect">
            <a:avLst/>
          </a:prstGeom>
          <a:noFill/>
          <a:ln/>
        </p:spPr>
        <p:txBody>
          <a:bodyPr wrap="square" lIns="0" tIns="0" rIns="0" bIns="0" rtlCol="0" anchor="t"/>
          <a:lstStyle/>
          <a:p>
            <a:pPr indent="0" marL="0">
              <a:buNone/>
            </a:pPr>
            <a:r>
              <a:rPr lang="en-US" sz="1050" dirty="0">
                <a:solidFill>
                  <a:schemeClr val="tx1"/>
                </a:solidFill>
              </a:rPr>
              <a:t>Horizontal bed rest</a:t>
            </a:r>
            <a:endParaRPr lang="en-US" sz="1050" dirty="0"/>
          </a:p>
        </p:txBody>
      </p:sp>
      <p:sp>
        <p:nvSpPr>
          <p:cNvPr id="102" name="Legend Spaceflight"/>
          <p:cNvSpPr/>
          <p:nvPr/>
        </p:nvSpPr>
        <p:spPr>
          <a:xfrm>
            <a:off x="9966960" y="5614416"/>
            <a:ext cx="118872" cy="118872"/>
          </a:xfrm>
          <a:prstGeom prst="ellipse">
            <a:avLst/>
          </a:prstGeom>
          <a:solidFill>
            <a:srgbClr val="A23B2A"/>
          </a:solidFill>
          <a:ln/>
        </p:spPr>
      </p:sp>
      <p:sp>
        <p:nvSpPr>
          <p:cNvPr id="103" name="Text 100"/>
          <p:cNvSpPr txBox="1"/>
          <p:nvPr/>
        </p:nvSpPr>
        <p:spPr>
          <a:xfrm>
            <a:off x="10149840" y="5559552"/>
            <a:ext cx="1508760" cy="228600"/>
          </a:xfrm>
          <a:prstGeom prst="rect">
            <a:avLst/>
          </a:prstGeom>
          <a:noFill/>
          <a:ln/>
        </p:spPr>
        <p:txBody>
          <a:bodyPr wrap="square" lIns="0" tIns="0" rIns="0" bIns="0" rtlCol="0" anchor="t"/>
          <a:lstStyle/>
          <a:p>
            <a:pPr indent="0" marL="0">
              <a:buNone/>
            </a:pPr>
            <a:r>
              <a:rPr lang="en-US" sz="1050" dirty="0">
                <a:solidFill>
                  <a:schemeClr val="tx1"/>
                </a:solidFill>
              </a:rPr>
              <a:t>Spaceflight</a:t>
            </a:r>
            <a:endParaRPr lang="en-US" sz="1050" dirty="0"/>
          </a:p>
        </p:txBody>
      </p:sp>
      <p:sp>
        <p:nvSpPr>
          <p:cNvPr id="104" name="Legend Limb suspension"/>
          <p:cNvSpPr/>
          <p:nvPr/>
        </p:nvSpPr>
        <p:spPr>
          <a:xfrm>
            <a:off x="6583680" y="5861304"/>
            <a:ext cx="118872" cy="118872"/>
          </a:xfrm>
          <a:prstGeom prst="ellipse">
            <a:avLst/>
          </a:prstGeom>
          <a:solidFill>
            <a:srgbClr val="2E8B57"/>
          </a:solidFill>
          <a:ln/>
        </p:spPr>
      </p:sp>
      <p:sp>
        <p:nvSpPr>
          <p:cNvPr id="105" name="Text 102"/>
          <p:cNvSpPr txBox="1"/>
          <p:nvPr/>
        </p:nvSpPr>
        <p:spPr>
          <a:xfrm>
            <a:off x="6766560" y="5806440"/>
            <a:ext cx="1508760" cy="228600"/>
          </a:xfrm>
          <a:prstGeom prst="rect">
            <a:avLst/>
          </a:prstGeom>
          <a:noFill/>
          <a:ln/>
        </p:spPr>
        <p:txBody>
          <a:bodyPr wrap="square" lIns="0" tIns="0" rIns="0" bIns="0" rtlCol="0" anchor="t"/>
          <a:lstStyle/>
          <a:p>
            <a:pPr indent="0" marL="0">
              <a:buNone/>
            </a:pPr>
            <a:r>
              <a:rPr lang="en-US" sz="1050" dirty="0">
                <a:solidFill>
                  <a:schemeClr val="tx1"/>
                </a:solidFill>
              </a:rPr>
              <a:t>Limb suspension</a:t>
            </a:r>
            <a:endParaRPr lang="en-US" sz="1050" dirty="0"/>
          </a:p>
        </p:txBody>
      </p:sp>
      <p:sp>
        <p:nvSpPr>
          <p:cNvPr id="106" name="Legend Dry immersion"/>
          <p:cNvSpPr/>
          <p:nvPr/>
        </p:nvSpPr>
        <p:spPr>
          <a:xfrm>
            <a:off x="8275320" y="5861304"/>
            <a:ext cx="118872" cy="118872"/>
          </a:xfrm>
          <a:prstGeom prst="ellipse">
            <a:avLst/>
          </a:prstGeom>
          <a:solidFill>
            <a:srgbClr val="C08A2E"/>
          </a:solidFill>
          <a:ln/>
        </p:spPr>
      </p:sp>
      <p:sp>
        <p:nvSpPr>
          <p:cNvPr id="107" name="Text 104"/>
          <p:cNvSpPr txBox="1"/>
          <p:nvPr/>
        </p:nvSpPr>
        <p:spPr>
          <a:xfrm>
            <a:off x="8458200" y="5806440"/>
            <a:ext cx="1508760" cy="228600"/>
          </a:xfrm>
          <a:prstGeom prst="rect">
            <a:avLst/>
          </a:prstGeom>
          <a:noFill/>
          <a:ln/>
        </p:spPr>
        <p:txBody>
          <a:bodyPr wrap="square" lIns="0" tIns="0" rIns="0" bIns="0" rtlCol="0" anchor="t"/>
          <a:lstStyle/>
          <a:p>
            <a:pPr indent="0" marL="0">
              <a:buNone/>
            </a:pPr>
            <a:r>
              <a:rPr lang="en-US" sz="1050" dirty="0">
                <a:solidFill>
                  <a:schemeClr val="tx1"/>
                </a:solidFill>
              </a:rPr>
              <a:t>Dry immersion</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2026-10-06T11:12:22Z</dcterms:created>
  <dcterms:modified xsi:type="dcterms:W3CDTF">2026-10-06T11:12:22Z</dcterms:modified>
</cp:coreProperties>
</file>