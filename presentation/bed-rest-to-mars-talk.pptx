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197ad8b-59a4-2d74-0164-f68eb5d5641f}">
          <p14:sldIdLst>
            <p14:sldId id="256"/>
            <p14:sldId id="257"/>
          </p14:sldIdLst>
        </p14:section>
        <p14:section name="Part 1" id="{9852aba5-79ce-0ab4-09cf-7375582b52e2}">
          <p14:sldIdLst>
            <p14:sldId id="258"/>
            <p14:sldId id="259"/>
            <p14:sldId id="260"/>
            <p14:sldId id="261"/>
            <p14:sldId id="262"/>
            <p14:sldId id="263"/>
            <p14:sldId id="264"/>
          </p14:sldIdLst>
        </p14:section>
        <p14:section name="Part 2" id="{a5c562b9-2ff9-9437-11bc-e3b4d8bf5c2f}">
          <p14:sldIdLst>
            <p14:sldId id="265"/>
            <p14:sldId id="266"/>
            <p14:sldId id="267"/>
            <p14:sldId id="268"/>
            <p14:sldId id="269"/>
            <p14:sldId id="270"/>
            <p14:sldId id="271"/>
          </p14:sldIdLst>
        </p14:section>
        <p14:section name="Backup" id="{18098c89-f719-549a-3c04-25d183574bce}">
          <p14:sldIdLst>
            <p14:sldId id="272"/>
            <p14:sldId id="273"/>
            <p14:sldId id="274"/>
            <p14:sldId id="275"/>
          </p14:sldIdLst>
        </p14:section>
        <p14:section name="Backup" id="{44cd8629-4e03-fca8-c161-284732192d26}">
          <p14:sldIdLst/>
        </p14:section>
        <p14:section name="Backup" id="{d9ba4ffa-8801-04db-50cb-f37c52e6c1bf}">
          <p14:sldIdLst/>
        </p14:section>
        <p14:section name="Backup" id="{283d6083-0dfe-a83a-d9f4-c050a09919f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was whether the amount of atrophy can be predicted. To answer it, we built a dataset from the published literature and a machine-learning framework on top of it.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drawn to scale: after 60 days of bed rest, control groups lose about 16 percent of calf muscle in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in our dataset only 14 of 742 rows come from spaceflight. So we use head-down bed rest, the standard ground analogue: volunteers lie tilted six degrees head-down, and their legs carry no weight, under controlled conditions and for set durations. Bed rest is not the same as spaceflight, but it is a sound starting point to build and test prediction models.
Mars in our title stands for the long-term application. The chart puts the durations side by side. Our bed-rest data reach day 119. A Moon mission lasted up to 12 days. An ISS stay and a Mars transit both last about six months, but from the ISS a crew can return within hours, and on landing they go straight into medical care. A Mars crew cannot come back early in an emergency, and after months in weightlessness they must leave the spacecraft and work on the surface.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can we predict muscle atrophy?</a:t>
            </a:r>
            <a:endParaRPr lang="en-US" sz="2800" dirty="0"/>
          </a:p>
        </p:txBody>
      </p:sp>
      <p:sp>
        <p:nvSpPr>
          <p:cNvPr id="11" name="Text 9"/>
          <p:cNvSpPr txBox="1"/>
          <p:nvPr/>
        </p:nvSpPr>
        <p:spPr>
          <a:xfrm>
            <a:off x="548640" y="1234440"/>
            <a:ext cx="6035040" cy="48920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What are we doing?</a:t>
            </a:r>
            <a:endParaRPr lang="en-US" sz="1800" dirty="0"/>
          </a:p>
          <a:p>
            <a:pPr marL="342900" indent="-342900">
              <a:spcAft>
                <a:spcPts val="400"/>
              </a:spcAft>
              <a:buSzPct val="100000"/>
              <a:buChar char="•"/>
            </a:pPr>
            <a:r>
              <a:rPr lang="en-US" sz="1500" dirty="0">
                <a:solidFill>
                  <a:schemeClr val="tx1"/>
                </a:solidFill>
              </a:rPr>
              <a:t>Lower-limb muscle atrophy is a major challenge in long-duration spaceflight</a:t>
            </a:r>
            <a:endParaRPr lang="en-US" sz="1800" dirty="0"/>
          </a:p>
          <a:p>
            <a:pPr marL="342900" indent="-342900">
              <a:spcAft>
                <a:spcPts val="400"/>
              </a:spcAft>
              <a:buSzPct val="100000"/>
              <a:buChar char="•"/>
            </a:pPr>
            <a:r>
              <a:rPr lang="en-US" sz="1500" dirty="0">
                <a:solidFill>
                  <a:schemeClr val="tx1"/>
                </a:solidFill>
              </a:rPr>
              <a:t>Research question: can the extent of muscle atrophy be predicted?</a:t>
            </a:r>
            <a:endParaRPr lang="en-US" sz="1800" dirty="0"/>
          </a:p>
          <a:p>
            <a:pPr marL="342900" indent="-342900">
              <a:spcAft>
                <a:spcPts val="400"/>
              </a:spcAft>
              <a:buSzPct val="100000"/>
              <a:buChar char="•"/>
            </a:pPr>
            <a:r>
              <a:rPr lang="en-US" sz="1500" dirty="0">
                <a:solidFill>
                  <a:schemeClr val="tx1"/>
                </a:solidFill>
              </a:rPr>
              <a:t>Aim: a literature-derived dataset and a machine-learning framework for this prediction</a:t>
            </a:r>
            <a:endParaRPr lang="en-US" sz="1800" dirty="0"/>
          </a:p>
          <a:p>
            <a:pPr indent="0" marL="0">
              <a:spcBef>
                <a:spcPts val="1400"/>
              </a:spcBef>
              <a:spcAft>
                <a:spcPts val="400"/>
              </a:spcAft>
              <a:buNone/>
            </a:pPr>
            <a:r>
              <a:rPr lang="en-US" sz="1800" b="1" dirty="0">
                <a:solidFill>
                  <a:schemeClr val="tx2"/>
                </a:solidFill>
              </a:rPr>
              <a:t>Why is this important?</a:t>
            </a:r>
            <a:endParaRPr lang="en-US" sz="1800" dirty="0"/>
          </a:p>
          <a:p>
            <a:pPr marL="342900" indent="-342900">
              <a:spcAft>
                <a:spcPts val="400"/>
              </a:spcAft>
              <a:buSzPct val="100000"/>
              <a:buChar char="•"/>
            </a:pPr>
            <a:r>
              <a:rPr lang="en-US" sz="1500" dirty="0">
                <a:solidFill>
                  <a:schemeClr val="tx1"/>
                </a:solidFill>
              </a:rPr>
              <a:t>Prevention: identify risk early and leave time to intervene</a:t>
            </a:r>
            <a:endParaRPr lang="en-US" sz="1800" dirty="0"/>
          </a:p>
          <a:p>
            <a:pPr marL="342900" indent="-342900">
              <a:spcAft>
                <a:spcPts val="400"/>
              </a:spcAft>
              <a:buSzPct val="100000"/>
              <a:buChar char="•"/>
            </a:pPr>
            <a:r>
              <a:rPr lang="en-US" sz="1500" dirty="0">
                <a:solidFill>
                  <a:schemeClr val="tx1"/>
                </a:solidFill>
              </a:rPr>
              <a:t>Countermeasures: match exercise and nutrition to the predicted risk</a:t>
            </a:r>
            <a:endParaRPr lang="en-US" sz="1800" dirty="0"/>
          </a:p>
          <a:p>
            <a:pPr marL="342900" indent="-342900">
              <a:spcAft>
                <a:spcPts val="400"/>
              </a:spcAft>
              <a:buSzPct val="100000"/>
              <a:buChar char="•"/>
            </a:pPr>
            <a:r>
              <a:rPr lang="en-US" sz="1500" dirty="0">
                <a:solidFill>
                  <a:schemeClr val="tx1"/>
                </a:solidFill>
              </a:rPr>
              <a:t>Vulnerable muscles: show which muscles need closer monitoring</a:t>
            </a:r>
            <a:endParaRPr lang="en-US" sz="1800" dirty="0"/>
          </a:p>
          <a:p>
            <a:pPr marL="342900" indent="-342900">
              <a:spcAft>
                <a:spcPts val="400"/>
              </a:spcAft>
              <a:buSzPct val="100000"/>
              <a:buChar char="•"/>
            </a:pPr>
            <a:r>
              <a:rPr lang="en-US" sz="1500" dirty="0">
                <a:solidFill>
                  <a:schemeClr val="tx1"/>
                </a:solidFill>
              </a:rPr>
              <a:t>Function: less muscle loss helps preserve strength and power</a:t>
            </a:r>
            <a:endParaRPr lang="en-US" sz="1800" dirty="0"/>
          </a:p>
          <a:p>
            <a:pPr marL="342900" indent="-342900">
              <a:spcAft>
                <a:spcPts val="400"/>
              </a:spcAft>
              <a:buSzPct val="100000"/>
              <a:buChar char="•"/>
            </a:pPr>
            <a:r>
              <a:rPr lang="en-US" sz="1500" dirty="0">
                <a:solidFill>
                  <a:schemeClr val="tx1"/>
                </a:solidFill>
              </a:rPr>
              <a:t>Mission planning: estimate muscle loss on long missions with limited exercise equipment</a:t>
            </a:r>
            <a:endParaRPr lang="en-US" sz="18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Ground analogue: 6° head-down bed rest</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Day 60: −16%</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Calf cross-section to scale; dashed line = size before. Model estimate for control groups (plantar flexors, −15.8% at day 60).</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from bed rest to Mars?</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Bed rest: the ground analogue</a:t>
            </a:r>
            <a:endParaRPr lang="en-US" sz="1700" dirty="0"/>
          </a:p>
          <a:p>
            <a:pPr marL="342900" indent="-342900">
              <a:spcAft>
                <a:spcPts val="400"/>
              </a:spcAft>
              <a:buSzPct val="100000"/>
              <a:buChar char="•"/>
            </a:pPr>
            <a:r>
              <a:rPr lang="en-US" sz="1400" dirty="0">
                <a:solidFill>
                  <a:schemeClr val="tx1"/>
                </a:solidFill>
              </a:rPr>
              <a:t>Spaceflight data on muscle are scarce: 14 of 742 rows in our dataset</a:t>
            </a:r>
            <a:endParaRPr lang="en-US" sz="1700" dirty="0"/>
          </a:p>
          <a:p>
            <a:pPr marL="342900" indent="-342900">
              <a:spcAft>
                <a:spcPts val="400"/>
              </a:spcAft>
              <a:buSzPct val="100000"/>
              <a:buChar char="•"/>
            </a:pPr>
            <a:r>
              <a:rPr lang="en-US" sz="1400" dirty="0">
                <a:solidFill>
                  <a:schemeClr val="tx1"/>
                </a:solidFill>
              </a:rPr>
              <a:t>Head-down bed rest unloads the legs under controlled conditions, for set durations</a:t>
            </a:r>
            <a:endParaRPr lang="en-US" sz="1700" dirty="0"/>
          </a:p>
          <a:p>
            <a:pPr marL="342900" indent="-342900">
              <a:spcAft>
                <a:spcPts val="400"/>
              </a:spcAft>
              <a:buSzPct val="100000"/>
              <a:buChar char="•"/>
            </a:pPr>
            <a:r>
              <a:rPr lang="en-US" sz="1400" dirty="0">
                <a:solidFill>
                  <a:schemeClr val="tx1"/>
                </a:solidFill>
              </a:rPr>
              <a:t>Not equivalent to spaceflight, but a sound basis to build and test prediction models</a:t>
            </a:r>
            <a:endParaRPr lang="en-US" sz="1700" dirty="0"/>
          </a:p>
          <a:p>
            <a:pPr indent="0" marL="0">
              <a:spcBef>
                <a:spcPts val="1000"/>
              </a:spcBef>
              <a:spcAft>
                <a:spcPts val="300"/>
              </a:spcAft>
              <a:buNone/>
            </a:pPr>
            <a:r>
              <a:rPr lang="en-US" sz="1700" b="1" dirty="0">
                <a:solidFill>
                  <a:schemeClr val="tx2"/>
                </a:solidFill>
              </a:rPr>
              <a:t>Mars: the long-term application</a:t>
            </a:r>
            <a:endParaRPr lang="en-US" sz="1700" dirty="0"/>
          </a:p>
          <a:p>
            <a:pPr marL="342900" indent="-342900">
              <a:spcAft>
                <a:spcPts val="400"/>
              </a:spcAft>
              <a:buSzPct val="100000"/>
              <a:buChar char="•"/>
            </a:pPr>
            <a:r>
              <a:rPr lang="en-US" sz="1400" dirty="0">
                <a:solidFill>
                  <a:schemeClr val="tx1"/>
                </a:solidFill>
              </a:rPr>
              <a:t>Transit of about 6 months, far longer than a Moon mission</a:t>
            </a:r>
            <a:endParaRPr lang="en-US" sz="1700" dirty="0"/>
          </a:p>
          <a:p>
            <a:pPr marL="342900" indent="-342900">
              <a:spcAft>
                <a:spcPts val="400"/>
              </a:spcAft>
              <a:buSzPct val="100000"/>
              <a:buChar char="•"/>
            </a:pPr>
            <a:r>
              <a:rPr lang="en-US" sz="1400" dirty="0">
                <a:solidFill>
                  <a:schemeClr val="tx1"/>
                </a:solidFill>
              </a:rPr>
              <a:t>No early return in an emergency: after months in weightlessness, the crew must leave the spacecraft and work on the surface</a:t>
            </a:r>
            <a:endParaRPr lang="en-US" sz="1700" dirty="0"/>
          </a:p>
          <a:p>
            <a:pPr marL="342900" indent="-342900">
              <a:spcAft>
                <a:spcPts val="400"/>
              </a:spcAft>
              <a:buSzPct val="100000"/>
              <a:buChar char="•"/>
            </a:pPr>
            <a:r>
              <a:rPr lang="en-US" sz="1400" dirty="0">
                <a:solidFill>
                  <a:schemeClr val="tx1"/>
                </a:solidFill>
              </a:rPr>
              <a:t>Use on such a mission requires validation with spaceflight data</a:t>
            </a:r>
            <a:endParaRPr lang="en-US" sz="1700" dirty="0"/>
          </a:p>
        </p:txBody>
      </p:sp>
      <p:sp>
        <p:nvSpPr>
          <p:cNvPr id="12" name="Durat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Time without Earth's gravity (days)</a:t>
            </a:r>
            <a:endParaRPr lang="en-US" sz="1400" dirty="0"/>
          </a:p>
        </p:txBody>
      </p:sp>
      <p:sp>
        <p:nvSpPr>
          <p:cNvPr id="14" name="Text 12"/>
          <p:cNvSpPr txBox="1"/>
          <p:nvPr/>
        </p:nvSpPr>
        <p:spPr>
          <a:xfrm>
            <a:off x="6675120" y="1737360"/>
            <a:ext cx="1691640" cy="502920"/>
          </a:xfrm>
          <a:prstGeom prst="rect">
            <a:avLst/>
          </a:prstGeom>
          <a:noFill/>
          <a:ln/>
        </p:spPr>
        <p:txBody>
          <a:bodyPr wrap="square" lIns="0" tIns="0" rIns="0" bIns="0" rtlCol="0" anchor="t"/>
          <a:lstStyle/>
          <a:p>
            <a:pPr indent="0" marL="0">
              <a:buNone/>
            </a:pPr>
            <a:r>
              <a:rPr lang="en-US" sz="1300" b="1" dirty="0">
                <a:solidFill>
                  <a:schemeClr val="tx1"/>
                </a:solidFill>
              </a:rPr>
              <a:t>Bed-rest data</a:t>
            </a:r>
            <a:endParaRPr lang="en-US" sz="1300" dirty="0"/>
          </a:p>
          <a:p>
            <a:pPr indent="0" marL="0">
              <a:buNone/>
            </a:pPr>
            <a:r>
              <a:rPr lang="en-US" sz="1050" i="1" dirty="0">
                <a:solidFill>
                  <a:schemeClr val="accent3"/>
                </a:solidFill>
              </a:rPr>
              <a:t>our data: day 5 to 119</a:t>
            </a:r>
            <a:endParaRPr lang="en-US" sz="1300" dirty="0"/>
          </a:p>
        </p:txBody>
      </p:sp>
      <p:sp>
        <p:nvSpPr>
          <p:cNvPr id="15" name="Bed-rest data bar"/>
          <p:cNvSpPr/>
          <p:nvPr/>
        </p:nvSpPr>
        <p:spPr>
          <a:xfrm>
            <a:off x="8665083" y="1847088"/>
            <a:ext cx="1589684" cy="274320"/>
          </a:xfrm>
          <a:prstGeom prst="rect">
            <a:avLst/>
          </a:prstGeom>
          <a:solidFill>
            <a:srgbClr val="1F3A5F"/>
          </a:solidFill>
          <a:ln/>
        </p:spPr>
      </p:sp>
      <p:sp>
        <p:nvSpPr>
          <p:cNvPr id="16" name="Gap to 180 days"/>
          <p:cNvSpPr/>
          <p:nvPr/>
        </p:nvSpPr>
        <p:spPr>
          <a:xfrm>
            <a:off x="10254767" y="1847088"/>
            <a:ext cx="850621" cy="274320"/>
          </a:xfrm>
          <a:prstGeom prst="rect">
            <a:avLst/>
          </a:prstGeom>
          <a:ln w="12700">
            <a:solidFill>
              <a:srgbClr val="1F3A5F"/>
            </a:solidFill>
            <a:prstDash val="dash"/>
          </a:ln>
        </p:spPr>
      </p:sp>
      <p:sp>
        <p:nvSpPr>
          <p:cNvPr id="17" name="Text 15"/>
          <p:cNvSpPr txBox="1"/>
          <p:nvPr/>
        </p:nvSpPr>
        <p:spPr>
          <a:xfrm>
            <a:off x="10254767" y="1847088"/>
            <a:ext cx="850621" cy="274320"/>
          </a:xfrm>
          <a:prstGeom prst="rect">
            <a:avLst/>
          </a:prstGeom>
          <a:noFill/>
          <a:ln/>
        </p:spPr>
        <p:txBody>
          <a:bodyPr wrap="square" lIns="0" tIns="0" rIns="0" bIns="0" rtlCol="0" anchor="ctr"/>
          <a:lstStyle/>
          <a:p>
            <a:pPr algn="ctr" indent="0" marL="0">
              <a:buNone/>
            </a:pPr>
            <a:r>
              <a:rPr lang="en-US" sz="1000" i="1" dirty="0">
                <a:solidFill>
                  <a:schemeClr val="tx2"/>
                </a:solidFill>
              </a:rPr>
              <a:t>not covered</a:t>
            </a:r>
            <a:endParaRPr lang="en-US" sz="1000" dirty="0"/>
          </a:p>
        </p:txBody>
      </p:sp>
      <p:sp>
        <p:nvSpPr>
          <p:cNvPr id="18" name="Text 16"/>
          <p:cNvSpPr txBox="1"/>
          <p:nvPr/>
        </p:nvSpPr>
        <p:spPr>
          <a:xfrm>
            <a:off x="6675120" y="2359152"/>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Apollo: up to 12 days</a:t>
            </a:r>
            <a:endParaRPr lang="en-US" sz="1300" dirty="0"/>
          </a:p>
        </p:txBody>
      </p:sp>
      <p:sp>
        <p:nvSpPr>
          <p:cNvPr id="19" name="Moon mission bar"/>
          <p:cNvSpPr/>
          <p:nvPr/>
        </p:nvSpPr>
        <p:spPr>
          <a:xfrm>
            <a:off x="8595360" y="2468880"/>
            <a:ext cx="167335" cy="274320"/>
          </a:xfrm>
          <a:prstGeom prst="rect">
            <a:avLst/>
          </a:prstGeom>
          <a:solidFill>
            <a:srgbClr val="A7AEB8"/>
          </a:solidFill>
          <a:ln/>
        </p:spPr>
      </p:sp>
      <p:sp>
        <p:nvSpPr>
          <p:cNvPr id="20" name="Text 18"/>
          <p:cNvSpPr txBox="1"/>
          <p:nvPr/>
        </p:nvSpPr>
        <p:spPr>
          <a:xfrm>
            <a:off x="6675120" y="2980944"/>
            <a:ext cx="1691640" cy="502920"/>
          </a:xfrm>
          <a:prstGeom prst="rect">
            <a:avLst/>
          </a:prstGeom>
          <a:noFill/>
          <a:ln/>
        </p:spPr>
        <p:txBody>
          <a:bodyPr wrap="square" lIns="0" tIns="0" rIns="0" bIns="0" rtlCol="0" anchor="t"/>
          <a:lstStyle/>
          <a:p>
            <a:pPr indent="0" marL="0">
              <a:buNone/>
            </a:pPr>
            <a:r>
              <a:rPr lang="en-US" sz="1300" b="1" dirty="0">
                <a:solidFill>
                  <a:schemeClr val="tx1"/>
                </a:solidFill>
              </a:rPr>
              <a:t>ISS stay</a:t>
            </a:r>
            <a:endParaRPr lang="en-US" sz="1300" dirty="0"/>
          </a:p>
          <a:p>
            <a:pPr indent="0" marL="0">
              <a:buNone/>
            </a:pPr>
            <a:r>
              <a:rPr lang="en-US" sz="1050" i="1" dirty="0">
                <a:solidFill>
                  <a:schemeClr val="accent3"/>
                </a:solidFill>
              </a:rPr>
              <a:t>return within hours</a:t>
            </a:r>
            <a:endParaRPr lang="en-US" sz="1300" dirty="0"/>
          </a:p>
        </p:txBody>
      </p:sp>
      <p:sp>
        <p:nvSpPr>
          <p:cNvPr id="21" name="ISS stay bar"/>
          <p:cNvSpPr/>
          <p:nvPr/>
        </p:nvSpPr>
        <p:spPr>
          <a:xfrm>
            <a:off x="8595360" y="3090672"/>
            <a:ext cx="2510028" cy="274320"/>
          </a:xfrm>
          <a:prstGeom prst="rect">
            <a:avLst/>
          </a:prstGeom>
          <a:solidFill>
            <a:srgbClr val="A7AEB8"/>
          </a:solidFill>
          <a:ln/>
        </p:spPr>
      </p:sp>
      <p:sp>
        <p:nvSpPr>
          <p:cNvPr id="22" name="Text 20"/>
          <p:cNvSpPr txBox="1"/>
          <p:nvPr/>
        </p:nvSpPr>
        <p:spPr>
          <a:xfrm>
            <a:off x="6675120" y="3602736"/>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transit</a:t>
            </a:r>
            <a:endParaRPr lang="en-US" sz="1300" dirty="0"/>
          </a:p>
          <a:p>
            <a:pPr indent="0" marL="0">
              <a:buNone/>
            </a:pPr>
            <a:r>
              <a:rPr lang="en-US" sz="1050" i="1" dirty="0">
                <a:solidFill>
                  <a:schemeClr val="accent3"/>
                </a:solidFill>
              </a:rPr>
              <a:t>no early return</a:t>
            </a:r>
            <a:endParaRPr lang="en-US" sz="1300" dirty="0"/>
          </a:p>
        </p:txBody>
      </p:sp>
      <p:sp>
        <p:nvSpPr>
          <p:cNvPr id="23" name="Mars transit bar"/>
          <p:cNvSpPr/>
          <p:nvPr/>
        </p:nvSpPr>
        <p:spPr>
          <a:xfrm>
            <a:off x="8595360" y="3712464"/>
            <a:ext cx="2510028" cy="274320"/>
          </a:xfrm>
          <a:prstGeom prst="rect">
            <a:avLst/>
          </a:prstGeom>
          <a:solidFill>
            <a:srgbClr val="A23B2A"/>
          </a:solidFill>
          <a:ln/>
        </p:spPr>
      </p:sp>
      <p:sp>
        <p:nvSpPr>
          <p:cNvPr id="24" name="Day axis"/>
          <p:cNvSpPr/>
          <p:nvPr/>
        </p:nvSpPr>
        <p:spPr>
          <a:xfrm>
            <a:off x="8595360" y="4242816"/>
            <a:ext cx="2788920" cy="0"/>
          </a:xfrm>
          <a:prstGeom prst="line">
            <a:avLst/>
          </a:prstGeom>
          <a:noFill/>
          <a:ln w="9525">
            <a:solidFill>
              <a:srgbClr val="6B7280"/>
            </a:solidFill>
            <a:prstDash val="solid"/>
          </a:ln>
        </p:spPr>
      </p:sp>
      <p:sp>
        <p:nvSpPr>
          <p:cNvPr id="25" name="Tick 0"/>
          <p:cNvSpPr/>
          <p:nvPr/>
        </p:nvSpPr>
        <p:spPr>
          <a:xfrm>
            <a:off x="8595360" y="4242816"/>
            <a:ext cx="0" cy="54864"/>
          </a:xfrm>
          <a:prstGeom prst="line">
            <a:avLst/>
          </a:prstGeom>
          <a:noFill/>
          <a:ln w="9525">
            <a:solidFill>
              <a:srgbClr val="6B7280"/>
            </a:solidFill>
            <a:prstDash val="solid"/>
          </a:ln>
        </p:spPr>
      </p:sp>
      <p:sp>
        <p:nvSpPr>
          <p:cNvPr id="26" name="Text 24"/>
          <p:cNvSpPr txBox="1"/>
          <p:nvPr/>
        </p:nvSpPr>
        <p:spPr>
          <a:xfrm>
            <a:off x="8321040" y="430682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7" name="Tick 60"/>
          <p:cNvSpPr/>
          <p:nvPr/>
        </p:nvSpPr>
        <p:spPr>
          <a:xfrm>
            <a:off x="9432036" y="4242816"/>
            <a:ext cx="0" cy="54864"/>
          </a:xfrm>
          <a:prstGeom prst="line">
            <a:avLst/>
          </a:prstGeom>
          <a:noFill/>
          <a:ln w="9525">
            <a:solidFill>
              <a:srgbClr val="6B7280"/>
            </a:solidFill>
            <a:prstDash val="solid"/>
          </a:ln>
        </p:spPr>
      </p:sp>
      <p:sp>
        <p:nvSpPr>
          <p:cNvPr id="28" name="Text 26"/>
          <p:cNvSpPr txBox="1"/>
          <p:nvPr/>
        </p:nvSpPr>
        <p:spPr>
          <a:xfrm>
            <a:off x="9157716" y="430682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9" name="Tick 120"/>
          <p:cNvSpPr/>
          <p:nvPr/>
        </p:nvSpPr>
        <p:spPr>
          <a:xfrm>
            <a:off x="10268712" y="4242816"/>
            <a:ext cx="0" cy="54864"/>
          </a:xfrm>
          <a:prstGeom prst="line">
            <a:avLst/>
          </a:prstGeom>
          <a:noFill/>
          <a:ln w="9525">
            <a:solidFill>
              <a:srgbClr val="6B7280"/>
            </a:solidFill>
            <a:prstDash val="solid"/>
          </a:ln>
        </p:spPr>
      </p:sp>
      <p:sp>
        <p:nvSpPr>
          <p:cNvPr id="30" name="Text 28"/>
          <p:cNvSpPr txBox="1"/>
          <p:nvPr/>
        </p:nvSpPr>
        <p:spPr>
          <a:xfrm>
            <a:off x="9994392" y="430682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1" name="Tick 180"/>
          <p:cNvSpPr/>
          <p:nvPr/>
        </p:nvSpPr>
        <p:spPr>
          <a:xfrm>
            <a:off x="11105388" y="4242816"/>
            <a:ext cx="0" cy="54864"/>
          </a:xfrm>
          <a:prstGeom prst="line">
            <a:avLst/>
          </a:prstGeom>
          <a:noFill/>
          <a:ln w="9525">
            <a:solidFill>
              <a:srgbClr val="6B7280"/>
            </a:solidFill>
            <a:prstDash val="solid"/>
          </a:ln>
        </p:spPr>
      </p:sp>
      <p:sp>
        <p:nvSpPr>
          <p:cNvPr id="32" name="Text 30"/>
          <p:cNvSpPr txBox="1"/>
          <p:nvPr/>
        </p:nvSpPr>
        <p:spPr>
          <a:xfrm>
            <a:off x="10831068" y="430682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33"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34" name="Text 3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35"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36" name="Text 3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37"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38" name="Text 3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39"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40" name="Text 3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41" name="Arrow 1"/>
          <p:cNvSpPr/>
          <p:nvPr/>
        </p:nvSpPr>
        <p:spPr>
          <a:xfrm>
            <a:off x="3017520" y="5326380"/>
            <a:ext cx="365760" cy="0"/>
          </a:xfrm>
          <a:prstGeom prst="line">
            <a:avLst/>
          </a:prstGeom>
          <a:noFill/>
          <a:ln w="15875">
            <a:solidFill>
              <a:srgbClr val="1A1A1A"/>
            </a:solidFill>
            <a:prstDash val="solid"/>
            <a:tailEnd type="triangle"/>
          </a:ln>
        </p:spPr>
      </p:sp>
      <p:sp>
        <p:nvSpPr>
          <p:cNvPr id="42" name="Text 4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43" name="Arrow 3"/>
          <p:cNvSpPr/>
          <p:nvPr/>
        </p:nvSpPr>
        <p:spPr>
          <a:xfrm>
            <a:off x="8778240" y="5326380"/>
            <a:ext cx="365760" cy="0"/>
          </a:xfrm>
          <a:prstGeom prst="line">
            <a:avLst/>
          </a:prstGeom>
          <a:noFill/>
          <a:ln w="15875">
            <a:solidFill>
              <a:srgbClr val="1A1A1A"/>
            </a:solidFill>
            <a:prstDash val="solid"/>
            <a:tailEnd type="triangle"/>
          </a:ln>
        </p:spPr>
      </p:sp>
      <p:sp>
        <p:nvSpPr>
          <p:cNvPr id="44" name="Text 4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of unloading did we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Unloading models: head-down and horizontal bed rest, dry immersion, one-leg suspension; spaceflight kept separate</a:t>
            </a:r>
            <a:endParaRPr lang="en-US" sz="1400" dirty="0"/>
          </a:p>
          <a:p>
            <a:pPr marL="342900" indent="-342900">
              <a:spcAft>
                <a:spcPts val="400"/>
              </a:spcAft>
              <a:buSzPct val="100000"/>
              <a:buChar char="•"/>
            </a:pPr>
            <a:r>
              <a:rPr lang="en-US" sz="1600" dirty="0">
                <a:solidFill>
                  <a:schemeClr val="tx1"/>
                </a:solidFill>
              </a:rPr>
              <a:t>At least 5 days of continuous unloading; scans from day 5 to day 119</a:t>
            </a:r>
            <a:endParaRPr lang="en-US" sz="1400" dirty="0"/>
          </a:p>
          <a:p>
            <a:pPr marL="342900" indent="-342900">
              <a:spcAft>
                <a:spcPts val="400"/>
              </a:spcAft>
              <a:buSzPct val="100000"/>
              <a:buChar char="•"/>
            </a:pPr>
            <a:r>
              <a:rPr lang="en-US" sz="1600" dirty="0">
                <a:solidFill>
                  <a:schemeClr val="tx1"/>
                </a:solidFill>
              </a:rPr>
              <a:t>Leg muscle size measured as volume, cross-sectional area, thickness or lean mass, by MRI, CT, DXA, pQCT or ultrasound</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the dataset was built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Systematic search of PubMed, Scopus, Web of Science and NASA's technical reports, 2013 onwards: 5,731 records</a:t>
            </a:r>
            <a:endParaRPr lang="en-US" sz="1400" dirty="0"/>
          </a:p>
          <a:p>
            <a:pPr marL="342900" indent="-342900">
              <a:spcAft>
                <a:spcPts val="400"/>
              </a:spcAft>
              <a:buSzPct val="100000"/>
              <a:buChar char="•"/>
            </a:pPr>
            <a:r>
              <a:rPr lang="en-US" sz="1600" dirty="0">
                <a:solidFill>
                  <a:schemeClr val="tx1"/>
                </a:solidFill>
              </a:rPr>
              <a:t>Plus 9 older studies and one campaign from NASA's open bed-rest archive</a:t>
            </a:r>
            <a:endParaRPr lang="en-US" sz="1400" dirty="0"/>
          </a:p>
          <a:p>
            <a:pPr marL="342900" indent="-342900">
              <a:spcAft>
                <a:spcPts val="400"/>
              </a:spcAft>
              <a:buSzPct val="100000"/>
              <a:buChar char="•"/>
            </a:pPr>
            <a:r>
              <a:rPr lang="en-US" sz="1600" dirty="0">
                <a:solidFill>
                  <a:schemeClr val="tx1"/>
                </a:solidFill>
              </a:rPr>
              <a:t>Extraction form fixed before extraction: one row per study, group, muscle and scan day</a:t>
            </a:r>
            <a:endParaRPr lang="en-US" sz="1400" dirty="0"/>
          </a:p>
          <a:p>
            <a:pPr marL="342900" indent="-342900">
              <a:spcAft>
                <a:spcPts val="400"/>
              </a:spcAft>
              <a:buSzPct val="100000"/>
              <a:buChar char="•"/>
            </a:pPr>
            <a:r>
              <a:rPr lang="en-US" sz="1600" dirty="0">
                <a:solidFill>
                  <a:schemeClr val="tx1"/>
                </a:solidFill>
              </a:rPr>
              <a:t>Papers that report the same volunteers merged into one campaign</a:t>
            </a:r>
            <a:endParaRPr lang="en-US" sz="1400" dirty="0"/>
          </a:p>
          <a:p>
            <a:pPr indent="0" marL="0">
              <a:buNone/>
            </a:pPr>
            <a:r>
              <a:rPr lang="en-US" sz="1400" i="1" dirty="0">
                <a:solidFill>
                  <a:schemeClr val="accent3"/>
                </a:solidFill>
              </a:rPr>
              <a:t>Possible figure: search flow diagram (figures/F1_corpus)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final dataset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742 measurements from 52 studies (1992 to 2026) and 36 independent campaigns</a:t>
            </a:r>
            <a:endParaRPr lang="en-US" sz="1400" dirty="0"/>
          </a:p>
          <a:p>
            <a:pPr marL="342900" indent="-342900">
              <a:spcAft>
                <a:spcPts val="400"/>
              </a:spcAft>
              <a:buSzPct val="100000"/>
              <a:buChar char="•"/>
            </a:pPr>
            <a:r>
              <a:rPr lang="en-US" sz="1600" dirty="0">
                <a:solidFill>
                  <a:schemeClr val="tx1"/>
                </a:solidFill>
              </a:rPr>
              <a:t>Mostly MRI volumes of named muscles in young men during head-down bed rest</a:t>
            </a:r>
            <a:endParaRPr lang="en-US" sz="1400" dirty="0"/>
          </a:p>
          <a:p>
            <a:pPr marL="342900" indent="-342900">
              <a:spcAft>
                <a:spcPts val="400"/>
              </a:spcAft>
              <a:buSzPct val="100000"/>
              <a:buChar char="•"/>
            </a:pPr>
            <a:r>
              <a:rPr lang="en-US" sz="1600" dirty="0">
                <a:solidFill>
                  <a:schemeClr val="tx1"/>
                </a:solidFill>
              </a:rPr>
              <a:t>Uneven: the MEDES 90-day campaign gives 40% of rows; 15 campaigns give 5 rows or fewer</a:t>
            </a:r>
            <a:endParaRPr lang="en-US" sz="1400" dirty="0"/>
          </a:p>
          <a:p>
            <a:pPr marL="342900" indent="-342900">
              <a:spcAft>
                <a:spcPts val="400"/>
              </a:spcAft>
              <a:buSzPct val="100000"/>
              <a:buChar char="•"/>
            </a:pPr>
            <a:r>
              <a:rPr lang="en-US" sz="1600" dirty="0">
                <a:solidFill>
                  <a:schemeClr val="tx1"/>
                </a:solidFill>
              </a:rPr>
              <a:t>Used for modelling: 346 measurements from 32 campaigns</a:t>
            </a:r>
            <a:endParaRPr lang="en-US" sz="1400" dirty="0"/>
          </a:p>
          <a:p>
            <a:pPr indent="0" marL="0">
              <a:buNone/>
            </a:pPr>
            <a:r>
              <a:rPr lang="en-US" sz="1400" i="1" dirty="0">
                <a:solidFill>
                  <a:schemeClr val="accent3"/>
                </a:solidFill>
              </a:rPr>
              <a:t>Possible figure: campaign timeline (figures/F1b_campaigns)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was extracted from each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Muscle, day of the scan, planned length of bed rest, % change from before bed rest</a:t>
            </a:r>
            <a:endParaRPr lang="en-US" sz="1400" dirty="0"/>
          </a:p>
          <a:p>
            <a:pPr marL="342900" indent="-342900">
              <a:spcAft>
                <a:spcPts val="400"/>
              </a:spcAft>
              <a:buSzPct val="100000"/>
              <a:buChar char="•"/>
            </a:pPr>
            <a:r>
              <a:rPr lang="en-US" sz="1600" dirty="0">
                <a:solidFill>
                  <a:schemeClr val="tx1"/>
                </a:solidFill>
              </a:rPr>
              <a:t>Group: control or countermeasure, group size, sex, age</a:t>
            </a:r>
            <a:endParaRPr lang="en-US" sz="1400" dirty="0"/>
          </a:p>
          <a:p>
            <a:pPr marL="342900" indent="-342900">
              <a:spcAft>
                <a:spcPts val="400"/>
              </a:spcAft>
              <a:buSzPct val="100000"/>
              <a:buChar char="•"/>
            </a:pPr>
            <a:r>
              <a:rPr lang="en-US" sz="1600" dirty="0">
                <a:solidFill>
                  <a:schemeClr val="tx1"/>
                </a:solidFill>
              </a:rPr>
              <a:t>Measurement: imaging method, quantity, position along the muscle</a:t>
            </a:r>
            <a:endParaRPr lang="en-US" sz="1400" dirty="0"/>
          </a:p>
          <a:p>
            <a:pPr marL="342900" indent="-342900">
              <a:spcAft>
                <a:spcPts val="400"/>
              </a:spcAft>
              <a:buSzPct val="100000"/>
              <a:buChar char="•"/>
            </a:pPr>
            <a:r>
              <a:rPr lang="en-US" sz="1600" dirty="0">
                <a:solidFill>
                  <a:schemeClr val="tx1"/>
                </a:solidFill>
              </a:rPr>
              <a:t>Source of every value: DOI and page, table or figure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No. Calf muscles (plantar flexors) lose most: −15.8% at day 60, 5.7 pp more than the front thigh</a:t>
            </a:r>
            <a:endParaRPr lang="en-US" sz="1400" dirty="0"/>
          </a:p>
          <a:p>
            <a:pPr marL="342900" indent="-342900">
              <a:spcAft>
                <a:spcPts val="400"/>
              </a:spcAft>
              <a:buSzPct val="100000"/>
              <a:buChar char="•"/>
            </a:pPr>
            <a:r>
              <a:rPr lang="en-US" sz="1600" dirty="0">
                <a:solidFill>
                  <a:schemeClr val="tx1"/>
                </a:solidFill>
              </a:rPr>
              <a:t>Front thigh, back thigh and shin muscles lose around 10%; hip muscles least</a:t>
            </a:r>
            <a:endParaRPr lang="en-US" sz="1400" dirty="0"/>
          </a:p>
          <a:p>
            <a:pPr marL="342900" indent="-342900">
              <a:spcAft>
                <a:spcPts val="400"/>
              </a:spcAft>
              <a:buSzPct val="100000"/>
              <a:buChar char="•"/>
            </a:pPr>
            <a:r>
              <a:rPr lang="en-US" sz="1600" dirty="0">
                <a:solidFill>
                  <a:schemeClr val="tx1"/>
                </a:solidFill>
              </a:rPr>
              <a:t>30% of the differences between measurements lie between muscles within the same study</a:t>
            </a:r>
            <a:endParaRPr lang="en-US" sz="1400" dirty="0"/>
          </a:p>
          <a:p>
            <a:pPr marL="342900" indent="-342900">
              <a:spcAft>
                <a:spcPts val="400"/>
              </a:spcAft>
              <a:buSzPct val="100000"/>
              <a:buChar char="•"/>
            </a:pPr>
            <a:r>
              <a:rPr lang="en-US" sz="1600" dirty="0">
                <a:solidFill>
                  <a:schemeClr val="tx1"/>
                </a:solidFill>
              </a:rPr>
              <a:t>Groups with countermeasures lose 3.7 pp less than controls</a:t>
            </a:r>
            <a:endParaRPr lang="en-US" sz="1400" dirty="0"/>
          </a:p>
          <a:p>
            <a:pPr indent="0" marL="0">
              <a:buNone/>
            </a:pPr>
            <a:r>
              <a:rPr lang="en-US" sz="1400" i="1" dirty="0">
                <a:solidFill>
                  <a:schemeClr val="accent3"/>
                </a:solidFill>
              </a:rPr>
              <a:t>Possible figure: muscle ranking (figures/F3_muscles)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data to forecasts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Bridge to part 2: the data show that loss depends on time and on the muscle</a:t>
            </a:r>
            <a:endParaRPr lang="en-US" sz="1400" dirty="0"/>
          </a:p>
          <a:p>
            <a:pPr marL="342900" indent="-342900">
              <a:spcAft>
                <a:spcPts val="400"/>
              </a:spcAft>
              <a:buSzPct val="100000"/>
              <a:buChar char="•"/>
            </a:pPr>
            <a:r>
              <a:rPr lang="en-US" sz="1600" dirty="0">
                <a:solidFill>
                  <a:schemeClr val="tx1"/>
                </a:solidFill>
              </a:rPr>
              <a:t>Next question: can a model forecast the loss in a study it has never seen?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2026-10-06T10:59:37Z</dcterms:created>
  <dcterms:modified xsi:type="dcterms:W3CDTF">2026-10-06T10:59:37Z</dcterms:modified>
</cp:coreProperties>
</file>