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55e8b52-811a-9921-2b22-f82a1a81b126}">
          <p14:sldIdLst>
            <p14:sldId id="256"/>
            <p14:sldId id="257"/>
          </p14:sldIdLst>
        </p14:section>
        <p14:section name="Part 1" id="{ebc53338-b4bc-2bbf-309e-3a6d88551e3e}">
          <p14:sldIdLst>
            <p14:sldId id="258"/>
            <p14:sldId id="259"/>
            <p14:sldId id="260"/>
            <p14:sldId id="261"/>
            <p14:sldId id="262"/>
            <p14:sldId id="263"/>
            <p14:sldId id="264"/>
          </p14:sldIdLst>
        </p14:section>
        <p14:section name="Part 2" id="{3d16ab9f-b139-187a-803e-32b9b79517b2}">
          <p14:sldIdLst>
            <p14:sldId id="265"/>
            <p14:sldId id="266"/>
            <p14:sldId id="267"/>
            <p14:sldId id="268"/>
            <p14:sldId id="269"/>
            <p14:sldId id="270"/>
            <p14:sldId id="271"/>
          </p14:sldIdLst>
        </p14:section>
        <p14:section name="Backup" id="{3b979c00-d36c-d9eb-4683-273966c43a47}">
          <p14:sldIdLst>
            <p14:sldId id="272"/>
            <p14:sldId id="273"/>
            <p14:sldId id="274"/>
            <p14:sldId id="275"/>
          </p14:sldIdLst>
        </p14:section>
        <p14:section name="Backup" id="{745247d0-4f82-ce28-e3ea-a26b52b7924a}">
          <p14:sldIdLst/>
        </p14:section>
        <p14:section name="Backup" id="{e361a913-acab-3c97-9f37-48fc5f9d8136}">
          <p14:sldIdLst/>
        </p14:section>
        <p14:section name="Backup" id="{245be626-f17e-796f-e570-37d78b456c4d}">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F3A5F"/>
                </a:solidFill>
                <a:latin typeface="Arial"/>
              </a:defRPr>
            </a:pPr>
            <a:r>
              <a:rPr sz="1400" b="1" i="0" u="none" strike="noStrike">
                <a:solidFill>
                  <a:srgbClr val="1F3A5F"/>
                </a:solidFill>
                <a:latin typeface="Arial"/>
              </a:rPr>
              <a:t>Studies published per year, by length of unloading</a:t>
            </a:r>
          </a:p>
        </c:rich>
      </c:tx>
      <c:layout/>
      <c:overlay val="0"/>
    </c:title>
    <c:autoTitleDeleted val="0"/>
    <c:plotArea>
      <c:layout>
        <c:manualLayout>
          <c:layoutTarget val="inner"/>
          <c:xMode val="edge"/>
          <c:yMode val="edge"/>
          <c:x val="0.05"/>
          <c:y val="0.15"/>
          <c:w val="0.78"/>
          <c:h val="0.72"/>
        </c:manualLayout>
      </c:layout>
      <c:barChart>
        <c:barDir val="col"/>
        <c:grouping val="stacked"/>
        <c:varyColors val="0"/>
        <c:ser>
          <c:idx val="0"/>
          <c:order val="0"/>
          <c:tx>
            <c:strRef>
              <c:f>Sheet1!$B$1</c:f>
              <c:strCache>
                <c:ptCount val="1"/>
                <c:pt idx="0">
                  <c:v>5 to 14 days</c:v>
                </c:pt>
              </c:strCache>
            </c:strRef>
          </c:tx>
          <c:spPr>
            <a:solidFill>
              <a:srgbClr val="C9D2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Sheet1!$A$2:$A$36</c:f>
              <c:multiLvlStrCache>
                <c:ptCount val="35"/>
                <c:lvl>
                  <c:pt idx="0">
                    <c:v>1992</c:v>
                  </c:pt>
                  <c:pt idx="1">
                    <c:v>​</c:v>
                  </c:pt>
                  <c:pt idx="2">
                    <c:v>1994</c:v>
                  </c:pt>
                  <c:pt idx="3">
                    <c:v>​​​</c:v>
                  </c:pt>
                  <c:pt idx="4">
                    <c:v>1996</c:v>
                  </c:pt>
                  <c:pt idx="5">
                    <c:v>​​​​​</c:v>
                  </c:pt>
                  <c:pt idx="6">
                    <c:v>1998</c:v>
                  </c:pt>
                  <c:pt idx="7">
                    <c:v>​​​​​​​</c:v>
                  </c:pt>
                  <c:pt idx="8">
                    <c:v>2000</c:v>
                  </c:pt>
                  <c:pt idx="9">
                    <c:v>​​​​​​​​​</c:v>
                  </c:pt>
                  <c:pt idx="10">
                    <c:v>2002</c:v>
                  </c:pt>
                  <c:pt idx="11">
                    <c:v>​​​​​​​​​​​</c:v>
                  </c:pt>
                  <c:pt idx="12">
                    <c:v>2004</c:v>
                  </c:pt>
                  <c:pt idx="13">
                    <c:v>​​​​​​​​​​​​​</c:v>
                  </c:pt>
                  <c:pt idx="14">
                    <c:v>2006</c:v>
                  </c:pt>
                  <c:pt idx="15">
                    <c:v>​​​​​​​​​​​​​​​</c:v>
                  </c:pt>
                  <c:pt idx="16">
                    <c:v>2008</c:v>
                  </c:pt>
                  <c:pt idx="17">
                    <c:v>​​​​​​​​​​​​​​​​​</c:v>
                  </c:pt>
                  <c:pt idx="18">
                    <c:v>2010</c:v>
                  </c:pt>
                  <c:pt idx="19">
                    <c:v>​​​​​​​​​​​​​​​​​​​</c:v>
                  </c:pt>
                  <c:pt idx="20">
                    <c:v>2012</c:v>
                  </c:pt>
                  <c:pt idx="21">
                    <c:v>​​​​​​​​​​​​​​​​​​​​​</c:v>
                  </c:pt>
                  <c:pt idx="22">
                    <c:v>2014</c:v>
                  </c:pt>
                  <c:pt idx="23">
                    <c:v>​​​​​​​​​​​​​​​​​​​​​​​</c:v>
                  </c:pt>
                  <c:pt idx="24">
                    <c:v>2016</c:v>
                  </c:pt>
                  <c:pt idx="25">
                    <c:v>​​​​​​​​​​​​​​​​​​​​​​​​​</c:v>
                  </c:pt>
                  <c:pt idx="26">
                    <c:v>2018</c:v>
                  </c:pt>
                  <c:pt idx="27">
                    <c:v>​​​​​​​​​​​​​​​​​​​​​​​​​​​</c:v>
                  </c:pt>
                  <c:pt idx="28">
                    <c:v>2020</c:v>
                  </c:pt>
                  <c:pt idx="29">
                    <c:v>​​​​​​​​​​​​​​​​​​​​​​​​​​​​​</c:v>
                  </c:pt>
                  <c:pt idx="30">
                    <c:v>2022</c:v>
                  </c:pt>
                  <c:pt idx="31">
                    <c:v>​​​​​​​​​​​​​​​​​​​​​​​​​​​​​​​</c:v>
                  </c:pt>
                  <c:pt idx="32">
                    <c:v>2024</c:v>
                  </c:pt>
                  <c:pt idx="33">
                    <c:v>​​​​​​​​​​​​​​​​​​​​​​​​​​​​​​​​​</c:v>
                  </c:pt>
                  <c:pt idx="34">
                    <c:v>2026</c:v>
                  </c:pt>
                </c:lvl>
              </c:multiLvlStrCache>
            </c:multiLvlStrRef>
          </c:cat>
          <c:val>
            <c:numRef>
              <c:f>Sheet1!$B$2:$B$36</c:f>
              <c:numCache>
                <c:formatCode>General</c:formatCode>
                <c:ptCount val="35"/>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1</c:v>
                </c:pt>
                <c:pt idx="18">
                  <c:v>0</c:v>
                </c:pt>
                <c:pt idx="19">
                  <c:v>0</c:v>
                </c:pt>
                <c:pt idx="20">
                  <c:v>0</c:v>
                </c:pt>
                <c:pt idx="21">
                  <c:v>1</c:v>
                </c:pt>
                <c:pt idx="22">
                  <c:v>0</c:v>
                </c:pt>
                <c:pt idx="23">
                  <c:v>2</c:v>
                </c:pt>
                <c:pt idx="24">
                  <c:v>2</c:v>
                </c:pt>
                <c:pt idx="25">
                  <c:v>0</c:v>
                </c:pt>
                <c:pt idx="26">
                  <c:v>1</c:v>
                </c:pt>
                <c:pt idx="27">
                  <c:v>2</c:v>
                </c:pt>
                <c:pt idx="28">
                  <c:v>0</c:v>
                </c:pt>
                <c:pt idx="29">
                  <c:v>2</c:v>
                </c:pt>
                <c:pt idx="30">
                  <c:v>2</c:v>
                </c:pt>
                <c:pt idx="31">
                  <c:v>1</c:v>
                </c:pt>
                <c:pt idx="32">
                  <c:v>2</c:v>
                </c:pt>
                <c:pt idx="33">
                  <c:v>3</c:v>
                </c:pt>
                <c:pt idx="34">
                  <c:v>3</c:v>
                </c:pt>
              </c:numCache>
            </c:numRef>
          </c:val>
        </c:ser>
        <c:ser>
          <c:idx val="1"/>
          <c:order val="1"/>
          <c:tx>
            <c:strRef>
              <c:f>Sheet1!$C$1</c:f>
              <c:strCache>
                <c:ptCount val="1"/>
                <c:pt idx="0">
                  <c:v>15 to 30 days</c:v>
                </c:pt>
              </c:strCache>
            </c:strRef>
          </c:tx>
          <c:spPr>
            <a:solidFill>
              <a:srgbClr val="8FA3B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Sheet1!$A$2:$A$36</c:f>
              <c:multiLvlStrCache>
                <c:ptCount val="35"/>
                <c:lvl>
                  <c:pt idx="0">
                    <c:v>1992</c:v>
                  </c:pt>
                  <c:pt idx="1">
                    <c:v>​</c:v>
                  </c:pt>
                  <c:pt idx="2">
                    <c:v>1994</c:v>
                  </c:pt>
                  <c:pt idx="3">
                    <c:v>​​​</c:v>
                  </c:pt>
                  <c:pt idx="4">
                    <c:v>1996</c:v>
                  </c:pt>
                  <c:pt idx="5">
                    <c:v>​​​​​</c:v>
                  </c:pt>
                  <c:pt idx="6">
                    <c:v>1998</c:v>
                  </c:pt>
                  <c:pt idx="7">
                    <c:v>​​​​​​​</c:v>
                  </c:pt>
                  <c:pt idx="8">
                    <c:v>2000</c:v>
                  </c:pt>
                  <c:pt idx="9">
                    <c:v>​​​​​​​​​</c:v>
                  </c:pt>
                  <c:pt idx="10">
                    <c:v>2002</c:v>
                  </c:pt>
                  <c:pt idx="11">
                    <c:v>​​​​​​​​​​​</c:v>
                  </c:pt>
                  <c:pt idx="12">
                    <c:v>2004</c:v>
                  </c:pt>
                  <c:pt idx="13">
                    <c:v>​​​​​​​​​​​​​</c:v>
                  </c:pt>
                  <c:pt idx="14">
                    <c:v>2006</c:v>
                  </c:pt>
                  <c:pt idx="15">
                    <c:v>​​​​​​​​​​​​​​​</c:v>
                  </c:pt>
                  <c:pt idx="16">
                    <c:v>2008</c:v>
                  </c:pt>
                  <c:pt idx="17">
                    <c:v>​​​​​​​​​​​​​​​​​</c:v>
                  </c:pt>
                  <c:pt idx="18">
                    <c:v>2010</c:v>
                  </c:pt>
                  <c:pt idx="19">
                    <c:v>​​​​​​​​​​​​​​​​​​​</c:v>
                  </c:pt>
                  <c:pt idx="20">
                    <c:v>2012</c:v>
                  </c:pt>
                  <c:pt idx="21">
                    <c:v>​​​​​​​​​​​​​​​​​​​​​</c:v>
                  </c:pt>
                  <c:pt idx="22">
                    <c:v>2014</c:v>
                  </c:pt>
                  <c:pt idx="23">
                    <c:v>​​​​​​​​​​​​​​​​​​​​​​​</c:v>
                  </c:pt>
                  <c:pt idx="24">
                    <c:v>2016</c:v>
                  </c:pt>
                  <c:pt idx="25">
                    <c:v>​​​​​​​​​​​​​​​​​​​​​​​​​</c:v>
                  </c:pt>
                  <c:pt idx="26">
                    <c:v>2018</c:v>
                  </c:pt>
                  <c:pt idx="27">
                    <c:v>​​​​​​​​​​​​​​​​​​​​​​​​​​​</c:v>
                  </c:pt>
                  <c:pt idx="28">
                    <c:v>2020</c:v>
                  </c:pt>
                  <c:pt idx="29">
                    <c:v>​​​​​​​​​​​​​​​​​​​​​​​​​​​​​</c:v>
                  </c:pt>
                  <c:pt idx="30">
                    <c:v>2022</c:v>
                  </c:pt>
                  <c:pt idx="31">
                    <c:v>​​​​​​​​​​​​​​​​​​​​​​​​​​​​​​​</c:v>
                  </c:pt>
                  <c:pt idx="32">
                    <c:v>2024</c:v>
                  </c:pt>
                  <c:pt idx="33">
                    <c:v>​​​​​​​​​​​​​​​​​​​​​​​​​​​​​​​​​</c:v>
                  </c:pt>
                  <c:pt idx="34">
                    <c:v>2026</c:v>
                  </c:pt>
                </c:lvl>
              </c:multiLvlStrCache>
            </c:multiLvlStrRef>
          </c:cat>
          <c:val>
            <c:numRef>
              <c:f>Sheet1!$C$2:$C$36</c:f>
              <c:numCache>
                <c:formatCode>General</c:formatCode>
                <c:ptCount val="35"/>
                <c:pt idx="0">
                  <c:v>0</c:v>
                </c:pt>
                <c:pt idx="1">
                  <c:v>0</c:v>
                </c:pt>
                <c:pt idx="2">
                  <c:v>1</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1</c:v>
                </c:pt>
                <c:pt idx="23">
                  <c:v>0</c:v>
                </c:pt>
                <c:pt idx="24">
                  <c:v>0</c:v>
                </c:pt>
                <c:pt idx="25">
                  <c:v>0</c:v>
                </c:pt>
                <c:pt idx="26">
                  <c:v>1</c:v>
                </c:pt>
                <c:pt idx="27">
                  <c:v>0</c:v>
                </c:pt>
                <c:pt idx="28">
                  <c:v>1</c:v>
                </c:pt>
                <c:pt idx="29">
                  <c:v>0</c:v>
                </c:pt>
                <c:pt idx="30">
                  <c:v>0</c:v>
                </c:pt>
                <c:pt idx="31">
                  <c:v>0</c:v>
                </c:pt>
                <c:pt idx="32">
                  <c:v>0</c:v>
                </c:pt>
                <c:pt idx="33">
                  <c:v>0</c:v>
                </c:pt>
                <c:pt idx="34">
                  <c:v>1</c:v>
                </c:pt>
              </c:numCache>
            </c:numRef>
          </c:val>
        </c:ser>
        <c:ser>
          <c:idx val="2"/>
          <c:order val="2"/>
          <c:tx>
            <c:strRef>
              <c:f>Sheet1!$D$1</c:f>
              <c:strCache>
                <c:ptCount val="1"/>
                <c:pt idx="0">
                  <c:v>31 to 60 days</c:v>
                </c:pt>
              </c:strCache>
            </c:strRef>
          </c:tx>
          <c:spPr>
            <a:solidFill>
              <a:srgbClr val="567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Sheet1!$A$2:$A$36</c:f>
              <c:multiLvlStrCache>
                <c:ptCount val="35"/>
                <c:lvl>
                  <c:pt idx="0">
                    <c:v>1992</c:v>
                  </c:pt>
                  <c:pt idx="1">
                    <c:v>​</c:v>
                  </c:pt>
                  <c:pt idx="2">
                    <c:v>1994</c:v>
                  </c:pt>
                  <c:pt idx="3">
                    <c:v>​​​</c:v>
                  </c:pt>
                  <c:pt idx="4">
                    <c:v>1996</c:v>
                  </c:pt>
                  <c:pt idx="5">
                    <c:v>​​​​​</c:v>
                  </c:pt>
                  <c:pt idx="6">
                    <c:v>1998</c:v>
                  </c:pt>
                  <c:pt idx="7">
                    <c:v>​​​​​​​</c:v>
                  </c:pt>
                  <c:pt idx="8">
                    <c:v>2000</c:v>
                  </c:pt>
                  <c:pt idx="9">
                    <c:v>​​​​​​​​​</c:v>
                  </c:pt>
                  <c:pt idx="10">
                    <c:v>2002</c:v>
                  </c:pt>
                  <c:pt idx="11">
                    <c:v>​​​​​​​​​​​</c:v>
                  </c:pt>
                  <c:pt idx="12">
                    <c:v>2004</c:v>
                  </c:pt>
                  <c:pt idx="13">
                    <c:v>​​​​​​​​​​​​​</c:v>
                  </c:pt>
                  <c:pt idx="14">
                    <c:v>2006</c:v>
                  </c:pt>
                  <c:pt idx="15">
                    <c:v>​​​​​​​​​​​​​​​</c:v>
                  </c:pt>
                  <c:pt idx="16">
                    <c:v>2008</c:v>
                  </c:pt>
                  <c:pt idx="17">
                    <c:v>​​​​​​​​​​​​​​​​​</c:v>
                  </c:pt>
                  <c:pt idx="18">
                    <c:v>2010</c:v>
                  </c:pt>
                  <c:pt idx="19">
                    <c:v>​​​​​​​​​​​​​​​​​​​</c:v>
                  </c:pt>
                  <c:pt idx="20">
                    <c:v>2012</c:v>
                  </c:pt>
                  <c:pt idx="21">
                    <c:v>​​​​​​​​​​​​​​​​​​​​​</c:v>
                  </c:pt>
                  <c:pt idx="22">
                    <c:v>2014</c:v>
                  </c:pt>
                  <c:pt idx="23">
                    <c:v>​​​​​​​​​​​​​​​​​​​​​​​</c:v>
                  </c:pt>
                  <c:pt idx="24">
                    <c:v>2016</c:v>
                  </c:pt>
                  <c:pt idx="25">
                    <c:v>​​​​​​​​​​​​​​​​​​​​​​​​​</c:v>
                  </c:pt>
                  <c:pt idx="26">
                    <c:v>2018</c:v>
                  </c:pt>
                  <c:pt idx="27">
                    <c:v>​​​​​​​​​​​​​​​​​​​​​​​​​​​</c:v>
                  </c:pt>
                  <c:pt idx="28">
                    <c:v>2020</c:v>
                  </c:pt>
                  <c:pt idx="29">
                    <c:v>​​​​​​​​​​​​​​​​​​​​​​​​​​​​​</c:v>
                  </c:pt>
                  <c:pt idx="30">
                    <c:v>2022</c:v>
                  </c:pt>
                  <c:pt idx="31">
                    <c:v>​​​​​​​​​​​​​​​​​​​​​​​​​​​​​​​</c:v>
                  </c:pt>
                  <c:pt idx="32">
                    <c:v>2024</c:v>
                  </c:pt>
                  <c:pt idx="33">
                    <c:v>​​​​​​​​​​​​​​​​​​​​​​​​​​​​​​​​​</c:v>
                  </c:pt>
                  <c:pt idx="34">
                    <c:v>2026</c:v>
                  </c:pt>
                </c:lvl>
              </c:multiLvlStrCache>
            </c:multiLvlStrRef>
          </c:cat>
          <c:val>
            <c:numRef>
              <c:f>Sheet1!$D$2:$D$36</c:f>
              <c:numCache>
                <c:formatCode>General</c:formatCode>
                <c:ptCount val="35"/>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2</c:v>
                </c:pt>
                <c:pt idx="16">
                  <c:v>0</c:v>
                </c:pt>
                <c:pt idx="17">
                  <c:v>1</c:v>
                </c:pt>
                <c:pt idx="18">
                  <c:v>0</c:v>
                </c:pt>
                <c:pt idx="19">
                  <c:v>0</c:v>
                </c:pt>
                <c:pt idx="20">
                  <c:v>1</c:v>
                </c:pt>
                <c:pt idx="21">
                  <c:v>0</c:v>
                </c:pt>
                <c:pt idx="22">
                  <c:v>1</c:v>
                </c:pt>
                <c:pt idx="23">
                  <c:v>1</c:v>
                </c:pt>
                <c:pt idx="24">
                  <c:v>1</c:v>
                </c:pt>
                <c:pt idx="25">
                  <c:v>1</c:v>
                </c:pt>
                <c:pt idx="26">
                  <c:v>0</c:v>
                </c:pt>
                <c:pt idx="27">
                  <c:v>0</c:v>
                </c:pt>
                <c:pt idx="28">
                  <c:v>0</c:v>
                </c:pt>
                <c:pt idx="29">
                  <c:v>2</c:v>
                </c:pt>
                <c:pt idx="30">
                  <c:v>1</c:v>
                </c:pt>
                <c:pt idx="31">
                  <c:v>0</c:v>
                </c:pt>
                <c:pt idx="32">
                  <c:v>1</c:v>
                </c:pt>
                <c:pt idx="33">
                  <c:v>1</c:v>
                </c:pt>
                <c:pt idx="34">
                  <c:v>1</c:v>
                </c:pt>
              </c:numCache>
            </c:numRef>
          </c:val>
        </c:ser>
        <c:ser>
          <c:idx val="3"/>
          <c:order val="3"/>
          <c:tx>
            <c:strRef>
              <c:f>Sheet1!$E$1</c:f>
              <c:strCache>
                <c:ptCount val="1"/>
                <c:pt idx="0">
                  <c:v>61 to 119 days</c:v>
                </c:pt>
              </c:strCache>
            </c:strRef>
          </c:tx>
          <c:spPr>
            <a:solidFill>
              <a:srgbClr val="1F3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Sheet1!$A$2:$A$36</c:f>
              <c:multiLvlStrCache>
                <c:ptCount val="35"/>
                <c:lvl>
                  <c:pt idx="0">
                    <c:v>1992</c:v>
                  </c:pt>
                  <c:pt idx="1">
                    <c:v>​</c:v>
                  </c:pt>
                  <c:pt idx="2">
                    <c:v>1994</c:v>
                  </c:pt>
                  <c:pt idx="3">
                    <c:v>​​​</c:v>
                  </c:pt>
                  <c:pt idx="4">
                    <c:v>1996</c:v>
                  </c:pt>
                  <c:pt idx="5">
                    <c:v>​​​​​</c:v>
                  </c:pt>
                  <c:pt idx="6">
                    <c:v>1998</c:v>
                  </c:pt>
                  <c:pt idx="7">
                    <c:v>​​​​​​​</c:v>
                  </c:pt>
                  <c:pt idx="8">
                    <c:v>2000</c:v>
                  </c:pt>
                  <c:pt idx="9">
                    <c:v>​​​​​​​​​</c:v>
                  </c:pt>
                  <c:pt idx="10">
                    <c:v>2002</c:v>
                  </c:pt>
                  <c:pt idx="11">
                    <c:v>​​​​​​​​​​​</c:v>
                  </c:pt>
                  <c:pt idx="12">
                    <c:v>2004</c:v>
                  </c:pt>
                  <c:pt idx="13">
                    <c:v>​​​​​​​​​​​​​</c:v>
                  </c:pt>
                  <c:pt idx="14">
                    <c:v>2006</c:v>
                  </c:pt>
                  <c:pt idx="15">
                    <c:v>​​​​​​​​​​​​​​​</c:v>
                  </c:pt>
                  <c:pt idx="16">
                    <c:v>2008</c:v>
                  </c:pt>
                  <c:pt idx="17">
                    <c:v>​​​​​​​​​​​​​​​​​</c:v>
                  </c:pt>
                  <c:pt idx="18">
                    <c:v>2010</c:v>
                  </c:pt>
                  <c:pt idx="19">
                    <c:v>​​​​​​​​​​​​​​​​​​​</c:v>
                  </c:pt>
                  <c:pt idx="20">
                    <c:v>2012</c:v>
                  </c:pt>
                  <c:pt idx="21">
                    <c:v>​​​​​​​​​​​​​​​​​​​​​</c:v>
                  </c:pt>
                  <c:pt idx="22">
                    <c:v>2014</c:v>
                  </c:pt>
                  <c:pt idx="23">
                    <c:v>​​​​​​​​​​​​​​​​​​​​​​​</c:v>
                  </c:pt>
                  <c:pt idx="24">
                    <c:v>2016</c:v>
                  </c:pt>
                  <c:pt idx="25">
                    <c:v>​​​​​​​​​​​​​​​​​​​​​​​​​</c:v>
                  </c:pt>
                  <c:pt idx="26">
                    <c:v>2018</c:v>
                  </c:pt>
                  <c:pt idx="27">
                    <c:v>​​​​​​​​​​​​​​​​​​​​​​​​​​​</c:v>
                  </c:pt>
                  <c:pt idx="28">
                    <c:v>2020</c:v>
                  </c:pt>
                  <c:pt idx="29">
                    <c:v>​​​​​​​​​​​​​​​​​​​​​​​​​​​​​</c:v>
                  </c:pt>
                  <c:pt idx="30">
                    <c:v>2022</c:v>
                  </c:pt>
                  <c:pt idx="31">
                    <c:v>​​​​​​​​​​​​​​​​​​​​​​​​​​​​​​​</c:v>
                  </c:pt>
                  <c:pt idx="32">
                    <c:v>2024</c:v>
                  </c:pt>
                  <c:pt idx="33">
                    <c:v>​​​​​​​​​​​​​​​​​​​​​​​​​​​​​​​​​</c:v>
                  </c:pt>
                  <c:pt idx="34">
                    <c:v>2026</c:v>
                  </c:pt>
                </c:lvl>
              </c:multiLvlStrCache>
            </c:multiLvlStrRef>
          </c:cat>
          <c:val>
            <c:numRef>
              <c:f>Sheet1!$E$2:$E$36</c:f>
              <c:numCache>
                <c:formatCode>General</c:formatCode>
                <c:ptCount val="35"/>
                <c:pt idx="0">
                  <c:v>1</c:v>
                </c:pt>
                <c:pt idx="1">
                  <c:v>0</c:v>
                </c:pt>
                <c:pt idx="2">
                  <c:v>0</c:v>
                </c:pt>
                <c:pt idx="3">
                  <c:v>0</c:v>
                </c:pt>
                <c:pt idx="4">
                  <c:v>0</c:v>
                </c:pt>
                <c:pt idx="5">
                  <c:v>0</c:v>
                </c:pt>
                <c:pt idx="6">
                  <c:v>0</c:v>
                </c:pt>
                <c:pt idx="7">
                  <c:v>0</c:v>
                </c:pt>
                <c:pt idx="8">
                  <c:v>0</c:v>
                </c:pt>
                <c:pt idx="9">
                  <c:v>0</c:v>
                </c:pt>
                <c:pt idx="10">
                  <c:v>0</c:v>
                </c:pt>
                <c:pt idx="11">
                  <c:v>0</c:v>
                </c:pt>
                <c:pt idx="12">
                  <c:v>1</c:v>
                </c:pt>
                <c:pt idx="13">
                  <c:v>0</c:v>
                </c:pt>
                <c:pt idx="14">
                  <c:v>0</c:v>
                </c:pt>
                <c:pt idx="15">
                  <c:v>0</c:v>
                </c:pt>
                <c:pt idx="16">
                  <c:v>0</c:v>
                </c:pt>
                <c:pt idx="17">
                  <c:v>0</c:v>
                </c:pt>
                <c:pt idx="18">
                  <c:v>0</c:v>
                </c:pt>
                <c:pt idx="19">
                  <c:v>0</c:v>
                </c:pt>
                <c:pt idx="20">
                  <c:v>0</c:v>
                </c:pt>
                <c:pt idx="21">
                  <c:v>1</c:v>
                </c:pt>
                <c:pt idx="22">
                  <c:v>0</c:v>
                </c:pt>
                <c:pt idx="23">
                  <c:v>0</c:v>
                </c:pt>
                <c:pt idx="24">
                  <c:v>1</c:v>
                </c:pt>
                <c:pt idx="25">
                  <c:v>1</c:v>
                </c:pt>
                <c:pt idx="26">
                  <c:v>0</c:v>
                </c:pt>
                <c:pt idx="27">
                  <c:v>0</c:v>
                </c:pt>
                <c:pt idx="28">
                  <c:v>0</c:v>
                </c:pt>
                <c:pt idx="29">
                  <c:v>0</c:v>
                </c:pt>
                <c:pt idx="30">
                  <c:v>0</c:v>
                </c:pt>
                <c:pt idx="31">
                  <c:v>1</c:v>
                </c:pt>
                <c:pt idx="32">
                  <c:v>1</c:v>
                </c:pt>
                <c:pt idx="33">
                  <c:v>0</c:v>
                </c:pt>
                <c:pt idx="34">
                  <c:v>1</c:v>
                </c:pt>
              </c:numCache>
            </c:numRef>
          </c:val>
        </c:ser>
        <c:ser>
          <c:idx val="4"/>
          <c:order val="4"/>
          <c:tx>
            <c:strRef>
              <c:f>Sheet1!$F$1</c:f>
              <c:strCache>
                <c:ptCount val="1"/>
                <c:pt idx="0">
                  <c:v>180 days (spaceflight)</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Sheet1!$A$2:$A$36</c:f>
              <c:multiLvlStrCache>
                <c:ptCount val="35"/>
                <c:lvl>
                  <c:pt idx="0">
                    <c:v>1992</c:v>
                  </c:pt>
                  <c:pt idx="1">
                    <c:v>​</c:v>
                  </c:pt>
                  <c:pt idx="2">
                    <c:v>1994</c:v>
                  </c:pt>
                  <c:pt idx="3">
                    <c:v>​​​</c:v>
                  </c:pt>
                  <c:pt idx="4">
                    <c:v>1996</c:v>
                  </c:pt>
                  <c:pt idx="5">
                    <c:v>​​​​​</c:v>
                  </c:pt>
                  <c:pt idx="6">
                    <c:v>1998</c:v>
                  </c:pt>
                  <c:pt idx="7">
                    <c:v>​​​​​​​</c:v>
                  </c:pt>
                  <c:pt idx="8">
                    <c:v>2000</c:v>
                  </c:pt>
                  <c:pt idx="9">
                    <c:v>​​​​​​​​​</c:v>
                  </c:pt>
                  <c:pt idx="10">
                    <c:v>2002</c:v>
                  </c:pt>
                  <c:pt idx="11">
                    <c:v>​​​​​​​​​​​</c:v>
                  </c:pt>
                  <c:pt idx="12">
                    <c:v>2004</c:v>
                  </c:pt>
                  <c:pt idx="13">
                    <c:v>​​​​​​​​​​​​​</c:v>
                  </c:pt>
                  <c:pt idx="14">
                    <c:v>2006</c:v>
                  </c:pt>
                  <c:pt idx="15">
                    <c:v>​​​​​​​​​​​​​​​</c:v>
                  </c:pt>
                  <c:pt idx="16">
                    <c:v>2008</c:v>
                  </c:pt>
                  <c:pt idx="17">
                    <c:v>​​​​​​​​​​​​​​​​​</c:v>
                  </c:pt>
                  <c:pt idx="18">
                    <c:v>2010</c:v>
                  </c:pt>
                  <c:pt idx="19">
                    <c:v>​​​​​​​​​​​​​​​​​​​</c:v>
                  </c:pt>
                  <c:pt idx="20">
                    <c:v>2012</c:v>
                  </c:pt>
                  <c:pt idx="21">
                    <c:v>​​​​​​​​​​​​​​​​​​​​​</c:v>
                  </c:pt>
                  <c:pt idx="22">
                    <c:v>2014</c:v>
                  </c:pt>
                  <c:pt idx="23">
                    <c:v>​​​​​​​​​​​​​​​​​​​​​​​</c:v>
                  </c:pt>
                  <c:pt idx="24">
                    <c:v>2016</c:v>
                  </c:pt>
                  <c:pt idx="25">
                    <c:v>​​​​​​​​​​​​​​​​​​​​​​​​​</c:v>
                  </c:pt>
                  <c:pt idx="26">
                    <c:v>2018</c:v>
                  </c:pt>
                  <c:pt idx="27">
                    <c:v>​​​​​​​​​​​​​​​​​​​​​​​​​​​</c:v>
                  </c:pt>
                  <c:pt idx="28">
                    <c:v>2020</c:v>
                  </c:pt>
                  <c:pt idx="29">
                    <c:v>​​​​​​​​​​​​​​​​​​​​​​​​​​​​​</c:v>
                  </c:pt>
                  <c:pt idx="30">
                    <c:v>2022</c:v>
                  </c:pt>
                  <c:pt idx="31">
                    <c:v>​​​​​​​​​​​​​​​​​​​​​​​​​​​​​​​</c:v>
                  </c:pt>
                  <c:pt idx="32">
                    <c:v>2024</c:v>
                  </c:pt>
                  <c:pt idx="33">
                    <c:v>​​​​​​​​​​​​​​​​​​​​​​​​​​​​​​​​​</c:v>
                  </c:pt>
                  <c:pt idx="34">
                    <c:v>2026</c:v>
                  </c:pt>
                </c:lvl>
              </c:multiLvlStrCache>
            </c:multiLvlStrRef>
          </c:cat>
          <c:val>
            <c:numRef>
              <c:f>Sheet1!$F$2:$F$36</c:f>
              <c:numCache>
                <c:formatCode>General</c:formatCode>
                <c:ptCount val="35"/>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1</c:v>
                </c:pt>
                <c:pt idx="25">
                  <c:v>0</c:v>
                </c:pt>
                <c:pt idx="26">
                  <c:v>0</c:v>
                </c:pt>
                <c:pt idx="27">
                  <c:v>0</c:v>
                </c:pt>
                <c:pt idx="28">
                  <c:v>0</c:v>
                </c:pt>
                <c:pt idx="29">
                  <c:v>1</c:v>
                </c:pt>
                <c:pt idx="30">
                  <c:v>0</c:v>
                </c:pt>
                <c:pt idx="31">
                  <c:v>0</c:v>
                </c:pt>
                <c:pt idx="32">
                  <c:v>0</c:v>
                </c:pt>
                <c:pt idx="33">
                  <c:v>0</c:v>
                </c:pt>
                <c:pt idx="34">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E"/>
            </a:solidFill>
            <a:prstDash val="solid"/>
            <a:round/>
          </a:ln>
        </c:spPr>
        <c:txPr>
          <a:bodyPr/>
          <a:lstStyle/>
          <a:p>
            <a:pPr>
              <a:defRPr sz="10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5E7EB"/>
              </a:solidFill>
              <a:prstDash val="solid"/>
              <a:round/>
            </a:ln>
          </c:spPr>
        </c:majorGridlines>
        <c:title>
          <c:tx>
            <c:rich>
              <a:bodyPr/>
              <a:lstStyle/>
              <a:p>
                <a:pPr>
                  <a:defRPr sz="1100" b="0" i="0" u="none" strike="noStrike">
                    <a:solidFill>
                      <a:srgbClr val="6B7280"/>
                    </a:solidFill>
                    <a:latin typeface="Arial"/>
                  </a:defRPr>
                </a:pPr>
                <a:r>
                  <a:rPr sz="1100" b="0" i="0" u="none" strike="noStrike">
                    <a:solidFill>
                      <a:srgbClr val="6B7280"/>
                    </a:solidFill>
                    <a:latin typeface="Arial"/>
                  </a:rPr>
                  <a:t>Studies</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r"/>
      <c:overlay val="0"/>
      <c:txPr>
        <a:bodyPr/>
        <a:lstStyle/>
        <a:p>
          <a:pPr>
            <a:defRPr sz="1100">
              <a:solidFill>
                <a:srgbClr val="1A1A1A"/>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drawn to scale: after 60 days of bed rest, control groups lose about 16 percent of calf muscle in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red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Ground analogue: 6° head-down bed rest</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Day 60: −16%</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Calf cross-section to scale; dashed line = size before. Model estimate for control groups (plantar flexors, −15.8% at day 60).</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Bed rest: the ground analogue</a:t>
            </a:r>
            <a:endParaRPr lang="en-US" sz="1700" dirty="0"/>
          </a:p>
          <a:p>
            <a:pPr marL="342900" indent="-342900">
              <a:spcAft>
                <a:spcPts val="400"/>
              </a:spcAft>
              <a:buSzPct val="100000"/>
              <a:buChar char="•"/>
            </a:pPr>
            <a:r>
              <a:rPr lang="en-US" sz="1400" dirty="0">
                <a:solidFill>
                  <a:schemeClr val="tx1"/>
                </a:solidFill>
              </a:rPr>
              <a:t>Direct spaceflight data on muscle are scarce</a:t>
            </a:r>
            <a:endParaRPr lang="en-US" sz="1700" dirty="0"/>
          </a:p>
          <a:p>
            <a:pPr marL="342900" indent="-342900">
              <a:spcAft>
                <a:spcPts val="400"/>
              </a:spcAft>
              <a:buSzPct val="100000"/>
              <a:buChar char="•"/>
            </a:pPr>
            <a:r>
              <a:rPr lang="en-US" sz="1400" dirty="0">
                <a:solidFill>
                  <a:schemeClr val="tx1"/>
                </a:solidFill>
              </a:rPr>
              <a:t>Head-down bed rest is the established ground analogue: it unloads the legs under controlled conditions</a:t>
            </a:r>
            <a:endParaRPr lang="en-US" sz="1700" dirty="0"/>
          </a:p>
          <a:p>
            <a:pPr marL="342900" indent="-342900">
              <a:spcAft>
                <a:spcPts val="400"/>
              </a:spcAft>
              <a:buSzPct val="100000"/>
              <a:buChar char="•"/>
            </a:pPr>
            <a:r>
              <a:rPr lang="en-US" sz="1400" dirty="0">
                <a:solidFill>
                  <a:schemeClr val="tx1"/>
                </a:solidFill>
              </a:rPr>
              <a:t>Not equivalent to spaceflight, but a sound basis to build and test prediction models</a:t>
            </a:r>
            <a:endParaRPr lang="en-US" sz="1700" dirty="0"/>
          </a:p>
          <a:p>
            <a:pPr indent="0" marL="0">
              <a:spcBef>
                <a:spcPts val="1000"/>
              </a:spcBef>
              <a:spcAft>
                <a:spcPts val="300"/>
              </a:spcAft>
              <a:buNone/>
            </a:pPr>
            <a:r>
              <a:rPr lang="en-US" sz="1700" b="1" dirty="0">
                <a:solidFill>
                  <a:schemeClr val="tx2"/>
                </a:solidFill>
              </a:rPr>
              <a:t>Mars: the long-term application</a:t>
            </a:r>
            <a:endParaRPr lang="en-US" sz="1700" dirty="0"/>
          </a:p>
          <a:p>
            <a:pPr marL="342900" indent="-342900">
              <a:spcAft>
                <a:spcPts val="400"/>
              </a:spcAft>
              <a:buSzPct val="100000"/>
              <a:buChar char="•"/>
            </a:pPr>
            <a:r>
              <a:rPr lang="en-US" sz="1400" dirty="0">
                <a:solidFill>
                  <a:schemeClr val="tx1"/>
                </a:solidFill>
              </a:rPr>
              <a:t>A Mars mission lasts years, not days: about 6 months of transit each way</a:t>
            </a:r>
            <a:endParaRPr lang="en-US" sz="1700" dirty="0"/>
          </a:p>
          <a:p>
            <a:pPr marL="342900" indent="-342900">
              <a:spcAft>
                <a:spcPts val="400"/>
              </a:spcAft>
              <a:buSzPct val="100000"/>
              <a:buChar char="•"/>
            </a:pPr>
            <a:r>
              <a:rPr lang="en-US" sz="1400" dirty="0">
                <a:solidFill>
                  <a:schemeClr val="tx1"/>
                </a:solidFill>
              </a:rPr>
              <a:t>No early return in an emergency: the crew depends on its own fitness</a:t>
            </a:r>
            <a:endParaRPr lang="en-US" sz="1700" dirty="0"/>
          </a:p>
          <a:p>
            <a:pPr marL="342900" indent="-342900">
              <a:spcAft>
                <a:spcPts val="400"/>
              </a:spcAft>
              <a:buSzPct val="100000"/>
              <a:buChar char="•"/>
            </a:pPr>
            <a:r>
              <a:rPr lang="en-US" sz="1400" dirty="0">
                <a:solidFill>
                  <a:schemeClr val="tx1"/>
                </a:solidFill>
              </a:rPr>
              <a:t>After months in weightlessness, the crew must leave the spacecraft and work on the surface</a:t>
            </a:r>
            <a:endParaRPr lang="en-US" sz="17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did we study?</a:t>
            </a:r>
            <a:endParaRPr lang="en-US" sz="2800" dirty="0"/>
          </a:p>
        </p:txBody>
      </p:sp>
      <p:sp>
        <p:nvSpPr>
          <p:cNvPr id="11" name="Text 9"/>
          <p:cNvSpPr txBox="1"/>
          <p:nvPr/>
        </p:nvSpPr>
        <p:spPr>
          <a:xfrm>
            <a:off x="548640" y="12344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2" name="Abstract 14-119"/>
          <p:cNvSpPr/>
          <p:nvPr/>
        </p:nvSpPr>
        <p:spPr>
          <a:xfrm>
            <a:off x="3889248" y="1344168"/>
            <a:ext cx="4480560" cy="329184"/>
          </a:xfrm>
          <a:prstGeom prst="rect">
            <a:avLst/>
          </a:prstGeom>
          <a:solidFill>
            <a:srgbClr val="A7AEB8"/>
          </a:solidFill>
          <a:ln/>
        </p:spPr>
      </p:sp>
      <p:sp>
        <p:nvSpPr>
          <p:cNvPr id="13" name="Text 11"/>
          <p:cNvSpPr txBox="1"/>
          <p:nvPr/>
        </p:nvSpPr>
        <p:spPr>
          <a:xfrm>
            <a:off x="3477768" y="1344168"/>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4" name="Text 12"/>
          <p:cNvSpPr txBox="1"/>
          <p:nvPr/>
        </p:nvSpPr>
        <p:spPr>
          <a:xfrm>
            <a:off x="8433816" y="1344168"/>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5" name="Text 13"/>
          <p:cNvSpPr txBox="1"/>
          <p:nvPr/>
        </p:nvSpPr>
        <p:spPr>
          <a:xfrm>
            <a:off x="548640" y="189280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6" name="Final dataset 5-119"/>
          <p:cNvSpPr/>
          <p:nvPr/>
        </p:nvSpPr>
        <p:spPr>
          <a:xfrm>
            <a:off x="3505200" y="2002536"/>
            <a:ext cx="4864608" cy="329184"/>
          </a:xfrm>
          <a:prstGeom prst="rect">
            <a:avLst/>
          </a:prstGeom>
          <a:solidFill>
            <a:srgbClr val="1F3A5F"/>
          </a:solidFill>
          <a:ln/>
        </p:spPr>
      </p:sp>
      <p:sp>
        <p:nvSpPr>
          <p:cNvPr id="17" name="Final dataset 119-180"/>
          <p:cNvSpPr/>
          <p:nvPr/>
        </p:nvSpPr>
        <p:spPr>
          <a:xfrm>
            <a:off x="8369808" y="2002536"/>
            <a:ext cx="2602992" cy="329184"/>
          </a:xfrm>
          <a:prstGeom prst="rect">
            <a:avLst/>
          </a:prstGeom>
          <a:solidFill>
            <a:srgbClr val="A23B2A"/>
          </a:solidFill>
          <a:ln/>
        </p:spPr>
      </p:sp>
      <p:sp>
        <p:nvSpPr>
          <p:cNvPr id="18" name="Text 16"/>
          <p:cNvSpPr txBox="1"/>
          <p:nvPr/>
        </p:nvSpPr>
        <p:spPr>
          <a:xfrm>
            <a:off x="3093720" y="200253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19" name="Text 17"/>
          <p:cNvSpPr txBox="1"/>
          <p:nvPr/>
        </p:nvSpPr>
        <p:spPr>
          <a:xfrm>
            <a:off x="11036808" y="200253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0" name="Text 18"/>
          <p:cNvSpPr txBox="1"/>
          <p:nvPr/>
        </p:nvSpPr>
        <p:spPr>
          <a:xfrm>
            <a:off x="3505200" y="2002536"/>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1" name="Text 19"/>
          <p:cNvSpPr txBox="1"/>
          <p:nvPr/>
        </p:nvSpPr>
        <p:spPr>
          <a:xfrm>
            <a:off x="8369808" y="2002536"/>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2" name="Day axis"/>
          <p:cNvSpPr/>
          <p:nvPr/>
        </p:nvSpPr>
        <p:spPr>
          <a:xfrm>
            <a:off x="3291840" y="2670048"/>
            <a:ext cx="7680960" cy="0"/>
          </a:xfrm>
          <a:prstGeom prst="line">
            <a:avLst/>
          </a:prstGeom>
          <a:noFill/>
          <a:ln w="9525">
            <a:solidFill>
              <a:srgbClr val="6B7280"/>
            </a:solidFill>
            <a:prstDash val="solid"/>
          </a:ln>
        </p:spPr>
      </p:sp>
      <p:sp>
        <p:nvSpPr>
          <p:cNvPr id="23" name="Tick 0"/>
          <p:cNvSpPr/>
          <p:nvPr/>
        </p:nvSpPr>
        <p:spPr>
          <a:xfrm>
            <a:off x="3291840" y="2670048"/>
            <a:ext cx="0" cy="54864"/>
          </a:xfrm>
          <a:prstGeom prst="line">
            <a:avLst/>
          </a:prstGeom>
          <a:noFill/>
          <a:ln w="9525">
            <a:solidFill>
              <a:srgbClr val="6B7280"/>
            </a:solidFill>
            <a:prstDash val="solid"/>
          </a:ln>
        </p:spPr>
      </p:sp>
      <p:sp>
        <p:nvSpPr>
          <p:cNvPr id="24" name="Text 22"/>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5" name="Tick 30"/>
          <p:cNvSpPr/>
          <p:nvPr/>
        </p:nvSpPr>
        <p:spPr>
          <a:xfrm>
            <a:off x="4572000" y="2670048"/>
            <a:ext cx="0" cy="54864"/>
          </a:xfrm>
          <a:prstGeom prst="line">
            <a:avLst/>
          </a:prstGeom>
          <a:noFill/>
          <a:ln w="9525">
            <a:solidFill>
              <a:srgbClr val="6B7280"/>
            </a:solidFill>
            <a:prstDash val="solid"/>
          </a:ln>
        </p:spPr>
      </p:sp>
      <p:sp>
        <p:nvSpPr>
          <p:cNvPr id="26" name="Text 24"/>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ick 60"/>
          <p:cNvSpPr/>
          <p:nvPr/>
        </p:nvSpPr>
        <p:spPr>
          <a:xfrm>
            <a:off x="5852160" y="2670048"/>
            <a:ext cx="0" cy="54864"/>
          </a:xfrm>
          <a:prstGeom prst="line">
            <a:avLst/>
          </a:prstGeom>
          <a:noFill/>
          <a:ln w="9525">
            <a:solidFill>
              <a:srgbClr val="6B7280"/>
            </a:solidFill>
            <a:prstDash val="solid"/>
          </a:ln>
        </p:spPr>
      </p:sp>
      <p:sp>
        <p:nvSpPr>
          <p:cNvPr id="28" name="Text 26"/>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9" name="Tick 90"/>
          <p:cNvSpPr/>
          <p:nvPr/>
        </p:nvSpPr>
        <p:spPr>
          <a:xfrm>
            <a:off x="7132320" y="2670048"/>
            <a:ext cx="0" cy="54864"/>
          </a:xfrm>
          <a:prstGeom prst="line">
            <a:avLst/>
          </a:prstGeom>
          <a:noFill/>
          <a:ln w="9525">
            <a:solidFill>
              <a:srgbClr val="6B7280"/>
            </a:solidFill>
            <a:prstDash val="solid"/>
          </a:ln>
        </p:spPr>
      </p:sp>
      <p:sp>
        <p:nvSpPr>
          <p:cNvPr id="30" name="Text 28"/>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ick 119"/>
          <p:cNvSpPr/>
          <p:nvPr/>
        </p:nvSpPr>
        <p:spPr>
          <a:xfrm>
            <a:off x="8369808" y="2670048"/>
            <a:ext cx="0" cy="54864"/>
          </a:xfrm>
          <a:prstGeom prst="line">
            <a:avLst/>
          </a:prstGeom>
          <a:noFill/>
          <a:ln w="9525">
            <a:solidFill>
              <a:srgbClr val="6B7280"/>
            </a:solidFill>
            <a:prstDash val="solid"/>
          </a:ln>
        </p:spPr>
      </p:sp>
      <p:sp>
        <p:nvSpPr>
          <p:cNvPr id="32" name="Text 30"/>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3" name="Tick 150"/>
          <p:cNvSpPr/>
          <p:nvPr/>
        </p:nvSpPr>
        <p:spPr>
          <a:xfrm>
            <a:off x="9692640" y="2670048"/>
            <a:ext cx="0" cy="54864"/>
          </a:xfrm>
          <a:prstGeom prst="line">
            <a:avLst/>
          </a:prstGeom>
          <a:noFill/>
          <a:ln w="9525">
            <a:solidFill>
              <a:srgbClr val="6B7280"/>
            </a:solidFill>
            <a:prstDash val="solid"/>
          </a:ln>
        </p:spPr>
      </p:sp>
      <p:sp>
        <p:nvSpPr>
          <p:cNvPr id="34" name="Text 32"/>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5" name="Tick 180"/>
          <p:cNvSpPr/>
          <p:nvPr/>
        </p:nvSpPr>
        <p:spPr>
          <a:xfrm>
            <a:off x="10972800" y="2670048"/>
            <a:ext cx="0" cy="54864"/>
          </a:xfrm>
          <a:prstGeom prst="line">
            <a:avLst/>
          </a:prstGeom>
          <a:noFill/>
          <a:ln w="9525">
            <a:solidFill>
              <a:srgbClr val="6B7280"/>
            </a:solidFill>
            <a:prstDash val="solid"/>
          </a:ln>
        </p:spPr>
      </p:sp>
      <p:sp>
        <p:nvSpPr>
          <p:cNvPr id="36" name="Text 34"/>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7" name="Text 35"/>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graphicFrame>
        <p:nvGraphicFramePr>
          <p:cNvPr id="38" name="Chart 0" descr=""/>
          <p:cNvGraphicFramePr/>
          <p:nvPr/>
        </p:nvGraphicFramePr>
        <p:xfrm>
          <a:off x="548640" y="3063240"/>
          <a:ext cx="11064240" cy="3108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the dataset was built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Systematic search of PubMed, Scopus, Web of Science and NASA's technical reports, 2013 onwards: 5,731 records</a:t>
            </a:r>
            <a:endParaRPr lang="en-US" sz="1400" dirty="0"/>
          </a:p>
          <a:p>
            <a:pPr marL="342900" indent="-342900">
              <a:spcAft>
                <a:spcPts val="400"/>
              </a:spcAft>
              <a:buSzPct val="100000"/>
              <a:buChar char="•"/>
            </a:pPr>
            <a:r>
              <a:rPr lang="en-US" sz="1600" dirty="0">
                <a:solidFill>
                  <a:schemeClr val="tx1"/>
                </a:solidFill>
              </a:rPr>
              <a:t>Plus 9 older studies and one campaign from NASA's open bed-rest archive</a:t>
            </a:r>
            <a:endParaRPr lang="en-US" sz="1400" dirty="0"/>
          </a:p>
          <a:p>
            <a:pPr marL="342900" indent="-342900">
              <a:spcAft>
                <a:spcPts val="400"/>
              </a:spcAft>
              <a:buSzPct val="100000"/>
              <a:buChar char="•"/>
            </a:pPr>
            <a:r>
              <a:rPr lang="en-US" sz="1600" dirty="0">
                <a:solidFill>
                  <a:schemeClr val="tx1"/>
                </a:solidFill>
              </a:rPr>
              <a:t>Extraction form fixed before extraction: one row per study, group, muscle and scan day</a:t>
            </a:r>
            <a:endParaRPr lang="en-US" sz="1400" dirty="0"/>
          </a:p>
          <a:p>
            <a:pPr marL="342900" indent="-342900">
              <a:spcAft>
                <a:spcPts val="400"/>
              </a:spcAft>
              <a:buSzPct val="100000"/>
              <a:buChar char="•"/>
            </a:pPr>
            <a:r>
              <a:rPr lang="en-US" sz="1600" dirty="0">
                <a:solidFill>
                  <a:schemeClr val="tx1"/>
                </a:solidFill>
              </a:rPr>
              <a:t>Papers that report the same volunteers merged into one campaign</a:t>
            </a:r>
            <a:endParaRPr lang="en-US" sz="1400" dirty="0"/>
          </a:p>
          <a:p>
            <a:pPr indent="0" marL="0">
              <a:buNone/>
            </a:pPr>
            <a:r>
              <a:rPr lang="en-US" sz="1400" i="1" dirty="0">
                <a:solidFill>
                  <a:schemeClr val="accent3"/>
                </a:solidFill>
              </a:rPr>
              <a:t>Possible figure: search flow diagram (figures/F1_corpus)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final dataset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742 measurements from 52 studies (1992 to 2026) and 36 independent campaigns</a:t>
            </a:r>
            <a:endParaRPr lang="en-US" sz="1400" dirty="0"/>
          </a:p>
          <a:p>
            <a:pPr marL="342900" indent="-342900">
              <a:spcAft>
                <a:spcPts val="400"/>
              </a:spcAft>
              <a:buSzPct val="100000"/>
              <a:buChar char="•"/>
            </a:pPr>
            <a:r>
              <a:rPr lang="en-US" sz="1600" dirty="0">
                <a:solidFill>
                  <a:schemeClr val="tx1"/>
                </a:solidFill>
              </a:rPr>
              <a:t>Mostly MRI volumes of named muscles in young men during head-down bed rest</a:t>
            </a:r>
            <a:endParaRPr lang="en-US" sz="1400" dirty="0"/>
          </a:p>
          <a:p>
            <a:pPr marL="342900" indent="-342900">
              <a:spcAft>
                <a:spcPts val="400"/>
              </a:spcAft>
              <a:buSzPct val="100000"/>
              <a:buChar char="•"/>
            </a:pPr>
            <a:r>
              <a:rPr lang="en-US" sz="1600" dirty="0">
                <a:solidFill>
                  <a:schemeClr val="tx1"/>
                </a:solidFill>
              </a:rPr>
              <a:t>Uneven: the MEDES 90-day campaign gives 40% of rows; 15 campaigns give 5 rows or fewer</a:t>
            </a:r>
            <a:endParaRPr lang="en-US" sz="1400" dirty="0"/>
          </a:p>
          <a:p>
            <a:pPr marL="342900" indent="-342900">
              <a:spcAft>
                <a:spcPts val="400"/>
              </a:spcAft>
              <a:buSzPct val="100000"/>
              <a:buChar char="•"/>
            </a:pPr>
            <a:r>
              <a:rPr lang="en-US" sz="1600" dirty="0">
                <a:solidFill>
                  <a:schemeClr val="tx1"/>
                </a:solidFill>
              </a:rPr>
              <a:t>Used for modelling: 346 measurements from 32 campaigns</a:t>
            </a:r>
            <a:endParaRPr lang="en-US" sz="1400" dirty="0"/>
          </a:p>
          <a:p>
            <a:pPr indent="0" marL="0">
              <a:buNone/>
            </a:pPr>
            <a:r>
              <a:rPr lang="en-US" sz="1400" i="1" dirty="0">
                <a:solidFill>
                  <a:schemeClr val="accent3"/>
                </a:solidFill>
              </a:rPr>
              <a:t>Possible figure: campaign timeline (figures/F1b_campaigns)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was extracted from each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Muscle, day of the scan, planned length of bed rest, % change from before bed rest</a:t>
            </a:r>
            <a:endParaRPr lang="en-US" sz="1400" dirty="0"/>
          </a:p>
          <a:p>
            <a:pPr marL="342900" indent="-342900">
              <a:spcAft>
                <a:spcPts val="400"/>
              </a:spcAft>
              <a:buSzPct val="100000"/>
              <a:buChar char="•"/>
            </a:pPr>
            <a:r>
              <a:rPr lang="en-US" sz="1600" dirty="0">
                <a:solidFill>
                  <a:schemeClr val="tx1"/>
                </a:solidFill>
              </a:rPr>
              <a:t>Group: control or countermeasure, group size, sex, age</a:t>
            </a:r>
            <a:endParaRPr lang="en-US" sz="1400" dirty="0"/>
          </a:p>
          <a:p>
            <a:pPr marL="342900" indent="-342900">
              <a:spcAft>
                <a:spcPts val="400"/>
              </a:spcAft>
              <a:buSzPct val="100000"/>
              <a:buChar char="•"/>
            </a:pPr>
            <a:r>
              <a:rPr lang="en-US" sz="1600" dirty="0">
                <a:solidFill>
                  <a:schemeClr val="tx1"/>
                </a:solidFill>
              </a:rPr>
              <a:t>Measurement: imaging method, quantity, position along the muscle</a:t>
            </a:r>
            <a:endParaRPr lang="en-US" sz="1400" dirty="0"/>
          </a:p>
          <a:p>
            <a:pPr marL="342900" indent="-342900">
              <a:spcAft>
                <a:spcPts val="400"/>
              </a:spcAft>
              <a:buSzPct val="100000"/>
              <a:buChar char="•"/>
            </a:pPr>
            <a:r>
              <a:rPr lang="en-US" sz="1600" dirty="0">
                <a:solidFill>
                  <a:schemeClr val="tx1"/>
                </a:solidFill>
              </a:rPr>
              <a:t>Source of every value: DOI and page, table or figure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No. Calf muscles (plantar flexors) lose most: −15.8% at day 60, 5.7 pp more than the front thigh</a:t>
            </a:r>
            <a:endParaRPr lang="en-US" sz="1400" dirty="0"/>
          </a:p>
          <a:p>
            <a:pPr marL="342900" indent="-342900">
              <a:spcAft>
                <a:spcPts val="400"/>
              </a:spcAft>
              <a:buSzPct val="100000"/>
              <a:buChar char="•"/>
            </a:pPr>
            <a:r>
              <a:rPr lang="en-US" sz="1600" dirty="0">
                <a:solidFill>
                  <a:schemeClr val="tx1"/>
                </a:solidFill>
              </a:rPr>
              <a:t>Front thigh, back thigh and shin muscles lose around 10%; hip muscles least</a:t>
            </a:r>
            <a:endParaRPr lang="en-US" sz="1400" dirty="0"/>
          </a:p>
          <a:p>
            <a:pPr marL="342900" indent="-342900">
              <a:spcAft>
                <a:spcPts val="400"/>
              </a:spcAft>
              <a:buSzPct val="100000"/>
              <a:buChar char="•"/>
            </a:pPr>
            <a:r>
              <a:rPr lang="en-US" sz="1600" dirty="0">
                <a:solidFill>
                  <a:schemeClr val="tx1"/>
                </a:solidFill>
              </a:rPr>
              <a:t>30% of the differences between measurements lie between muscles within the same study</a:t>
            </a:r>
            <a:endParaRPr lang="en-US" sz="1400" dirty="0"/>
          </a:p>
          <a:p>
            <a:pPr marL="342900" indent="-342900">
              <a:spcAft>
                <a:spcPts val="400"/>
              </a:spcAft>
              <a:buSzPct val="100000"/>
              <a:buChar char="•"/>
            </a:pPr>
            <a:r>
              <a:rPr lang="en-US" sz="1600" dirty="0">
                <a:solidFill>
                  <a:schemeClr val="tx1"/>
                </a:solidFill>
              </a:rPr>
              <a:t>Groups with countermeasures lose 3.7 pp less than controls</a:t>
            </a:r>
            <a:endParaRPr lang="en-US" sz="1400" dirty="0"/>
          </a:p>
          <a:p>
            <a:pPr indent="0" marL="0">
              <a:buNone/>
            </a:pPr>
            <a:r>
              <a:rPr lang="en-US" sz="1400" i="1" dirty="0">
                <a:solidFill>
                  <a:schemeClr val="accent3"/>
                </a:solidFill>
              </a:rPr>
              <a:t>Possible figure: muscle ranking (figures/F3_muscles)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2026-10-06T11:23:05Z</dcterms:created>
  <dcterms:modified xsi:type="dcterms:W3CDTF">2026-10-06T11:23:05Z</dcterms:modified>
</cp:coreProperties>
</file>