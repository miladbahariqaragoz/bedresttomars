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f9e6d6-ec35-8329-e602-d42d1c7980f2}">
          <p14:sldIdLst>
            <p14:sldId id="256"/>
            <p14:sldId id="257"/>
            <p14:sldId id="269"/>
          </p14:sldIdLst>
        </p14:section>
        <p14:section name="Part 1" id="{ffdbd091-954c-5bab-c4f8-5f9912286b87}">
          <p14:sldIdLst>
            <p14:sldId id="258"/>
            <p14:sldId id="259"/>
            <p14:sldId id="260"/>
            <p14:sldId id="261"/>
            <p14:sldId id="262"/>
            <p14:sldId id="263"/>
          </p14:sldIdLst>
        </p14:section>
        <p14:section name="Part 2" id="{1b3d932f-8d7a-56de-5afa-51e3f76f4722}">
          <p14:sldIdLst>
            <p14:sldId id="264"/>
            <p14:sldId id="265"/>
            <p14:sldId id="266"/>
            <p14:sldId id="267"/>
            <p14:sldId id="268"/>
          </p14:sldIdLst>
        </p14:section>
        <p14:section name="Opening" id="{7633a513-5e70-eb47-aafa-5f28879be1ca}">
          <p14:sldIdLst/>
        </p14:section>
        <p14:section name="Backup" id="{c39d386c-8554-9712-71b3-045662f108fb}">
          <p14:sldIdLst>
            <p14:sldId id="270"/>
            <p14:sldId id="271"/>
            <p14:sldId id="272"/>
            <p14:sldId id="273"/>
            <p14:sldId id="274"/>
            <p14:sldId id="275"/>
            <p14:sldId id="276"/>
            <p14:sldId id="277"/>
          </p14:sldIdLst>
        </p14:section>
        <p14:section name="Backup" id="{34331cb9-94da-b569-2bcb-10f5fde570fb}">
          <p14:sldIdLst/>
        </p14:section>
        <p14:section name="Backup" id="{81fe95de-732f-d158-60d8-10616e233bdd}">
          <p14:sldIdLst/>
        </p14:section>
        <p14:section name="Backup" id="{a18b6090-d638-4fd0-36f2-5dddca561e3d}">
          <p14:sldIdLst/>
        </p14:section>
        <p14:section name="Backup" id="{ec14e7f3-a51e-f98f-99f4-6e259a5642d2}">
          <p14:sldIdLst/>
        </p14:section>
        <p14:section name="Backup" id="{8dbd50f2-63af-e1a9-b379-fc8047408602}">
          <p14:sldIdLst/>
        </p14:section>
        <p14:section name="Backup" id="{95106aca-5e59-22bf-2fec-37960b186603}">
          <p14:sldIdLst/>
        </p14:section>
        <p14:section name="Backup" id="{8cca890b-4189-30ca-2220-92c28563e6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3,600 records remained. 2,493 were excluded, mostly because they did not use an unloading model or did not measure muscle, and 1,023 could not be screened in the time we had, so they did not go further.
We sought 84 full texts. The main loss at this step: 19 studies show their muscle results only as charts, without a baseline value, so we could not extract them; 4 full texts were not available and 11 were excluded. These full-text counts are as recorded in our screening log and are still being reconciled with the dataset, so do not claim they add up exactly.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Stress this: every row is a group average, so the model predicts the average loss of a group of volunteers. It cannot yet predict the risk for an individual astronaut.
Further work has three steps. First, estimate how susceptible each muscle is relative to a reference muscle, and combine those coefficients with baseline muscle volumes to estimate total lower-limb volume loss; the dataset has 30 group time points where three or more muscles were scanned together, across 14 campaigns, so this can be tested. Second, move from group averages to individuals with participant-level data over time, and link muscle loss to strength and function. Third, validate on independent campaigns and on spaceflight data before building any personal risk-assessment tool. These are plans, not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(Milad). Thank the audience and invite questions. The backup slides that follow answer the questions we expect: part 1 on slides 17 to 19, data and search on 15 and 16, part 2 on 20 to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The 1,023 unscreened records are shown leaving the flow at screening, next to the 2,493 exclusions. If asked, say plainly that they were not screened in time; they were not read and rejected. If pressed on the full-text stage: the report's own full-text counts are still being reconciled with the final extraction (it says so in a draft note), so do not claim the full-text numbers add up exactly. Known-item test: of the ten modelling papers we knew before the search, only two were published after 2013, and every journal database returned both. The test without the date limit was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Expansion: the eligibility criteria in the report's Table 2 were written before screening; dataset version 1.0 was frozen on 14 September and 1.1 on 19 September, and every result is fitted on 1.1. The rule for the curve: the saturating form is the headline unless another form beats it by at least 4 AIC points. Spaceflight: the dataset keeps the spaceflight rows, flagged, but they are post-flight measurements, so the during-unloading filter removes them. Weighting: inverse-variance weighting would need the spread of the change, which most papers do not print; the check that compares both weightings moved the duration effect by under 1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Be precise about slide 8: the coloured dots at day 60 are the model's estimates for each muscle group, with the intervals shown here. The lines are drawn with one shared time course scaled to those values, so they show the shape the model assumes, not a separate fit per muscle. The intervals are 95% cluster-robust, which means they account for several rows coming from the same campaign. The calf-versus-shin contrast is reported on its own because it does not depend on which muscle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 The 271 men-only rows and 100 countermeasure rows are our count on the 346 modelling rows; the report gives the same point on the 425 lower-limb rows before duplicate composites were removed (347 men-only, 126 countermeasure).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results, LLM robustness and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237744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 (Apollo 17)</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 10 from other sources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records after removing duplicates</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sought</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a:p>
            <a:pPr algn="ctr" indent="0" marL="0">
              <a:buNone/>
            </a:pPr>
            <a:r>
              <a:rPr lang="en-US" sz="1100" dirty="0">
                <a:solidFill>
                  <a:schemeClr val="accent3"/>
                </a:solidFill>
              </a:rPr>
              <a:t>1,023 not screened in time</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a:p>
            <a:pPr algn="ctr" indent="0" marL="0">
              <a:buNone/>
            </a:pPr>
            <a:r>
              <a:rPr lang="en-US" sz="1100" dirty="0">
                <a:solidFill>
                  <a:schemeClr val="accent3"/>
                </a:solidFill>
              </a:rPr>
              <a:t>11 excluded at full text</a:t>
            </a:r>
            <a:endParaRPr lang="en-US" sz="1100" dirty="0"/>
          </a:p>
        </p:txBody>
      </p:sp>
      <p:sp>
        <p:nvSpPr>
          <p:cNvPr id="38" name="Text 34"/>
          <p:cNvSpPr txBox="1"/>
          <p:nvPr/>
        </p:nvSpPr>
        <p:spPr>
          <a:xfrm>
            <a:off x="548640" y="580644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Full-text counts as recorded; they are still being reconciled with the dataset.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averages the range midpoints, weighted by probability (open ends count as −31% and +5%): −6.6%</a:t>
            </a:r>
            <a:endParaRPr lang="en-US" sz="1300" dirty="0"/>
          </a:p>
          <a:p>
            <a:pPr marL="342900" indent="-342900">
              <a:spcAft>
                <a:spcPts val="400"/>
              </a:spcAft>
              <a:buSzPct val="100000"/>
              <a:buChar char="•"/>
            </a:pPr>
            <a:r>
              <a:rPr lang="en-US" sz="1300" dirty="0">
                <a:solidFill>
                  <a:schemeClr val="tx1"/>
                </a:solidFill>
              </a:rPr>
              <a:t>Measured: −9.4%, an error of 2.8 pp, a typical row</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Robustness and 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not individual astronauts</a:t>
            </a:r>
            <a:endParaRPr lang="en-US" sz="2000" dirty="0"/>
          </a:p>
          <a:p>
            <a:pPr marL="342900" indent="-342900">
              <a:spcAft>
                <a:spcPts val="400"/>
              </a:spcAft>
              <a:buSzPct val="100000"/>
              <a:buChar char="•"/>
            </a:pPr>
            <a:r>
              <a:rPr lang="en-US" sz="1800" dirty="0">
                <a:solidFill>
                  <a:schemeClr val="tx1"/>
                </a:solidFill>
              </a:rPr>
              <a:t>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10312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600" dirty="0">
                <a:solidFill>
                  <a:schemeClr val="tx1"/>
                </a:solidFill>
              </a:rPr>
              <a:t>Muscle-specific modelling: estimate each muscle's susceptibility and combine it with baseline volumes into total lower-limb volume loss</a:t>
            </a:r>
            <a:endParaRPr lang="en-US" sz="2000" dirty="0"/>
          </a:p>
          <a:p>
            <a:pPr marL="342900" indent="-342900">
              <a:spcAft>
                <a:spcPts val="400"/>
              </a:spcAft>
              <a:buSzPct val="100000"/>
              <a:buChar char="•"/>
            </a:pPr>
            <a:r>
              <a:rPr lang="en-US" sz="1600" dirty="0">
                <a:solidFill>
                  <a:schemeClr val="tx1"/>
                </a:solidFill>
              </a:rPr>
              <a:t>Individual and functional prediction: participant-level data over time, linked to strength and function</a:t>
            </a:r>
            <a:endParaRPr lang="en-US" sz="2000" dirty="0"/>
          </a:p>
          <a:p>
            <a:pPr marL="342900" indent="-342900">
              <a:spcAft>
                <a:spcPts val="400"/>
              </a:spcAft>
              <a:buSzPct val="100000"/>
              <a:buChar char="•"/>
            </a:pPr>
            <a:r>
              <a:rPr lang="en-US" sz="1600" dirty="0">
                <a:solidFill>
                  <a:schemeClr val="tx1"/>
                </a:solidFill>
              </a:rPr>
              <a:t>Validation on independent campaigns and spaceflight data before any personal risk-assessment tool</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2"/>
          <a:stretch>
            <a:fillRect/>
          </a:stretch>
        </p:blipFill>
        <p:spPr>
          <a:xfrm>
            <a:off x="822960" y="548640"/>
            <a:ext cx="2926080" cy="786581"/>
          </a:xfrm>
          <a:prstGeom prst="rect">
            <a:avLst/>
          </a:prstGeom>
        </p:spPr>
      </p:pic>
      <p:sp>
        <p:nvSpPr>
          <p:cNvPr id="3" name="Text 0"/>
          <p:cNvSpPr txBox="1"/>
          <p:nvPr/>
        </p:nvSpPr>
        <p:spPr>
          <a:xfrm>
            <a:off x="822960" y="1920240"/>
            <a:ext cx="8961120" cy="1737360"/>
          </a:xfrm>
          <a:prstGeom prst="rect">
            <a:avLst/>
          </a:prstGeom>
          <a:noFill/>
          <a:ln/>
        </p:spPr>
        <p:txBody>
          <a:bodyPr wrap="square" lIns="0" tIns="0" rIns="0" bIns="0" rtlCol="0" anchor="b"/>
          <a:lstStyle/>
          <a:p>
            <a:pPr indent="0" marL="0">
              <a:spcAft>
                <a:spcPts val="1000"/>
              </a:spcAft>
              <a:buNone/>
            </a:pPr>
            <a:r>
              <a:rPr lang="en-US" sz="4600" b="1" dirty="0">
                <a:solidFill>
                  <a:srgbClr val="FFFFFF"/>
                </a:solidFill>
                <a:latin typeface="Cambria" pitchFamily="34" charset="0"/>
                <a:ea typeface="Cambria" pitchFamily="34" charset="-122"/>
                <a:cs typeface="Cambria" pitchFamily="34" charset="-120"/>
              </a:rPr>
              <a:t>Thank you for listening</a:t>
            </a:r>
            <a:endParaRPr lang="en-US" sz="4600" dirty="0"/>
          </a:p>
          <a:p>
            <a:pPr indent="0" marL="0">
              <a:spcAft>
                <a:spcPts val="1000"/>
              </a:spcAft>
              <a:buNone/>
            </a:pPr>
            <a:r>
              <a:rPr lang="en-US" sz="2600" b="1" dirty="0">
                <a:solidFill>
                  <a:srgbClr val="F2D0A9"/>
                </a:solidFill>
                <a:latin typeface="Cambria" pitchFamily="34" charset="0"/>
                <a:ea typeface="Cambria" pitchFamily="34" charset="-122"/>
                <a:cs typeface="Cambria" pitchFamily="34" charset="-120"/>
              </a:rPr>
              <a:t>Questions are welcome</a:t>
            </a:r>
            <a:endParaRPr lang="en-US" sz="4600" dirty="0"/>
          </a:p>
        </p:txBody>
      </p:sp>
      <p:sp>
        <p:nvSpPr>
          <p:cNvPr id="4" name="Text 1"/>
          <p:cNvSpPr txBox="1"/>
          <p:nvPr/>
        </p:nvSpPr>
        <p:spPr>
          <a:xfrm>
            <a:off x="822960" y="3931920"/>
            <a:ext cx="7680960" cy="365760"/>
          </a:xfrm>
          <a:prstGeom prst="rect">
            <a:avLst/>
          </a:prstGeom>
          <a:noFill/>
          <a:ln/>
        </p:spPr>
        <p:txBody>
          <a:bodyPr wrap="square" lIns="0" tIns="0" rIns="0" bIns="0" rtlCol="0" anchor="t"/>
          <a:lstStyle/>
          <a:p>
            <a:pPr indent="0" marL="0">
              <a:buNone/>
            </a:pPr>
            <a:r>
              <a:rPr lang="en-US" sz="1600" b="1" dirty="0">
                <a:solidFill>
                  <a:srgbClr val="F2D0A9"/>
                </a:solidFill>
              </a:rPr>
              <a:t>From Bed Rest to Mars  |  64. Jahrestagung der DGLRM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1,023 records not yet screened (screening backup)</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screening and study selection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were 1,023 records not screened?</a:t>
            </a:r>
            <a:endParaRPr lang="en-US" sz="1500" dirty="0"/>
          </a:p>
          <a:p>
            <a:pPr marL="342900" indent="-342900">
              <a:spcAft>
                <a:spcPts val="400"/>
              </a:spcAft>
              <a:buSzPct val="100000"/>
              <a:buChar char="•"/>
            </a:pPr>
            <a:r>
              <a:rPr lang="en-US" sz="1400" dirty="0">
                <a:solidFill>
                  <a:schemeClr val="tx1"/>
                </a:solidFill>
              </a:rPr>
              <a:t>Search and screening were time-boxed to one week</a:t>
            </a:r>
            <a:endParaRPr lang="en-US" sz="1500" dirty="0"/>
          </a:p>
          <a:p>
            <a:pPr marL="342900" indent="-342900">
              <a:spcAft>
                <a:spcPts val="400"/>
              </a:spcAft>
              <a:buSzPct val="100000"/>
              <a:buChar char="•"/>
            </a:pPr>
            <a:r>
              <a:rPr lang="en-US" sz="1400" dirty="0">
                <a:solidFill>
                  <a:schemeClr val="tx1"/>
                </a:solidFill>
              </a:rPr>
              <a:t>They are the rest of the "maybe" set and 80 records waiting for a full text</a:t>
            </a:r>
            <a:endParaRPr lang="en-US" sz="1500" dirty="0"/>
          </a:p>
          <a:p>
            <a:pPr marL="342900" indent="-342900">
              <a:spcAft>
                <a:spcPts val="400"/>
              </a:spcAft>
              <a:buSzPct val="100000"/>
              <a:buChar char="•"/>
            </a:pPr>
            <a:r>
              <a:rPr lang="en-US" sz="1400" dirty="0">
                <a:solidFill>
                  <a:schemeClr val="tx1"/>
                </a:solidFill>
              </a:rPr>
              <a:t>They leave the flow at screening but are not counted as excluded</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Who screened, and was it done twice?</a:t>
            </a:r>
            <a:endParaRPr lang="en-US" sz="1500" dirty="0"/>
          </a:p>
          <a:p>
            <a:pPr marL="342900" indent="-342900">
              <a:spcAft>
                <a:spcPts val="400"/>
              </a:spcAft>
              <a:buSzPct val="100000"/>
              <a:buChar char="•"/>
            </a:pPr>
            <a:r>
              <a:rPr lang="en-US" sz="1400" dirty="0">
                <a:solidFill>
                  <a:schemeClr val="tx1"/>
                </a:solidFill>
              </a:rPr>
              <a:t>Eligibility criteria were written before screening began</a:t>
            </a:r>
            <a:endParaRPr lang="en-US" sz="1500" dirty="0"/>
          </a:p>
          <a:p>
            <a:pPr marL="342900" indent="-342900">
              <a:spcAft>
                <a:spcPts val="400"/>
              </a:spcAft>
              <a:buSzPct val="100000"/>
              <a:buChar char="•"/>
            </a:pPr>
            <a:r>
              <a:rPr lang="en-US" sz="1400" dirty="0">
                <a:solidFill>
                  <a:schemeClr val="tx1"/>
                </a:solidFill>
              </a:rPr>
              <a:t>A rule-based triage sorted the records; one person then read the priority set and the top of the "maybe" set</a:t>
            </a:r>
            <a:endParaRPr lang="en-US" sz="1500" dirty="0"/>
          </a:p>
          <a:p>
            <a:pPr marL="342900" indent="-342900">
              <a:spcAft>
                <a:spcPts val="400"/>
              </a:spcAft>
              <a:buSzPct val="100000"/>
              <a:buChar char="•"/>
            </a:pPr>
            <a:r>
              <a:rPr lang="en-US" sz="1400" dirty="0">
                <a:solidFill>
                  <a:schemeClr val="tx1"/>
                </a:solidFill>
              </a:rPr>
              <a:t>No second screener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84 full texts but 52 studies: why so few?</a:t>
            </a:r>
            <a:endParaRPr lang="en-US" sz="1500" dirty="0"/>
          </a:p>
          <a:p>
            <a:pPr marL="342900" indent="-342900">
              <a:spcAft>
                <a:spcPts val="400"/>
              </a:spcAft>
              <a:buSzPct val="100000"/>
              <a:buChar char="•"/>
            </a:pPr>
            <a:r>
              <a:rPr lang="en-US" sz="1400" dirty="0">
                <a:solidFill>
                  <a:schemeClr val="tx1"/>
                </a:solidFill>
              </a:rPr>
              <a:t>19 give muscle results only as charts, without a baseline value</a:t>
            </a:r>
            <a:endParaRPr lang="en-US" sz="1500" dirty="0"/>
          </a:p>
          <a:p>
            <a:pPr marL="342900" indent="-342900">
              <a:spcAft>
                <a:spcPts val="400"/>
              </a:spcAft>
              <a:buSzPct val="100000"/>
              <a:buChar char="•"/>
            </a:pPr>
            <a:r>
              <a:rPr lang="en-US" sz="1400" dirty="0">
                <a:solidFill>
                  <a:schemeClr val="tx1"/>
                </a:solidFill>
              </a:rPr>
              <a:t>4 full texts not available (one conference abstract still used); 11 excluded at full text</a:t>
            </a:r>
            <a:endParaRPr lang="en-US" sz="1500" dirty="0"/>
          </a:p>
          <a:p>
            <a:pPr marL="342900" indent="-342900">
              <a:spcAft>
                <a:spcPts val="400"/>
              </a:spcAft>
              <a:buSzPct val="100000"/>
              <a:buChar char="•"/>
            </a:pPr>
            <a:r>
              <a:rPr lang="en-US" sz="1400" dirty="0">
                <a:solidFill>
                  <a:schemeClr val="tx1"/>
                </a:solidFill>
              </a:rPr>
              <a:t>These counts are as recorded and still being reconciled with the dataset</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search only from 2013?</a:t>
            </a:r>
            <a:endParaRPr lang="en-US" sz="1500" dirty="0"/>
          </a:p>
          <a:p>
            <a:pPr marL="342900" indent="-342900">
              <a:spcAft>
                <a:spcPts val="400"/>
              </a:spcAft>
              <a:buSzPct val="100000"/>
              <a:buChar char="•"/>
            </a:pPr>
            <a:r>
              <a:rPr lang="en-US" sz="1400" dirty="0">
                <a:solidFill>
                  <a:schemeClr val="tx1"/>
                </a:solidFill>
              </a:rPr>
              <a:t>The search was time-boxed to one week</a:t>
            </a:r>
            <a:endParaRPr lang="en-US" sz="1500" dirty="0"/>
          </a:p>
          <a:p>
            <a:pPr marL="342900" indent="-342900">
              <a:spcAft>
                <a:spcPts val="400"/>
              </a:spcAft>
              <a:buSzPct val="100000"/>
              <a:buChar char="•"/>
            </a:pPr>
            <a:r>
              <a:rPr lang="en-US" sz="1400" dirty="0">
                <a:solidFill>
                  <a:schemeClr val="tx1"/>
                </a:solidFill>
              </a:rPr>
              <a:t>Older work enters through 9 studies we held before the search; 6 of their campaigns would otherwise be missing</a:t>
            </a:r>
            <a:endParaRPr lang="en-US" sz="1500" dirty="0"/>
          </a:p>
          <a:p>
            <a:pPr marL="342900" indent="-342900">
              <a:spcAft>
                <a:spcPts val="400"/>
              </a:spcAft>
              <a:buSzPct val="100000"/>
              <a:buChar char="•"/>
            </a:pPr>
            <a:r>
              <a:rPr lang="en-US" sz="1400" dirty="0">
                <a:solidFill>
                  <a:schemeClr val="tx1"/>
                </a:solidFill>
              </a:rPr>
              <a:t>Both known modelling papers from after 2013 were found by all three journal databases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not people: men only 567, mixed 113, women only 40 (35 of them WISE-2005), not reported 22</a:t>
            </a:r>
            <a:endParaRPr lang="en-US" sz="1500" dirty="0"/>
          </a:p>
          <a:p>
            <a:pPr marL="342900" indent="-342900">
              <a:spcAft>
                <a:spcPts val="400"/>
              </a:spcAft>
              <a:buSzPct val="100000"/>
              <a:buChar char="•"/>
            </a:pPr>
            <a:r>
              <a:rPr lang="en-US" sz="1400" dirty="0">
                <a:solidFill>
                  <a:schemeClr val="tx1"/>
                </a:solidFill>
              </a:rPr>
              <a:t>Healthy young 692, middle-aged 8,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(271 of the 346 modelling rows men-only), so they act as a campaign label; 100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2026-10-09T11:30:12Z</dcterms:created>
  <dcterms:modified xsi:type="dcterms:W3CDTF">2026-10-09T11:30:12Z</dcterms:modified>
</cp:coreProperties>
</file>