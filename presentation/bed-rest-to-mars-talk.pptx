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d3bbd1-0136-ea66-e75e-f8424b43077b}">
          <p14:sldIdLst>
            <p14:sldId id="256"/>
            <p14:sldId id="257"/>
          </p14:sldIdLst>
        </p14:section>
        <p14:section name="Part 1" id="{04d8b939-de5e-b9f6-35f3-f7687f3c59e9}">
          <p14:sldIdLst>
            <p14:sldId id="258"/>
            <p14:sldId id="259"/>
            <p14:sldId id="260"/>
            <p14:sldId id="261"/>
            <p14:sldId id="262"/>
            <p14:sldId id="263"/>
            <p14:sldId id="264"/>
          </p14:sldIdLst>
        </p14:section>
        <p14:section name="Part 2" id="{e6a16378-f193-76f6-84e3-23161c894c38}">
          <p14:sldIdLst>
            <p14:sldId id="265"/>
            <p14:sldId id="266"/>
            <p14:sldId id="267"/>
            <p14:sldId id="268"/>
            <p14:sldId id="269"/>
            <p14:sldId id="270"/>
            <p14:sldId id="271"/>
          </p14:sldIdLst>
        </p14:section>
        <p14:section name="Backup" id="{d8811695-32d0-f670-858d-f48486ad0bd4}">
          <p14:sldIdLst>
            <p14:sldId id="272"/>
            <p14:sldId id="273"/>
            <p14:sldId id="274"/>
            <p14:sldId id="275"/>
          </p14:sldIdLst>
        </p14:section>
        <p14:section name="Backup" id="{1c7f70d3-4462-d76c-5d0c-c8d1a7bb751d}">
          <p14:sldIdLst/>
        </p14:section>
        <p14:section name="Backup" id="{b8815342-a8e9-f5d4-2ed1-6745bd0e1a5e}">
          <p14:sldIdLst/>
        </p14:section>
        <p14:section name="Backup" id="{ce6a969f-2ae0-100f-c856-f58fedeebc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for papers from 2013 onwards, and found 5,731 records. After removing duplicates, we screened 3,590 titles and abstracts. Most were excluded because they did not use an unloading model or did not measure muscle. 1,023 records could not be screened in the time available; they are not exclusions.
We read 74 full texts. The main loss at this step: 19 studies show their muscle results only as charts, without a baseline value, so we could not extract them. The search gave 42 studies.
Ten more came from other sources: nine older studies from before 2013, which the date limit of the search excluded, and one campaign from NASA's open bed-rest data. That gives the final dataset: 52 studies, 742 rows and 36 independent campaigns.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37160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169164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176479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5,731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2013 onwards</a:t>
            </a:r>
            <a:endParaRPr lang="en-US" sz="2600" dirty="0"/>
          </a:p>
        </p:txBody>
      </p:sp>
      <p:sp>
        <p:nvSpPr>
          <p:cNvPr id="14" name="Flow arrow 1"/>
          <p:cNvSpPr/>
          <p:nvPr/>
        </p:nvSpPr>
        <p:spPr>
          <a:xfrm>
            <a:off x="2505456" y="2354580"/>
            <a:ext cx="246888" cy="0"/>
          </a:xfrm>
          <a:prstGeom prst="line">
            <a:avLst/>
          </a:prstGeom>
          <a:noFill/>
          <a:ln w="15875">
            <a:solidFill>
              <a:srgbClr val="1A1A1A"/>
            </a:solidFill>
            <a:prstDash val="solid"/>
            <a:tailEnd type="triangle"/>
          </a:ln>
        </p:spPr>
      </p:sp>
      <p:sp>
        <p:nvSpPr>
          <p:cNvPr id="15" name="Text 13"/>
          <p:cNvSpPr txBox="1"/>
          <p:nvPr/>
        </p:nvSpPr>
        <p:spPr>
          <a:xfrm>
            <a:off x="2788920" y="137160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169164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176479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3,590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354580"/>
            <a:ext cx="246888" cy="0"/>
          </a:xfrm>
          <a:prstGeom prst="line">
            <a:avLst/>
          </a:prstGeom>
          <a:noFill/>
          <a:ln w="15875">
            <a:solidFill>
              <a:srgbClr val="1A1A1A"/>
            </a:solidFill>
            <a:prstDash val="solid"/>
            <a:tailEnd type="triangle"/>
          </a:ln>
        </p:spPr>
      </p:sp>
      <p:sp>
        <p:nvSpPr>
          <p:cNvPr id="19" name="Text 17"/>
          <p:cNvSpPr txBox="1"/>
          <p:nvPr/>
        </p:nvSpPr>
        <p:spPr>
          <a:xfrm>
            <a:off x="5029200" y="137160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169164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176479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74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354580"/>
            <a:ext cx="246888" cy="0"/>
          </a:xfrm>
          <a:prstGeom prst="line">
            <a:avLst/>
          </a:prstGeom>
          <a:noFill/>
          <a:ln w="15875">
            <a:solidFill>
              <a:srgbClr val="1A1A1A"/>
            </a:solidFill>
            <a:prstDash val="solid"/>
            <a:tailEnd type="triangle"/>
          </a:ln>
        </p:spPr>
      </p:sp>
      <p:sp>
        <p:nvSpPr>
          <p:cNvPr id="23" name="Text 21"/>
          <p:cNvSpPr txBox="1"/>
          <p:nvPr/>
        </p:nvSpPr>
        <p:spPr>
          <a:xfrm>
            <a:off x="7269480" y="137160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169164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176479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42</a:t>
            </a:r>
            <a:endParaRPr lang="en-US" sz="2600" dirty="0"/>
          </a:p>
          <a:p>
            <a:pPr algn="ctr" indent="0" marL="0">
              <a:buNone/>
            </a:pPr>
            <a:r>
              <a:rPr lang="en-US" sz="1300" dirty="0">
                <a:solidFill>
                  <a:schemeClr val="tx1"/>
                </a:solidFill>
              </a:rPr>
              <a:t>studies from the search</a:t>
            </a:r>
            <a:endParaRPr lang="en-US" sz="2600" dirty="0"/>
          </a:p>
        </p:txBody>
      </p:sp>
      <p:sp>
        <p:nvSpPr>
          <p:cNvPr id="26" name="Flow arrow 4"/>
          <p:cNvSpPr/>
          <p:nvPr/>
        </p:nvSpPr>
        <p:spPr>
          <a:xfrm>
            <a:off x="9226296" y="2354580"/>
            <a:ext cx="246888" cy="0"/>
          </a:xfrm>
          <a:prstGeom prst="line">
            <a:avLst/>
          </a:prstGeom>
          <a:noFill/>
          <a:ln w="15875">
            <a:solidFill>
              <a:srgbClr val="1A1A1A"/>
            </a:solidFill>
            <a:prstDash val="solid"/>
            <a:tailEnd type="triangle"/>
          </a:ln>
        </p:spPr>
      </p:sp>
      <p:sp>
        <p:nvSpPr>
          <p:cNvPr id="27" name="Text 25"/>
          <p:cNvSpPr txBox="1"/>
          <p:nvPr/>
        </p:nvSpPr>
        <p:spPr>
          <a:xfrm>
            <a:off x="9509760" y="137160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169164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176479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bg1"/>
                </a:solidFill>
              </a:rPr>
              <a:t>studies</a:t>
            </a:r>
            <a:endParaRPr lang="en-US" sz="2600" dirty="0"/>
          </a:p>
          <a:p>
            <a:pPr algn="ctr" indent="0" marL="0">
              <a:buNone/>
            </a:pPr>
            <a:r>
              <a:rPr lang="en-US" sz="1050" i="1" dirty="0">
                <a:solidFill>
                  <a:schemeClr val="bg1"/>
                </a:solidFill>
              </a:rPr>
              <a:t>742 rows · 36 campaigns</a:t>
            </a:r>
            <a:endParaRPr lang="en-US" sz="2600" dirty="0"/>
          </a:p>
        </p:txBody>
      </p:sp>
      <p:sp>
        <p:nvSpPr>
          <p:cNvPr id="30" name="Removed 1"/>
          <p:cNvSpPr/>
          <p:nvPr/>
        </p:nvSpPr>
        <p:spPr>
          <a:xfrm>
            <a:off x="2628900" y="2400300"/>
            <a:ext cx="0" cy="960120"/>
          </a:xfrm>
          <a:prstGeom prst="line">
            <a:avLst/>
          </a:prstGeom>
          <a:noFill/>
          <a:ln w="9525">
            <a:solidFill>
              <a:srgbClr val="9AA3AE"/>
            </a:solidFill>
            <a:prstDash val="dash"/>
            <a:tailEnd type="triangle"/>
          </a:ln>
        </p:spPr>
      </p:sp>
      <p:sp>
        <p:nvSpPr>
          <p:cNvPr id="31" name="Text 29"/>
          <p:cNvSpPr txBox="1"/>
          <p:nvPr/>
        </p:nvSpPr>
        <p:spPr>
          <a:xfrm>
            <a:off x="1623060" y="340614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400300"/>
            <a:ext cx="0" cy="960120"/>
          </a:xfrm>
          <a:prstGeom prst="line">
            <a:avLst/>
          </a:prstGeom>
          <a:noFill/>
          <a:ln w="9525">
            <a:solidFill>
              <a:srgbClr val="9AA3AE"/>
            </a:solidFill>
            <a:prstDash val="dash"/>
            <a:tailEnd type="triangle"/>
          </a:ln>
        </p:spPr>
      </p:sp>
      <p:sp>
        <p:nvSpPr>
          <p:cNvPr id="33" name="Text 31"/>
          <p:cNvSpPr txBox="1"/>
          <p:nvPr/>
        </p:nvSpPr>
        <p:spPr>
          <a:xfrm>
            <a:off x="3863340" y="340614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a:p>
            <a:pPr algn="ctr" indent="0" marL="0">
              <a:buNone/>
            </a:pPr>
            <a:r>
              <a:rPr lang="en-US" sz="1100" dirty="0">
                <a:solidFill>
                  <a:schemeClr val="accent3"/>
                </a:solidFill>
              </a:rPr>
              <a:t>1,023 not yet screened</a:t>
            </a:r>
            <a:endParaRPr lang="en-US" sz="1100" dirty="0"/>
          </a:p>
        </p:txBody>
      </p:sp>
      <p:sp>
        <p:nvSpPr>
          <p:cNvPr id="34" name="Removed 3"/>
          <p:cNvSpPr/>
          <p:nvPr/>
        </p:nvSpPr>
        <p:spPr>
          <a:xfrm>
            <a:off x="7109460" y="2400300"/>
            <a:ext cx="0" cy="960120"/>
          </a:xfrm>
          <a:prstGeom prst="line">
            <a:avLst/>
          </a:prstGeom>
          <a:noFill/>
          <a:ln w="9525">
            <a:solidFill>
              <a:srgbClr val="9AA3AE"/>
            </a:solidFill>
            <a:prstDash val="dash"/>
            <a:tailEnd type="triangle"/>
          </a:ln>
        </p:spPr>
      </p:sp>
      <p:sp>
        <p:nvSpPr>
          <p:cNvPr id="35" name="Text 33"/>
          <p:cNvSpPr txBox="1"/>
          <p:nvPr/>
        </p:nvSpPr>
        <p:spPr>
          <a:xfrm>
            <a:off x="6103620" y="340614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Other sources"/>
          <p:cNvSpPr/>
          <p:nvPr/>
        </p:nvSpPr>
        <p:spPr>
          <a:xfrm>
            <a:off x="7086600" y="4297680"/>
            <a:ext cx="2651760" cy="1097280"/>
          </a:xfrm>
          <a:prstGeom prst="rect">
            <a:avLst/>
          </a:prstGeom>
          <a:solidFill>
            <a:schemeClr val="bg2"/>
          </a:solidFill>
          <a:ln w="12700">
            <a:solidFill>
              <a:srgbClr val="9AA3AE"/>
            </a:solidFill>
            <a:prstDash val="solid"/>
          </a:ln>
        </p:spPr>
      </p:sp>
      <p:sp>
        <p:nvSpPr>
          <p:cNvPr id="37" name="Text 35"/>
          <p:cNvSpPr txBox="1"/>
          <p:nvPr/>
        </p:nvSpPr>
        <p:spPr>
          <a:xfrm>
            <a:off x="7178040" y="4343400"/>
            <a:ext cx="2468880" cy="1005840"/>
          </a:xfrm>
          <a:prstGeom prst="rect">
            <a:avLst/>
          </a:prstGeom>
          <a:noFill/>
          <a:ln/>
        </p:spPr>
        <p:txBody>
          <a:bodyPr wrap="square" lIns="0" tIns="0" rIns="0" bIns="0" rtlCol="0" anchor="ctr"/>
          <a:lstStyle/>
          <a:p>
            <a:pPr algn="ctr" indent="0" marL="0">
              <a:buNone/>
            </a:pPr>
            <a:r>
              <a:rPr lang="en-US" sz="1300" b="1" dirty="0">
                <a:solidFill>
                  <a:schemeClr val="tx1"/>
                </a:solidFill>
              </a:rPr>
              <a:t>+10 from other sources</a:t>
            </a:r>
            <a:endParaRPr lang="en-US" sz="1300" dirty="0"/>
          </a:p>
          <a:p>
            <a:pPr algn="ctr" indent="0" marL="0">
              <a:buNone/>
            </a:pPr>
            <a:r>
              <a:rPr lang="en-US" sz="1100" dirty="0">
                <a:solidFill>
                  <a:schemeClr val="accent3"/>
                </a:solidFill>
              </a:rPr>
              <a:t>9 older studies (before 2013)</a:t>
            </a:r>
            <a:endParaRPr lang="en-US" sz="1300" dirty="0"/>
          </a:p>
          <a:p>
            <a:pPr algn="ctr" indent="0" marL="0">
              <a:buNone/>
            </a:pPr>
            <a:r>
              <a:rPr lang="en-US" sz="1100" dirty="0">
                <a:solidFill>
                  <a:schemeClr val="accent3"/>
                </a:solidFill>
              </a:rPr>
              <a:t>1 NASA open-data campaign</a:t>
            </a:r>
            <a:endParaRPr lang="en-US" sz="1300" dirty="0"/>
          </a:p>
        </p:txBody>
      </p:sp>
      <p:sp>
        <p:nvSpPr>
          <p:cNvPr id="38" name="Other sources line"/>
          <p:cNvSpPr/>
          <p:nvPr/>
        </p:nvSpPr>
        <p:spPr>
          <a:xfrm>
            <a:off x="9738360" y="4846320"/>
            <a:ext cx="731520" cy="0"/>
          </a:xfrm>
          <a:prstGeom prst="line">
            <a:avLst/>
          </a:prstGeom>
          <a:noFill/>
          <a:ln w="15875">
            <a:solidFill>
              <a:srgbClr val="1A1A1A"/>
            </a:solidFill>
            <a:prstDash val="solid"/>
          </a:ln>
        </p:spPr>
      </p:sp>
      <p:sp>
        <p:nvSpPr>
          <p:cNvPr id="39" name="Other sources arrow"/>
          <p:cNvSpPr/>
          <p:nvPr/>
        </p:nvSpPr>
        <p:spPr>
          <a:xfrm>
            <a:off x="10469880" y="3054096"/>
            <a:ext cx="0" cy="1792224"/>
          </a:xfrm>
          <a:prstGeom prst="line">
            <a:avLst/>
          </a:prstGeom>
          <a:noFill/>
          <a:ln w="15875">
            <a:solidFill>
              <a:srgbClr val="1A1A1A"/>
            </a:solidFill>
            <a:prstDash val="solid"/>
            <a:headEnd type="triangle"/>
          </a:ln>
        </p:spPr>
      </p:sp>
      <p:sp>
        <p:nvSpPr>
          <p:cNvPr id="40" name="Text 38"/>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2026-10-06T11:36:24Z</dcterms:created>
  <dcterms:modified xsi:type="dcterms:W3CDTF">2026-10-06T11:36:24Z</dcterms:modified>
</cp:coreProperties>
</file>