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fcbb1e7-e5c6-e7fd-2a70-1c706b1e655b}">
          <p14:sldIdLst>
            <p14:sldId id="256"/>
            <p14:sldId id="257"/>
          </p14:sldIdLst>
        </p14:section>
        <p14:section name="Part 1" id="{4ae86094-96fc-62a9-07d1-d8bdd868351f}">
          <p14:sldIdLst>
            <p14:sldId id="258"/>
            <p14:sldId id="259"/>
            <p14:sldId id="260"/>
            <p14:sldId id="261"/>
            <p14:sldId id="262"/>
            <p14:sldId id="263"/>
            <p14:sldId id="264"/>
          </p14:sldIdLst>
        </p14:section>
        <p14:section name="Part 2" id="{a572456b-cb02-daa0-749b-2b849eebda8a}">
          <p14:sldIdLst>
            <p14:sldId id="265"/>
            <p14:sldId id="266"/>
            <p14:sldId id="267"/>
            <p14:sldId id="268"/>
            <p14:sldId id="269"/>
            <p14:sldId id="270"/>
            <p14:sldId id="271"/>
          </p14:sldIdLst>
        </p14:section>
        <p14:section name="Backup" id="{2699b8c5-0066-4ae2-465a-812f8c6852f4}">
          <p14:sldIdLst>
            <p14:sldId id="272"/>
            <p14:sldId id="273"/>
            <p14:sldId id="274"/>
            <p14:sldId id="275"/>
          </p14:sldIdLst>
        </p14:section>
        <p14:section name="Backup" id="{0953650d-2d3d-beba-d504-2f8ed087bb29}">
          <p14:sldIdLst/>
        </p14:section>
        <p14:section name="Backup" id="{098aaca0-ca26-cc45-5fac-858f6bbb4734}">
          <p14:sldIdLst/>
        </p14:section>
        <p14:section name="Backup" id="{6eff4745-285d-efbc-866f-788fc74159b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forecast muscle loss?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Unloaded muscles that hold the body up against gravity lose mass and strength</a:t>
            </a:r>
            <a:endParaRPr lang="en-US" sz="1400" dirty="0"/>
          </a:p>
          <a:p>
            <a:pPr marL="342900" indent="-342900">
              <a:spcAft>
                <a:spcPts val="400"/>
              </a:spcAft>
              <a:buSzPct val="100000"/>
              <a:buChar char="•"/>
            </a:pPr>
            <a:r>
              <a:rPr lang="en-US" sz="1600" dirty="0">
                <a:solidFill>
                  <a:schemeClr val="tx1"/>
                </a:solidFill>
              </a:rPr>
              <a:t>A transit to Mars takes about six months; the crew must stand, move and work on arrival</a:t>
            </a:r>
            <a:endParaRPr lang="en-US" sz="1400" dirty="0"/>
          </a:p>
          <a:p>
            <a:pPr marL="342900" indent="-342900">
              <a:spcAft>
                <a:spcPts val="400"/>
              </a:spcAft>
              <a:buSzPct val="100000"/>
              <a:buChar char="•"/>
            </a:pPr>
            <a:r>
              <a:rPr lang="en-US" sz="1600" dirty="0">
                <a:solidFill>
                  <a:schemeClr val="tx1"/>
                </a:solidFill>
              </a:rPr>
              <a:t>Countermeasures are planned before departure, so planners need to know how much of a given muscle is lost after a given number of days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why use bed-rest data?</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Spaceflight data on leg muscle size are scarce, and the groups measured are small</a:t>
            </a:r>
            <a:endParaRPr lang="en-US" sz="1400" dirty="0"/>
          </a:p>
          <a:p>
            <a:pPr marL="342900" indent="-342900">
              <a:spcAft>
                <a:spcPts val="400"/>
              </a:spcAft>
              <a:buSzPct val="100000"/>
              <a:buChar char="•"/>
            </a:pPr>
            <a:r>
              <a:rPr lang="en-US" sz="1600" dirty="0">
                <a:solidFill>
                  <a:schemeClr val="tx1"/>
                </a:solidFill>
              </a:rPr>
              <a:t>Bed rest is the established ground model: healthy volunteers lie in bed, usually tilted 6° head-down so that body fluids shift towards the head as in orbit</a:t>
            </a:r>
            <a:endParaRPr lang="en-US" sz="1400" dirty="0"/>
          </a:p>
          <a:p>
            <a:pPr marL="342900" indent="-342900">
              <a:spcAft>
                <a:spcPts val="400"/>
              </a:spcAft>
              <a:buSzPct val="100000"/>
              <a:buChar char="•"/>
            </a:pPr>
            <a:r>
              <a:rPr lang="en-US" sz="1600" dirty="0">
                <a:solidFill>
                  <a:schemeClr val="tx1"/>
                </a:solidFill>
              </a:rPr>
              <a:t>Three decades of campaigns at NASA, MEDES (Toulouse), Charité (Berlin), DLR (Cologne) and elsewhere</a:t>
            </a:r>
            <a:endParaRPr lang="en-US" sz="1400" dirty="0"/>
          </a:p>
          <a:p>
            <a:pPr marL="342900" indent="-342900">
              <a:spcAft>
                <a:spcPts val="400"/>
              </a:spcAft>
              <a:buSzPct val="100000"/>
              <a:buChar char="•"/>
            </a:pPr>
            <a:r>
              <a:rPr lang="en-US" sz="1600" dirty="0">
                <a:solidFill>
                  <a:schemeClr val="tx1"/>
                </a:solidFill>
              </a:rPr>
              <a:t>Bed rest imitates weightlessness but is not the same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of unloading did we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Unloading models: head-down and horizontal bed rest, dry immersion, one-leg suspension; spaceflight kept separate</a:t>
            </a:r>
            <a:endParaRPr lang="en-US" sz="1400" dirty="0"/>
          </a:p>
          <a:p>
            <a:pPr marL="342900" indent="-342900">
              <a:spcAft>
                <a:spcPts val="400"/>
              </a:spcAft>
              <a:buSzPct val="100000"/>
              <a:buChar char="•"/>
            </a:pPr>
            <a:r>
              <a:rPr lang="en-US" sz="1600" dirty="0">
                <a:solidFill>
                  <a:schemeClr val="tx1"/>
                </a:solidFill>
              </a:rPr>
              <a:t>At least 5 days of continuous unloading; scans from day 5 to day 119</a:t>
            </a:r>
            <a:endParaRPr lang="en-US" sz="1400" dirty="0"/>
          </a:p>
          <a:p>
            <a:pPr marL="342900" indent="-342900">
              <a:spcAft>
                <a:spcPts val="400"/>
              </a:spcAft>
              <a:buSzPct val="100000"/>
              <a:buChar char="•"/>
            </a:pPr>
            <a:r>
              <a:rPr lang="en-US" sz="1600" dirty="0">
                <a:solidFill>
                  <a:schemeClr val="tx1"/>
                </a:solidFill>
              </a:rPr>
              <a:t>Leg muscle size measured as volume, cross-sectional area, thickness or lean mass, by MRI, CT, DXA, pQCT or ultrasound</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the dataset was built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Systematic search of PubMed, Scopus, Web of Science and NASA's technical reports, 2013 onwards: 5,731 records</a:t>
            </a:r>
            <a:endParaRPr lang="en-US" sz="1400" dirty="0"/>
          </a:p>
          <a:p>
            <a:pPr marL="342900" indent="-342900">
              <a:spcAft>
                <a:spcPts val="400"/>
              </a:spcAft>
              <a:buSzPct val="100000"/>
              <a:buChar char="•"/>
            </a:pPr>
            <a:r>
              <a:rPr lang="en-US" sz="1600" dirty="0">
                <a:solidFill>
                  <a:schemeClr val="tx1"/>
                </a:solidFill>
              </a:rPr>
              <a:t>Plus 9 older studies and one campaign from NASA's open bed-rest archive</a:t>
            </a:r>
            <a:endParaRPr lang="en-US" sz="1400" dirty="0"/>
          </a:p>
          <a:p>
            <a:pPr marL="342900" indent="-342900">
              <a:spcAft>
                <a:spcPts val="400"/>
              </a:spcAft>
              <a:buSzPct val="100000"/>
              <a:buChar char="•"/>
            </a:pPr>
            <a:r>
              <a:rPr lang="en-US" sz="1600" dirty="0">
                <a:solidFill>
                  <a:schemeClr val="tx1"/>
                </a:solidFill>
              </a:rPr>
              <a:t>Extraction form fixed before extraction: one row per study, group, muscle and scan day</a:t>
            </a:r>
            <a:endParaRPr lang="en-US" sz="1400" dirty="0"/>
          </a:p>
          <a:p>
            <a:pPr marL="342900" indent="-342900">
              <a:spcAft>
                <a:spcPts val="400"/>
              </a:spcAft>
              <a:buSzPct val="100000"/>
              <a:buChar char="•"/>
            </a:pPr>
            <a:r>
              <a:rPr lang="en-US" sz="1600" dirty="0">
                <a:solidFill>
                  <a:schemeClr val="tx1"/>
                </a:solidFill>
              </a:rPr>
              <a:t>Papers that report the same volunteers merged into one campaign</a:t>
            </a:r>
            <a:endParaRPr lang="en-US" sz="1400" dirty="0"/>
          </a:p>
          <a:p>
            <a:pPr indent="0" marL="0">
              <a:buNone/>
            </a:pPr>
            <a:r>
              <a:rPr lang="en-US" sz="1400" i="1" dirty="0">
                <a:solidFill>
                  <a:schemeClr val="accent3"/>
                </a:solidFill>
              </a:rPr>
              <a:t>Possible figure: search flow diagram (figures/F1_corpus)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2026-10-06T10:40:20Z</dcterms:created>
  <dcterms:modified xsi:type="dcterms:W3CDTF">2026-10-06T10:40:20Z</dcterms:modified>
</cp:coreProperties>
</file>