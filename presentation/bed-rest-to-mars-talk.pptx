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d4ee912-66fc-aee9-ad23-4cabc61f868a}">
          <p14:sldIdLst>
            <p14:sldId id="256"/>
            <p14:sldId id="257"/>
          </p14:sldIdLst>
        </p14:section>
        <p14:section name="Part 1" id="{a7759218-caf7-9f7a-b999-7b78e28aafbf}">
          <p14:sldIdLst>
            <p14:sldId id="258"/>
            <p14:sldId id="259"/>
            <p14:sldId id="260"/>
            <p14:sldId id="261"/>
            <p14:sldId id="262"/>
            <p14:sldId id="263"/>
          </p14:sldIdLst>
        </p14:section>
        <p14:section name="Part 2" id="{11f055f6-2330-baa0-6a9d-aab9fb09ae7a}">
          <p14:sldIdLst>
            <p14:sldId id="264"/>
            <p14:sldId id="265"/>
            <p14:sldId id="266"/>
            <p14:sldId id="267"/>
            <p14:sldId id="268"/>
            <p14:sldId id="269"/>
            <p14:sldId id="270"/>
          </p14:sldIdLst>
        </p14:section>
        <p14:section name="Backup" id="{52fbde55-391e-51aa-24c2-a21a898a6e22}">
          <p14:sldIdLst>
            <p14:sldId id="271"/>
            <p14:sldId id="272"/>
            <p14:sldId id="273"/>
            <p14:sldId id="274"/>
          </p14:sldIdLst>
        </p14:section>
        <p14:section name="Backup" id="{a27caadb-92c3-f8ea-bdb6-86740c41ad0e}">
          <p14:sldIdLst/>
        </p14:section>
        <p14:section name="Backup" id="{e58cbd7a-b166-7e34-bcd4-fa45e6fa5e77}">
          <p14:sldIdLst/>
        </p14:section>
        <p14:section name="Backup" id="{7a23ccb1-8b11-01ab-08c6-2e92b95c975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F3A5F"/>
                </a:solidFill>
                <a:latin typeface="Arial"/>
              </a:defRPr>
            </a:pPr>
            <a:r>
              <a:rPr sz="1400" b="1" i="0" u="none" strike="noStrike">
                <a:solidFill>
                  <a:srgbClr val="1F3A5F"/>
                </a:solidFill>
                <a:latin typeface="Arial"/>
              </a:rPr>
              <a:t>Studies published per year, by length of unloading (years without studies omitted)</a:t>
            </a:r>
          </a:p>
        </c:rich>
      </c:tx>
      <c:layout/>
      <c:overlay val="0"/>
    </c:title>
    <c:autoTitleDeleted val="0"/>
    <c:plotArea>
      <c:layout>
        <c:manualLayout>
          <c:layoutTarget val="inner"/>
          <c:xMode val="edge"/>
          <c:yMode val="edge"/>
          <c:x val="0.05"/>
          <c:y val="0.15"/>
          <c:w val="0.78"/>
          <c:h val="0.72"/>
        </c:manualLayout>
      </c:layout>
      <c:barChart>
        <c:barDir val="col"/>
        <c:grouping val="stacked"/>
        <c:varyColors val="0"/>
        <c:ser>
          <c:idx val="0"/>
          <c:order val="0"/>
          <c:tx>
            <c:strRef>
              <c:f>Sheet1!$B$1</c:f>
              <c:strCache>
                <c:ptCount val="1"/>
                <c:pt idx="0">
                  <c:v>5 to 14 days</c:v>
                </c:pt>
              </c:strCache>
            </c:strRef>
          </c:tx>
          <c:spPr>
            <a:solidFill>
              <a:srgbClr val="C9D2D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Sheet1!$B$2:$B$21</c:f>
              <c:numCache>
                <c:formatCode>General</c:formatCode>
                <c:ptCount val="20"/>
                <c:pt idx="0">
                  <c:v>0</c:v>
                </c:pt>
                <c:pt idx="1">
                  <c:v>0</c:v>
                </c:pt>
                <c:pt idx="2">
                  <c:v>0</c:v>
                </c:pt>
                <c:pt idx="3">
                  <c:v>0</c:v>
                </c:pt>
                <c:pt idx="4">
                  <c:v>1</c:v>
                </c:pt>
                <c:pt idx="5">
                  <c:v>0</c:v>
                </c:pt>
                <c:pt idx="6">
                  <c:v>1</c:v>
                </c:pt>
                <c:pt idx="7">
                  <c:v>0</c:v>
                </c:pt>
                <c:pt idx="8">
                  <c:v>2</c:v>
                </c:pt>
                <c:pt idx="9">
                  <c:v>2</c:v>
                </c:pt>
                <c:pt idx="10">
                  <c:v>0</c:v>
                </c:pt>
                <c:pt idx="11">
                  <c:v>1</c:v>
                </c:pt>
                <c:pt idx="12">
                  <c:v>2</c:v>
                </c:pt>
                <c:pt idx="13">
                  <c:v>0</c:v>
                </c:pt>
                <c:pt idx="14">
                  <c:v>2</c:v>
                </c:pt>
                <c:pt idx="15">
                  <c:v>2</c:v>
                </c:pt>
                <c:pt idx="16">
                  <c:v>1</c:v>
                </c:pt>
                <c:pt idx="17">
                  <c:v>2</c:v>
                </c:pt>
                <c:pt idx="18">
                  <c:v>3</c:v>
                </c:pt>
                <c:pt idx="19">
                  <c:v>3</c:v>
                </c:pt>
              </c:numCache>
            </c:numRef>
          </c:val>
        </c:ser>
        <c:ser>
          <c:idx val="1"/>
          <c:order val="1"/>
          <c:tx>
            <c:strRef>
              <c:f>Sheet1!$C$1</c:f>
              <c:strCache>
                <c:ptCount val="1"/>
                <c:pt idx="0">
                  <c:v>15 to 30 days</c:v>
                </c:pt>
              </c:strCache>
            </c:strRef>
          </c:tx>
          <c:spPr>
            <a:solidFill>
              <a:srgbClr val="8FA3B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Sheet1!$C$2:$C$21</c:f>
              <c:numCache>
                <c:formatCode>General</c:formatCode>
                <c:ptCount val="20"/>
                <c:pt idx="0">
                  <c:v>0</c:v>
                </c:pt>
                <c:pt idx="1">
                  <c:v>1</c:v>
                </c:pt>
                <c:pt idx="2">
                  <c:v>0</c:v>
                </c:pt>
                <c:pt idx="3">
                  <c:v>0</c:v>
                </c:pt>
                <c:pt idx="4">
                  <c:v>0</c:v>
                </c:pt>
                <c:pt idx="5">
                  <c:v>0</c:v>
                </c:pt>
                <c:pt idx="6">
                  <c:v>0</c:v>
                </c:pt>
                <c:pt idx="7">
                  <c:v>1</c:v>
                </c:pt>
                <c:pt idx="8">
                  <c:v>0</c:v>
                </c:pt>
                <c:pt idx="9">
                  <c:v>0</c:v>
                </c:pt>
                <c:pt idx="10">
                  <c:v>0</c:v>
                </c:pt>
                <c:pt idx="11">
                  <c:v>1</c:v>
                </c:pt>
                <c:pt idx="12">
                  <c:v>0</c:v>
                </c:pt>
                <c:pt idx="13">
                  <c:v>1</c:v>
                </c:pt>
                <c:pt idx="14">
                  <c:v>0</c:v>
                </c:pt>
                <c:pt idx="15">
                  <c:v>0</c:v>
                </c:pt>
                <c:pt idx="16">
                  <c:v>0</c:v>
                </c:pt>
                <c:pt idx="17">
                  <c:v>0</c:v>
                </c:pt>
                <c:pt idx="18">
                  <c:v>0</c:v>
                </c:pt>
                <c:pt idx="19">
                  <c:v>1</c:v>
                </c:pt>
              </c:numCache>
            </c:numRef>
          </c:val>
        </c:ser>
        <c:ser>
          <c:idx val="2"/>
          <c:order val="2"/>
          <c:tx>
            <c:strRef>
              <c:f>Sheet1!$D$1</c:f>
              <c:strCache>
                <c:ptCount val="1"/>
                <c:pt idx="0">
                  <c:v>31 to 60 days</c:v>
                </c:pt>
              </c:strCache>
            </c:strRef>
          </c:tx>
          <c:spPr>
            <a:solidFill>
              <a:srgbClr val="567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Sheet1!$D$2:$D$21</c:f>
              <c:numCache>
                <c:formatCode>General</c:formatCode>
                <c:ptCount val="20"/>
                <c:pt idx="0">
                  <c:v>0</c:v>
                </c:pt>
                <c:pt idx="1">
                  <c:v>0</c:v>
                </c:pt>
                <c:pt idx="2">
                  <c:v>0</c:v>
                </c:pt>
                <c:pt idx="3">
                  <c:v>2</c:v>
                </c:pt>
                <c:pt idx="4">
                  <c:v>1</c:v>
                </c:pt>
                <c:pt idx="5">
                  <c:v>1</c:v>
                </c:pt>
                <c:pt idx="6">
                  <c:v>0</c:v>
                </c:pt>
                <c:pt idx="7">
                  <c:v>1</c:v>
                </c:pt>
                <c:pt idx="8">
                  <c:v>1</c:v>
                </c:pt>
                <c:pt idx="9">
                  <c:v>1</c:v>
                </c:pt>
                <c:pt idx="10">
                  <c:v>1</c:v>
                </c:pt>
                <c:pt idx="11">
                  <c:v>0</c:v>
                </c:pt>
                <c:pt idx="12">
                  <c:v>0</c:v>
                </c:pt>
                <c:pt idx="13">
                  <c:v>0</c:v>
                </c:pt>
                <c:pt idx="14">
                  <c:v>2</c:v>
                </c:pt>
                <c:pt idx="15">
                  <c:v>1</c:v>
                </c:pt>
                <c:pt idx="16">
                  <c:v>0</c:v>
                </c:pt>
                <c:pt idx="17">
                  <c:v>1</c:v>
                </c:pt>
                <c:pt idx="18">
                  <c:v>1</c:v>
                </c:pt>
                <c:pt idx="19">
                  <c:v>1</c:v>
                </c:pt>
              </c:numCache>
            </c:numRef>
          </c:val>
        </c:ser>
        <c:ser>
          <c:idx val="3"/>
          <c:order val="3"/>
          <c:tx>
            <c:strRef>
              <c:f>Sheet1!$E$1</c:f>
              <c:strCache>
                <c:ptCount val="1"/>
                <c:pt idx="0">
                  <c:v>61 to 119 days</c:v>
                </c:pt>
              </c:strCache>
            </c:strRef>
          </c:tx>
          <c:spPr>
            <a:solidFill>
              <a:srgbClr val="1F3A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Sheet1!$E$2:$E$21</c:f>
              <c:numCache>
                <c:formatCode>General</c:formatCode>
                <c:ptCount val="20"/>
                <c:pt idx="0">
                  <c:v>1</c:v>
                </c:pt>
                <c:pt idx="1">
                  <c:v>0</c:v>
                </c:pt>
                <c:pt idx="2">
                  <c:v>1</c:v>
                </c:pt>
                <c:pt idx="3">
                  <c:v>0</c:v>
                </c:pt>
                <c:pt idx="4">
                  <c:v>0</c:v>
                </c:pt>
                <c:pt idx="5">
                  <c:v>0</c:v>
                </c:pt>
                <c:pt idx="6">
                  <c:v>1</c:v>
                </c:pt>
                <c:pt idx="7">
                  <c:v>0</c:v>
                </c:pt>
                <c:pt idx="8">
                  <c:v>0</c:v>
                </c:pt>
                <c:pt idx="9">
                  <c:v>1</c:v>
                </c:pt>
                <c:pt idx="10">
                  <c:v>1</c:v>
                </c:pt>
                <c:pt idx="11">
                  <c:v>0</c:v>
                </c:pt>
                <c:pt idx="12">
                  <c:v>0</c:v>
                </c:pt>
                <c:pt idx="13">
                  <c:v>0</c:v>
                </c:pt>
                <c:pt idx="14">
                  <c:v>0</c:v>
                </c:pt>
                <c:pt idx="15">
                  <c:v>0</c:v>
                </c:pt>
                <c:pt idx="16">
                  <c:v>1</c:v>
                </c:pt>
                <c:pt idx="17">
                  <c:v>1</c:v>
                </c:pt>
                <c:pt idx="18">
                  <c:v>0</c:v>
                </c:pt>
                <c:pt idx="19">
                  <c:v>1</c:v>
                </c:pt>
              </c:numCache>
            </c:numRef>
          </c:val>
        </c:ser>
        <c:ser>
          <c:idx val="4"/>
          <c:order val="4"/>
          <c:tx>
            <c:strRef>
              <c:f>Sheet1!$F$1</c:f>
              <c:strCache>
                <c:ptCount val="1"/>
                <c:pt idx="0">
                  <c:v>180 days (spaceflight)</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Sheet1!$F$2:$F$21</c:f>
              <c:numCache>
                <c:formatCode>General</c:formatCode>
                <c:ptCount val="20"/>
                <c:pt idx="0">
                  <c:v>0</c:v>
                </c:pt>
                <c:pt idx="1">
                  <c:v>0</c:v>
                </c:pt>
                <c:pt idx="2">
                  <c:v>0</c:v>
                </c:pt>
                <c:pt idx="3">
                  <c:v>0</c:v>
                </c:pt>
                <c:pt idx="4">
                  <c:v>0</c:v>
                </c:pt>
                <c:pt idx="5">
                  <c:v>0</c:v>
                </c:pt>
                <c:pt idx="6">
                  <c:v>0</c:v>
                </c:pt>
                <c:pt idx="7">
                  <c:v>0</c:v>
                </c:pt>
                <c:pt idx="8">
                  <c:v>0</c:v>
                </c:pt>
                <c:pt idx="9">
                  <c:v>1</c:v>
                </c:pt>
                <c:pt idx="10">
                  <c:v>0</c:v>
                </c:pt>
                <c:pt idx="11">
                  <c:v>0</c:v>
                </c:pt>
                <c:pt idx="12">
                  <c:v>0</c:v>
                </c:pt>
                <c:pt idx="13">
                  <c:v>0</c:v>
                </c:pt>
                <c:pt idx="14">
                  <c:v>1</c:v>
                </c:pt>
                <c:pt idx="15">
                  <c:v>0</c:v>
                </c:pt>
                <c:pt idx="16">
                  <c:v>0</c:v>
                </c:pt>
                <c:pt idx="17">
                  <c:v>0</c:v>
                </c:pt>
                <c:pt idx="18">
                  <c:v>0</c:v>
                </c:pt>
                <c:pt idx="19">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AA3AE"/>
            </a:solidFill>
            <a:prstDash val="solid"/>
            <a:round/>
          </a:ln>
        </c:spPr>
        <c:txPr>
          <a:bodyPr/>
          <a:lstStyle/>
          <a:p>
            <a:pPr>
              <a:defRPr sz="1000" b="0" i="0" u="none" strike="noStrike">
                <a:solidFill>
                  <a:srgbClr val="6B7280"/>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5E7EB"/>
              </a:solidFill>
              <a:prstDash val="solid"/>
              <a:round/>
            </a:ln>
          </c:spPr>
        </c:majorGridlines>
        <c:title>
          <c:tx>
            <c:rich>
              <a:bodyPr/>
              <a:lstStyle/>
              <a:p>
                <a:pPr>
                  <a:defRPr sz="1100" b="0" i="0" u="none" strike="noStrike">
                    <a:solidFill>
                      <a:srgbClr val="6B7280"/>
                    </a:solidFill>
                    <a:latin typeface="Arial"/>
                  </a:defRPr>
                </a:pPr>
                <a:r>
                  <a:rPr sz="1100" b="0" i="0" u="none" strike="noStrike">
                    <a:solidFill>
                      <a:srgbClr val="6B7280"/>
                    </a:solidFill>
                    <a:latin typeface="Arial"/>
                  </a:rPr>
                  <a:t>Studies</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majorUnit val="1"/>
      </c:valAx>
      <c:spPr>
        <a:noFill/>
        <a:ln>
          <a:noFill/>
        </a:ln>
        <a:effectLst/>
      </c:spPr>
    </c:plotArea>
    <c:legend>
      <c:legendPos val="r"/>
      <c:overlay val="0"/>
      <c:txPr>
        <a:bodyPr/>
        <a:lstStyle/>
        <a:p>
          <a:pPr>
            <a:defRPr sz="1100">
              <a:solidFill>
                <a:srgbClr val="1A1A1A"/>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F3A5F"/>
                </a:solidFill>
                <a:latin typeface="Arial"/>
              </a:defRPr>
            </a:pPr>
            <a:r>
              <a:rPr sz="1300" b="1" i="0" u="none" strike="noStrike">
                <a:solidFill>
                  <a:srgbClr val="1F3A5F"/>
                </a:solidFill>
                <a:latin typeface="Arial"/>
              </a:rPr>
              <a:t>742 rows across 51 muscles, by muscle group</a:t>
            </a:r>
          </a:p>
        </c:rich>
      </c:tx>
      <c:layout/>
      <c:overlay val="0"/>
    </c:title>
    <c:autoTitleDeleted val="0"/>
    <c:plotArea>
      <c:layout/>
      <c:barChart>
        <c:barDir val="bar"/>
        <c:grouping val="clustered"/>
        <c:varyColors val="0"/>
        <c:ser>
          <c:idx val="0"/>
          <c:order val="0"/>
          <c:tx>
            <c:strRef>
              <c:f>Sheet1!$B$1</c:f>
              <c:strCache>
                <c:ptCount val="1"/>
                <c:pt idx="0">
                  <c:v>Rows</c:v>
                </c:pt>
              </c:strCache>
            </c:strRef>
          </c:tx>
          <c:spPr>
            <a:solidFill>
              <a:srgbClr val="1F3A5F"/>
            </a:solidFill>
            <a:effectLst/>
          </c:spPr>
          <c:invertIfNegative val="0"/>
          <c:dLbls>
            <c:numFmt formatCode="#,##0" sourceLinked="0"/>
            <c:txPr>
              <a:bodyPr/>
              <a:lstStyle/>
              <a:p>
                <a:pPr>
                  <a:defRPr b="0" i="0" strike="noStrike" sz="1000" u="none">
                    <a:solidFill>
                      <a:srgbClr val="1A1A1A"/>
                    </a:solidFill>
                    <a:latin typeface="Arial"/>
                  </a:defRPr>
                </a:pPr>
              </a:p>
            </c:txPr>
            <c:showLegendKey val="0"/>
            <c:showVal val="1"/>
            <c:showCatName val="0"/>
            <c:showSerName val="0"/>
            <c:showPercent val="0"/>
            <c:showBubbleSize val="0"/>
            <c:showLeaderLines val="0"/>
          </c:dLbls>
          <c:cat>
            <c:multiLvlStrRef>
              <c:f>Sheet1!$A$2:$A$13</c:f>
              <c:multiLvlStrCache>
                <c:ptCount val="12"/>
                <c:lvl>
                  <c:pt idx="0">
                    <c:v>Hip abductors</c:v>
                  </c:pt>
                  <c:pt idx="1">
                    <c:v>Glutes (hip extensors)</c:v>
                  </c:pt>
                  <c:pt idx="2">
                    <c:v>Evertors (outer shin)</c:v>
                  </c:pt>
                  <c:pt idx="3">
                    <c:v>Shin (dorsiflexors)</c:v>
                  </c:pt>
                  <c:pt idx="4">
                    <c:v>Hip rotators</c:v>
                  </c:pt>
                  <c:pt idx="5">
                    <c:v>Hip flexors</c:v>
                  </c:pt>
                  <c:pt idx="6">
                    <c:v>Whole leg</c:v>
                  </c:pt>
                  <c:pt idx="7">
                    <c:v>Inner thigh (hip adductors)</c:v>
                  </c:pt>
                  <c:pt idx="8">
                    <c:v>Lower back (trunk extensors)</c:v>
                  </c:pt>
                  <c:pt idx="9">
                    <c:v>Hamstrings (knee flexors)</c:v>
                  </c:pt>
                  <c:pt idx="10">
                    <c:v>Calf (plantar flexors)</c:v>
                  </c:pt>
                  <c:pt idx="11">
                    <c:v>Front thigh (knee extensors)</c:v>
                  </c:pt>
                </c:lvl>
              </c:multiLvlStrCache>
            </c:multiLvlStrRef>
          </c:cat>
          <c:val>
            <c:numRef>
              <c:f>Sheet1!$B$2:$B$13</c:f>
              <c:numCache>
                <c:formatCode>General</c:formatCode>
                <c:ptCount val="12"/>
                <c:pt idx="0">
                  <c:v>6</c:v>
                </c:pt>
                <c:pt idx="1">
                  <c:v>17</c:v>
                </c:pt>
                <c:pt idx="2">
                  <c:v>19</c:v>
                </c:pt>
                <c:pt idx="3">
                  <c:v>25</c:v>
                </c:pt>
                <c:pt idx="4">
                  <c:v>36</c:v>
                </c:pt>
                <c:pt idx="5">
                  <c:v>53</c:v>
                </c:pt>
                <c:pt idx="6">
                  <c:v>62</c:v>
                </c:pt>
                <c:pt idx="7">
                  <c:v>71</c:v>
                </c:pt>
                <c:pt idx="8">
                  <c:v>73</c:v>
                </c:pt>
                <c:pt idx="9">
                  <c:v>105</c:v>
                </c:pt>
                <c:pt idx="10">
                  <c:v>135</c:v>
                </c:pt>
                <c:pt idx="11">
                  <c:v>140</c:v>
                </c:pt>
              </c:numCache>
            </c:numRef>
          </c:val>
        </c:ser>
        <c:dLbls>
          <c:numFmt formatCode="#,##0" sourceLinked="0"/>
          <c:txPr>
            <a:bodyPr/>
            <a:lstStyle/>
            <a:p>
              <a:pPr>
                <a:defRPr b="0" i="0" strike="noStrike" sz="1000" u="none">
                  <a:solidFill>
                    <a:srgbClr val="1A1A1A"/>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05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F3A5F"/>
                </a:solidFill>
                <a:latin typeface="Arial"/>
              </a:defRPr>
            </a:pPr>
            <a:r>
              <a:rPr sz="1300" b="1" i="0" u="none" strike="noStrike">
                <a:solidFill>
                  <a:srgbClr val="1F3A5F"/>
                </a:solidFill>
                <a:latin typeface="Arial"/>
              </a:rPr>
              <a:t>Rows by imaging method and size measure</a:t>
            </a:r>
          </a:p>
        </c:rich>
      </c:tx>
      <c:layout/>
      <c:overlay val="0"/>
    </c:title>
    <c:autoTitleDeleted val="0"/>
    <c:plotArea>
      <c:layout/>
      <c:barChart>
        <c:barDir val="bar"/>
        <c:grouping val="stacked"/>
        <c:varyColors val="0"/>
        <c:ser>
          <c:idx val="0"/>
          <c:order val="0"/>
          <c:tx>
            <c:strRef>
              <c:f>Sheet1!$B$1</c:f>
              <c:strCache>
                <c:ptCount val="1"/>
                <c:pt idx="0">
                  <c:v>Volume</c:v>
                </c:pt>
              </c:strCache>
            </c:strRef>
          </c:tx>
          <c:spPr>
            <a:solidFill>
              <a:srgbClr val="1F3A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Ultrasound (20)</c:v>
                  </c:pt>
                  <c:pt idx="1">
                    <c:v>CT (30)</c:v>
                  </c:pt>
                  <c:pt idx="2">
                    <c:v>DXA (37)</c:v>
                  </c:pt>
                  <c:pt idx="3">
                    <c:v>MRI (655)</c:v>
                  </c:pt>
                </c:lvl>
              </c:multiLvlStrCache>
            </c:multiLvlStrRef>
          </c:cat>
          <c:val>
            <c:numRef>
              <c:f>Sheet1!$B$2:$B$5</c:f>
              <c:numCache>
                <c:formatCode>General</c:formatCode>
                <c:ptCount val="4"/>
                <c:pt idx="0">
                  <c:v>0</c:v>
                </c:pt>
                <c:pt idx="1">
                  <c:v>0</c:v>
                </c:pt>
                <c:pt idx="2">
                  <c:v>0</c:v>
                </c:pt>
                <c:pt idx="3">
                  <c:v>594</c:v>
                </c:pt>
              </c:numCache>
            </c:numRef>
          </c:val>
        </c:ser>
        <c:ser>
          <c:idx val="1"/>
          <c:order val="1"/>
          <c:tx>
            <c:strRef>
              <c:f>Sheet1!$C$1</c:f>
              <c:strCache>
                <c:ptCount val="1"/>
                <c:pt idx="0">
                  <c:v>Cross-sectional area</c:v>
                </c:pt>
              </c:strCache>
            </c:strRef>
          </c:tx>
          <c:spPr>
            <a:solidFill>
              <a:srgbClr val="567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Ultrasound (20)</c:v>
                  </c:pt>
                  <c:pt idx="1">
                    <c:v>CT (30)</c:v>
                  </c:pt>
                  <c:pt idx="2">
                    <c:v>DXA (37)</c:v>
                  </c:pt>
                  <c:pt idx="3">
                    <c:v>MRI (655)</c:v>
                  </c:pt>
                </c:lvl>
              </c:multiLvlStrCache>
            </c:multiLvlStrRef>
          </c:cat>
          <c:val>
            <c:numRef>
              <c:f>Sheet1!$C$2:$C$5</c:f>
              <c:numCache>
                <c:formatCode>General</c:formatCode>
                <c:ptCount val="4"/>
                <c:pt idx="0">
                  <c:v>9</c:v>
                </c:pt>
                <c:pt idx="1">
                  <c:v>30</c:v>
                </c:pt>
                <c:pt idx="2">
                  <c:v>0</c:v>
                </c:pt>
                <c:pt idx="3">
                  <c:v>61</c:v>
                </c:pt>
              </c:numCache>
            </c:numRef>
          </c:val>
        </c:ser>
        <c:ser>
          <c:idx val="2"/>
          <c:order val="2"/>
          <c:tx>
            <c:strRef>
              <c:f>Sheet1!$D$1</c:f>
              <c:strCache>
                <c:ptCount val="1"/>
                <c:pt idx="0">
                  <c:v>Lean mass</c:v>
                </c:pt>
              </c:strCache>
            </c:strRef>
          </c:tx>
          <c:spPr>
            <a:solidFill>
              <a:srgbClr val="A7AE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Ultrasound (20)</c:v>
                  </c:pt>
                  <c:pt idx="1">
                    <c:v>CT (30)</c:v>
                  </c:pt>
                  <c:pt idx="2">
                    <c:v>DXA (37)</c:v>
                  </c:pt>
                  <c:pt idx="3">
                    <c:v>MRI (655)</c:v>
                  </c:pt>
                </c:lvl>
              </c:multiLvlStrCache>
            </c:multiLvlStrRef>
          </c:cat>
          <c:val>
            <c:numRef>
              <c:f>Sheet1!$D$2:$D$5</c:f>
              <c:numCache>
                <c:formatCode>General</c:formatCode>
                <c:ptCount val="4"/>
                <c:pt idx="0">
                  <c:v>0</c:v>
                </c:pt>
                <c:pt idx="1">
                  <c:v>0</c:v>
                </c:pt>
                <c:pt idx="2">
                  <c:v>37</c:v>
                </c:pt>
                <c:pt idx="3">
                  <c:v>0</c:v>
                </c:pt>
              </c:numCache>
            </c:numRef>
          </c:val>
        </c:ser>
        <c:ser>
          <c:idx val="3"/>
          <c:order val="3"/>
          <c:tx>
            <c:strRef>
              <c:f>Sheet1!$E$1</c:f>
              <c:strCache>
                <c:ptCount val="1"/>
                <c:pt idx="0">
                  <c:v>Thickness</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Ultrasound (20)</c:v>
                  </c:pt>
                  <c:pt idx="1">
                    <c:v>CT (30)</c:v>
                  </c:pt>
                  <c:pt idx="2">
                    <c:v>DXA (37)</c:v>
                  </c:pt>
                  <c:pt idx="3">
                    <c:v>MRI (655)</c:v>
                  </c:pt>
                </c:lvl>
              </c:multiLvlStrCache>
            </c:multiLvlStrRef>
          </c:cat>
          <c:val>
            <c:numRef>
              <c:f>Sheet1!$E$2:$E$5</c:f>
              <c:numCache>
                <c:formatCode>General</c:formatCode>
                <c:ptCount val="4"/>
                <c:pt idx="0">
                  <c:v>11</c:v>
                </c:pt>
                <c:pt idx="1">
                  <c:v>0</c:v>
                </c:pt>
                <c:pt idx="2">
                  <c:v>0</c:v>
                </c:pt>
                <c:pt idx="3">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ax val="700"/>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majorUnit val="100"/>
      </c:valAx>
      <c:spPr>
        <a:noFill/>
        <a:ln>
          <a:noFill/>
        </a:ln>
        <a:effectLst/>
      </c:spPr>
    </c:plotArea>
    <c:legend>
      <c:legendPos val="b"/>
      <c:overlay val="0"/>
      <c:txPr>
        <a:bodyPr/>
        <a:lstStyle/>
        <a:p>
          <a:pPr>
            <a:defRPr sz="1050">
              <a:solidFill>
                <a:srgbClr val="1A1A1A"/>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3.34</c:v>
                </c:pt>
                <c:pt idx="1">
                  <c:v>3.28</c:v>
                </c:pt>
                <c:pt idx="2">
                  <c:v>3.28</c:v>
                </c:pt>
                <c:pt idx="3">
                  <c:v>3.22</c:v>
                </c:pt>
                <c:pt idx="4">
                  <c:v>3.18</c:v>
                </c:pt>
                <c:pt idx="5">
                  <c:v>3.16</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0.3</c:v>
                </c:pt>
                <c:pt idx="1">
                  <c:v>0.27</c:v>
                </c:pt>
                <c:pt idx="2">
                  <c:v>0.36</c:v>
                </c:pt>
                <c:pt idx="3">
                  <c:v>0.39</c:v>
                </c:pt>
                <c:pt idx="4">
                  <c:v>0.34</c:v>
                </c:pt>
                <c:pt idx="5">
                  <c:v>0.14</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Answer: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A7AE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280"/>
                    </a:solidFill>
                    <a:latin typeface="Arial"/>
                  </a:defRPr>
                </a:pPr>
                <a:r>
                  <a:rPr sz="1000" b="0" i="0" u="none" strike="noStrike">
                    <a:solidFill>
                      <a:srgbClr val="6B7280"/>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(co-author): why this matters, why bed rest, the dataset, and which muscles lose most. Part 2: how we tested models, the LLM forecast,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was whether the amount of atrophy can be predicted. To answer it, we built a dataset from the published literature and a machine-learning framework on top of it.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drawn to scale: after 60 days of bed rest, control groups lose about 16 percent of calf muscle in our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red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We searched four databases, PubMed, Scopus, Web of Science and NASA's technical reports, and added older work we had collected before the search, nine studies from before 2013 and one campaign from NASA's open bed-rest data. In total, 5,741 records. After removing duplicates, we screened 3,600 titles and abstracts. Most were excluded because they did not use an unloading model or did not measure muscle.
We read 84 full texts. The main loss at this step: 19 studies show their muscle results only as charts, without a baseline value, so we could not extract them. 52 studies were included.
Several papers often report the same bed-rest campaign, so we merged papers on the same cohort. The final dataset has 36 independent campaigns and 742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The final dataset has 742 rows. Each row is one muscle outcome: one muscle, in one group, at one scan day. One campaign can therefore give many rows, for several muscles, time points or groups.
The top strip is a real row. For each outcome we extracted the length of unloading, the day of the scan, the muscle, the participants (group size, share of women, age), whether the group had a countermeasure, the imaging method, and how muscle size was measured. Our prediction target is the percentage change in muscle size from baseline, here minus 9.4 percent.
Bottom left: the rows cover 51 muscles or muscle groups; the front thigh and the calf are measured most often. Bottom right: most rows are MRI volumes. CT gives cross-sectional area, DXA gives lean mass of the leg, and ultrasound gives thickness 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studies, because several papers report the same volunteers. So we test by holding out one whole study, training on the other 31 and predicting the held-out one, 32 times. The code checks that no study appears on both sides of a split.
The score is the mean absolute error in percentage points, averaged so that each study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We compared four standard models, ridge regression, random forest, support vector regression and gradient boosting, tuned inside each training fold. We later added TabPFN, a neural network pretrained for small tables.
On the left is the error on the held-out study. The duration curve scores 3.16 percentage points and the best model, the random forest, 3.18. None of them is lower than the curve.
On the right, the ML models explain two to three times more variance. R squared is computed over all rows together, so it rewards getting the differences between muscles right, and the models do learn that the calf loses more than the hip. The error is averaged per study, and most of what remains is a shift that applies to a whole study, from its scanner, its volunteers or its protocol. None of our columns describes that, so 32 studies give the models nothing to learn it from. We had committed in advance to report this result whichever way it came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You give it a described situation and a fixed list of options, and it returns a probability for each option.
On the left is a real request from our cache. It describes the volunteers, the protocol, the muscle and how it was scanned, and the day. It also contains the duration curve fitted on the other 31 studies and as many rows from those studies as fit, most similar first. The question asks which of 19 ranges the change will fall in.
On the right is what came back for this row: a probability for each range. We never ask the model for a number. Our code turns the probabilities into a forecast, here minus 6.6 percent against an observed minus 9.4. We chose this row because its error is the model's median error.
The request never contains the held-out study's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forty-five seconds.
These are the same two charts with the language model added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studies.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study and recall its result. With every identifying detail removed, the gain is 0.30 points and its interval stays above zero. When we asked the model to choose the study's name from a list of options, it was right 19 percent of the time, where guessing gives 8 percent. If asked: of the three studies behind most of the gain, it named only one.
When we shuffle the other studies' values, the gain turns into a loss of 1.25 points, and with no reference data the error rises to 5.85. The gain comes from reading those data.
Reordering the rows or shifting the range edges changes the error by 1 to 3 percent. Repeating 20 requests moves the forecasts by 0.17 points on average, well under the 0.42 gain.
Three limitations: we added this model after the ML result; its 80 percent ranges contain the truth only 62 percent of the time, so we quote only point forecasts; and when given a study's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studies, standard ML models and TabPFN do not beat a curve that only knows the number of days. A language model that reads each study's description and the other studies' data reduces the error from 3.13 to 2.71 points. The limitations and next steps are on the slide; the main one is that 32 studies is a small sample.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studies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3" name="Image 0" descr="DGLRM logo">    </p:cNvPr>
          <p:cNvPicPr>
            <a:picLocks noChangeAspect="1"/>
          </p:cNvPicPr>
          <p:nvPr/>
        </p:nvPicPr>
        <p:blipFill>
          <a:blip r:embed="rId1"/>
          <a:stretch>
            <a:fillRect/>
          </a:stretch>
        </p:blipFill>
        <p:spPr>
          <a:xfrm>
            <a:off x="548640" y="6336792"/>
            <a:ext cx="1143000" cy="307258"/>
          </a:xfrm>
          <a:prstGeom prst="rect">
            <a:avLst/>
          </a:prstGeom>
        </p:spPr>
      </p:pic>
      <p:sp>
        <p:nvSpPr>
          <p:cNvPr id="4"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10515600" cy="2651760"/>
          </a:xfrm>
          <a:prstGeom prst="rect">
            <a:avLst/>
          </a:prstGeom>
          <a:noFill/>
          <a:ln/>
        </p:spPr>
        <p:txBody>
          <a:bodyPr wrap="square" lIns="0" tIns="0" rIns="0" bIns="0" rtlCol="0" anchor="b"/>
          <a:lstStyle/>
          <a:p>
            <a:pPr indent="0" marL="0">
              <a:spcAft>
                <a:spcPts val="800"/>
              </a:spcAft>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800" b="1" dirty="0">
                <a:solidFill>
                  <a:schemeClr val="tx2"/>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10515600" cy="365760"/>
          </a:xfrm>
          <a:prstGeom prst="rect">
            <a:avLst/>
          </a:prstGeom>
          <a:noFill/>
          <a:ln/>
        </p:spPr>
        <p:txBody>
          <a:bodyPr wrap="square" lIns="0" tIns="0" rIns="0" bIns="0" rtlCol="0" anchor="t"/>
          <a:lstStyle/>
          <a:p>
            <a:pPr indent="0" marL="0">
              <a:buNone/>
            </a:pPr>
            <a:r>
              <a:rPr lang="en-US" sz="1800" dirty="0">
                <a:solidFill>
                  <a:schemeClr val="tx1"/>
                </a:solidFill>
              </a:rPr>
              <a:t>Niloufar Ahmadymarzdashty</a:t>
            </a:r>
            <a:pPr indent="0" marL="0">
              <a:buNone/>
            </a:pPr>
            <a:r>
              <a:rPr lang="en-US" sz="1800" baseline="30000" dirty="0">
                <a:solidFill>
                  <a:schemeClr val="tx1"/>
                </a:solidFill>
              </a:rPr>
              <a:t>1</a:t>
            </a:r>
            <a:pPr indent="0" marL="0">
              <a:buNone/>
            </a:pPr>
            <a:r>
              <a:rPr lang="en-US" sz="1800" dirty="0">
                <a:solidFill>
                  <a:schemeClr val="tx1"/>
                </a:solidFill>
              </a:rPr>
              <a:t>,  Milad Bahari Qaragoz</a:t>
            </a:r>
            <a:pPr indent="0" marL="0">
              <a:buNone/>
            </a:pPr>
            <a:r>
              <a:rPr lang="en-US" sz="1800" baseline="30000" dirty="0">
                <a:solidFill>
                  <a:schemeClr val="tx1"/>
                </a:solidFill>
              </a:rPr>
              <a:t>2</a:t>
            </a:r>
            <a:endParaRPr lang="en-US" sz="1800" dirty="0"/>
          </a:p>
        </p:txBody>
      </p:sp>
      <p:sp>
        <p:nvSpPr>
          <p:cNvPr id="5" name="Text 2"/>
          <p:cNvSpPr txBox="1"/>
          <p:nvPr/>
        </p:nvSpPr>
        <p:spPr>
          <a:xfrm>
            <a:off x="822960" y="4709160"/>
            <a:ext cx="10515600" cy="548640"/>
          </a:xfrm>
          <a:prstGeom prst="rect">
            <a:avLst/>
          </a:prstGeom>
          <a:noFill/>
          <a:ln/>
        </p:spPr>
        <p:txBody>
          <a:bodyPr wrap="square" lIns="0" tIns="0" rIns="0" bIns="0" rtlCol="0" anchor="t"/>
          <a:lstStyle/>
          <a:p>
            <a:pPr indent="0" marL="0">
              <a:buNone/>
            </a:pPr>
            <a:r>
              <a:rPr lang="en-US" sz="1400" baseline="30000" dirty="0">
                <a:solidFill>
                  <a:schemeClr val="accent3"/>
                </a:solidFill>
              </a:rPr>
              <a:t>1</a:t>
            </a:r>
            <a:pPr indent="0" marL="0">
              <a:buNone/>
            </a:pPr>
            <a:r>
              <a:rPr lang="en-US" sz="1400" dirty="0">
                <a:solidFill>
                  <a:schemeClr val="accent3"/>
                </a:solidFill>
              </a:rPr>
              <a:t> Independent researcher</a:t>
            </a:r>
            <a:endParaRPr lang="en-US" sz="1400" dirty="0"/>
          </a:p>
          <a:p>
            <a:pPr indent="0" marL="0">
              <a:buNone/>
            </a:pPr>
            <a:r>
              <a:rPr lang="en-US" sz="1400" baseline="30000" dirty="0">
                <a:solidFill>
                  <a:schemeClr val="accent3"/>
                </a:solidFill>
              </a:rPr>
              <a:t>2</a:t>
            </a:r>
            <a:pPr indent="0" marL="0">
              <a:buNone/>
            </a:pPr>
            <a:r>
              <a:rPr lang="en-US" sz="1400" dirty="0">
                <a:solidFill>
                  <a:schemeClr val="accent3"/>
                </a:solidFill>
              </a:rPr>
              <a:t> Master's candidate, Friedrich-Alexander-Universität Erlangen-Nürnberg (FAU)</a:t>
            </a:r>
            <a:endParaRPr lang="en-US" sz="1400" dirty="0"/>
          </a:p>
        </p:txBody>
      </p:sp>
      <p:sp>
        <p:nvSpPr>
          <p:cNvPr id="6" name="Text 3"/>
          <p:cNvSpPr txBox="1"/>
          <p:nvPr/>
        </p:nvSpPr>
        <p:spPr>
          <a:xfrm>
            <a:off x="822960" y="5394960"/>
            <a:ext cx="10515600" cy="365760"/>
          </a:xfrm>
          <a:prstGeom prst="rect">
            <a:avLst/>
          </a:prstGeom>
          <a:noFill/>
          <a:ln/>
        </p:spPr>
        <p:txBody>
          <a:bodyPr wrap="square" lIns="0" tIns="0" rIns="0" bIns="0" rtlCol="0" anchor="t"/>
          <a:lstStyle/>
          <a:p>
            <a:pPr indent="0" marL="0">
              <a:buNone/>
            </a:pPr>
            <a:r>
              <a:rPr lang="en-US" sz="1600" b="1" dirty="0">
                <a:solidFill>
                  <a:schemeClr val="tx2"/>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9AA3AE"/>
            </a:solidFill>
            <a:prstDash val="solid"/>
          </a:ln>
        </p:spPr>
      </p:sp>
      <p:sp>
        <p:nvSpPr>
          <p:cNvPr id="4" name="Part 1 bracket"/>
          <p:cNvSpPr/>
          <p:nvPr/>
        </p:nvSpPr>
        <p:spPr>
          <a:xfrm>
            <a:off x="1005840" y="2834640"/>
            <a:ext cx="4443984" cy="0"/>
          </a:xfrm>
          <a:prstGeom prst="line">
            <a:avLst/>
          </a:prstGeom>
          <a:noFill/>
          <a:ln w="12700">
            <a:solidFill>
              <a:srgbClr val="1F3A5F"/>
            </a:solidFill>
            <a:prstDash val="solid"/>
          </a:ln>
        </p:spPr>
      </p:sp>
      <p:sp>
        <p:nvSpPr>
          <p:cNvPr id="5" name="Part 1 bracket left"/>
          <p:cNvSpPr/>
          <p:nvPr/>
        </p:nvSpPr>
        <p:spPr>
          <a:xfrm>
            <a:off x="1005840" y="2834640"/>
            <a:ext cx="0" cy="137160"/>
          </a:xfrm>
          <a:prstGeom prst="line">
            <a:avLst/>
          </a:prstGeom>
          <a:noFill/>
          <a:ln w="12700">
            <a:solidFill>
              <a:srgbClr val="1F3A5F"/>
            </a:solidFill>
            <a:prstDash val="solid"/>
          </a:ln>
        </p:spPr>
      </p:sp>
      <p:sp>
        <p:nvSpPr>
          <p:cNvPr id="6" name="Part 1 bracket right"/>
          <p:cNvSpPr/>
          <p:nvPr/>
        </p:nvSpPr>
        <p:spPr>
          <a:xfrm>
            <a:off x="5449824" y="2834640"/>
            <a:ext cx="0" cy="137160"/>
          </a:xfrm>
          <a:prstGeom prst="line">
            <a:avLst/>
          </a:prstGeom>
          <a:noFill/>
          <a:ln w="12700">
            <a:solidFill>
              <a:srgbClr val="1F3A5F"/>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8" name="Part 2 bracket"/>
          <p:cNvSpPr/>
          <p:nvPr/>
        </p:nvSpPr>
        <p:spPr>
          <a:xfrm>
            <a:off x="6711696" y="2834640"/>
            <a:ext cx="4443984" cy="0"/>
          </a:xfrm>
          <a:prstGeom prst="line">
            <a:avLst/>
          </a:prstGeom>
          <a:noFill/>
          <a:ln w="12700">
            <a:solidFill>
              <a:srgbClr val="1F3A5F"/>
            </a:solidFill>
            <a:prstDash val="solid"/>
          </a:ln>
        </p:spPr>
      </p:sp>
      <p:sp>
        <p:nvSpPr>
          <p:cNvPr id="9" name="Part 2 bracket left"/>
          <p:cNvSpPr/>
          <p:nvPr/>
        </p:nvSpPr>
        <p:spPr>
          <a:xfrm>
            <a:off x="6711696" y="2834640"/>
            <a:ext cx="0" cy="137160"/>
          </a:xfrm>
          <a:prstGeom prst="line">
            <a:avLst/>
          </a:prstGeom>
          <a:noFill/>
          <a:ln w="12700">
            <a:solidFill>
              <a:srgbClr val="1F3A5F"/>
            </a:solidFill>
            <a:prstDash val="solid"/>
          </a:ln>
        </p:spPr>
      </p:sp>
      <p:sp>
        <p:nvSpPr>
          <p:cNvPr id="10" name="Part 2 bracket right"/>
          <p:cNvSpPr/>
          <p:nvPr/>
        </p:nvSpPr>
        <p:spPr>
          <a:xfrm>
            <a:off x="11155680" y="2834640"/>
            <a:ext cx="0" cy="137160"/>
          </a:xfrm>
          <a:prstGeom prst="line">
            <a:avLst/>
          </a:prstGeom>
          <a:noFill/>
          <a:ln w="12700">
            <a:solidFill>
              <a:srgbClr val="1F3A5F"/>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forecasting</a:t>
            </a:r>
            <a:endParaRPr lang="en-US" sz="1600" dirty="0"/>
          </a:p>
          <a:p>
            <a:pPr algn="ctr" indent="0" marL="0">
              <a:buNone/>
            </a:pPr>
            <a:r>
              <a:rPr lang="en-US" sz="1400" dirty="0">
                <a:solidFill>
                  <a:schemeClr val="accent3"/>
                </a:solidFill>
              </a:rPr>
              <a:t>Milad Bahari Qaragoz</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5720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Motivation</a:t>
            </a:r>
            <a:endParaRPr lang="en-US" sz="1600" dirty="0"/>
          </a:p>
          <a:p>
            <a:pPr algn="ctr" indent="0" marL="0">
              <a:buNone/>
            </a:pPr>
            <a:r>
              <a:rPr lang="en-US" sz="1400" dirty="0">
                <a:solidFill>
                  <a:schemeClr val="tx1"/>
                </a:solidFill>
              </a:rPr>
              <a:t>Why forecast muscle loss, and why bed rest</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59152"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Data</a:t>
            </a:r>
            <a:endParaRPr lang="en-US" sz="1600" dirty="0"/>
          </a:p>
          <a:p>
            <a:pPr algn="ctr" indent="0" marL="0">
              <a:buNone/>
            </a:pPr>
            <a:r>
              <a:rPr lang="en-US" sz="1400" dirty="0">
                <a:solidFill>
                  <a:schemeClr val="tx1"/>
                </a:solidFill>
              </a:rPr>
              <a:t>Range of unloading, search and dataset</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61104"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Muscles</a:t>
            </a:r>
            <a:endParaRPr lang="en-US" sz="1600" dirty="0"/>
          </a:p>
          <a:p>
            <a:pPr algn="ctr" indent="0" marL="0">
              <a:buNone/>
            </a:pPr>
            <a:r>
              <a:rPr lang="en-US" sz="1400" dirty="0">
                <a:solidFill>
                  <a:schemeClr val="tx1"/>
                </a:solidFill>
              </a:rPr>
              <a:t>Which muscles lose most</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63056"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Models</a:t>
            </a:r>
            <a:endParaRPr lang="en-US" sz="1600" dirty="0"/>
          </a:p>
          <a:p>
            <a:pPr algn="ctr" indent="0" marL="0">
              <a:buNone/>
            </a:pPr>
            <a:r>
              <a:rPr lang="en-US" sz="1400" dirty="0">
                <a:solidFill>
                  <a:schemeClr val="tx1"/>
                </a:solidFill>
              </a:rPr>
              <a:t>Testing setup; ML vs the duration curve</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65008"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LLM forecast</a:t>
            </a:r>
            <a:endParaRPr lang="en-US" sz="1600" dirty="0"/>
          </a:p>
          <a:p>
            <a:pPr algn="ctr" indent="0" marL="0">
              <a:buNone/>
            </a:pPr>
            <a:r>
              <a:rPr lang="en-US" sz="1400" dirty="0">
                <a:solidFill>
                  <a:schemeClr val="tx1"/>
                </a:solidFill>
              </a:rPr>
              <a:t>What it sees, results,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6696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Conclusions</a:t>
            </a:r>
            <a:endParaRPr lang="en-US" sz="1600" dirty="0"/>
          </a:p>
          <a:p>
            <a:pPr algn="ctr" indent="0" marL="0">
              <a:buNone/>
            </a:pPr>
            <a:r>
              <a:rPr lang="en-US" sz="1400" dirty="0">
                <a:solidFill>
                  <a:schemeClr val="tx1"/>
                </a:solidFill>
              </a:rPr>
              <a:t>Findings, limits, next steps</a:t>
            </a:r>
            <a:endParaRPr lang="en-US" sz="1600" dirty="0"/>
          </a:p>
        </p:txBody>
      </p:sp>
      <p:sp>
        <p:nvSpPr>
          <p:cNvPr id="30" name="Text 28"/>
          <p:cNvSpPr txBox="1"/>
          <p:nvPr/>
        </p:nvSpPr>
        <p:spPr>
          <a:xfrm>
            <a:off x="548640" y="557784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can we predict muscle atrophy?</a:t>
            </a:r>
            <a:endParaRPr lang="en-US" sz="2800" dirty="0"/>
          </a:p>
        </p:txBody>
      </p:sp>
      <p:sp>
        <p:nvSpPr>
          <p:cNvPr id="11" name="Text 9"/>
          <p:cNvSpPr txBox="1"/>
          <p:nvPr/>
        </p:nvSpPr>
        <p:spPr>
          <a:xfrm>
            <a:off x="548640" y="1234440"/>
            <a:ext cx="6035040" cy="48920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What are we doing?</a:t>
            </a:r>
            <a:endParaRPr lang="en-US" sz="1800" dirty="0"/>
          </a:p>
          <a:p>
            <a:pPr marL="342900" indent="-342900">
              <a:spcAft>
                <a:spcPts val="400"/>
              </a:spcAft>
              <a:buSzPct val="100000"/>
              <a:buChar char="•"/>
            </a:pPr>
            <a:r>
              <a:rPr lang="en-US" sz="1500" dirty="0">
                <a:solidFill>
                  <a:schemeClr val="tx1"/>
                </a:solidFill>
              </a:rPr>
              <a:t>Lower-limb muscle atrophy is a major challenge in long-duration spaceflight</a:t>
            </a:r>
            <a:endParaRPr lang="en-US" sz="1800" dirty="0"/>
          </a:p>
          <a:p>
            <a:pPr marL="342900" indent="-342900">
              <a:spcAft>
                <a:spcPts val="400"/>
              </a:spcAft>
              <a:buSzPct val="100000"/>
              <a:buChar char="•"/>
            </a:pPr>
            <a:r>
              <a:rPr lang="en-US" sz="1500" dirty="0">
                <a:solidFill>
                  <a:schemeClr val="tx1"/>
                </a:solidFill>
              </a:rPr>
              <a:t>Research question: can the extent of muscle atrophy be predicted?</a:t>
            </a:r>
            <a:endParaRPr lang="en-US" sz="1800" dirty="0"/>
          </a:p>
          <a:p>
            <a:pPr marL="342900" indent="-342900">
              <a:spcAft>
                <a:spcPts val="400"/>
              </a:spcAft>
              <a:buSzPct val="100000"/>
              <a:buChar char="•"/>
            </a:pPr>
            <a:r>
              <a:rPr lang="en-US" sz="1500" dirty="0">
                <a:solidFill>
                  <a:schemeClr val="tx1"/>
                </a:solidFill>
              </a:rPr>
              <a:t>Aim: a literature-derived dataset and a machine-learning framework for this prediction</a:t>
            </a:r>
            <a:endParaRPr lang="en-US" sz="1800" dirty="0"/>
          </a:p>
          <a:p>
            <a:pPr indent="0" marL="0">
              <a:spcBef>
                <a:spcPts val="1400"/>
              </a:spcBef>
              <a:spcAft>
                <a:spcPts val="400"/>
              </a:spcAft>
              <a:buNone/>
            </a:pPr>
            <a:r>
              <a:rPr lang="en-US" sz="1800" b="1" dirty="0">
                <a:solidFill>
                  <a:schemeClr val="tx2"/>
                </a:solidFill>
              </a:rPr>
              <a:t>Why is this important?</a:t>
            </a:r>
            <a:endParaRPr lang="en-US" sz="1800" dirty="0"/>
          </a:p>
          <a:p>
            <a:pPr marL="342900" indent="-342900">
              <a:spcAft>
                <a:spcPts val="400"/>
              </a:spcAft>
              <a:buSzPct val="100000"/>
              <a:buChar char="•"/>
            </a:pPr>
            <a:r>
              <a:rPr lang="en-US" sz="1500" dirty="0">
                <a:solidFill>
                  <a:schemeClr val="tx1"/>
                </a:solidFill>
              </a:rPr>
              <a:t>Prevention: identify risk early and leave time to intervene</a:t>
            </a:r>
            <a:endParaRPr lang="en-US" sz="1800" dirty="0"/>
          </a:p>
          <a:p>
            <a:pPr marL="342900" indent="-342900">
              <a:spcAft>
                <a:spcPts val="400"/>
              </a:spcAft>
              <a:buSzPct val="100000"/>
              <a:buChar char="•"/>
            </a:pPr>
            <a:r>
              <a:rPr lang="en-US" sz="1500" dirty="0">
                <a:solidFill>
                  <a:schemeClr val="tx1"/>
                </a:solidFill>
              </a:rPr>
              <a:t>Countermeasures: match exercise and nutrition to the predicted risk</a:t>
            </a:r>
            <a:endParaRPr lang="en-US" sz="1800" dirty="0"/>
          </a:p>
          <a:p>
            <a:pPr marL="342900" indent="-342900">
              <a:spcAft>
                <a:spcPts val="400"/>
              </a:spcAft>
              <a:buSzPct val="100000"/>
              <a:buChar char="•"/>
            </a:pPr>
            <a:r>
              <a:rPr lang="en-US" sz="1500" dirty="0">
                <a:solidFill>
                  <a:schemeClr val="tx1"/>
                </a:solidFill>
              </a:rPr>
              <a:t>Vulnerable muscles: show which muscles need closer monitoring</a:t>
            </a:r>
            <a:endParaRPr lang="en-US" sz="1800" dirty="0"/>
          </a:p>
          <a:p>
            <a:pPr marL="342900" indent="-342900">
              <a:spcAft>
                <a:spcPts val="400"/>
              </a:spcAft>
              <a:buSzPct val="100000"/>
              <a:buChar char="•"/>
            </a:pPr>
            <a:r>
              <a:rPr lang="en-US" sz="1500" dirty="0">
                <a:solidFill>
                  <a:schemeClr val="tx1"/>
                </a:solidFill>
              </a:rPr>
              <a:t>Function: less muscle loss helps preserve strength and power</a:t>
            </a:r>
            <a:endParaRPr lang="en-US" sz="1800" dirty="0"/>
          </a:p>
          <a:p>
            <a:pPr marL="342900" indent="-342900">
              <a:spcAft>
                <a:spcPts val="400"/>
              </a:spcAft>
              <a:buSzPct val="100000"/>
              <a:buChar char="•"/>
            </a:pPr>
            <a:r>
              <a:rPr lang="en-US" sz="1500" dirty="0">
                <a:solidFill>
                  <a:schemeClr val="tx1"/>
                </a:solidFill>
              </a:rPr>
              <a:t>Mission planning: estimate muscle loss on long missions with limited exercise equipment</a:t>
            </a:r>
            <a:endParaRPr lang="en-US" sz="1800" dirty="0"/>
          </a:p>
        </p:txBody>
      </p:sp>
      <p:sp>
        <p:nvSpPr>
          <p:cNvPr id="12" name="Illustration panel"/>
          <p:cNvSpPr/>
          <p:nvPr/>
        </p:nvSpPr>
        <p:spPr>
          <a:xfrm>
            <a:off x="6903720" y="1234440"/>
            <a:ext cx="4736592" cy="4892040"/>
          </a:xfrm>
          <a:prstGeom prst="rect">
            <a:avLst/>
          </a:prstGeom>
          <a:solidFill>
            <a:schemeClr val="bg2"/>
          </a:solidFill>
          <a:ln/>
        </p:spPr>
      </p:sp>
      <p:sp>
        <p:nvSpPr>
          <p:cNvPr id="13"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Ground analogue: 6° head-down bed rest</a:t>
            </a:r>
            <a:endParaRPr lang="en-US" sz="1400" dirty="0"/>
          </a:p>
        </p:txBody>
      </p:sp>
      <p:sp>
        <p:nvSpPr>
          <p:cNvPr id="14" name="Bed"/>
          <p:cNvSpPr/>
          <p:nvPr/>
        </p:nvSpPr>
        <p:spPr>
          <a:xfrm rot="360000">
            <a:off x="7315200" y="2377440"/>
            <a:ext cx="3931920" cy="128016"/>
          </a:xfrm>
          <a:prstGeom prst="rect">
            <a:avLst/>
          </a:prstGeom>
          <a:solidFill>
            <a:schemeClr val="accent3"/>
          </a:solidFill>
          <a:ln/>
        </p:spPr>
      </p:sp>
      <p:sp>
        <p:nvSpPr>
          <p:cNvPr id="15" name="Body"/>
          <p:cNvSpPr/>
          <p:nvPr/>
        </p:nvSpPr>
        <p:spPr>
          <a:xfrm rot="360000">
            <a:off x="7863840" y="2093976"/>
            <a:ext cx="2606040" cy="329184"/>
          </a:xfrm>
          <a:prstGeom prst="roundRect">
            <a:avLst>
              <a:gd name="adj" fmla="val 41667"/>
            </a:avLst>
          </a:prstGeom>
          <a:solidFill>
            <a:schemeClr val="tx2"/>
          </a:solidFill>
          <a:ln/>
        </p:spPr>
      </p:sp>
      <p:sp>
        <p:nvSpPr>
          <p:cNvPr id="16" name="Head"/>
          <p:cNvSpPr/>
          <p:nvPr/>
        </p:nvSpPr>
        <p:spPr>
          <a:xfrm>
            <a:off x="10469880" y="2167128"/>
            <a:ext cx="384048" cy="384048"/>
          </a:xfrm>
          <a:prstGeom prst="ellipse">
            <a:avLst/>
          </a:prstGeom>
          <a:solidFill>
            <a:schemeClr val="tx2"/>
          </a:solidFill>
          <a:ln/>
        </p:spPr>
      </p:sp>
      <p:sp>
        <p:nvSpPr>
          <p:cNvPr id="17"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18" name="Muscle before"/>
          <p:cNvSpPr/>
          <p:nvPr/>
        </p:nvSpPr>
        <p:spPr>
          <a:xfrm>
            <a:off x="7223760" y="3337560"/>
            <a:ext cx="1737360" cy="1737360"/>
          </a:xfrm>
          <a:prstGeom prst="ellipse">
            <a:avLst/>
          </a:prstGeom>
          <a:solidFill>
            <a:schemeClr val="accent1">
              <a:alpha val="75000"/>
            </a:schemeClr>
          </a:solidFill>
          <a:ln w="12700">
            <a:solidFill>
              <a:srgbClr val="A23B2A"/>
            </a:solidFill>
            <a:prstDash val="solid"/>
          </a:ln>
        </p:spPr>
      </p:sp>
      <p:sp>
        <p:nvSpPr>
          <p:cNvPr id="19" name="Muscle before bone"/>
          <p:cNvSpPr/>
          <p:nvPr/>
        </p:nvSpPr>
        <p:spPr>
          <a:xfrm>
            <a:off x="7717536" y="4151376"/>
            <a:ext cx="384048" cy="384048"/>
          </a:xfrm>
          <a:prstGeom prst="ellipse">
            <a:avLst/>
          </a:prstGeom>
          <a:solidFill>
            <a:schemeClr val="bg1"/>
          </a:solidFill>
          <a:ln w="12700">
            <a:solidFill>
              <a:srgbClr val="9AA3AE"/>
            </a:solidFill>
            <a:prstDash val="solid"/>
          </a:ln>
        </p:spPr>
      </p:sp>
      <p:sp>
        <p:nvSpPr>
          <p:cNvPr id="20" name="Arrow"/>
          <p:cNvSpPr/>
          <p:nvPr/>
        </p:nvSpPr>
        <p:spPr>
          <a:xfrm>
            <a:off x="9098280" y="4206240"/>
            <a:ext cx="548640" cy="0"/>
          </a:xfrm>
          <a:prstGeom prst="line">
            <a:avLst/>
          </a:prstGeom>
          <a:noFill/>
          <a:ln w="15875">
            <a:solidFill>
              <a:srgbClr val="1A1A1A"/>
            </a:solidFill>
            <a:prstDash val="solid"/>
            <a:tailEnd type="triangle"/>
          </a:ln>
        </p:spPr>
      </p:sp>
      <p:sp>
        <p:nvSpPr>
          <p:cNvPr id="21" name="Muscle after"/>
          <p:cNvSpPr/>
          <p:nvPr/>
        </p:nvSpPr>
        <p:spPr>
          <a:xfrm>
            <a:off x="9764214" y="3409134"/>
            <a:ext cx="1594211" cy="1594211"/>
          </a:xfrm>
          <a:prstGeom prst="ellipse">
            <a:avLst/>
          </a:prstGeom>
          <a:solidFill>
            <a:schemeClr val="accent1">
              <a:alpha val="75000"/>
            </a:schemeClr>
          </a:solidFill>
          <a:ln w="12700">
            <a:solidFill>
              <a:srgbClr val="A23B2A"/>
            </a:solidFill>
            <a:prstDash val="solid"/>
          </a:ln>
        </p:spPr>
      </p:sp>
      <p:sp>
        <p:nvSpPr>
          <p:cNvPr id="22" name="Muscle after bone"/>
          <p:cNvSpPr/>
          <p:nvPr/>
        </p:nvSpPr>
        <p:spPr>
          <a:xfrm>
            <a:off x="10186416" y="4151376"/>
            <a:ext cx="384048" cy="384048"/>
          </a:xfrm>
          <a:prstGeom prst="ellipse">
            <a:avLst/>
          </a:prstGeom>
          <a:solidFill>
            <a:schemeClr val="bg1"/>
          </a:solidFill>
          <a:ln w="12700">
            <a:solidFill>
              <a:srgbClr val="9AA3AE"/>
            </a:solidFill>
            <a:prstDash val="solid"/>
          </a:ln>
        </p:spPr>
      </p:sp>
      <p:sp>
        <p:nvSpPr>
          <p:cNvPr id="23" name="Original outline"/>
          <p:cNvSpPr/>
          <p:nvPr/>
        </p:nvSpPr>
        <p:spPr>
          <a:xfrm>
            <a:off x="9692640" y="3337560"/>
            <a:ext cx="1737360" cy="1737360"/>
          </a:xfrm>
          <a:prstGeom prst="ellipse">
            <a:avLst/>
          </a:prstGeom>
          <a:ln w="12700">
            <a:solidFill>
              <a:srgbClr val="1A1A1A"/>
            </a:solidFill>
            <a:prstDash val="dash"/>
          </a:ln>
        </p:spPr>
      </p:sp>
      <p:sp>
        <p:nvSpPr>
          <p:cNvPr id="24"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5"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Day 60: −16%</a:t>
            </a:r>
            <a:endParaRPr lang="en-US" sz="1300" dirty="0"/>
          </a:p>
        </p:txBody>
      </p:sp>
      <p:sp>
        <p:nvSpPr>
          <p:cNvPr id="26"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Calf cross-section to scale; dashed line = size before. Model estimate for control groups (plantar flexors, −15.8% at day 60).</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Why from bed rest to Mars?</a:t>
            </a:r>
            <a:endParaRPr lang="en-US" sz="2800" dirty="0"/>
          </a:p>
        </p:txBody>
      </p:sp>
      <p:sp>
        <p:nvSpPr>
          <p:cNvPr id="11"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Bed rest: the ground analogue</a:t>
            </a:r>
            <a:endParaRPr lang="en-US" sz="1700" dirty="0"/>
          </a:p>
          <a:p>
            <a:pPr marL="342900" indent="-342900">
              <a:spcAft>
                <a:spcPts val="400"/>
              </a:spcAft>
              <a:buSzPct val="100000"/>
              <a:buChar char="•"/>
            </a:pPr>
            <a:r>
              <a:rPr lang="en-US" sz="1400" dirty="0">
                <a:solidFill>
                  <a:schemeClr val="tx1"/>
                </a:solidFill>
              </a:rPr>
              <a:t>Direct spaceflight data on muscle are scarce</a:t>
            </a:r>
            <a:endParaRPr lang="en-US" sz="1700" dirty="0"/>
          </a:p>
          <a:p>
            <a:pPr marL="342900" indent="-342900">
              <a:spcAft>
                <a:spcPts val="400"/>
              </a:spcAft>
              <a:buSzPct val="100000"/>
              <a:buChar char="•"/>
            </a:pPr>
            <a:r>
              <a:rPr lang="en-US" sz="1400" dirty="0">
                <a:solidFill>
                  <a:schemeClr val="tx1"/>
                </a:solidFill>
              </a:rPr>
              <a:t>Head-down bed rest is the established ground analogue: it unloads the legs under controlled conditions</a:t>
            </a:r>
            <a:endParaRPr lang="en-US" sz="1700" dirty="0"/>
          </a:p>
          <a:p>
            <a:pPr marL="342900" indent="-342900">
              <a:spcAft>
                <a:spcPts val="400"/>
              </a:spcAft>
              <a:buSzPct val="100000"/>
              <a:buChar char="•"/>
            </a:pPr>
            <a:r>
              <a:rPr lang="en-US" sz="1400" dirty="0">
                <a:solidFill>
                  <a:schemeClr val="tx1"/>
                </a:solidFill>
              </a:rPr>
              <a:t>Not equivalent to spaceflight, but a sound basis to build and test prediction models</a:t>
            </a:r>
            <a:endParaRPr lang="en-US" sz="1700" dirty="0"/>
          </a:p>
          <a:p>
            <a:pPr indent="0" marL="0">
              <a:spcBef>
                <a:spcPts val="1000"/>
              </a:spcBef>
              <a:spcAft>
                <a:spcPts val="300"/>
              </a:spcAft>
              <a:buNone/>
            </a:pPr>
            <a:r>
              <a:rPr lang="en-US" sz="1700" b="1" dirty="0">
                <a:solidFill>
                  <a:schemeClr val="tx2"/>
                </a:solidFill>
              </a:rPr>
              <a:t>Mars: the long-term application</a:t>
            </a:r>
            <a:endParaRPr lang="en-US" sz="1700" dirty="0"/>
          </a:p>
          <a:p>
            <a:pPr marL="342900" indent="-342900">
              <a:spcAft>
                <a:spcPts val="400"/>
              </a:spcAft>
              <a:buSzPct val="100000"/>
              <a:buChar char="•"/>
            </a:pPr>
            <a:r>
              <a:rPr lang="en-US" sz="1400" dirty="0">
                <a:solidFill>
                  <a:schemeClr val="tx1"/>
                </a:solidFill>
              </a:rPr>
              <a:t>A Mars mission lasts years, not days: about 6 months of transit each way</a:t>
            </a:r>
            <a:endParaRPr lang="en-US" sz="1700" dirty="0"/>
          </a:p>
          <a:p>
            <a:pPr marL="342900" indent="-342900">
              <a:spcAft>
                <a:spcPts val="400"/>
              </a:spcAft>
              <a:buSzPct val="100000"/>
              <a:buChar char="•"/>
            </a:pPr>
            <a:r>
              <a:rPr lang="en-US" sz="1400" dirty="0">
                <a:solidFill>
                  <a:schemeClr val="tx1"/>
                </a:solidFill>
              </a:rPr>
              <a:t>No early return in an emergency: the crew depends on its own fitness</a:t>
            </a:r>
            <a:endParaRPr lang="en-US" sz="1700" dirty="0"/>
          </a:p>
          <a:p>
            <a:pPr marL="342900" indent="-342900">
              <a:spcAft>
                <a:spcPts val="400"/>
              </a:spcAft>
              <a:buSzPct val="100000"/>
              <a:buChar char="•"/>
            </a:pPr>
            <a:r>
              <a:rPr lang="en-US" sz="1400" dirty="0">
                <a:solidFill>
                  <a:schemeClr val="tx1"/>
                </a:solidFill>
              </a:rPr>
              <a:t>After months in weightlessness, the crew must leave the spacecraft and work on the surface</a:t>
            </a:r>
            <a:endParaRPr lang="en-US" sz="1700" dirty="0"/>
          </a:p>
        </p:txBody>
      </p:sp>
      <p:sp>
        <p:nvSpPr>
          <p:cNvPr id="12" name="Mission panel"/>
          <p:cNvSpPr/>
          <p:nvPr/>
        </p:nvSpPr>
        <p:spPr>
          <a:xfrm>
            <a:off x="6492240" y="1188720"/>
            <a:ext cx="5148072" cy="3520440"/>
          </a:xfrm>
          <a:prstGeom prst="rect">
            <a:avLst/>
          </a:prstGeom>
          <a:solidFill>
            <a:schemeClr val="bg2"/>
          </a:solidFill>
          <a:ln/>
        </p:spPr>
      </p:sp>
      <p:sp>
        <p:nvSpPr>
          <p:cNvPr id="13"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Moon mission vs Mars mission</a:t>
            </a:r>
            <a:endParaRPr lang="en-US" sz="1400" dirty="0"/>
          </a:p>
        </p:txBody>
      </p:sp>
      <p:sp>
        <p:nvSpPr>
          <p:cNvPr id="14" name="Earth"/>
          <p:cNvSpPr/>
          <p:nvPr/>
        </p:nvSpPr>
        <p:spPr>
          <a:xfrm>
            <a:off x="6675120" y="1828800"/>
            <a:ext cx="548640" cy="548640"/>
          </a:xfrm>
          <a:prstGeom prst="ellipse">
            <a:avLst/>
          </a:prstGeom>
          <a:solidFill>
            <a:srgbClr val="1F3A5F"/>
          </a:solidFill>
          <a:ln/>
        </p:spPr>
      </p:sp>
      <p:pic>
        <p:nvPicPr>
          <p:cNvPr id="15" name="Image 0" descr="Earth (photo map, semi-transparent)">    </p:cNvPr>
          <p:cNvPicPr>
            <a:picLocks noChangeAspect="1"/>
          </p:cNvPicPr>
          <p:nvPr/>
        </p:nvPicPr>
        <p:blipFill>
          <a:blip r:embed="rId1"/>
          <a:stretch>
            <a:fillRect/>
          </a:stretch>
        </p:blipFill>
        <p:spPr>
          <a:xfrm>
            <a:off x="6675120" y="1828800"/>
            <a:ext cx="548640" cy="548640"/>
          </a:xfrm>
          <a:prstGeom prst="rect">
            <a:avLst/>
          </a:prstGeom>
        </p:spPr>
      </p:pic>
      <p:sp>
        <p:nvSpPr>
          <p:cNvPr id="16"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7" name="Moon"/>
          <p:cNvSpPr/>
          <p:nvPr/>
        </p:nvSpPr>
        <p:spPr>
          <a:xfrm>
            <a:off x="7863840" y="1965960"/>
            <a:ext cx="274320" cy="274320"/>
          </a:xfrm>
          <a:prstGeom prst="ellipse">
            <a:avLst/>
          </a:prstGeom>
          <a:solidFill>
            <a:srgbClr val="A7AEB8"/>
          </a:solidFill>
          <a:ln/>
        </p:spPr>
      </p:sp>
      <p:pic>
        <p:nvPicPr>
          <p:cNvPr id="18" name="Image 1" descr="Moon (photo map, semi-transparent)">    </p:cNvPr>
          <p:cNvPicPr>
            <a:picLocks noChangeAspect="1"/>
          </p:cNvPicPr>
          <p:nvPr/>
        </p:nvPicPr>
        <p:blipFill>
          <a:blip r:embed="rId2"/>
          <a:stretch>
            <a:fillRect/>
          </a:stretch>
        </p:blipFill>
        <p:spPr>
          <a:xfrm>
            <a:off x="7863840" y="1965960"/>
            <a:ext cx="274320" cy="274320"/>
          </a:xfrm>
          <a:prstGeom prst="rect">
            <a:avLst/>
          </a:prstGeom>
        </p:spPr>
      </p:pic>
      <p:sp>
        <p:nvSpPr>
          <p:cNvPr id="19"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0" name="Mars"/>
          <p:cNvSpPr/>
          <p:nvPr/>
        </p:nvSpPr>
        <p:spPr>
          <a:xfrm>
            <a:off x="10927080" y="1874520"/>
            <a:ext cx="457200" cy="457200"/>
          </a:xfrm>
          <a:prstGeom prst="ellipse">
            <a:avLst/>
          </a:prstGeom>
          <a:solidFill>
            <a:srgbClr val="A23B2A"/>
          </a:solidFill>
          <a:ln/>
        </p:spPr>
      </p:sp>
      <p:pic>
        <p:nvPicPr>
          <p:cNvPr id="21" name="Image 2" descr="Mars (photo map, semi-transparent)">    </p:cNvPr>
          <p:cNvPicPr>
            <a:picLocks noChangeAspect="1"/>
          </p:cNvPicPr>
          <p:nvPr/>
        </p:nvPicPr>
        <p:blipFill>
          <a:blip r:embed="rId3"/>
          <a:stretch>
            <a:fillRect/>
          </a:stretch>
        </p:blipFill>
        <p:spPr>
          <a:xfrm>
            <a:off x="10927080" y="1874520"/>
            <a:ext cx="457200" cy="457200"/>
          </a:xfrm>
          <a:prstGeom prst="rect">
            <a:avLst/>
          </a:prstGeom>
        </p:spPr>
      </p:pic>
      <p:sp>
        <p:nvSpPr>
          <p:cNvPr id="22"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3" name="Route to Moon"/>
          <p:cNvSpPr/>
          <p:nvPr/>
        </p:nvSpPr>
        <p:spPr>
          <a:xfrm>
            <a:off x="7251192" y="2103120"/>
            <a:ext cx="594360" cy="0"/>
          </a:xfrm>
          <a:prstGeom prst="line">
            <a:avLst/>
          </a:prstGeom>
          <a:noFill/>
          <a:ln w="12700">
            <a:solidFill>
              <a:srgbClr val="6B7280"/>
            </a:solidFill>
            <a:prstDash val="dash"/>
            <a:tailEnd type="triangle"/>
          </a:ln>
        </p:spPr>
      </p:sp>
      <p:sp>
        <p:nvSpPr>
          <p:cNvPr id="24"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5" name="Route to Mars"/>
          <p:cNvSpPr/>
          <p:nvPr/>
        </p:nvSpPr>
        <p:spPr>
          <a:xfrm>
            <a:off x="8183880" y="2103120"/>
            <a:ext cx="2724912" cy="0"/>
          </a:xfrm>
          <a:prstGeom prst="line">
            <a:avLst/>
          </a:prstGeom>
          <a:noFill/>
          <a:ln w="12700">
            <a:solidFill>
              <a:srgbClr val="6B7280"/>
            </a:solidFill>
            <a:prstDash val="dash"/>
            <a:tailEnd type="triangle"/>
          </a:ln>
        </p:spPr>
      </p:sp>
      <p:sp>
        <p:nvSpPr>
          <p:cNvPr id="26"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7"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28" name="Moon mission bar"/>
          <p:cNvSpPr/>
          <p:nvPr/>
        </p:nvSpPr>
        <p:spPr>
          <a:xfrm>
            <a:off x="8229600" y="2880360"/>
            <a:ext cx="42672" cy="292608"/>
          </a:xfrm>
          <a:prstGeom prst="rect">
            <a:avLst/>
          </a:prstGeom>
          <a:solidFill>
            <a:srgbClr val="6B7280"/>
          </a:solidFill>
          <a:ln/>
        </p:spPr>
      </p:sp>
      <p:sp>
        <p:nvSpPr>
          <p:cNvPr id="29" name="Text 24"/>
          <p:cNvSpPr txBox="1"/>
          <p:nvPr/>
        </p:nvSpPr>
        <p:spPr>
          <a:xfrm>
            <a:off x="8327136" y="2880360"/>
            <a:ext cx="182880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a:t>
            </a:r>
            <a:endParaRPr lang="en-US" sz="1050" dirty="0"/>
          </a:p>
        </p:txBody>
      </p:sp>
      <p:sp>
        <p:nvSpPr>
          <p:cNvPr id="30"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1" name="Mars to Mars"/>
          <p:cNvSpPr/>
          <p:nvPr/>
        </p:nvSpPr>
        <p:spPr>
          <a:xfrm>
            <a:off x="8229600" y="3566160"/>
            <a:ext cx="640080" cy="292608"/>
          </a:xfrm>
          <a:prstGeom prst="rect">
            <a:avLst/>
          </a:prstGeom>
          <a:solidFill>
            <a:srgbClr val="A23B2A"/>
          </a:solidFill>
          <a:ln w="12700">
            <a:solidFill>
              <a:srgbClr val="FFFFFF"/>
            </a:solidFill>
            <a:prstDash val="solid"/>
          </a:ln>
        </p:spPr>
      </p:sp>
      <p:sp>
        <p:nvSpPr>
          <p:cNvPr id="32"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3" name="Mars on Mars, about 500 days"/>
          <p:cNvSpPr/>
          <p:nvPr/>
        </p:nvSpPr>
        <p:spPr>
          <a:xfrm>
            <a:off x="8869680" y="3566160"/>
            <a:ext cx="1778000" cy="292608"/>
          </a:xfrm>
          <a:prstGeom prst="rect">
            <a:avLst/>
          </a:prstGeom>
          <a:solidFill>
            <a:srgbClr val="A23B2A">
              <a:alpha val="55000"/>
            </a:srgbClr>
          </a:solidFill>
          <a:ln w="12700">
            <a:solidFill>
              <a:srgbClr val="FFFFFF"/>
            </a:solidFill>
            <a:prstDash val="solid"/>
          </a:ln>
        </p:spPr>
      </p:sp>
      <p:sp>
        <p:nvSpPr>
          <p:cNvPr id="34"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5" name="Mars home"/>
          <p:cNvSpPr/>
          <p:nvPr/>
        </p:nvSpPr>
        <p:spPr>
          <a:xfrm>
            <a:off x="10647680" y="3566160"/>
            <a:ext cx="640080" cy="292608"/>
          </a:xfrm>
          <a:prstGeom prst="rect">
            <a:avLst/>
          </a:prstGeom>
          <a:solidFill>
            <a:srgbClr val="A23B2A"/>
          </a:solidFill>
          <a:ln w="12700">
            <a:solidFill>
              <a:srgbClr val="FFFFFF"/>
            </a:solidFill>
            <a:prstDash val="solid"/>
          </a:ln>
        </p:spPr>
      </p:sp>
      <p:sp>
        <p:nvSpPr>
          <p:cNvPr id="36"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7" name="Arrival marker"/>
          <p:cNvSpPr/>
          <p:nvPr/>
        </p:nvSpPr>
        <p:spPr>
          <a:xfrm>
            <a:off x="8869680" y="3886200"/>
            <a:ext cx="0" cy="182880"/>
          </a:xfrm>
          <a:prstGeom prst="line">
            <a:avLst/>
          </a:prstGeom>
          <a:noFill/>
          <a:ln w="12700">
            <a:solidFill>
              <a:srgbClr val="1A1A1A"/>
            </a:solidFill>
            <a:prstDash val="solid"/>
            <a:headEnd type="triangle"/>
          </a:ln>
        </p:spPr>
      </p:sp>
      <p:sp>
        <p:nvSpPr>
          <p:cNvPr id="38"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39" name="Time axis"/>
          <p:cNvSpPr/>
          <p:nvPr/>
        </p:nvSpPr>
        <p:spPr>
          <a:xfrm>
            <a:off x="8229600" y="4434840"/>
            <a:ext cx="3200400" cy="0"/>
          </a:xfrm>
          <a:prstGeom prst="line">
            <a:avLst/>
          </a:prstGeom>
          <a:noFill/>
          <a:ln w="9525">
            <a:solidFill>
              <a:srgbClr val="6B7280"/>
            </a:solidFill>
            <a:prstDash val="solid"/>
          </a:ln>
        </p:spPr>
      </p:sp>
      <p:sp>
        <p:nvSpPr>
          <p:cNvPr id="40" name="Tick 0"/>
          <p:cNvSpPr/>
          <p:nvPr/>
        </p:nvSpPr>
        <p:spPr>
          <a:xfrm>
            <a:off x="8229600" y="4434840"/>
            <a:ext cx="0" cy="54864"/>
          </a:xfrm>
          <a:prstGeom prst="line">
            <a:avLst/>
          </a:prstGeom>
          <a:noFill/>
          <a:ln w="9525">
            <a:solidFill>
              <a:srgbClr val="6B7280"/>
            </a:solidFill>
            <a:prstDash val="solid"/>
          </a:ln>
        </p:spPr>
      </p:sp>
      <p:sp>
        <p:nvSpPr>
          <p:cNvPr id="41"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2" name="Tick 1 year"/>
          <p:cNvSpPr/>
          <p:nvPr/>
        </p:nvSpPr>
        <p:spPr>
          <a:xfrm>
            <a:off x="9527540" y="4434840"/>
            <a:ext cx="0" cy="54864"/>
          </a:xfrm>
          <a:prstGeom prst="line">
            <a:avLst/>
          </a:prstGeom>
          <a:noFill/>
          <a:ln w="9525">
            <a:solidFill>
              <a:srgbClr val="6B7280"/>
            </a:solidFill>
            <a:prstDash val="solid"/>
          </a:ln>
        </p:spPr>
      </p:sp>
      <p:sp>
        <p:nvSpPr>
          <p:cNvPr id="43"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4" name="Tick 2 years"/>
          <p:cNvSpPr/>
          <p:nvPr/>
        </p:nvSpPr>
        <p:spPr>
          <a:xfrm>
            <a:off x="10825480" y="4434840"/>
            <a:ext cx="0" cy="54864"/>
          </a:xfrm>
          <a:prstGeom prst="line">
            <a:avLst/>
          </a:prstGeom>
          <a:noFill/>
          <a:ln w="9525">
            <a:solidFill>
              <a:srgbClr val="6B7280"/>
            </a:solidFill>
            <a:prstDash val="solid"/>
          </a:ln>
        </p:spPr>
      </p:sp>
      <p:sp>
        <p:nvSpPr>
          <p:cNvPr id="45"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6" name="Step 1"/>
          <p:cNvSpPr/>
          <p:nvPr/>
        </p:nvSpPr>
        <p:spPr>
          <a:xfrm>
            <a:off x="548640" y="4983480"/>
            <a:ext cx="2423160" cy="685800"/>
          </a:xfrm>
          <a:prstGeom prst="rect">
            <a:avLst/>
          </a:prstGeom>
          <a:solidFill>
            <a:srgbClr val="FFFFFF"/>
          </a:solidFill>
          <a:ln w="12700">
            <a:solidFill>
              <a:srgbClr val="9AA3AE"/>
            </a:solidFill>
            <a:prstDash val="solid"/>
          </a:ln>
        </p:spPr>
      </p:sp>
      <p:sp>
        <p:nvSpPr>
          <p:cNvPr id="47"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48" name="Step 2"/>
          <p:cNvSpPr/>
          <p:nvPr/>
        </p:nvSpPr>
        <p:spPr>
          <a:xfrm>
            <a:off x="3429000" y="4983480"/>
            <a:ext cx="2423160" cy="685800"/>
          </a:xfrm>
          <a:prstGeom prst="rect">
            <a:avLst/>
          </a:prstGeom>
          <a:solidFill>
            <a:srgbClr val="1F3A5F"/>
          </a:solidFill>
          <a:ln w="12700">
            <a:solidFill>
              <a:srgbClr val="1F3A5F"/>
            </a:solidFill>
            <a:prstDash val="solid"/>
          </a:ln>
        </p:spPr>
      </p:sp>
      <p:sp>
        <p:nvSpPr>
          <p:cNvPr id="49"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0" name="Step 3"/>
          <p:cNvSpPr/>
          <p:nvPr/>
        </p:nvSpPr>
        <p:spPr>
          <a:xfrm>
            <a:off x="6309360" y="4983480"/>
            <a:ext cx="2423160" cy="685800"/>
          </a:xfrm>
          <a:prstGeom prst="rect">
            <a:avLst/>
          </a:prstGeom>
          <a:solidFill>
            <a:srgbClr val="FFFFFF"/>
          </a:solidFill>
          <a:ln w="12700">
            <a:solidFill>
              <a:srgbClr val="9AA3AE"/>
            </a:solidFill>
            <a:prstDash val="dash"/>
          </a:ln>
        </p:spPr>
      </p:sp>
      <p:sp>
        <p:nvSpPr>
          <p:cNvPr id="51"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2" name="Step 4"/>
          <p:cNvSpPr/>
          <p:nvPr/>
        </p:nvSpPr>
        <p:spPr>
          <a:xfrm>
            <a:off x="9189720" y="4983480"/>
            <a:ext cx="2423160" cy="685800"/>
          </a:xfrm>
          <a:prstGeom prst="rect">
            <a:avLst/>
          </a:prstGeom>
          <a:solidFill>
            <a:srgbClr val="FFFFFF"/>
          </a:solidFill>
          <a:ln w="12700">
            <a:solidFill>
              <a:srgbClr val="9AA3AE"/>
            </a:solidFill>
            <a:prstDash val="dash"/>
          </a:ln>
        </p:spPr>
      </p:sp>
      <p:sp>
        <p:nvSpPr>
          <p:cNvPr id="53"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4" name="Arrow 1"/>
          <p:cNvSpPr/>
          <p:nvPr/>
        </p:nvSpPr>
        <p:spPr>
          <a:xfrm>
            <a:off x="3017520" y="5326380"/>
            <a:ext cx="365760" cy="0"/>
          </a:xfrm>
          <a:prstGeom prst="line">
            <a:avLst/>
          </a:prstGeom>
          <a:noFill/>
          <a:ln w="15875">
            <a:solidFill>
              <a:srgbClr val="1A1A1A"/>
            </a:solidFill>
            <a:prstDash val="solid"/>
            <a:tailEnd type="triangle"/>
          </a:ln>
        </p:spPr>
      </p:sp>
      <p:sp>
        <p:nvSpPr>
          <p:cNvPr id="55"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6" name="Arrow 3"/>
          <p:cNvSpPr/>
          <p:nvPr/>
        </p:nvSpPr>
        <p:spPr>
          <a:xfrm>
            <a:off x="8778240" y="5326380"/>
            <a:ext cx="365760" cy="0"/>
          </a:xfrm>
          <a:prstGeom prst="line">
            <a:avLst/>
          </a:prstGeom>
          <a:noFill/>
          <a:ln w="15875">
            <a:solidFill>
              <a:srgbClr val="1A1A1A"/>
            </a:solidFill>
            <a:prstDash val="solid"/>
            <a:tailEnd type="triangle"/>
          </a:ln>
        </p:spPr>
      </p:sp>
      <p:sp>
        <p:nvSpPr>
          <p:cNvPr id="57" name="Text 52"/>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range did we study?</a:t>
            </a:r>
            <a:endParaRPr lang="en-US" sz="2800" dirty="0"/>
          </a:p>
        </p:txBody>
      </p:sp>
      <p:sp>
        <p:nvSpPr>
          <p:cNvPr id="11" name="Text 9"/>
          <p:cNvSpPr txBox="1"/>
          <p:nvPr/>
        </p:nvSpPr>
        <p:spPr>
          <a:xfrm>
            <a:off x="548640" y="1234440"/>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2" name="Abstract 14-119"/>
          <p:cNvSpPr/>
          <p:nvPr/>
        </p:nvSpPr>
        <p:spPr>
          <a:xfrm>
            <a:off x="3889248" y="1344168"/>
            <a:ext cx="4480560" cy="329184"/>
          </a:xfrm>
          <a:prstGeom prst="rect">
            <a:avLst/>
          </a:prstGeom>
          <a:solidFill>
            <a:srgbClr val="A7AEB8"/>
          </a:solidFill>
          <a:ln/>
        </p:spPr>
      </p:sp>
      <p:sp>
        <p:nvSpPr>
          <p:cNvPr id="13" name="Text 11"/>
          <p:cNvSpPr txBox="1"/>
          <p:nvPr/>
        </p:nvSpPr>
        <p:spPr>
          <a:xfrm>
            <a:off x="3477768" y="1344168"/>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4" name="Text 12"/>
          <p:cNvSpPr txBox="1"/>
          <p:nvPr/>
        </p:nvSpPr>
        <p:spPr>
          <a:xfrm>
            <a:off x="8433816" y="1344168"/>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5" name="Text 13"/>
          <p:cNvSpPr txBox="1"/>
          <p:nvPr/>
        </p:nvSpPr>
        <p:spPr>
          <a:xfrm>
            <a:off x="548640" y="189280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6" name="Final dataset 5-119"/>
          <p:cNvSpPr/>
          <p:nvPr/>
        </p:nvSpPr>
        <p:spPr>
          <a:xfrm>
            <a:off x="3505200" y="2002536"/>
            <a:ext cx="4864608" cy="329184"/>
          </a:xfrm>
          <a:prstGeom prst="rect">
            <a:avLst/>
          </a:prstGeom>
          <a:solidFill>
            <a:srgbClr val="1F3A5F"/>
          </a:solidFill>
          <a:ln/>
        </p:spPr>
      </p:sp>
      <p:sp>
        <p:nvSpPr>
          <p:cNvPr id="17" name="Final dataset 119-180"/>
          <p:cNvSpPr/>
          <p:nvPr/>
        </p:nvSpPr>
        <p:spPr>
          <a:xfrm>
            <a:off x="8369808" y="2002536"/>
            <a:ext cx="2602992" cy="329184"/>
          </a:xfrm>
          <a:prstGeom prst="rect">
            <a:avLst/>
          </a:prstGeom>
          <a:solidFill>
            <a:srgbClr val="A23B2A"/>
          </a:solidFill>
          <a:ln/>
        </p:spPr>
      </p:sp>
      <p:sp>
        <p:nvSpPr>
          <p:cNvPr id="18" name="Text 16"/>
          <p:cNvSpPr txBox="1"/>
          <p:nvPr/>
        </p:nvSpPr>
        <p:spPr>
          <a:xfrm>
            <a:off x="3093720" y="200253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19" name="Text 17"/>
          <p:cNvSpPr txBox="1"/>
          <p:nvPr/>
        </p:nvSpPr>
        <p:spPr>
          <a:xfrm>
            <a:off x="11036808" y="200253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0" name="Text 18"/>
          <p:cNvSpPr txBox="1"/>
          <p:nvPr/>
        </p:nvSpPr>
        <p:spPr>
          <a:xfrm>
            <a:off x="3505200" y="2002536"/>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1" name="Text 19"/>
          <p:cNvSpPr txBox="1"/>
          <p:nvPr/>
        </p:nvSpPr>
        <p:spPr>
          <a:xfrm>
            <a:off x="8369808" y="2002536"/>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2" name="Day axis"/>
          <p:cNvSpPr/>
          <p:nvPr/>
        </p:nvSpPr>
        <p:spPr>
          <a:xfrm>
            <a:off x="3291840" y="2670048"/>
            <a:ext cx="7680960" cy="0"/>
          </a:xfrm>
          <a:prstGeom prst="line">
            <a:avLst/>
          </a:prstGeom>
          <a:noFill/>
          <a:ln w="9525">
            <a:solidFill>
              <a:srgbClr val="6B7280"/>
            </a:solidFill>
            <a:prstDash val="solid"/>
          </a:ln>
        </p:spPr>
      </p:sp>
      <p:sp>
        <p:nvSpPr>
          <p:cNvPr id="23" name="Tick 0"/>
          <p:cNvSpPr/>
          <p:nvPr/>
        </p:nvSpPr>
        <p:spPr>
          <a:xfrm>
            <a:off x="3291840" y="2670048"/>
            <a:ext cx="0" cy="54864"/>
          </a:xfrm>
          <a:prstGeom prst="line">
            <a:avLst/>
          </a:prstGeom>
          <a:noFill/>
          <a:ln w="9525">
            <a:solidFill>
              <a:srgbClr val="6B7280"/>
            </a:solidFill>
            <a:prstDash val="solid"/>
          </a:ln>
        </p:spPr>
      </p:sp>
      <p:sp>
        <p:nvSpPr>
          <p:cNvPr id="24" name="Text 22"/>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5" name="Tick 30"/>
          <p:cNvSpPr/>
          <p:nvPr/>
        </p:nvSpPr>
        <p:spPr>
          <a:xfrm>
            <a:off x="4572000" y="2670048"/>
            <a:ext cx="0" cy="54864"/>
          </a:xfrm>
          <a:prstGeom prst="line">
            <a:avLst/>
          </a:prstGeom>
          <a:noFill/>
          <a:ln w="9525">
            <a:solidFill>
              <a:srgbClr val="6B7280"/>
            </a:solidFill>
            <a:prstDash val="solid"/>
          </a:ln>
        </p:spPr>
      </p:sp>
      <p:sp>
        <p:nvSpPr>
          <p:cNvPr id="26" name="Text 24"/>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7" name="Tick 60"/>
          <p:cNvSpPr/>
          <p:nvPr/>
        </p:nvSpPr>
        <p:spPr>
          <a:xfrm>
            <a:off x="5852160" y="2670048"/>
            <a:ext cx="0" cy="54864"/>
          </a:xfrm>
          <a:prstGeom prst="line">
            <a:avLst/>
          </a:prstGeom>
          <a:noFill/>
          <a:ln w="9525">
            <a:solidFill>
              <a:srgbClr val="6B7280"/>
            </a:solidFill>
            <a:prstDash val="solid"/>
          </a:ln>
        </p:spPr>
      </p:sp>
      <p:sp>
        <p:nvSpPr>
          <p:cNvPr id="28" name="Text 26"/>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9" name="Tick 90"/>
          <p:cNvSpPr/>
          <p:nvPr/>
        </p:nvSpPr>
        <p:spPr>
          <a:xfrm>
            <a:off x="7132320" y="2670048"/>
            <a:ext cx="0" cy="54864"/>
          </a:xfrm>
          <a:prstGeom prst="line">
            <a:avLst/>
          </a:prstGeom>
          <a:noFill/>
          <a:ln w="9525">
            <a:solidFill>
              <a:srgbClr val="6B7280"/>
            </a:solidFill>
            <a:prstDash val="solid"/>
          </a:ln>
        </p:spPr>
      </p:sp>
      <p:sp>
        <p:nvSpPr>
          <p:cNvPr id="30" name="Text 28"/>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1" name="Tick 119"/>
          <p:cNvSpPr/>
          <p:nvPr/>
        </p:nvSpPr>
        <p:spPr>
          <a:xfrm>
            <a:off x="8369808" y="2670048"/>
            <a:ext cx="0" cy="54864"/>
          </a:xfrm>
          <a:prstGeom prst="line">
            <a:avLst/>
          </a:prstGeom>
          <a:noFill/>
          <a:ln w="9525">
            <a:solidFill>
              <a:srgbClr val="6B7280"/>
            </a:solidFill>
            <a:prstDash val="solid"/>
          </a:ln>
        </p:spPr>
      </p:sp>
      <p:sp>
        <p:nvSpPr>
          <p:cNvPr id="32" name="Text 30"/>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3" name="Tick 150"/>
          <p:cNvSpPr/>
          <p:nvPr/>
        </p:nvSpPr>
        <p:spPr>
          <a:xfrm>
            <a:off x="9692640" y="2670048"/>
            <a:ext cx="0" cy="54864"/>
          </a:xfrm>
          <a:prstGeom prst="line">
            <a:avLst/>
          </a:prstGeom>
          <a:noFill/>
          <a:ln w="9525">
            <a:solidFill>
              <a:srgbClr val="6B7280"/>
            </a:solidFill>
            <a:prstDash val="solid"/>
          </a:ln>
        </p:spPr>
      </p:sp>
      <p:sp>
        <p:nvSpPr>
          <p:cNvPr id="34" name="Text 32"/>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5" name="Tick 180"/>
          <p:cNvSpPr/>
          <p:nvPr/>
        </p:nvSpPr>
        <p:spPr>
          <a:xfrm>
            <a:off x="10972800" y="2670048"/>
            <a:ext cx="0" cy="54864"/>
          </a:xfrm>
          <a:prstGeom prst="line">
            <a:avLst/>
          </a:prstGeom>
          <a:noFill/>
          <a:ln w="9525">
            <a:solidFill>
              <a:srgbClr val="6B7280"/>
            </a:solidFill>
            <a:prstDash val="solid"/>
          </a:ln>
        </p:spPr>
      </p:sp>
      <p:sp>
        <p:nvSpPr>
          <p:cNvPr id="36" name="Text 34"/>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37" name="Text 35"/>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graphicFrame>
        <p:nvGraphicFramePr>
          <p:cNvPr id="38" name="Chart 0" descr=""/>
          <p:cNvGraphicFramePr/>
          <p:nvPr/>
        </p:nvGraphicFramePr>
        <p:xfrm>
          <a:off x="548640" y="3063240"/>
          <a:ext cx="11064240" cy="31089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How did we build the dataset?</a:t>
            </a:r>
            <a:endParaRPr lang="en-US" sz="2800" dirty="0"/>
          </a:p>
        </p:txBody>
      </p:sp>
      <p:sp>
        <p:nvSpPr>
          <p:cNvPr id="11" name="Text 9"/>
          <p:cNvSpPr txBox="1"/>
          <p:nvPr/>
        </p:nvSpPr>
        <p:spPr>
          <a:xfrm>
            <a:off x="54864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IDENTIFICATION</a:t>
            </a:r>
            <a:endParaRPr lang="en-US" sz="1050" dirty="0"/>
          </a:p>
        </p:txBody>
      </p:sp>
      <p:sp>
        <p:nvSpPr>
          <p:cNvPr id="12" name="Step Identification"/>
          <p:cNvSpPr/>
          <p:nvPr/>
        </p:nvSpPr>
        <p:spPr>
          <a:xfrm>
            <a:off x="548640" y="2286000"/>
            <a:ext cx="1920240" cy="1325880"/>
          </a:xfrm>
          <a:prstGeom prst="rect">
            <a:avLst/>
          </a:prstGeom>
          <a:solidFill>
            <a:srgbClr val="FFFFFF"/>
          </a:solidFill>
          <a:ln w="12700">
            <a:solidFill>
              <a:srgbClr val="9AA3AE"/>
            </a:solidFill>
            <a:prstDash val="solid"/>
          </a:ln>
        </p:spPr>
      </p:sp>
      <p:sp>
        <p:nvSpPr>
          <p:cNvPr id="13" name="Text 11"/>
          <p:cNvSpPr txBox="1"/>
          <p:nvPr/>
        </p:nvSpPr>
        <p:spPr>
          <a:xfrm>
            <a:off x="64008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5,741</a:t>
            </a:r>
            <a:endParaRPr lang="en-US" sz="2600" dirty="0"/>
          </a:p>
          <a:p>
            <a:pPr algn="ctr" indent="0" marL="0">
              <a:buNone/>
            </a:pPr>
            <a:r>
              <a:rPr lang="en-US" sz="1300" dirty="0">
                <a:solidFill>
                  <a:schemeClr val="tx1"/>
                </a:solidFill>
              </a:rPr>
              <a:t>records found</a:t>
            </a:r>
            <a:endParaRPr lang="en-US" sz="2600" dirty="0"/>
          </a:p>
          <a:p>
            <a:pPr algn="ctr" indent="0" marL="0">
              <a:buNone/>
            </a:pPr>
            <a:r>
              <a:rPr lang="en-US" sz="1050" i="1" dirty="0">
                <a:solidFill>
                  <a:schemeClr val="accent3"/>
                </a:solidFill>
              </a:rPr>
              <a:t>PubMed, Scopus, Web of Science, NASA reports</a:t>
            </a:r>
            <a:endParaRPr lang="en-US" sz="2600" dirty="0"/>
          </a:p>
        </p:txBody>
      </p:sp>
      <p:sp>
        <p:nvSpPr>
          <p:cNvPr id="14" name="Flow arrow 1"/>
          <p:cNvSpPr/>
          <p:nvPr/>
        </p:nvSpPr>
        <p:spPr>
          <a:xfrm>
            <a:off x="2505456" y="2948940"/>
            <a:ext cx="246888" cy="0"/>
          </a:xfrm>
          <a:prstGeom prst="line">
            <a:avLst/>
          </a:prstGeom>
          <a:noFill/>
          <a:ln w="15875">
            <a:solidFill>
              <a:srgbClr val="1A1A1A"/>
            </a:solidFill>
            <a:prstDash val="solid"/>
            <a:tailEnd type="triangle"/>
          </a:ln>
        </p:spPr>
      </p:sp>
      <p:sp>
        <p:nvSpPr>
          <p:cNvPr id="15" name="Text 13"/>
          <p:cNvSpPr txBox="1"/>
          <p:nvPr/>
        </p:nvSpPr>
        <p:spPr>
          <a:xfrm>
            <a:off x="278892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SCREENING</a:t>
            </a:r>
            <a:endParaRPr lang="en-US" sz="1050" dirty="0"/>
          </a:p>
        </p:txBody>
      </p:sp>
      <p:sp>
        <p:nvSpPr>
          <p:cNvPr id="16" name="Step Screening"/>
          <p:cNvSpPr/>
          <p:nvPr/>
        </p:nvSpPr>
        <p:spPr>
          <a:xfrm>
            <a:off x="2788920" y="2286000"/>
            <a:ext cx="1920240" cy="1325880"/>
          </a:xfrm>
          <a:prstGeom prst="rect">
            <a:avLst/>
          </a:prstGeom>
          <a:solidFill>
            <a:srgbClr val="FFFFFF"/>
          </a:solidFill>
          <a:ln w="12700">
            <a:solidFill>
              <a:srgbClr val="9AA3AE"/>
            </a:solidFill>
            <a:prstDash val="solid"/>
          </a:ln>
        </p:spPr>
      </p:sp>
      <p:sp>
        <p:nvSpPr>
          <p:cNvPr id="17" name="Text 15"/>
          <p:cNvSpPr txBox="1"/>
          <p:nvPr/>
        </p:nvSpPr>
        <p:spPr>
          <a:xfrm>
            <a:off x="288036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3,600</a:t>
            </a:r>
            <a:endParaRPr lang="en-US" sz="2600" dirty="0"/>
          </a:p>
          <a:p>
            <a:pPr algn="ctr" indent="0" marL="0">
              <a:buNone/>
            </a:pPr>
            <a:r>
              <a:rPr lang="en-US" sz="1300" dirty="0">
                <a:solidFill>
                  <a:schemeClr val="tx1"/>
                </a:solidFill>
              </a:rPr>
              <a:t>titles and abstracts screened</a:t>
            </a:r>
            <a:endParaRPr lang="en-US" sz="2600" dirty="0"/>
          </a:p>
        </p:txBody>
      </p:sp>
      <p:sp>
        <p:nvSpPr>
          <p:cNvPr id="18" name="Flow arrow 2"/>
          <p:cNvSpPr/>
          <p:nvPr/>
        </p:nvSpPr>
        <p:spPr>
          <a:xfrm>
            <a:off x="4745736" y="2948940"/>
            <a:ext cx="246888" cy="0"/>
          </a:xfrm>
          <a:prstGeom prst="line">
            <a:avLst/>
          </a:prstGeom>
          <a:noFill/>
          <a:ln w="15875">
            <a:solidFill>
              <a:srgbClr val="1A1A1A"/>
            </a:solidFill>
            <a:prstDash val="solid"/>
            <a:tailEnd type="triangle"/>
          </a:ln>
        </p:spPr>
      </p:sp>
      <p:sp>
        <p:nvSpPr>
          <p:cNvPr id="19" name="Text 17"/>
          <p:cNvSpPr txBox="1"/>
          <p:nvPr/>
        </p:nvSpPr>
        <p:spPr>
          <a:xfrm>
            <a:off x="502920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FULL TEXT</a:t>
            </a:r>
            <a:endParaRPr lang="en-US" sz="1050" dirty="0"/>
          </a:p>
        </p:txBody>
      </p:sp>
      <p:sp>
        <p:nvSpPr>
          <p:cNvPr id="20" name="Step Full text"/>
          <p:cNvSpPr/>
          <p:nvPr/>
        </p:nvSpPr>
        <p:spPr>
          <a:xfrm>
            <a:off x="5029200" y="2286000"/>
            <a:ext cx="1920240" cy="1325880"/>
          </a:xfrm>
          <a:prstGeom prst="rect">
            <a:avLst/>
          </a:prstGeom>
          <a:solidFill>
            <a:srgbClr val="FFFFFF"/>
          </a:solidFill>
          <a:ln w="12700">
            <a:solidFill>
              <a:srgbClr val="9AA3AE"/>
            </a:solidFill>
            <a:prstDash val="solid"/>
          </a:ln>
        </p:spPr>
      </p:sp>
      <p:sp>
        <p:nvSpPr>
          <p:cNvPr id="21" name="Text 19"/>
          <p:cNvSpPr txBox="1"/>
          <p:nvPr/>
        </p:nvSpPr>
        <p:spPr>
          <a:xfrm>
            <a:off x="512064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84</a:t>
            </a:r>
            <a:endParaRPr lang="en-US" sz="2600" dirty="0"/>
          </a:p>
          <a:p>
            <a:pPr algn="ctr" indent="0" marL="0">
              <a:buNone/>
            </a:pPr>
            <a:r>
              <a:rPr lang="en-US" sz="1300" dirty="0">
                <a:solidFill>
                  <a:schemeClr val="tx1"/>
                </a:solidFill>
              </a:rPr>
              <a:t>full texts read</a:t>
            </a:r>
            <a:endParaRPr lang="en-US" sz="2600" dirty="0"/>
          </a:p>
        </p:txBody>
      </p:sp>
      <p:sp>
        <p:nvSpPr>
          <p:cNvPr id="22" name="Flow arrow 3"/>
          <p:cNvSpPr/>
          <p:nvPr/>
        </p:nvSpPr>
        <p:spPr>
          <a:xfrm>
            <a:off x="6986016" y="2948940"/>
            <a:ext cx="246888" cy="0"/>
          </a:xfrm>
          <a:prstGeom prst="line">
            <a:avLst/>
          </a:prstGeom>
          <a:noFill/>
          <a:ln w="15875">
            <a:solidFill>
              <a:srgbClr val="1A1A1A"/>
            </a:solidFill>
            <a:prstDash val="solid"/>
            <a:tailEnd type="triangle"/>
          </a:ln>
        </p:spPr>
      </p:sp>
      <p:sp>
        <p:nvSpPr>
          <p:cNvPr id="23" name="Text 21"/>
          <p:cNvSpPr txBox="1"/>
          <p:nvPr/>
        </p:nvSpPr>
        <p:spPr>
          <a:xfrm>
            <a:off x="726948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INCLUDED</a:t>
            </a:r>
            <a:endParaRPr lang="en-US" sz="1050" dirty="0"/>
          </a:p>
        </p:txBody>
      </p:sp>
      <p:sp>
        <p:nvSpPr>
          <p:cNvPr id="24" name="Step Included"/>
          <p:cNvSpPr/>
          <p:nvPr/>
        </p:nvSpPr>
        <p:spPr>
          <a:xfrm>
            <a:off x="7269480" y="2286000"/>
            <a:ext cx="1920240" cy="1325880"/>
          </a:xfrm>
          <a:prstGeom prst="rect">
            <a:avLst/>
          </a:prstGeom>
          <a:solidFill>
            <a:srgbClr val="FFFFFF"/>
          </a:solidFill>
          <a:ln w="12700">
            <a:solidFill>
              <a:srgbClr val="9AA3AE"/>
            </a:solidFill>
            <a:prstDash val="solid"/>
          </a:ln>
        </p:spPr>
      </p:sp>
      <p:sp>
        <p:nvSpPr>
          <p:cNvPr id="25" name="Text 23"/>
          <p:cNvSpPr txBox="1"/>
          <p:nvPr/>
        </p:nvSpPr>
        <p:spPr>
          <a:xfrm>
            <a:off x="736092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52</a:t>
            </a:r>
            <a:endParaRPr lang="en-US" sz="2600" dirty="0"/>
          </a:p>
          <a:p>
            <a:pPr algn="ctr" indent="0" marL="0">
              <a:buNone/>
            </a:pPr>
            <a:r>
              <a:rPr lang="en-US" sz="1300" dirty="0">
                <a:solidFill>
                  <a:schemeClr val="tx1"/>
                </a:solidFill>
              </a:rPr>
              <a:t>studies</a:t>
            </a:r>
            <a:endParaRPr lang="en-US" sz="2600" dirty="0"/>
          </a:p>
        </p:txBody>
      </p:sp>
      <p:sp>
        <p:nvSpPr>
          <p:cNvPr id="26" name="Flow arrow 4"/>
          <p:cNvSpPr/>
          <p:nvPr/>
        </p:nvSpPr>
        <p:spPr>
          <a:xfrm>
            <a:off x="9226296" y="2948940"/>
            <a:ext cx="246888" cy="0"/>
          </a:xfrm>
          <a:prstGeom prst="line">
            <a:avLst/>
          </a:prstGeom>
          <a:noFill/>
          <a:ln w="15875">
            <a:solidFill>
              <a:srgbClr val="1A1A1A"/>
            </a:solidFill>
            <a:prstDash val="solid"/>
            <a:tailEnd type="triangle"/>
          </a:ln>
        </p:spPr>
      </p:sp>
      <p:sp>
        <p:nvSpPr>
          <p:cNvPr id="27" name="Text 25"/>
          <p:cNvSpPr txBox="1"/>
          <p:nvPr/>
        </p:nvSpPr>
        <p:spPr>
          <a:xfrm>
            <a:off x="950976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1"/>
                </a:solidFill>
              </a:rPr>
              <a:t>FINAL DATASET</a:t>
            </a:r>
            <a:endParaRPr lang="en-US" sz="1050" dirty="0"/>
          </a:p>
        </p:txBody>
      </p:sp>
      <p:sp>
        <p:nvSpPr>
          <p:cNvPr id="28" name="Step Final dataset"/>
          <p:cNvSpPr/>
          <p:nvPr/>
        </p:nvSpPr>
        <p:spPr>
          <a:xfrm>
            <a:off x="9509760" y="2286000"/>
            <a:ext cx="1920240" cy="1325880"/>
          </a:xfrm>
          <a:prstGeom prst="rect">
            <a:avLst/>
          </a:prstGeom>
          <a:solidFill>
            <a:srgbClr val="1F3A5F"/>
          </a:solidFill>
          <a:ln w="12700">
            <a:solidFill>
              <a:srgbClr val="1F3A5F"/>
            </a:solidFill>
            <a:prstDash val="solid"/>
          </a:ln>
        </p:spPr>
      </p:sp>
      <p:sp>
        <p:nvSpPr>
          <p:cNvPr id="29" name="Text 27"/>
          <p:cNvSpPr txBox="1"/>
          <p:nvPr/>
        </p:nvSpPr>
        <p:spPr>
          <a:xfrm>
            <a:off x="9601200" y="2359152"/>
            <a:ext cx="1737360" cy="1179576"/>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36</a:t>
            </a:r>
            <a:endParaRPr lang="en-US" sz="2600" dirty="0"/>
          </a:p>
          <a:p>
            <a:pPr algn="ctr" indent="0" marL="0">
              <a:buNone/>
            </a:pPr>
            <a:r>
              <a:rPr lang="en-US" sz="1300" dirty="0">
                <a:solidFill>
                  <a:schemeClr val="bg1"/>
                </a:solidFill>
              </a:rPr>
              <a:t>campaigns</a:t>
            </a:r>
            <a:endParaRPr lang="en-US" sz="2600" dirty="0"/>
          </a:p>
          <a:p>
            <a:pPr algn="ctr" indent="0" marL="0">
              <a:buNone/>
            </a:pPr>
            <a:r>
              <a:rPr lang="en-US" sz="1050" i="1" dirty="0">
                <a:solidFill>
                  <a:schemeClr val="bg1"/>
                </a:solidFill>
              </a:rPr>
              <a:t>742 rows; papers on the same cohort merged</a:t>
            </a:r>
            <a:endParaRPr lang="en-US" sz="2600" dirty="0"/>
          </a:p>
        </p:txBody>
      </p:sp>
      <p:sp>
        <p:nvSpPr>
          <p:cNvPr id="30" name="Removed 1"/>
          <p:cNvSpPr/>
          <p:nvPr/>
        </p:nvSpPr>
        <p:spPr>
          <a:xfrm>
            <a:off x="2628900" y="2994660"/>
            <a:ext cx="0" cy="960120"/>
          </a:xfrm>
          <a:prstGeom prst="line">
            <a:avLst/>
          </a:prstGeom>
          <a:noFill/>
          <a:ln w="9525">
            <a:solidFill>
              <a:srgbClr val="9AA3AE"/>
            </a:solidFill>
            <a:prstDash val="dash"/>
            <a:tailEnd type="triangle"/>
          </a:ln>
        </p:spPr>
      </p:sp>
      <p:sp>
        <p:nvSpPr>
          <p:cNvPr id="31" name="Text 29"/>
          <p:cNvSpPr txBox="1"/>
          <p:nvPr/>
        </p:nvSpPr>
        <p:spPr>
          <a:xfrm>
            <a:off x="162306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2,141 duplicates removed</a:t>
            </a:r>
            <a:endParaRPr lang="en-US" sz="1100" dirty="0"/>
          </a:p>
        </p:txBody>
      </p:sp>
      <p:sp>
        <p:nvSpPr>
          <p:cNvPr id="32" name="Removed 2"/>
          <p:cNvSpPr/>
          <p:nvPr/>
        </p:nvSpPr>
        <p:spPr>
          <a:xfrm>
            <a:off x="4869180" y="2994660"/>
            <a:ext cx="0" cy="960120"/>
          </a:xfrm>
          <a:prstGeom prst="line">
            <a:avLst/>
          </a:prstGeom>
          <a:noFill/>
          <a:ln w="9525">
            <a:solidFill>
              <a:srgbClr val="9AA3AE"/>
            </a:solidFill>
            <a:prstDash val="dash"/>
            <a:tailEnd type="triangle"/>
          </a:ln>
        </p:spPr>
      </p:sp>
      <p:sp>
        <p:nvSpPr>
          <p:cNvPr id="33" name="Text 31"/>
          <p:cNvSpPr txBox="1"/>
          <p:nvPr/>
        </p:nvSpPr>
        <p:spPr>
          <a:xfrm>
            <a:off x="386334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2,493 excluded, mostly no unloading model or no muscle outcome</a:t>
            </a:r>
            <a:endParaRPr lang="en-US" sz="1100" dirty="0"/>
          </a:p>
        </p:txBody>
      </p:sp>
      <p:sp>
        <p:nvSpPr>
          <p:cNvPr id="34" name="Removed 3"/>
          <p:cNvSpPr/>
          <p:nvPr/>
        </p:nvSpPr>
        <p:spPr>
          <a:xfrm>
            <a:off x="7109460" y="2994660"/>
            <a:ext cx="0" cy="960120"/>
          </a:xfrm>
          <a:prstGeom prst="line">
            <a:avLst/>
          </a:prstGeom>
          <a:noFill/>
          <a:ln w="9525">
            <a:solidFill>
              <a:srgbClr val="9AA3AE"/>
            </a:solidFill>
            <a:prstDash val="dash"/>
            <a:tailEnd type="triangle"/>
          </a:ln>
        </p:spPr>
      </p:sp>
      <p:sp>
        <p:nvSpPr>
          <p:cNvPr id="35" name="Text 33"/>
          <p:cNvSpPr txBox="1"/>
          <p:nvPr/>
        </p:nvSpPr>
        <p:spPr>
          <a:xfrm>
            <a:off x="610362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19 report muscle results only as charts, without a baseline value</a:t>
            </a:r>
            <a:endParaRPr lang="en-US" sz="1100" dirty="0"/>
          </a:p>
          <a:p>
            <a:pPr algn="ctr" indent="0" marL="0">
              <a:buNone/>
            </a:pPr>
            <a:r>
              <a:rPr lang="en-US" sz="1100" dirty="0">
                <a:solidFill>
                  <a:schemeClr val="accent3"/>
                </a:solidFill>
              </a:rPr>
              <a:t>4 full texts not available</a:t>
            </a:r>
            <a:endParaRPr lang="en-US" sz="1100" dirty="0"/>
          </a:p>
        </p:txBody>
      </p:sp>
      <p:sp>
        <p:nvSpPr>
          <p:cNvPr id="36" name="Text 34"/>
          <p:cNvSpPr txBox="1"/>
          <p:nvPr/>
        </p:nvSpPr>
        <p:spPr>
          <a:xfrm>
            <a:off x="548640" y="5806440"/>
            <a:ext cx="6400800" cy="274320"/>
          </a:xfrm>
          <a:prstGeom prst="rect">
            <a:avLst/>
          </a:prstGeom>
          <a:noFill/>
          <a:ln/>
        </p:spPr>
        <p:txBody>
          <a:bodyPr wrap="square" lIns="0" tIns="0" rIns="0" bIns="0" rtlCol="0" anchor="t"/>
          <a:lstStyle/>
          <a:p>
            <a:pPr indent="0" marL="0">
              <a:buNone/>
            </a:pPr>
            <a:r>
              <a:rPr lang="en-US" sz="1100" i="1" dirty="0">
                <a:solidFill>
                  <a:schemeClr val="accent3"/>
                </a:solidFill>
              </a:rPr>
              <a:t>Flow of records in the style of PRISMA 2020, the standard for reporting systematic reviews.</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does the dataset look like?</a:t>
            </a:r>
            <a:endParaRPr lang="en-US" sz="2800" dirty="0"/>
          </a:p>
        </p:txBody>
      </p:sp>
      <p:sp>
        <p:nvSpPr>
          <p:cNvPr id="11" name="Text 9"/>
          <p:cNvSpPr txBox="1"/>
          <p:nvPr/>
        </p:nvSpPr>
        <p:spPr>
          <a:xfrm>
            <a:off x="548640" y="1143000"/>
            <a:ext cx="11064240" cy="292608"/>
          </a:xfrm>
          <a:prstGeom prst="rect">
            <a:avLst/>
          </a:prstGeom>
          <a:noFill/>
          <a:ln/>
        </p:spPr>
        <p:txBody>
          <a:bodyPr wrap="square" lIns="0" tIns="0" rIns="0" bIns="0" rtlCol="0" anchor="t"/>
          <a:lstStyle/>
          <a:p>
            <a:pPr indent="0" marL="0">
              <a:buNone/>
            </a:pPr>
            <a:r>
              <a:rPr lang="en-US" sz="1500" b="1" dirty="0">
                <a:solidFill>
                  <a:schemeClr val="tx2"/>
                </a:solidFill>
              </a:rPr>
              <a:t>One row = one muscle outcome of one group at one scan day</a:t>
            </a:r>
            <a:endParaRPr lang="en-US" sz="1500" dirty="0"/>
          </a:p>
        </p:txBody>
      </p:sp>
      <p:sp>
        <p:nvSpPr>
          <p:cNvPr id="12" name="Text 10"/>
          <p:cNvSpPr txBox="1"/>
          <p:nvPr/>
        </p:nvSpPr>
        <p:spPr>
          <a:xfrm>
            <a:off x="548640" y="1536192"/>
            <a:ext cx="1097280" cy="228600"/>
          </a:xfrm>
          <a:prstGeom prst="rect">
            <a:avLst/>
          </a:prstGeom>
          <a:noFill/>
          <a:ln/>
        </p:spPr>
        <p:txBody>
          <a:bodyPr wrap="square" lIns="0" tIns="0" rIns="0" bIns="0" rtlCol="0" anchor="t"/>
          <a:lstStyle/>
          <a:p>
            <a:pPr algn="ctr" indent="0" marL="0">
              <a:buNone/>
            </a:pPr>
            <a:r>
              <a:rPr lang="en-US" sz="1050" dirty="0">
                <a:solidFill>
                  <a:schemeClr val="accent3"/>
                </a:solidFill>
              </a:rPr>
              <a:t>Unloading</a:t>
            </a:r>
            <a:endParaRPr lang="en-US" sz="1050" dirty="0"/>
          </a:p>
        </p:txBody>
      </p:sp>
      <p:sp>
        <p:nvSpPr>
          <p:cNvPr id="13" name="Field Unloading"/>
          <p:cNvSpPr/>
          <p:nvPr/>
        </p:nvSpPr>
        <p:spPr>
          <a:xfrm>
            <a:off x="548640" y="1783080"/>
            <a:ext cx="1097280" cy="457200"/>
          </a:xfrm>
          <a:prstGeom prst="rect">
            <a:avLst/>
          </a:prstGeom>
          <a:solidFill>
            <a:srgbClr val="FFFFFF"/>
          </a:solidFill>
          <a:ln w="12700">
            <a:solidFill>
              <a:srgbClr val="9AA3AE"/>
            </a:solidFill>
            <a:prstDash val="solid"/>
          </a:ln>
        </p:spPr>
      </p:sp>
      <p:sp>
        <p:nvSpPr>
          <p:cNvPr id="14" name="Text 12"/>
          <p:cNvSpPr txBox="1"/>
          <p:nvPr/>
        </p:nvSpPr>
        <p:spPr>
          <a:xfrm>
            <a:off x="548640" y="1783080"/>
            <a:ext cx="1097280" cy="457200"/>
          </a:xfrm>
          <a:prstGeom prst="rect">
            <a:avLst/>
          </a:prstGeom>
          <a:noFill/>
          <a:ln/>
        </p:spPr>
        <p:txBody>
          <a:bodyPr wrap="square" lIns="0" tIns="0" rIns="0" bIns="0" rtlCol="0" anchor="ctr"/>
          <a:lstStyle/>
          <a:p>
            <a:pPr algn="ctr" indent="0" marL="0">
              <a:buNone/>
            </a:pPr>
            <a:r>
              <a:rPr lang="en-US" sz="1250" dirty="0">
                <a:solidFill>
                  <a:schemeClr val="tx1"/>
                </a:solidFill>
              </a:rPr>
              <a:t>60 days</a:t>
            </a:r>
            <a:endParaRPr lang="en-US" sz="1250" dirty="0"/>
          </a:p>
        </p:txBody>
      </p:sp>
      <p:sp>
        <p:nvSpPr>
          <p:cNvPr id="15" name="Text 13"/>
          <p:cNvSpPr txBox="1"/>
          <p:nvPr/>
        </p:nvSpPr>
        <p:spPr>
          <a:xfrm>
            <a:off x="1682496" y="1536192"/>
            <a:ext cx="868680" cy="228600"/>
          </a:xfrm>
          <a:prstGeom prst="rect">
            <a:avLst/>
          </a:prstGeom>
          <a:noFill/>
          <a:ln/>
        </p:spPr>
        <p:txBody>
          <a:bodyPr wrap="square" lIns="0" tIns="0" rIns="0" bIns="0" rtlCol="0" anchor="t"/>
          <a:lstStyle/>
          <a:p>
            <a:pPr algn="ctr" indent="0" marL="0">
              <a:buNone/>
            </a:pPr>
            <a:r>
              <a:rPr lang="en-US" sz="1050" dirty="0">
                <a:solidFill>
                  <a:schemeClr val="accent3"/>
                </a:solidFill>
              </a:rPr>
              <a:t>Scan day</a:t>
            </a:r>
            <a:endParaRPr lang="en-US" sz="1050" dirty="0"/>
          </a:p>
        </p:txBody>
      </p:sp>
      <p:sp>
        <p:nvSpPr>
          <p:cNvPr id="16" name="Field Scan day"/>
          <p:cNvSpPr/>
          <p:nvPr/>
        </p:nvSpPr>
        <p:spPr>
          <a:xfrm>
            <a:off x="1682496" y="1783080"/>
            <a:ext cx="868680" cy="457200"/>
          </a:xfrm>
          <a:prstGeom prst="rect">
            <a:avLst/>
          </a:prstGeom>
          <a:solidFill>
            <a:srgbClr val="FFFFFF"/>
          </a:solidFill>
          <a:ln w="12700">
            <a:solidFill>
              <a:srgbClr val="9AA3AE"/>
            </a:solidFill>
            <a:prstDash val="solid"/>
          </a:ln>
        </p:spPr>
      </p:sp>
      <p:sp>
        <p:nvSpPr>
          <p:cNvPr id="17" name="Text 15"/>
          <p:cNvSpPr txBox="1"/>
          <p:nvPr/>
        </p:nvSpPr>
        <p:spPr>
          <a:xfrm>
            <a:off x="1682496" y="1783080"/>
            <a:ext cx="868680" cy="457200"/>
          </a:xfrm>
          <a:prstGeom prst="rect">
            <a:avLst/>
          </a:prstGeom>
          <a:noFill/>
          <a:ln/>
        </p:spPr>
        <p:txBody>
          <a:bodyPr wrap="square" lIns="0" tIns="0" rIns="0" bIns="0" rtlCol="0" anchor="ctr"/>
          <a:lstStyle/>
          <a:p>
            <a:pPr algn="ctr" indent="0" marL="0">
              <a:buNone/>
            </a:pPr>
            <a:r>
              <a:rPr lang="en-US" sz="1250" dirty="0">
                <a:solidFill>
                  <a:schemeClr val="tx1"/>
                </a:solidFill>
              </a:rPr>
              <a:t>59</a:t>
            </a:r>
            <a:endParaRPr lang="en-US" sz="1250" dirty="0"/>
          </a:p>
        </p:txBody>
      </p:sp>
      <p:sp>
        <p:nvSpPr>
          <p:cNvPr id="18" name="Text 16"/>
          <p:cNvSpPr txBox="1"/>
          <p:nvPr/>
        </p:nvSpPr>
        <p:spPr>
          <a:xfrm>
            <a:off x="2587752" y="1536192"/>
            <a:ext cx="1508760" cy="228600"/>
          </a:xfrm>
          <a:prstGeom prst="rect">
            <a:avLst/>
          </a:prstGeom>
          <a:noFill/>
          <a:ln/>
        </p:spPr>
        <p:txBody>
          <a:bodyPr wrap="square" lIns="0" tIns="0" rIns="0" bIns="0" rtlCol="0" anchor="t"/>
          <a:lstStyle/>
          <a:p>
            <a:pPr algn="ctr" indent="0" marL="0">
              <a:buNone/>
            </a:pPr>
            <a:r>
              <a:rPr lang="en-US" sz="1050" dirty="0">
                <a:solidFill>
                  <a:schemeClr val="accent3"/>
                </a:solidFill>
              </a:rPr>
              <a:t>Muscle</a:t>
            </a:r>
            <a:endParaRPr lang="en-US" sz="1050" dirty="0"/>
          </a:p>
        </p:txBody>
      </p:sp>
      <p:sp>
        <p:nvSpPr>
          <p:cNvPr id="19" name="Field Muscle"/>
          <p:cNvSpPr/>
          <p:nvPr/>
        </p:nvSpPr>
        <p:spPr>
          <a:xfrm>
            <a:off x="2587752" y="1783080"/>
            <a:ext cx="1508760" cy="457200"/>
          </a:xfrm>
          <a:prstGeom prst="rect">
            <a:avLst/>
          </a:prstGeom>
          <a:solidFill>
            <a:srgbClr val="FFFFFF"/>
          </a:solidFill>
          <a:ln w="12700">
            <a:solidFill>
              <a:srgbClr val="9AA3AE"/>
            </a:solidFill>
            <a:prstDash val="solid"/>
          </a:ln>
        </p:spPr>
      </p:sp>
      <p:sp>
        <p:nvSpPr>
          <p:cNvPr id="20" name="Text 18"/>
          <p:cNvSpPr txBox="1"/>
          <p:nvPr/>
        </p:nvSpPr>
        <p:spPr>
          <a:xfrm>
            <a:off x="2587752" y="1783080"/>
            <a:ext cx="1508760" cy="457200"/>
          </a:xfrm>
          <a:prstGeom prst="rect">
            <a:avLst/>
          </a:prstGeom>
          <a:noFill/>
          <a:ln/>
        </p:spPr>
        <p:txBody>
          <a:bodyPr wrap="square" lIns="0" tIns="0" rIns="0" bIns="0" rtlCol="0" anchor="ctr"/>
          <a:lstStyle/>
          <a:p>
            <a:pPr algn="ctr" indent="0" marL="0">
              <a:buNone/>
            </a:pPr>
            <a:r>
              <a:rPr lang="en-US" sz="1250" dirty="0">
                <a:solidFill>
                  <a:schemeClr val="tx1"/>
                </a:solidFill>
              </a:rPr>
              <a:t>gluteus maximus</a:t>
            </a:r>
            <a:endParaRPr lang="en-US" sz="1250" dirty="0"/>
          </a:p>
        </p:txBody>
      </p:sp>
      <p:sp>
        <p:nvSpPr>
          <p:cNvPr id="21" name="Text 19"/>
          <p:cNvSpPr txBox="1"/>
          <p:nvPr/>
        </p:nvSpPr>
        <p:spPr>
          <a:xfrm>
            <a:off x="4133088" y="1536192"/>
            <a:ext cx="1965960" cy="228600"/>
          </a:xfrm>
          <a:prstGeom prst="rect">
            <a:avLst/>
          </a:prstGeom>
          <a:noFill/>
          <a:ln/>
        </p:spPr>
        <p:txBody>
          <a:bodyPr wrap="square" lIns="0" tIns="0" rIns="0" bIns="0" rtlCol="0" anchor="t"/>
          <a:lstStyle/>
          <a:p>
            <a:pPr algn="ctr" indent="0" marL="0">
              <a:buNone/>
            </a:pPr>
            <a:r>
              <a:rPr lang="en-US" sz="1050" dirty="0">
                <a:solidFill>
                  <a:schemeClr val="accent3"/>
                </a:solidFill>
              </a:rPr>
              <a:t>Participants</a:t>
            </a:r>
            <a:endParaRPr lang="en-US" sz="1050" dirty="0"/>
          </a:p>
        </p:txBody>
      </p:sp>
      <p:sp>
        <p:nvSpPr>
          <p:cNvPr id="22" name="Field Participants"/>
          <p:cNvSpPr/>
          <p:nvPr/>
        </p:nvSpPr>
        <p:spPr>
          <a:xfrm>
            <a:off x="4133088" y="1783080"/>
            <a:ext cx="1965960" cy="457200"/>
          </a:xfrm>
          <a:prstGeom prst="rect">
            <a:avLst/>
          </a:prstGeom>
          <a:solidFill>
            <a:srgbClr val="FFFFFF"/>
          </a:solidFill>
          <a:ln w="12700">
            <a:solidFill>
              <a:srgbClr val="9AA3AE"/>
            </a:solidFill>
            <a:prstDash val="solid"/>
          </a:ln>
        </p:spPr>
      </p:sp>
      <p:sp>
        <p:nvSpPr>
          <p:cNvPr id="23" name="Text 21"/>
          <p:cNvSpPr txBox="1"/>
          <p:nvPr/>
        </p:nvSpPr>
        <p:spPr>
          <a:xfrm>
            <a:off x="4133088" y="1783080"/>
            <a:ext cx="1965960" cy="457200"/>
          </a:xfrm>
          <a:prstGeom prst="rect">
            <a:avLst/>
          </a:prstGeom>
          <a:noFill/>
          <a:ln/>
        </p:spPr>
        <p:txBody>
          <a:bodyPr wrap="square" lIns="0" tIns="0" rIns="0" bIns="0" rtlCol="0" anchor="ctr"/>
          <a:lstStyle/>
          <a:p>
            <a:pPr algn="ctr" indent="0" marL="0">
              <a:buNone/>
            </a:pPr>
            <a:r>
              <a:rPr lang="en-US" sz="1250" dirty="0">
                <a:solidFill>
                  <a:schemeClr val="tx1"/>
                </a:solidFill>
              </a:rPr>
              <a:t>8; 25% women; age 34</a:t>
            </a:r>
            <a:endParaRPr lang="en-US" sz="1250" dirty="0"/>
          </a:p>
        </p:txBody>
      </p:sp>
      <p:sp>
        <p:nvSpPr>
          <p:cNvPr id="24" name="Text 22"/>
          <p:cNvSpPr txBox="1"/>
          <p:nvPr/>
        </p:nvSpPr>
        <p:spPr>
          <a:xfrm>
            <a:off x="6135624" y="1536192"/>
            <a:ext cx="1417320" cy="228600"/>
          </a:xfrm>
          <a:prstGeom prst="rect">
            <a:avLst/>
          </a:prstGeom>
          <a:noFill/>
          <a:ln/>
        </p:spPr>
        <p:txBody>
          <a:bodyPr wrap="square" lIns="0" tIns="0" rIns="0" bIns="0" rtlCol="0" anchor="t"/>
          <a:lstStyle/>
          <a:p>
            <a:pPr algn="ctr" indent="0" marL="0">
              <a:buNone/>
            </a:pPr>
            <a:r>
              <a:rPr lang="en-US" sz="1050" dirty="0">
                <a:solidFill>
                  <a:schemeClr val="accent3"/>
                </a:solidFill>
              </a:rPr>
              <a:t>Countermeasure</a:t>
            </a:r>
            <a:endParaRPr lang="en-US" sz="1050" dirty="0"/>
          </a:p>
        </p:txBody>
      </p:sp>
      <p:sp>
        <p:nvSpPr>
          <p:cNvPr id="25" name="Field Countermeasure"/>
          <p:cNvSpPr/>
          <p:nvPr/>
        </p:nvSpPr>
        <p:spPr>
          <a:xfrm>
            <a:off x="6135624" y="1783080"/>
            <a:ext cx="1417320" cy="457200"/>
          </a:xfrm>
          <a:prstGeom prst="rect">
            <a:avLst/>
          </a:prstGeom>
          <a:solidFill>
            <a:srgbClr val="FFFFFF"/>
          </a:solidFill>
          <a:ln w="12700">
            <a:solidFill>
              <a:srgbClr val="9AA3AE"/>
            </a:solidFill>
            <a:prstDash val="solid"/>
          </a:ln>
        </p:spPr>
      </p:sp>
      <p:sp>
        <p:nvSpPr>
          <p:cNvPr id="26" name="Text 24"/>
          <p:cNvSpPr txBox="1"/>
          <p:nvPr/>
        </p:nvSpPr>
        <p:spPr>
          <a:xfrm>
            <a:off x="6135624" y="1783080"/>
            <a:ext cx="1417320" cy="457200"/>
          </a:xfrm>
          <a:prstGeom prst="rect">
            <a:avLst/>
          </a:prstGeom>
          <a:noFill/>
          <a:ln/>
        </p:spPr>
        <p:txBody>
          <a:bodyPr wrap="square" lIns="0" tIns="0" rIns="0" bIns="0" rtlCol="0" anchor="ctr"/>
          <a:lstStyle/>
          <a:p>
            <a:pPr algn="ctr" indent="0" marL="0">
              <a:buNone/>
            </a:pPr>
            <a:r>
              <a:rPr lang="en-US" sz="1250" dirty="0">
                <a:solidFill>
                  <a:schemeClr val="tx1"/>
                </a:solidFill>
              </a:rPr>
              <a:t>none (control)</a:t>
            </a:r>
            <a:endParaRPr lang="en-US" sz="1250" dirty="0"/>
          </a:p>
        </p:txBody>
      </p:sp>
      <p:sp>
        <p:nvSpPr>
          <p:cNvPr id="27" name="Text 25"/>
          <p:cNvSpPr txBox="1"/>
          <p:nvPr/>
        </p:nvSpPr>
        <p:spPr>
          <a:xfrm>
            <a:off x="7589520" y="1536192"/>
            <a:ext cx="822960" cy="228600"/>
          </a:xfrm>
          <a:prstGeom prst="rect">
            <a:avLst/>
          </a:prstGeom>
          <a:noFill/>
          <a:ln/>
        </p:spPr>
        <p:txBody>
          <a:bodyPr wrap="square" lIns="0" tIns="0" rIns="0" bIns="0" rtlCol="0" anchor="t"/>
          <a:lstStyle/>
          <a:p>
            <a:pPr algn="ctr" indent="0" marL="0">
              <a:buNone/>
            </a:pPr>
            <a:r>
              <a:rPr lang="en-US" sz="1050" dirty="0">
                <a:solidFill>
                  <a:schemeClr val="accent3"/>
                </a:solidFill>
              </a:rPr>
              <a:t>Method</a:t>
            </a:r>
            <a:endParaRPr lang="en-US" sz="1050" dirty="0"/>
          </a:p>
        </p:txBody>
      </p:sp>
      <p:sp>
        <p:nvSpPr>
          <p:cNvPr id="28" name="Field Method"/>
          <p:cNvSpPr/>
          <p:nvPr/>
        </p:nvSpPr>
        <p:spPr>
          <a:xfrm>
            <a:off x="7589520" y="1783080"/>
            <a:ext cx="822960" cy="457200"/>
          </a:xfrm>
          <a:prstGeom prst="rect">
            <a:avLst/>
          </a:prstGeom>
          <a:solidFill>
            <a:srgbClr val="FFFFFF"/>
          </a:solidFill>
          <a:ln w="12700">
            <a:solidFill>
              <a:srgbClr val="9AA3AE"/>
            </a:solidFill>
            <a:prstDash val="solid"/>
          </a:ln>
        </p:spPr>
      </p:sp>
      <p:sp>
        <p:nvSpPr>
          <p:cNvPr id="29" name="Text 27"/>
          <p:cNvSpPr txBox="1"/>
          <p:nvPr/>
        </p:nvSpPr>
        <p:spPr>
          <a:xfrm>
            <a:off x="7589520" y="1783080"/>
            <a:ext cx="822960" cy="457200"/>
          </a:xfrm>
          <a:prstGeom prst="rect">
            <a:avLst/>
          </a:prstGeom>
          <a:noFill/>
          <a:ln/>
        </p:spPr>
        <p:txBody>
          <a:bodyPr wrap="square" lIns="0" tIns="0" rIns="0" bIns="0" rtlCol="0" anchor="ctr"/>
          <a:lstStyle/>
          <a:p>
            <a:pPr algn="ctr" indent="0" marL="0">
              <a:buNone/>
            </a:pPr>
            <a:r>
              <a:rPr lang="en-US" sz="1250" dirty="0">
                <a:solidFill>
                  <a:schemeClr val="tx1"/>
                </a:solidFill>
              </a:rPr>
              <a:t>MRI</a:t>
            </a:r>
            <a:endParaRPr lang="en-US" sz="1250" dirty="0"/>
          </a:p>
        </p:txBody>
      </p:sp>
      <p:sp>
        <p:nvSpPr>
          <p:cNvPr id="30" name="Text 28"/>
          <p:cNvSpPr txBox="1"/>
          <p:nvPr/>
        </p:nvSpPr>
        <p:spPr>
          <a:xfrm>
            <a:off x="8449056" y="1536192"/>
            <a:ext cx="1051560" cy="228600"/>
          </a:xfrm>
          <a:prstGeom prst="rect">
            <a:avLst/>
          </a:prstGeom>
          <a:noFill/>
          <a:ln/>
        </p:spPr>
        <p:txBody>
          <a:bodyPr wrap="square" lIns="0" tIns="0" rIns="0" bIns="0" rtlCol="0" anchor="t"/>
          <a:lstStyle/>
          <a:p>
            <a:pPr algn="ctr" indent="0" marL="0">
              <a:buNone/>
            </a:pPr>
            <a:r>
              <a:rPr lang="en-US" sz="1050" dirty="0">
                <a:solidFill>
                  <a:schemeClr val="accent3"/>
                </a:solidFill>
              </a:rPr>
              <a:t>Size measure</a:t>
            </a:r>
            <a:endParaRPr lang="en-US" sz="1050" dirty="0"/>
          </a:p>
        </p:txBody>
      </p:sp>
      <p:sp>
        <p:nvSpPr>
          <p:cNvPr id="31" name="Field Size measure"/>
          <p:cNvSpPr/>
          <p:nvPr/>
        </p:nvSpPr>
        <p:spPr>
          <a:xfrm>
            <a:off x="8449056" y="1783080"/>
            <a:ext cx="1051560" cy="457200"/>
          </a:xfrm>
          <a:prstGeom prst="rect">
            <a:avLst/>
          </a:prstGeom>
          <a:solidFill>
            <a:srgbClr val="FFFFFF"/>
          </a:solidFill>
          <a:ln w="12700">
            <a:solidFill>
              <a:srgbClr val="9AA3AE"/>
            </a:solidFill>
            <a:prstDash val="solid"/>
          </a:ln>
        </p:spPr>
      </p:sp>
      <p:sp>
        <p:nvSpPr>
          <p:cNvPr id="32" name="Text 30"/>
          <p:cNvSpPr txBox="1"/>
          <p:nvPr/>
        </p:nvSpPr>
        <p:spPr>
          <a:xfrm>
            <a:off x="8449056" y="1783080"/>
            <a:ext cx="1051560" cy="457200"/>
          </a:xfrm>
          <a:prstGeom prst="rect">
            <a:avLst/>
          </a:prstGeom>
          <a:noFill/>
          <a:ln/>
        </p:spPr>
        <p:txBody>
          <a:bodyPr wrap="square" lIns="0" tIns="0" rIns="0" bIns="0" rtlCol="0" anchor="ctr"/>
          <a:lstStyle/>
          <a:p>
            <a:pPr algn="ctr" indent="0" marL="0">
              <a:buNone/>
            </a:pPr>
            <a:r>
              <a:rPr lang="en-US" sz="1250" dirty="0">
                <a:solidFill>
                  <a:schemeClr val="tx1"/>
                </a:solidFill>
              </a:rPr>
              <a:t>volume</a:t>
            </a:r>
            <a:endParaRPr lang="en-US" sz="1250" dirty="0"/>
          </a:p>
        </p:txBody>
      </p:sp>
      <p:sp>
        <p:nvSpPr>
          <p:cNvPr id="33" name="Row to target"/>
          <p:cNvSpPr/>
          <p:nvPr/>
        </p:nvSpPr>
        <p:spPr>
          <a:xfrm>
            <a:off x="9592056" y="2011680"/>
            <a:ext cx="384048" cy="0"/>
          </a:xfrm>
          <a:prstGeom prst="line">
            <a:avLst/>
          </a:prstGeom>
          <a:noFill/>
          <a:ln w="15875">
            <a:solidFill>
              <a:srgbClr val="1A1A1A"/>
            </a:solidFill>
            <a:prstDash val="solid"/>
            <a:tailEnd type="triangle"/>
          </a:ln>
        </p:spPr>
      </p:sp>
      <p:sp>
        <p:nvSpPr>
          <p:cNvPr id="34" name="Text 32"/>
          <p:cNvSpPr txBox="1"/>
          <p:nvPr/>
        </p:nvSpPr>
        <p:spPr>
          <a:xfrm>
            <a:off x="9765792" y="1536192"/>
            <a:ext cx="1847088" cy="228600"/>
          </a:xfrm>
          <a:prstGeom prst="rect">
            <a:avLst/>
          </a:prstGeom>
          <a:noFill/>
          <a:ln/>
        </p:spPr>
        <p:txBody>
          <a:bodyPr wrap="square" lIns="0" tIns="0" rIns="0" bIns="0" rtlCol="0" anchor="t"/>
          <a:lstStyle/>
          <a:p>
            <a:pPr algn="ctr" indent="0" marL="0">
              <a:buNone/>
            </a:pPr>
            <a:r>
              <a:rPr lang="en-US" sz="1050" b="1" dirty="0">
                <a:solidFill>
                  <a:schemeClr val="accent1"/>
                </a:solidFill>
              </a:rPr>
              <a:t>Target: % change</a:t>
            </a:r>
            <a:endParaRPr lang="en-US" sz="1050" dirty="0"/>
          </a:p>
        </p:txBody>
      </p:sp>
      <p:sp>
        <p:nvSpPr>
          <p:cNvPr id="35" name="Target"/>
          <p:cNvSpPr/>
          <p:nvPr/>
        </p:nvSpPr>
        <p:spPr>
          <a:xfrm>
            <a:off x="10040112" y="1783080"/>
            <a:ext cx="1572768" cy="457200"/>
          </a:xfrm>
          <a:prstGeom prst="rect">
            <a:avLst/>
          </a:prstGeom>
          <a:solidFill>
            <a:srgbClr val="A23B2A"/>
          </a:solidFill>
          <a:ln/>
        </p:spPr>
      </p:sp>
      <p:sp>
        <p:nvSpPr>
          <p:cNvPr id="36" name="Text 34"/>
          <p:cNvSpPr txBox="1"/>
          <p:nvPr/>
        </p:nvSpPr>
        <p:spPr>
          <a:xfrm>
            <a:off x="10040112" y="1783080"/>
            <a:ext cx="1572768" cy="457200"/>
          </a:xfrm>
          <a:prstGeom prst="rect">
            <a:avLst/>
          </a:prstGeom>
          <a:noFill/>
          <a:ln/>
        </p:spPr>
        <p:txBody>
          <a:bodyPr wrap="square" lIns="0" tIns="0" rIns="0" bIns="0" rtlCol="0" anchor="ctr"/>
          <a:lstStyle/>
          <a:p>
            <a:pPr algn="ctr" indent="0" marL="0">
              <a:buNone/>
            </a:pPr>
            <a:r>
              <a:rPr lang="en-US" sz="1600" b="1" dirty="0">
                <a:solidFill>
                  <a:schemeClr val="bg1"/>
                </a:solidFill>
              </a:rPr>
              <a:t>−9.4%</a:t>
            </a:r>
            <a:endParaRPr lang="en-US" sz="1600" dirty="0"/>
          </a:p>
        </p:txBody>
      </p:sp>
      <p:sp>
        <p:nvSpPr>
          <p:cNvPr id="37" name="Text 35"/>
          <p:cNvSpPr txBox="1"/>
          <p:nvPr/>
        </p:nvSpPr>
        <p:spPr>
          <a:xfrm>
            <a:off x="548640" y="2313432"/>
            <a:ext cx="11064240" cy="228600"/>
          </a:xfrm>
          <a:prstGeom prst="rect">
            <a:avLst/>
          </a:prstGeom>
          <a:noFill/>
          <a:ln/>
        </p:spPr>
        <p:txBody>
          <a:bodyPr wrap="square" lIns="0" tIns="0" rIns="0" bIns="0" rtlCol="0" anchor="t"/>
          <a:lstStyle/>
          <a:p>
            <a:pPr indent="0" marL="0">
              <a:buNone/>
            </a:pPr>
            <a:r>
              <a:rPr lang="en-US" sz="1050" i="1" dirty="0">
                <a:solidFill>
                  <a:schemeClr val="accent3"/>
                </a:solidFill>
              </a:rPr>
              <a:t>Example row from the AGBRESA bed-rest campaign (Tran et al., 2021). Target: percentage change in muscle size from before unloading.</a:t>
            </a:r>
            <a:endParaRPr lang="en-US" sz="1050" dirty="0"/>
          </a:p>
        </p:txBody>
      </p:sp>
      <p:graphicFrame>
        <p:nvGraphicFramePr>
          <p:cNvPr id="38" name="Chart 0" descr=""/>
          <p:cNvGraphicFramePr/>
          <p:nvPr/>
        </p:nvGraphicFramePr>
        <p:xfrm>
          <a:off x="548640" y="2697480"/>
          <a:ext cx="5669280" cy="3474720"/>
        </p:xfrm>
        <a:graphic xmlns:a="http://schemas.openxmlformats.org/drawingml/2006/main">
          <a:graphicData uri="http://schemas.openxmlformats.org/drawingml/2006/chart">
            <c:chart xmlns:c="http://schemas.openxmlformats.org/drawingml/2006/chart" r:id="rId1"/>
          </a:graphicData>
        </a:graphic>
      </p:graphicFrame>
      <p:graphicFrame>
        <p:nvGraphicFramePr>
          <p:cNvPr id="39" name="Chart 1" descr=""/>
          <p:cNvGraphicFramePr/>
          <p:nvPr/>
        </p:nvGraphicFramePr>
        <p:xfrm>
          <a:off x="6400800" y="2697480"/>
          <a:ext cx="5239512" cy="347472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3  Muscles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Are all muscles affected the same?</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No. Calf muscles (plantar flexors) lose most: −15.8% at day 60, 5.7 pp more than the front thigh</a:t>
            </a:r>
            <a:endParaRPr lang="en-US" sz="1400" dirty="0"/>
          </a:p>
          <a:p>
            <a:pPr marL="342900" indent="-342900">
              <a:spcAft>
                <a:spcPts val="400"/>
              </a:spcAft>
              <a:buSzPct val="100000"/>
              <a:buChar char="•"/>
            </a:pPr>
            <a:r>
              <a:rPr lang="en-US" sz="1600" dirty="0">
                <a:solidFill>
                  <a:schemeClr val="tx1"/>
                </a:solidFill>
              </a:rPr>
              <a:t>Front thigh, back thigh and shin muscles lose around 10%; hip muscles least</a:t>
            </a:r>
            <a:endParaRPr lang="en-US" sz="1400" dirty="0"/>
          </a:p>
          <a:p>
            <a:pPr marL="342900" indent="-342900">
              <a:spcAft>
                <a:spcPts val="400"/>
              </a:spcAft>
              <a:buSzPct val="100000"/>
              <a:buChar char="•"/>
            </a:pPr>
            <a:r>
              <a:rPr lang="en-US" sz="1600" dirty="0">
                <a:solidFill>
                  <a:schemeClr val="tx1"/>
                </a:solidFill>
              </a:rPr>
              <a:t>30% of the differences between measurements lie between muscles within the same study</a:t>
            </a:r>
            <a:endParaRPr lang="en-US" sz="1400" dirty="0"/>
          </a:p>
          <a:p>
            <a:pPr marL="342900" indent="-342900">
              <a:spcAft>
                <a:spcPts val="400"/>
              </a:spcAft>
              <a:buSzPct val="100000"/>
              <a:buChar char="•"/>
            </a:pPr>
            <a:r>
              <a:rPr lang="en-US" sz="1600" dirty="0">
                <a:solidFill>
                  <a:schemeClr val="tx1"/>
                </a:solidFill>
              </a:rPr>
              <a:t>Groups with countermeasures lose 3.7 pp less than controls</a:t>
            </a:r>
            <a:endParaRPr lang="en-US" sz="1400" dirty="0"/>
          </a:p>
          <a:p>
            <a:pPr indent="0" marL="0">
              <a:buNone/>
            </a:pPr>
            <a:r>
              <a:rPr lang="en-US" sz="1400" i="1" dirty="0">
                <a:solidFill>
                  <a:schemeClr val="accent3"/>
                </a:solidFill>
              </a:rPr>
              <a:t>Possible figure: muscle ranking (figures/F3_muscles)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data to forecasts</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Bridge to part 2: the data show that loss depends on time and on the muscle</a:t>
            </a:r>
            <a:endParaRPr lang="en-US" sz="1400" dirty="0"/>
          </a:p>
          <a:p>
            <a:pPr marL="342900" indent="-342900">
              <a:spcAft>
                <a:spcPts val="400"/>
              </a:spcAft>
              <a:buSzPct val="100000"/>
              <a:buChar char="•"/>
            </a:pPr>
            <a:r>
              <a:rPr lang="en-US" sz="1600" dirty="0">
                <a:solidFill>
                  <a:schemeClr val="tx1"/>
                </a:solidFill>
              </a:rPr>
              <a:t>Next question: can a model forecast the loss in a study it has never seen?</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model is tested on a study it has not seen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9AA3AE"/>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1A1A1A"/>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9AA3AE"/>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forecast</a:t>
            </a:r>
            <a:endParaRPr lang="en-US" sz="1600" dirty="0"/>
          </a:p>
        </p:txBody>
      </p:sp>
      <p:sp>
        <p:nvSpPr>
          <p:cNvPr id="16" name="Arrow model to output"/>
          <p:cNvSpPr/>
          <p:nvPr/>
        </p:nvSpPr>
        <p:spPr>
          <a:xfrm>
            <a:off x="8458200" y="2583180"/>
            <a:ext cx="457200" cy="0"/>
          </a:xfrm>
          <a:prstGeom prst="line">
            <a:avLst/>
          </a:prstGeom>
          <a:noFill/>
          <a:ln w="15875">
            <a:solidFill>
              <a:srgbClr val="1A1A1A"/>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9AA3AE"/>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7315200" cy="274320"/>
          </a:xfrm>
          <a:prstGeom prst="rect">
            <a:avLst/>
          </a:prstGeom>
          <a:noFill/>
          <a:ln/>
        </p:spPr>
        <p:txBody>
          <a:bodyPr wrap="square" lIns="0" tIns="0" rIns="0" bIns="0" rtlCol="0" anchor="t"/>
          <a:lstStyle/>
          <a:p>
            <a:pPr indent="0" marL="0">
              <a:buNone/>
            </a:pPr>
            <a:r>
              <a:rPr lang="en-US" sz="1500" b="1" dirty="0">
                <a:solidFill>
                  <a:schemeClr val="tx2"/>
                </a:solidFill>
              </a:rPr>
              <a:t>Testing: hold out one study, train on the rest, repeat 32 times</a:t>
            </a:r>
            <a:endParaRPr lang="en-US" sz="1500" dirty="0"/>
          </a:p>
        </p:txBody>
      </p:sp>
      <p:sp>
        <p:nvSpPr>
          <p:cNvPr id="20" name="Training study 1"/>
          <p:cNvSpPr/>
          <p:nvPr/>
        </p:nvSpPr>
        <p:spPr>
          <a:xfrm>
            <a:off x="548640" y="4343400"/>
            <a:ext cx="246888" cy="246888"/>
          </a:xfrm>
          <a:prstGeom prst="rect">
            <a:avLst/>
          </a:prstGeom>
          <a:solidFill>
            <a:schemeClr val="accent6"/>
          </a:solidFill>
          <a:ln w="6350">
            <a:solidFill>
              <a:srgbClr val="9AA3AE"/>
            </a:solidFill>
            <a:prstDash val="solid"/>
          </a:ln>
        </p:spPr>
      </p:sp>
      <p:sp>
        <p:nvSpPr>
          <p:cNvPr id="21" name="Training study 2"/>
          <p:cNvSpPr/>
          <p:nvPr/>
        </p:nvSpPr>
        <p:spPr>
          <a:xfrm>
            <a:off x="841248" y="4343400"/>
            <a:ext cx="246888" cy="246888"/>
          </a:xfrm>
          <a:prstGeom prst="rect">
            <a:avLst/>
          </a:prstGeom>
          <a:solidFill>
            <a:schemeClr val="accent6"/>
          </a:solidFill>
          <a:ln w="6350">
            <a:solidFill>
              <a:srgbClr val="9AA3AE"/>
            </a:solidFill>
            <a:prstDash val="solid"/>
          </a:ln>
        </p:spPr>
      </p:sp>
      <p:sp>
        <p:nvSpPr>
          <p:cNvPr id="22" name="Training study 3"/>
          <p:cNvSpPr/>
          <p:nvPr/>
        </p:nvSpPr>
        <p:spPr>
          <a:xfrm>
            <a:off x="1133856" y="4343400"/>
            <a:ext cx="246888" cy="246888"/>
          </a:xfrm>
          <a:prstGeom prst="rect">
            <a:avLst/>
          </a:prstGeom>
          <a:solidFill>
            <a:schemeClr val="accent6"/>
          </a:solidFill>
          <a:ln w="6350">
            <a:solidFill>
              <a:srgbClr val="9AA3AE"/>
            </a:solidFill>
            <a:prstDash val="solid"/>
          </a:ln>
        </p:spPr>
      </p:sp>
      <p:sp>
        <p:nvSpPr>
          <p:cNvPr id="23" name="Training study 4"/>
          <p:cNvSpPr/>
          <p:nvPr/>
        </p:nvSpPr>
        <p:spPr>
          <a:xfrm>
            <a:off x="1426464" y="4343400"/>
            <a:ext cx="246888" cy="246888"/>
          </a:xfrm>
          <a:prstGeom prst="rect">
            <a:avLst/>
          </a:prstGeom>
          <a:solidFill>
            <a:schemeClr val="accent6"/>
          </a:solidFill>
          <a:ln w="6350">
            <a:solidFill>
              <a:srgbClr val="9AA3AE"/>
            </a:solidFill>
            <a:prstDash val="solid"/>
          </a:ln>
        </p:spPr>
      </p:sp>
      <p:sp>
        <p:nvSpPr>
          <p:cNvPr id="24" name="Training study 5"/>
          <p:cNvSpPr/>
          <p:nvPr/>
        </p:nvSpPr>
        <p:spPr>
          <a:xfrm>
            <a:off x="1719072" y="4343400"/>
            <a:ext cx="246888" cy="246888"/>
          </a:xfrm>
          <a:prstGeom prst="rect">
            <a:avLst/>
          </a:prstGeom>
          <a:solidFill>
            <a:schemeClr val="accent6"/>
          </a:solidFill>
          <a:ln w="6350">
            <a:solidFill>
              <a:srgbClr val="9AA3AE"/>
            </a:solidFill>
            <a:prstDash val="solid"/>
          </a:ln>
        </p:spPr>
      </p:sp>
      <p:sp>
        <p:nvSpPr>
          <p:cNvPr id="25" name="Training study 6"/>
          <p:cNvSpPr/>
          <p:nvPr/>
        </p:nvSpPr>
        <p:spPr>
          <a:xfrm>
            <a:off x="2011680" y="4343400"/>
            <a:ext cx="246888" cy="246888"/>
          </a:xfrm>
          <a:prstGeom prst="rect">
            <a:avLst/>
          </a:prstGeom>
          <a:solidFill>
            <a:schemeClr val="accent6"/>
          </a:solidFill>
          <a:ln w="6350">
            <a:solidFill>
              <a:srgbClr val="9AA3AE"/>
            </a:solidFill>
            <a:prstDash val="solid"/>
          </a:ln>
        </p:spPr>
      </p:sp>
      <p:sp>
        <p:nvSpPr>
          <p:cNvPr id="26" name="Training study 7"/>
          <p:cNvSpPr/>
          <p:nvPr/>
        </p:nvSpPr>
        <p:spPr>
          <a:xfrm>
            <a:off x="2304288" y="4343400"/>
            <a:ext cx="246888" cy="246888"/>
          </a:xfrm>
          <a:prstGeom prst="rect">
            <a:avLst/>
          </a:prstGeom>
          <a:solidFill>
            <a:schemeClr val="accent6"/>
          </a:solidFill>
          <a:ln w="6350">
            <a:solidFill>
              <a:srgbClr val="9AA3AE"/>
            </a:solidFill>
            <a:prstDash val="solid"/>
          </a:ln>
        </p:spPr>
      </p:sp>
      <p:sp>
        <p:nvSpPr>
          <p:cNvPr id="27" name="Training study 8"/>
          <p:cNvSpPr/>
          <p:nvPr/>
        </p:nvSpPr>
        <p:spPr>
          <a:xfrm>
            <a:off x="2596896" y="4343400"/>
            <a:ext cx="246888" cy="246888"/>
          </a:xfrm>
          <a:prstGeom prst="rect">
            <a:avLst/>
          </a:prstGeom>
          <a:solidFill>
            <a:schemeClr val="accent6"/>
          </a:solidFill>
          <a:ln w="6350">
            <a:solidFill>
              <a:srgbClr val="9AA3AE"/>
            </a:solidFill>
            <a:prstDash val="solid"/>
          </a:ln>
        </p:spPr>
      </p:sp>
      <p:sp>
        <p:nvSpPr>
          <p:cNvPr id="28" name="Training study 9"/>
          <p:cNvSpPr/>
          <p:nvPr/>
        </p:nvSpPr>
        <p:spPr>
          <a:xfrm>
            <a:off x="2889504" y="4343400"/>
            <a:ext cx="246888" cy="246888"/>
          </a:xfrm>
          <a:prstGeom prst="rect">
            <a:avLst/>
          </a:prstGeom>
          <a:solidFill>
            <a:schemeClr val="accent6"/>
          </a:solidFill>
          <a:ln w="6350">
            <a:solidFill>
              <a:srgbClr val="9AA3AE"/>
            </a:solidFill>
            <a:prstDash val="solid"/>
          </a:ln>
        </p:spPr>
      </p:sp>
      <p:sp>
        <p:nvSpPr>
          <p:cNvPr id="29" name="Training study 10"/>
          <p:cNvSpPr/>
          <p:nvPr/>
        </p:nvSpPr>
        <p:spPr>
          <a:xfrm>
            <a:off x="3182112" y="4343400"/>
            <a:ext cx="246888" cy="246888"/>
          </a:xfrm>
          <a:prstGeom prst="rect">
            <a:avLst/>
          </a:prstGeom>
          <a:solidFill>
            <a:schemeClr val="accent6"/>
          </a:solidFill>
          <a:ln w="6350">
            <a:solidFill>
              <a:srgbClr val="9AA3AE"/>
            </a:solidFill>
            <a:prstDash val="solid"/>
          </a:ln>
        </p:spPr>
      </p:sp>
      <p:sp>
        <p:nvSpPr>
          <p:cNvPr id="30" name="Training study 11"/>
          <p:cNvSpPr/>
          <p:nvPr/>
        </p:nvSpPr>
        <p:spPr>
          <a:xfrm>
            <a:off x="3474720" y="4343400"/>
            <a:ext cx="246888" cy="246888"/>
          </a:xfrm>
          <a:prstGeom prst="rect">
            <a:avLst/>
          </a:prstGeom>
          <a:solidFill>
            <a:schemeClr val="accent6"/>
          </a:solidFill>
          <a:ln w="6350">
            <a:solidFill>
              <a:srgbClr val="9AA3AE"/>
            </a:solidFill>
            <a:prstDash val="solid"/>
          </a:ln>
        </p:spPr>
      </p:sp>
      <p:sp>
        <p:nvSpPr>
          <p:cNvPr id="31" name="Training study 12"/>
          <p:cNvSpPr/>
          <p:nvPr/>
        </p:nvSpPr>
        <p:spPr>
          <a:xfrm>
            <a:off x="3767328" y="4343400"/>
            <a:ext cx="246888" cy="246888"/>
          </a:xfrm>
          <a:prstGeom prst="rect">
            <a:avLst/>
          </a:prstGeom>
          <a:solidFill>
            <a:schemeClr val="accent6"/>
          </a:solidFill>
          <a:ln w="6350">
            <a:solidFill>
              <a:srgbClr val="9AA3AE"/>
            </a:solidFill>
            <a:prstDash val="solid"/>
          </a:ln>
        </p:spPr>
      </p:sp>
      <p:sp>
        <p:nvSpPr>
          <p:cNvPr id="32" name="Training study 13"/>
          <p:cNvSpPr/>
          <p:nvPr/>
        </p:nvSpPr>
        <p:spPr>
          <a:xfrm>
            <a:off x="4059936" y="4343400"/>
            <a:ext cx="246888" cy="246888"/>
          </a:xfrm>
          <a:prstGeom prst="rect">
            <a:avLst/>
          </a:prstGeom>
          <a:solidFill>
            <a:schemeClr val="accent6"/>
          </a:solidFill>
          <a:ln w="6350">
            <a:solidFill>
              <a:srgbClr val="9AA3AE"/>
            </a:solidFill>
            <a:prstDash val="solid"/>
          </a:ln>
        </p:spPr>
      </p:sp>
      <p:sp>
        <p:nvSpPr>
          <p:cNvPr id="33" name="Test study"/>
          <p:cNvSpPr/>
          <p:nvPr/>
        </p:nvSpPr>
        <p:spPr>
          <a:xfrm>
            <a:off x="4352544" y="4343400"/>
            <a:ext cx="246888" cy="246888"/>
          </a:xfrm>
          <a:prstGeom prst="rect">
            <a:avLst/>
          </a:prstGeom>
          <a:solidFill>
            <a:schemeClr val="accent1"/>
          </a:solidFill>
          <a:ln w="6350">
            <a:solidFill>
              <a:srgbClr val="A23B2A"/>
            </a:solidFill>
            <a:prstDash val="solid"/>
          </a:ln>
        </p:spPr>
      </p:sp>
      <p:sp>
        <p:nvSpPr>
          <p:cNvPr id="34" name="Training study 15"/>
          <p:cNvSpPr/>
          <p:nvPr/>
        </p:nvSpPr>
        <p:spPr>
          <a:xfrm>
            <a:off x="4645152" y="4343400"/>
            <a:ext cx="246888" cy="246888"/>
          </a:xfrm>
          <a:prstGeom prst="rect">
            <a:avLst/>
          </a:prstGeom>
          <a:solidFill>
            <a:schemeClr val="accent6"/>
          </a:solidFill>
          <a:ln w="6350">
            <a:solidFill>
              <a:srgbClr val="9AA3AE"/>
            </a:solidFill>
            <a:prstDash val="solid"/>
          </a:ln>
        </p:spPr>
      </p:sp>
      <p:sp>
        <p:nvSpPr>
          <p:cNvPr id="35" name="Training study 16"/>
          <p:cNvSpPr/>
          <p:nvPr/>
        </p:nvSpPr>
        <p:spPr>
          <a:xfrm>
            <a:off x="4937760" y="4343400"/>
            <a:ext cx="246888" cy="246888"/>
          </a:xfrm>
          <a:prstGeom prst="rect">
            <a:avLst/>
          </a:prstGeom>
          <a:solidFill>
            <a:schemeClr val="accent6"/>
          </a:solidFill>
          <a:ln w="6350">
            <a:solidFill>
              <a:srgbClr val="9AA3AE"/>
            </a:solidFill>
            <a:prstDash val="solid"/>
          </a:ln>
        </p:spPr>
      </p:sp>
      <p:sp>
        <p:nvSpPr>
          <p:cNvPr id="36" name="Training study 17"/>
          <p:cNvSpPr/>
          <p:nvPr/>
        </p:nvSpPr>
        <p:spPr>
          <a:xfrm>
            <a:off x="5230368" y="4343400"/>
            <a:ext cx="246888" cy="246888"/>
          </a:xfrm>
          <a:prstGeom prst="rect">
            <a:avLst/>
          </a:prstGeom>
          <a:solidFill>
            <a:schemeClr val="accent6"/>
          </a:solidFill>
          <a:ln w="6350">
            <a:solidFill>
              <a:srgbClr val="9AA3AE"/>
            </a:solidFill>
            <a:prstDash val="solid"/>
          </a:ln>
        </p:spPr>
      </p:sp>
      <p:sp>
        <p:nvSpPr>
          <p:cNvPr id="37" name="Training study 18"/>
          <p:cNvSpPr/>
          <p:nvPr/>
        </p:nvSpPr>
        <p:spPr>
          <a:xfrm>
            <a:off x="5522976" y="4343400"/>
            <a:ext cx="246888" cy="246888"/>
          </a:xfrm>
          <a:prstGeom prst="rect">
            <a:avLst/>
          </a:prstGeom>
          <a:solidFill>
            <a:schemeClr val="accent6"/>
          </a:solidFill>
          <a:ln w="6350">
            <a:solidFill>
              <a:srgbClr val="9AA3AE"/>
            </a:solidFill>
            <a:prstDash val="solid"/>
          </a:ln>
        </p:spPr>
      </p:sp>
      <p:sp>
        <p:nvSpPr>
          <p:cNvPr id="38" name="Training study 19"/>
          <p:cNvSpPr/>
          <p:nvPr/>
        </p:nvSpPr>
        <p:spPr>
          <a:xfrm>
            <a:off x="5815584" y="4343400"/>
            <a:ext cx="246888" cy="246888"/>
          </a:xfrm>
          <a:prstGeom prst="rect">
            <a:avLst/>
          </a:prstGeom>
          <a:solidFill>
            <a:schemeClr val="accent6"/>
          </a:solidFill>
          <a:ln w="6350">
            <a:solidFill>
              <a:srgbClr val="9AA3AE"/>
            </a:solidFill>
            <a:prstDash val="solid"/>
          </a:ln>
        </p:spPr>
      </p:sp>
      <p:sp>
        <p:nvSpPr>
          <p:cNvPr id="39" name="Training study 20"/>
          <p:cNvSpPr/>
          <p:nvPr/>
        </p:nvSpPr>
        <p:spPr>
          <a:xfrm>
            <a:off x="6108192" y="4343400"/>
            <a:ext cx="246888" cy="246888"/>
          </a:xfrm>
          <a:prstGeom prst="rect">
            <a:avLst/>
          </a:prstGeom>
          <a:solidFill>
            <a:schemeClr val="accent6"/>
          </a:solidFill>
          <a:ln w="6350">
            <a:solidFill>
              <a:srgbClr val="9AA3AE"/>
            </a:solidFill>
            <a:prstDash val="solid"/>
          </a:ln>
        </p:spPr>
      </p:sp>
      <p:sp>
        <p:nvSpPr>
          <p:cNvPr id="40" name="Training study 21"/>
          <p:cNvSpPr/>
          <p:nvPr/>
        </p:nvSpPr>
        <p:spPr>
          <a:xfrm>
            <a:off x="6400800" y="4343400"/>
            <a:ext cx="246888" cy="246888"/>
          </a:xfrm>
          <a:prstGeom prst="rect">
            <a:avLst/>
          </a:prstGeom>
          <a:solidFill>
            <a:schemeClr val="accent6"/>
          </a:solidFill>
          <a:ln w="6350">
            <a:solidFill>
              <a:srgbClr val="9AA3AE"/>
            </a:solidFill>
            <a:prstDash val="solid"/>
          </a:ln>
        </p:spPr>
      </p:sp>
      <p:sp>
        <p:nvSpPr>
          <p:cNvPr id="41" name="Training study 22"/>
          <p:cNvSpPr/>
          <p:nvPr/>
        </p:nvSpPr>
        <p:spPr>
          <a:xfrm>
            <a:off x="6693408" y="4343400"/>
            <a:ext cx="246888" cy="246888"/>
          </a:xfrm>
          <a:prstGeom prst="rect">
            <a:avLst/>
          </a:prstGeom>
          <a:solidFill>
            <a:schemeClr val="accent6"/>
          </a:solidFill>
          <a:ln w="6350">
            <a:solidFill>
              <a:srgbClr val="9AA3AE"/>
            </a:solidFill>
            <a:prstDash val="solid"/>
          </a:ln>
        </p:spPr>
      </p:sp>
      <p:sp>
        <p:nvSpPr>
          <p:cNvPr id="42" name="Training study 23"/>
          <p:cNvSpPr/>
          <p:nvPr/>
        </p:nvSpPr>
        <p:spPr>
          <a:xfrm>
            <a:off x="6986016" y="4343400"/>
            <a:ext cx="246888" cy="246888"/>
          </a:xfrm>
          <a:prstGeom prst="rect">
            <a:avLst/>
          </a:prstGeom>
          <a:solidFill>
            <a:schemeClr val="accent6"/>
          </a:solidFill>
          <a:ln w="6350">
            <a:solidFill>
              <a:srgbClr val="9AA3AE"/>
            </a:solidFill>
            <a:prstDash val="solid"/>
          </a:ln>
        </p:spPr>
      </p:sp>
      <p:sp>
        <p:nvSpPr>
          <p:cNvPr id="43" name="Training study 24"/>
          <p:cNvSpPr/>
          <p:nvPr/>
        </p:nvSpPr>
        <p:spPr>
          <a:xfrm>
            <a:off x="7278624" y="4343400"/>
            <a:ext cx="246888" cy="246888"/>
          </a:xfrm>
          <a:prstGeom prst="rect">
            <a:avLst/>
          </a:prstGeom>
          <a:solidFill>
            <a:schemeClr val="accent6"/>
          </a:solidFill>
          <a:ln w="6350">
            <a:solidFill>
              <a:srgbClr val="9AA3AE"/>
            </a:solidFill>
            <a:prstDash val="solid"/>
          </a:ln>
        </p:spPr>
      </p:sp>
      <p:sp>
        <p:nvSpPr>
          <p:cNvPr id="44" name="Training study 25"/>
          <p:cNvSpPr/>
          <p:nvPr/>
        </p:nvSpPr>
        <p:spPr>
          <a:xfrm>
            <a:off x="7571232" y="4343400"/>
            <a:ext cx="246888" cy="246888"/>
          </a:xfrm>
          <a:prstGeom prst="rect">
            <a:avLst/>
          </a:prstGeom>
          <a:solidFill>
            <a:schemeClr val="accent6"/>
          </a:solidFill>
          <a:ln w="6350">
            <a:solidFill>
              <a:srgbClr val="9AA3AE"/>
            </a:solidFill>
            <a:prstDash val="solid"/>
          </a:ln>
        </p:spPr>
      </p:sp>
      <p:sp>
        <p:nvSpPr>
          <p:cNvPr id="45" name="Training study 26"/>
          <p:cNvSpPr/>
          <p:nvPr/>
        </p:nvSpPr>
        <p:spPr>
          <a:xfrm>
            <a:off x="7863840" y="4343400"/>
            <a:ext cx="246888" cy="246888"/>
          </a:xfrm>
          <a:prstGeom prst="rect">
            <a:avLst/>
          </a:prstGeom>
          <a:solidFill>
            <a:schemeClr val="accent6"/>
          </a:solidFill>
          <a:ln w="6350">
            <a:solidFill>
              <a:srgbClr val="9AA3AE"/>
            </a:solidFill>
            <a:prstDash val="solid"/>
          </a:ln>
        </p:spPr>
      </p:sp>
      <p:sp>
        <p:nvSpPr>
          <p:cNvPr id="46" name="Training study 27"/>
          <p:cNvSpPr/>
          <p:nvPr/>
        </p:nvSpPr>
        <p:spPr>
          <a:xfrm>
            <a:off x="8156448" y="4343400"/>
            <a:ext cx="246888" cy="246888"/>
          </a:xfrm>
          <a:prstGeom prst="rect">
            <a:avLst/>
          </a:prstGeom>
          <a:solidFill>
            <a:schemeClr val="accent6"/>
          </a:solidFill>
          <a:ln w="6350">
            <a:solidFill>
              <a:srgbClr val="9AA3AE"/>
            </a:solidFill>
            <a:prstDash val="solid"/>
          </a:ln>
        </p:spPr>
      </p:sp>
      <p:sp>
        <p:nvSpPr>
          <p:cNvPr id="47" name="Training study 28"/>
          <p:cNvSpPr/>
          <p:nvPr/>
        </p:nvSpPr>
        <p:spPr>
          <a:xfrm>
            <a:off x="8449056" y="4343400"/>
            <a:ext cx="246888" cy="246888"/>
          </a:xfrm>
          <a:prstGeom prst="rect">
            <a:avLst/>
          </a:prstGeom>
          <a:solidFill>
            <a:schemeClr val="accent6"/>
          </a:solidFill>
          <a:ln w="6350">
            <a:solidFill>
              <a:srgbClr val="9AA3AE"/>
            </a:solidFill>
            <a:prstDash val="solid"/>
          </a:ln>
        </p:spPr>
      </p:sp>
      <p:sp>
        <p:nvSpPr>
          <p:cNvPr id="48" name="Training study 29"/>
          <p:cNvSpPr/>
          <p:nvPr/>
        </p:nvSpPr>
        <p:spPr>
          <a:xfrm>
            <a:off x="8741664" y="4343400"/>
            <a:ext cx="246888" cy="246888"/>
          </a:xfrm>
          <a:prstGeom prst="rect">
            <a:avLst/>
          </a:prstGeom>
          <a:solidFill>
            <a:schemeClr val="accent6"/>
          </a:solidFill>
          <a:ln w="6350">
            <a:solidFill>
              <a:srgbClr val="9AA3AE"/>
            </a:solidFill>
            <a:prstDash val="solid"/>
          </a:ln>
        </p:spPr>
      </p:sp>
      <p:sp>
        <p:nvSpPr>
          <p:cNvPr id="49" name="Training study 30"/>
          <p:cNvSpPr/>
          <p:nvPr/>
        </p:nvSpPr>
        <p:spPr>
          <a:xfrm>
            <a:off x="9034272" y="4343400"/>
            <a:ext cx="246888" cy="246888"/>
          </a:xfrm>
          <a:prstGeom prst="rect">
            <a:avLst/>
          </a:prstGeom>
          <a:solidFill>
            <a:schemeClr val="accent6"/>
          </a:solidFill>
          <a:ln w="6350">
            <a:solidFill>
              <a:srgbClr val="9AA3AE"/>
            </a:solidFill>
            <a:prstDash val="solid"/>
          </a:ln>
        </p:spPr>
      </p:sp>
      <p:sp>
        <p:nvSpPr>
          <p:cNvPr id="50" name="Training study 31"/>
          <p:cNvSpPr/>
          <p:nvPr/>
        </p:nvSpPr>
        <p:spPr>
          <a:xfrm>
            <a:off x="9326880" y="4343400"/>
            <a:ext cx="246888" cy="246888"/>
          </a:xfrm>
          <a:prstGeom prst="rect">
            <a:avLst/>
          </a:prstGeom>
          <a:solidFill>
            <a:schemeClr val="accent6"/>
          </a:solidFill>
          <a:ln w="6350">
            <a:solidFill>
              <a:srgbClr val="9AA3AE"/>
            </a:solidFill>
            <a:prstDash val="solid"/>
          </a:ln>
        </p:spPr>
      </p:sp>
      <p:sp>
        <p:nvSpPr>
          <p:cNvPr id="51" name="Training study 32"/>
          <p:cNvSpPr/>
          <p:nvPr/>
        </p:nvSpPr>
        <p:spPr>
          <a:xfrm>
            <a:off x="9619488" y="4343400"/>
            <a:ext cx="246888" cy="246888"/>
          </a:xfrm>
          <a:prstGeom prst="rect">
            <a:avLst/>
          </a:prstGeom>
          <a:solidFill>
            <a:schemeClr val="accent6"/>
          </a:solidFill>
          <a:ln w="6350">
            <a:solidFill>
              <a:srgbClr val="9AA3AE"/>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studies.  </a:t>
            </a:r>
            <a:pPr indent="0" marL="0">
              <a:buNone/>
            </a:pPr>
            <a:r>
              <a:rPr lang="en-US" sz="1400" dirty="0">
                <a:solidFill>
                  <a:schemeClr val="accent1"/>
                </a:solidFill>
              </a:rPr>
              <a:t>Red: the held-out test study.</a:t>
            </a:r>
            <a:pPr indent="0" marL="0">
              <a:buNone/>
            </a:pPr>
            <a:r>
              <a:rPr lang="en-US" sz="1400" dirty="0">
                <a:solidFill>
                  <a:schemeClr val="tx1"/>
                </a:solidFill>
              </a:rPr>
              <a:t>  Each study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studies, not measurements: the 346 measurements come from only 32 independent studies, because several papers report the same volunteers.</a:t>
            </a:r>
            <a:endParaRPr lang="en-US" sz="1400" dirty="0"/>
          </a:p>
          <a:p>
            <a:pPr marL="342900" indent="-342900">
              <a:spcAft>
                <a:spcPts val="400"/>
              </a:spcAft>
              <a:buSzPct val="100000"/>
              <a:buChar char="•"/>
            </a:pPr>
            <a:r>
              <a:rPr lang="en-US" sz="1400" dirty="0">
                <a:solidFill>
                  <a:schemeClr val="tx1"/>
                </a:solidFill>
              </a:rPr>
              <a:t>Score: average error in percentage points (pp). Forecast −10%, measured −13%: error 3 pp. Each study counts once.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No ML model has lower error than the duration curve</a:t>
            </a:r>
            <a:endParaRPr lang="en-US" sz="2800" dirty="0"/>
          </a:p>
        </p:txBody>
      </p:sp>
      <p:graphicFrame>
        <p:nvGraphicFramePr>
          <p:cNvPr id="11" name="MAE chart" descr=""/>
          <p:cNvGraphicFramePr/>
          <p:nvPr/>
        </p:nvGraphicFramePr>
        <p:xfrm>
          <a:off x="457200" y="1188720"/>
          <a:ext cx="5669280" cy="3794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descr=""/>
          <p:cNvGraphicFramePr/>
          <p:nvPr/>
        </p:nvGraphicFramePr>
        <p:xfrm>
          <a:off x="6309360" y="1188720"/>
          <a:ext cx="5394960" cy="37947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5074920"/>
            <a:ext cx="110642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R² is the share of the differences between measurements that a model explains: 0 is none, 1 is all. The ML models explain more (0.27 to 0.39 vs 0.14) because they learn which muscles shrink more.</a:t>
            </a:r>
            <a:endParaRPr lang="en-US" sz="1400" dirty="0"/>
          </a:p>
          <a:p>
            <a:pPr marL="342900" indent="-342900">
              <a:spcAft>
                <a:spcPts val="400"/>
              </a:spcAft>
              <a:buSzPct val="100000"/>
              <a:buChar char="•"/>
            </a:pPr>
            <a:r>
              <a:rPr lang="en-US" sz="1400" dirty="0">
                <a:solidFill>
                  <a:schemeClr val="tx1"/>
                </a:solidFill>
              </a:rPr>
              <a:t>Their error on a new study is still no lower. Most of the error left is a shift that affects a whole study (its scanner, volunteers, protocol), and none of our inputs describe it.</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 forecast: what is sent and what comes back</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9AA3AE"/>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studies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studies,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a:p>
            <a:pPr indent="0" marL="0">
              <a:spcAft>
                <a:spcPts val="100"/>
              </a:spcAft>
              <a:buNone/>
            </a:pPr>
            <a:r>
              <a:rPr lang="en-US" sz="1100" i="1" dirty="0">
                <a:solidFill>
                  <a:schemeClr val="accent3"/>
                </a:solidFill>
              </a:rPr>
              <a:t>Field names as sent; "campaign" means study.</a:t>
            </a:r>
            <a:endParaRPr lang="en-US" sz="1600" dirty="0"/>
          </a:p>
        </p:txBody>
      </p:sp>
      <p:sp>
        <p:nvSpPr>
          <p:cNvPr id="13" name="Arrow request to LLM"/>
          <p:cNvSpPr/>
          <p:nvPr/>
        </p:nvSpPr>
        <p:spPr>
          <a:xfrm>
            <a:off x="5486400" y="3383280"/>
            <a:ext cx="457200" cy="0"/>
          </a:xfrm>
          <a:prstGeom prst="line">
            <a:avLst/>
          </a:prstGeom>
          <a:noFill/>
          <a:ln w="15875">
            <a:solidFill>
              <a:srgbClr val="1A1A1A"/>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9AA3AE"/>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2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1A1A1A"/>
            </a:solidFill>
            <a:prstDash val="solid"/>
            <a:tailEnd type="triangle"/>
          </a:ln>
        </p:spPr>
      </p:sp>
      <p:graphicFrame>
        <p:nvGraphicFramePr>
          <p:cNvPr id="17"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forecast,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19" name="Text 16"/>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study's measurements, and any paper, author or study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LLM forecast has the lowest error of all models</a:t>
            </a:r>
            <a:endParaRPr lang="en-US" sz="2800" dirty="0"/>
          </a:p>
        </p:txBody>
      </p:sp>
      <p:graphicFrame>
        <p:nvGraphicFramePr>
          <p:cNvPr id="11" name="MAE chart with LLM" descr=""/>
          <p:cNvGraphicFramePr/>
          <p:nvPr/>
        </p:nvGraphicFramePr>
        <p:xfrm>
          <a:off x="457200" y="1188720"/>
          <a:ext cx="566928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61188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8920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Same measurements, scored the same way: error 2.71 vs 3.13 pp, so 0.42 pp smaller. Closer than the curve in 20 of 32 studies.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 No other model achieves this.</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on the LLM forecast</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published studies?</a:t>
            </a:r>
            <a:endParaRPr lang="en-US" sz="1600" dirty="0"/>
          </a:p>
          <a:p>
            <a:pPr marL="342900" indent="-342900">
              <a:spcAft>
                <a:spcPts val="400"/>
              </a:spcAft>
              <a:buSzPct val="100000"/>
              <a:buChar char="•"/>
            </a:pPr>
            <a:r>
              <a:rPr lang="en-US" sz="1400" dirty="0">
                <a:solidFill>
                  <a:schemeClr val="tx1"/>
                </a:solidFill>
              </a:rPr>
              <a:t>Everything identifying a study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study's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studies'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studies'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forecasts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so it was not part of the original plan</a:t>
            </a:r>
            <a:endParaRPr lang="en-US" sz="1600" dirty="0"/>
          </a:p>
          <a:p>
            <a:pPr marL="342900" indent="-342900">
              <a:spcAft>
                <a:spcPts val="400"/>
              </a:spcAft>
              <a:buSzPct val="100000"/>
              <a:buChar char="•"/>
            </a:pPr>
            <a:r>
              <a:rPr lang="en-US" sz="1400" dirty="0">
                <a:solidFill>
                  <a:schemeClr val="tx1"/>
                </a:solidFill>
              </a:rPr>
              <a:t>Overconfident: when it is 80% sure the value is in a range, it is there only 62% of the time. We therefore report only its single-number forecast.</a:t>
            </a:r>
            <a:endParaRPr lang="en-US" sz="1600" dirty="0"/>
          </a:p>
          <a:p>
            <a:pPr marL="342900" indent="-342900">
              <a:spcAft>
                <a:spcPts val="400"/>
              </a:spcAft>
              <a:buSzPct val="100000"/>
              <a:buChar char="•"/>
            </a:pPr>
            <a:r>
              <a:rPr lang="en-US" sz="1400" dirty="0">
                <a:solidFill>
                  <a:schemeClr val="tx1"/>
                </a:solidFill>
              </a:rPr>
              <a:t>When also given a study's own earlier scans, it does not make use of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428732" y="6432804"/>
            <a:ext cx="118872" cy="118872"/>
          </a:xfrm>
          <a:prstGeom prst="ellipse">
            <a:avLst/>
          </a:prstGeom>
          <a:solidFill>
            <a:schemeClr val="tx2"/>
          </a:solidFill>
          <a:ln w="9525">
            <a:solidFill>
              <a:srgbClr val="1F3A5F"/>
            </a:solidFill>
            <a:prstDash val="solid"/>
          </a:ln>
        </p:spPr>
      </p:sp>
      <p:sp>
        <p:nvSpPr>
          <p:cNvPr id="8" name="Tracker 6 Conclusions"/>
          <p:cNvSpPr/>
          <p:nvPr/>
        </p:nvSpPr>
        <p:spPr>
          <a:xfrm>
            <a:off x="10725912" y="6382512"/>
            <a:ext cx="219456" cy="219456"/>
          </a:xfrm>
          <a:prstGeom prst="ellipse">
            <a:avLst/>
          </a:prstGeom>
          <a:solidFill>
            <a:schemeClr val="accent1"/>
          </a:solidFill>
          <a:ln w="9525">
            <a:solidFill>
              <a:srgbClr val="A23B2A"/>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With 32 independent studies, no ML model forecasts better than a curve based on days alone (best 3.18 vs 3.16 pp error).</a:t>
            </a:r>
            <a:endParaRPr lang="en-US" sz="2000" dirty="0"/>
          </a:p>
          <a:p>
            <a:pPr marL="342900" indent="-342900">
              <a:spcAft>
                <a:spcPts val="400"/>
              </a:spcAft>
              <a:buSzPct val="100000"/>
              <a:buChar char="•"/>
            </a:pPr>
            <a:r>
              <a:rPr lang="en-US" sz="1800" dirty="0">
                <a:solidFill>
                  <a:schemeClr val="tx1"/>
                </a:solidFill>
              </a:rPr>
              <a:t>An LLM that reads each study's description and the other studies' data cuts the error to 2.71 pp (curve 3.13 pp), and this holds under every check.</a:t>
            </a:r>
            <a:endParaRPr lang="en-US" sz="2000" dirty="0"/>
          </a:p>
        </p:txBody>
      </p:sp>
      <p:sp>
        <p:nvSpPr>
          <p:cNvPr id="12" name="Text 10"/>
          <p:cNvSpPr txBox="1"/>
          <p:nvPr/>
        </p:nvSpPr>
        <p:spPr>
          <a:xfrm>
            <a:off x="434340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Only 32 independent studies</a:t>
            </a:r>
            <a:endParaRPr lang="en-US" sz="2000" dirty="0"/>
          </a:p>
          <a:p>
            <a:pPr marL="342900" indent="-342900">
              <a:spcAft>
                <a:spcPts val="400"/>
              </a:spcAft>
              <a:buSzPct val="100000"/>
              <a:buChar char="•"/>
            </a:pPr>
            <a:r>
              <a:rPr lang="en-US" sz="1800" dirty="0">
                <a:solidFill>
                  <a:schemeClr val="tx1"/>
                </a:solidFill>
              </a:rPr>
              <a:t>No data beyond day 119</a:t>
            </a:r>
            <a:endParaRPr lang="en-US" sz="2000" dirty="0"/>
          </a:p>
          <a:p>
            <a:pPr marL="342900" indent="-342900">
              <a:spcAft>
                <a:spcPts val="400"/>
              </a:spcAft>
              <a:buSzPct val="100000"/>
              <a:buChar char="•"/>
            </a:pPr>
            <a:r>
              <a:rPr lang="en-US" sz="1800" dirty="0">
                <a:solidFill>
                  <a:schemeClr val="tx1"/>
                </a:solidFill>
              </a:rPr>
              <a:t>Mostly young men (347 of 425 measurements)</a:t>
            </a:r>
            <a:endParaRPr lang="en-US" sz="2000" dirty="0"/>
          </a:p>
          <a:p>
            <a:pPr marL="342900" indent="-342900">
              <a:spcAft>
                <a:spcPts val="400"/>
              </a:spcAft>
              <a:buSzPct val="100000"/>
              <a:buChar char="•"/>
            </a:pPr>
            <a:r>
              <a:rPr lang="en-US" sz="1800" dirty="0">
                <a:solidFill>
                  <a:schemeClr val="tx1"/>
                </a:solidFill>
              </a:rPr>
              <a:t>Group averages, not individual people</a:t>
            </a:r>
            <a:endParaRPr lang="en-US" sz="2000" dirty="0"/>
          </a:p>
          <a:p>
            <a:pPr marL="342900" indent="-342900">
              <a:spcAft>
                <a:spcPts val="400"/>
              </a:spcAft>
              <a:buSzPct val="100000"/>
              <a:buChar char="•"/>
            </a:pPr>
            <a:r>
              <a:rPr lang="en-US" sz="1800" dirty="0">
                <a:solidFill>
                  <a:schemeClr val="tx1"/>
                </a:solidFill>
              </a:rPr>
              <a:t>Bed rest imitates spaceflight but is not the same</a:t>
            </a:r>
            <a:endParaRPr lang="en-US" sz="2000" dirty="0"/>
          </a:p>
        </p:txBody>
      </p:sp>
      <p:sp>
        <p:nvSpPr>
          <p:cNvPr id="13" name="Text 11"/>
          <p:cNvSpPr txBox="1"/>
          <p:nvPr/>
        </p:nvSpPr>
        <p:spPr>
          <a:xfrm>
            <a:off x="813816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Fix the LLM's overconfident ranges</a:t>
            </a:r>
            <a:endParaRPr lang="en-US" sz="2000" dirty="0"/>
          </a:p>
          <a:p>
            <a:pPr marL="342900" indent="-342900">
              <a:spcAft>
                <a:spcPts val="400"/>
              </a:spcAft>
              <a:buSzPct val="100000"/>
              <a:buChar char="•"/>
            </a:pPr>
            <a:r>
              <a:rPr lang="en-US" sz="1800" dirty="0">
                <a:solidFill>
                  <a:schemeClr val="tx1"/>
                </a:solidFill>
              </a:rPr>
              <a:t>Check results without the largest study, and with MRI scans only</a:t>
            </a:r>
            <a:endParaRPr lang="en-US" sz="2000" dirty="0"/>
          </a:p>
          <a:p>
            <a:pPr marL="342900" indent="-342900">
              <a:spcAft>
                <a:spcPts val="400"/>
              </a:spcAft>
              <a:buSzPct val="100000"/>
              <a:buChar char="•"/>
            </a:pPr>
            <a:r>
              <a:rPr lang="en-US" sz="1800" dirty="0">
                <a:solidFill>
                  <a:schemeClr val="tx1"/>
                </a:solidFill>
              </a:rPr>
              <a:t>Extend the forecast to a 180-day mission, with an uncertainty range</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dataset good enough?</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Searched PubMed, Scopus, Web of Science and NASA reports from 2013 on (5,731 records), plus 9 older studies</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study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study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LLM gain real, and does it matter?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report it as a finding, not the headline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studies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The size of the wins matters: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studies?</a:t>
            </a:r>
            <a:endParaRPr lang="en-US" sz="1500" dirty="0"/>
          </a:p>
          <a:p>
            <a:pPr marL="342900" indent="-342900">
              <a:spcAft>
                <a:spcPts val="400"/>
              </a:spcAft>
              <a:buSzPct val="100000"/>
              <a:buChar char="•"/>
            </a:pPr>
            <a:r>
              <a:rPr lang="en-US" sz="1400" dirty="0">
                <a:solidFill>
                  <a:schemeClr val="tx1"/>
                </a:solidFill>
              </a:rPr>
              <a:t>3 long MRI studies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study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study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results/forecast_predictions.csv;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why did ML fail, and was the comparison fair?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study;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studies leave room for about 3 study-level inputs (about 10 studies per input)</a:t>
            </a:r>
            <a:endParaRPr lang="en-US" sz="1500" dirty="0"/>
          </a:p>
          <a:p>
            <a:pPr marL="342900" indent="-342900">
              <a:spcAft>
                <a:spcPts val="400"/>
              </a:spcAft>
              <a:buSzPct val="100000"/>
              <a:buChar char="•"/>
            </a:pPr>
            <a:r>
              <a:rPr lang="en-US" sz="1400" dirty="0">
                <a:solidFill>
                  <a:schemeClr val="tx1"/>
                </a:solidFill>
              </a:rPr>
              <a:t>Age and sex are fixed within a study (347 of 425 rows men-only), so they act as a study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study</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obvious next control</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can this be used to plan a Mars mission?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study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A1A1A"/>
      </a:dk1>
      <a:lt1>
        <a:srgbClr val="FFFFFF"/>
      </a:lt1>
      <a:dk2>
        <a:srgbClr val="1F3A5F"/>
      </a:dk2>
      <a:lt2>
        <a:srgbClr val="F4F5F7"/>
      </a:lt2>
      <a:accent1>
        <a:srgbClr val="A23B2A"/>
      </a:accent1>
      <a:accent2>
        <a:srgbClr val="1F3A5F"/>
      </a:accent2>
      <a:accent3>
        <a:srgbClr val="6B7280"/>
      </a:accent3>
      <a:accent4>
        <a:srgbClr val="A7AEB8"/>
      </a:accent4>
      <a:accent5>
        <a:srgbClr val="9AA3AE"/>
      </a:accent5>
      <a:accent6>
        <a:srgbClr val="E5E7EB"/>
      </a:accent6>
      <a:hlink>
        <a:srgbClr val="1F3A5F"/>
      </a:hlink>
      <a:folHlink>
        <a:srgbClr val="6B7280"/>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2026-10-06T11:48:56Z</dcterms:created>
  <dcterms:modified xsi:type="dcterms:W3CDTF">2026-10-06T11:48:56Z</dcterms:modified>
</cp:coreProperties>
</file>